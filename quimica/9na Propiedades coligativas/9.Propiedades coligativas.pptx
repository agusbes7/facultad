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73" r:id="rId6"/>
    <p:sldId id="262" r:id="rId7"/>
    <p:sldId id="263" r:id="rId8"/>
    <p:sldId id="272" r:id="rId9"/>
    <p:sldId id="266" r:id="rId10"/>
    <p:sldId id="267" r:id="rId11"/>
    <p:sldId id="268" r:id="rId12"/>
    <p:sldId id="269"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21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572D31-BA7B-48FE-B3ED-55F3E2460085}" type="datetimeFigureOut">
              <a:rPr lang="en-US" smtClean="0"/>
              <a:pPr/>
              <a:t>5/17/2021</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8E82AD-C70D-4C9B-A50C-2871192C7262}" type="slidenum">
              <a:rPr lang="en-US" smtClean="0"/>
              <a:pPr/>
              <a:t>‹Nº›</a:t>
            </a:fld>
            <a:endParaRPr lang="en-US"/>
          </a:p>
        </p:txBody>
      </p:sp>
    </p:spTree>
    <p:extLst>
      <p:ext uri="{BB962C8B-B14F-4D97-AF65-F5344CB8AC3E}">
        <p14:creationId xmlns:p14="http://schemas.microsoft.com/office/powerpoint/2010/main" val="277643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64C083-1A92-4AE9-8AA3-B274FB1D35BE}" type="slidenum">
              <a:rPr lang="es-ES"/>
              <a:pPr/>
              <a:t>2</a:t>
            </a:fld>
            <a:endParaRPr lang="es-E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39D751-6344-4E99-A7F3-D16D886F01EC}" type="slidenum">
              <a:rPr lang="es-ES"/>
              <a:pPr/>
              <a:t>6</a:t>
            </a:fld>
            <a:endParaRPr lang="es-E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FF7806-D61C-4795-B434-CDDC441FE160}" type="slidenum">
              <a:rPr lang="es-ES"/>
              <a:pPr/>
              <a:t>7</a:t>
            </a:fld>
            <a:endParaRPr lang="es-E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C64B2D-9999-4016-B3A6-74DE388BFFDF}" type="slidenum">
              <a:rPr lang="es-ES"/>
              <a:pPr/>
              <a:t>9</a:t>
            </a:fld>
            <a:endParaRPr lang="es-ES"/>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E20A2B-47BF-4747-B26A-4B905BB049BE}" type="slidenum">
              <a:rPr lang="es-ES"/>
              <a:pPr/>
              <a:t>10</a:t>
            </a:fld>
            <a:endParaRPr lang="es-E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936E62-09E1-40A8-AC9D-9FE5B5962B33}" type="slidenum">
              <a:rPr lang="es-ES"/>
              <a:pPr/>
              <a:t>11</a:t>
            </a:fld>
            <a:endParaRPr lang="es-E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1BD22A-BAC0-4896-82DA-84BA5C7E3878}" type="slidenum">
              <a:rPr lang="es-ES"/>
              <a:pPr/>
              <a:t>12</a:t>
            </a:fld>
            <a:endParaRPr lang="es-E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4B20D-8D0E-4DA3-9C6B-EF39FF54993C}" type="slidenum">
              <a:rPr lang="es-ES"/>
              <a:pPr/>
              <a:t>13</a:t>
            </a:fld>
            <a:endParaRPr lang="es-E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9D969D55-AA2D-492C-A706-F19171E8B34B}"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p>
            <a:r>
              <a:rPr lang="es-ES" smtClean="0"/>
              <a:t>Haga clic para modificar el estilo de título del patrón</a:t>
            </a:r>
            <a:endParaRPr lang="en-US"/>
          </a:p>
        </p:txBody>
      </p:sp>
      <p:sp>
        <p:nvSpPr>
          <p:cNvPr id="3" name="2 Marcador de texto"/>
          <p:cNvSpPr>
            <a:spLocks noGrp="1"/>
          </p:cNvSpPr>
          <p:nvPr>
            <p:ph type="body" sz="half" idx="1"/>
          </p:nvPr>
        </p:nvSpPr>
        <p:spPr>
          <a:xfrm>
            <a:off x="457200" y="1600200"/>
            <a:ext cx="4038600" cy="452596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a:xfrm>
            <a:off x="457200" y="6245225"/>
            <a:ext cx="2133600" cy="476250"/>
          </a:xfrm>
        </p:spPr>
        <p:txBody>
          <a:bodyPr/>
          <a:lstStyle>
            <a:lvl1pPr>
              <a:defRPr/>
            </a:lvl1pPr>
          </a:lstStyle>
          <a:p>
            <a:endParaRPr lang="es-ES"/>
          </a:p>
        </p:txBody>
      </p:sp>
      <p:sp>
        <p:nvSpPr>
          <p:cNvPr id="6" name="5 Marcador de pie de página"/>
          <p:cNvSpPr>
            <a:spLocks noGrp="1"/>
          </p:cNvSpPr>
          <p:nvPr>
            <p:ph type="ftr" sz="quarter" idx="11"/>
          </p:nvPr>
        </p:nvSpPr>
        <p:spPr>
          <a:xfrm>
            <a:off x="3124200" y="6245225"/>
            <a:ext cx="2895600" cy="476250"/>
          </a:xfrm>
        </p:spPr>
        <p:txBody>
          <a:bodyPr/>
          <a:lstStyle>
            <a:lvl1pPr>
              <a:defRPr/>
            </a:lvl1pPr>
          </a:lstStyle>
          <a:p>
            <a:endParaRPr lang="es-ES"/>
          </a:p>
        </p:txBody>
      </p:sp>
      <p:sp>
        <p:nvSpPr>
          <p:cNvPr id="7" name="6 Marcador de número de diapositiva"/>
          <p:cNvSpPr>
            <a:spLocks noGrp="1"/>
          </p:cNvSpPr>
          <p:nvPr>
            <p:ph type="sldNum" sz="quarter" idx="12"/>
          </p:nvPr>
        </p:nvSpPr>
        <p:spPr>
          <a:xfrm>
            <a:off x="6553200" y="6245225"/>
            <a:ext cx="2133600" cy="476250"/>
          </a:xfrm>
        </p:spPr>
        <p:txBody>
          <a:bodyPr/>
          <a:lstStyle>
            <a:lvl1pPr>
              <a:defRPr/>
            </a:lvl1pPr>
          </a:lstStyle>
          <a:p>
            <a:fld id="{803330FC-DB6F-4DB9-98C3-DAFC2BFD17C8}" type="slidenum">
              <a:rPr lang="es-ES"/>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AE25B-837F-4A01-B496-304B7229B0EB}" type="datetimeFigureOut">
              <a:rPr lang="en-US" smtClean="0"/>
              <a:pPr/>
              <a:t>5/17/2021</a:t>
            </a:fld>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969D55-AA2D-492C-A706-F19171E8B34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9.wmf"/><Relationship Id="rId3" Type="http://schemas.openxmlformats.org/officeDocument/2006/relationships/notesSlide" Target="../notesSlides/notesSlide2.xml"/><Relationship Id="rId7" Type="http://schemas.openxmlformats.org/officeDocument/2006/relationships/image" Target="../media/image6.wmf"/><Relationship Id="rId12"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3.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12.gi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notesSlide" Target="../notesSlides/notesSlide5.xml"/><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0.bin"/><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0.w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8.xml"/><Relationship Id="rId7" Type="http://schemas.openxmlformats.org/officeDocument/2006/relationships/image" Target="../media/image22.wmf"/><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14.bin"/><Relationship Id="rId5" Type="http://schemas.openxmlformats.org/officeDocument/2006/relationships/image" Target="../media/image21.wmf"/><Relationship Id="rId4" Type="http://schemas.openxmlformats.org/officeDocument/2006/relationships/oleObject" Target="../embeddings/oleObject13.bin"/><Relationship Id="rId9" Type="http://schemas.openxmlformats.org/officeDocument/2006/relationships/image" Target="../media/image2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928662" y="2285992"/>
            <a:ext cx="7572427" cy="584775"/>
          </a:xfrm>
          <a:prstGeom prst="rect">
            <a:avLst/>
          </a:prstGeom>
        </p:spPr>
        <p:txBody>
          <a:bodyPr wrap="square">
            <a:spAutoFit/>
          </a:bodyPr>
          <a:lstStyle/>
          <a:p>
            <a:r>
              <a:rPr lang="es-ES" sz="3200" dirty="0" smtClean="0">
                <a:latin typeface="Arial Black" pitchFamily="34" charset="0"/>
              </a:rPr>
              <a:t>PROPIEDADES COLIGATIVAS</a:t>
            </a:r>
            <a:endParaRPr lang="en-US" sz="3200" dirty="0"/>
          </a:p>
        </p:txBody>
      </p:sp>
      <p:sp>
        <p:nvSpPr>
          <p:cNvPr id="3" name="2 Rectángulo"/>
          <p:cNvSpPr/>
          <p:nvPr/>
        </p:nvSpPr>
        <p:spPr>
          <a:xfrm>
            <a:off x="1928794" y="3786190"/>
            <a:ext cx="4572000" cy="646331"/>
          </a:xfrm>
          <a:prstGeom prst="rect">
            <a:avLst/>
          </a:prstGeom>
        </p:spPr>
        <p:txBody>
          <a:bodyPr>
            <a:spAutoFit/>
          </a:bodyPr>
          <a:lstStyle/>
          <a:p>
            <a:r>
              <a:rPr lang="es-ES" i="1" dirty="0" smtClean="0"/>
              <a:t>Algunas propiedades físicas de soluciones difieren marcadamente del solvente puro.</a:t>
            </a:r>
            <a:endParaRPr lang="es-ES"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s-ES" sz="2000">
                <a:latin typeface="Arial Black" pitchFamily="34" charset="0"/>
              </a:rPr>
              <a:t>Propiedades coligativas </a:t>
            </a:r>
            <a:br>
              <a:rPr lang="es-ES" sz="2000">
                <a:latin typeface="Arial Black" pitchFamily="34" charset="0"/>
              </a:rPr>
            </a:br>
            <a:r>
              <a:rPr lang="es-ES" sz="2000">
                <a:latin typeface="Arial Black" pitchFamily="34" charset="0"/>
              </a:rPr>
              <a:t>no electrolitos</a:t>
            </a:r>
          </a:p>
        </p:txBody>
      </p:sp>
      <p:sp>
        <p:nvSpPr>
          <p:cNvPr id="45059" name="Rectangle 3"/>
          <p:cNvSpPr>
            <a:spLocks noGrp="1" noChangeArrowheads="1"/>
          </p:cNvSpPr>
          <p:nvPr>
            <p:ph type="body" idx="1"/>
          </p:nvPr>
        </p:nvSpPr>
        <p:spPr>
          <a:xfrm>
            <a:off x="457200" y="1600200"/>
            <a:ext cx="8229600" cy="1685924"/>
          </a:xfrm>
        </p:spPr>
        <p:txBody>
          <a:bodyPr/>
          <a:lstStyle/>
          <a:p>
            <a:pPr>
              <a:buFontTx/>
              <a:buNone/>
            </a:pPr>
            <a:r>
              <a:rPr lang="es-ES" sz="2800" dirty="0" smtClean="0"/>
              <a:t>Son </a:t>
            </a:r>
            <a:r>
              <a:rPr lang="es-ES" sz="2800" dirty="0"/>
              <a:t>propiedades que dependen sólo del número de </a:t>
            </a:r>
            <a:r>
              <a:rPr lang="es-ES" sz="2800" b="1" u="sng" dirty="0">
                <a:solidFill>
                  <a:srgbClr val="0000FF"/>
                </a:solidFill>
              </a:rPr>
              <a:t>partículas</a:t>
            </a:r>
            <a:r>
              <a:rPr lang="es-ES" sz="2800" b="1" dirty="0"/>
              <a:t> </a:t>
            </a:r>
            <a:r>
              <a:rPr lang="es-ES" sz="2800" dirty="0"/>
              <a:t>de soluto en la disolución y no de la naturaleza de las partículas del soluto</a:t>
            </a:r>
          </a:p>
        </p:txBody>
      </p:sp>
      <p:sp>
        <p:nvSpPr>
          <p:cNvPr id="45060" name="AutoShape 4"/>
          <p:cNvSpPr>
            <a:spLocks noChangeArrowheads="1"/>
          </p:cNvSpPr>
          <p:nvPr/>
        </p:nvSpPr>
        <p:spPr bwMode="auto">
          <a:xfrm>
            <a:off x="7486650" y="260350"/>
            <a:ext cx="1657350" cy="1081088"/>
          </a:xfrm>
          <a:prstGeom prst="wedgeRoundRectCallout">
            <a:avLst>
              <a:gd name="adj1" fmla="val -58810"/>
              <a:gd name="adj2" fmla="val 130912"/>
              <a:gd name="adj3" fmla="val 16667"/>
            </a:avLst>
          </a:prstGeom>
          <a:solidFill>
            <a:schemeClr val="accent1"/>
          </a:solidFill>
          <a:ln w="9525">
            <a:solidFill>
              <a:schemeClr val="tx1"/>
            </a:solidFill>
            <a:miter lim="800000"/>
            <a:headEnd/>
            <a:tailEnd/>
          </a:ln>
          <a:effectLst/>
        </p:spPr>
        <p:txBody>
          <a:bodyPr/>
          <a:lstStyle/>
          <a:p>
            <a:pPr algn="ctr"/>
            <a:r>
              <a:rPr lang="es-ES" dirty="0"/>
              <a:t>Molécula, ion </a:t>
            </a:r>
            <a:r>
              <a:rPr lang="es-ES" dirty="0" smtClean="0"/>
              <a:t>o átomos.</a:t>
            </a:r>
            <a:endParaRPr lang="es-ES" dirty="0"/>
          </a:p>
        </p:txBody>
      </p:sp>
      <p:sp>
        <p:nvSpPr>
          <p:cNvPr id="45061" name="Text Box 5"/>
          <p:cNvSpPr txBox="1">
            <a:spLocks noChangeArrowheads="1"/>
          </p:cNvSpPr>
          <p:nvPr/>
        </p:nvSpPr>
        <p:spPr bwMode="auto">
          <a:xfrm>
            <a:off x="1928794" y="3214686"/>
            <a:ext cx="6083781" cy="2246769"/>
          </a:xfrm>
          <a:prstGeom prst="rect">
            <a:avLst/>
          </a:prstGeom>
          <a:noFill/>
          <a:ln w="9525">
            <a:noFill/>
            <a:miter lim="800000"/>
            <a:headEnd/>
            <a:tailEnd/>
          </a:ln>
          <a:effectLst/>
        </p:spPr>
        <p:txBody>
          <a:bodyPr wrap="none">
            <a:spAutoFit/>
          </a:bodyPr>
          <a:lstStyle/>
          <a:p>
            <a:pPr marL="342900" indent="-342900"/>
            <a:r>
              <a:rPr lang="es-ES" sz="2800" dirty="0"/>
              <a:t>Propiedades </a:t>
            </a:r>
            <a:r>
              <a:rPr lang="es-ES" sz="2800" dirty="0" err="1"/>
              <a:t>coligativas</a:t>
            </a:r>
            <a:r>
              <a:rPr lang="es-ES" sz="2800" dirty="0"/>
              <a:t> son:</a:t>
            </a:r>
          </a:p>
          <a:p>
            <a:pPr marL="342900" indent="-342900">
              <a:buFontTx/>
              <a:buChar char="•"/>
            </a:pPr>
            <a:r>
              <a:rPr lang="es-ES" sz="2800" dirty="0"/>
              <a:t>Disminución de la presión de vapor</a:t>
            </a:r>
          </a:p>
          <a:p>
            <a:pPr marL="342900" indent="-342900">
              <a:buFontTx/>
              <a:buChar char="•"/>
            </a:pPr>
            <a:r>
              <a:rPr lang="es-ES" sz="2800" dirty="0"/>
              <a:t>Aumento del punto de ebullición</a:t>
            </a:r>
          </a:p>
          <a:p>
            <a:pPr marL="342900" indent="-342900">
              <a:buFontTx/>
              <a:buChar char="•"/>
            </a:pPr>
            <a:r>
              <a:rPr lang="es-ES" sz="2800" dirty="0"/>
              <a:t>Disminución del punto de congelación</a:t>
            </a:r>
          </a:p>
          <a:p>
            <a:pPr marL="342900" indent="-342900">
              <a:buFontTx/>
              <a:buChar char="•"/>
            </a:pPr>
            <a:r>
              <a:rPr lang="es-ES" sz="2800" dirty="0"/>
              <a:t>Presión osmótica</a:t>
            </a:r>
          </a:p>
        </p:txBody>
      </p:sp>
      <p:sp>
        <p:nvSpPr>
          <p:cNvPr id="6" name="5 CuadroTexto"/>
          <p:cNvSpPr txBox="1"/>
          <p:nvPr/>
        </p:nvSpPr>
        <p:spPr>
          <a:xfrm>
            <a:off x="357158" y="5715016"/>
            <a:ext cx="8501122" cy="830997"/>
          </a:xfrm>
          <a:prstGeom prst="rect">
            <a:avLst/>
          </a:prstGeom>
          <a:noFill/>
        </p:spPr>
        <p:txBody>
          <a:bodyPr wrap="square" rtlCol="0">
            <a:spAutoFit/>
          </a:bodyPr>
          <a:lstStyle/>
          <a:p>
            <a:r>
              <a:rPr lang="es-ES" sz="2400" dirty="0" smtClean="0"/>
              <a:t>Son soluciones relativamente diluidas, es decir cuya concentración ≤ 0.2M</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p:cTn id="7" dur="500" fill="hold"/>
                                        <p:tgtEl>
                                          <p:spTgt spid="4505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505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5060"/>
                                        </p:tgtEl>
                                        <p:attrNameLst>
                                          <p:attrName>style.visibility</p:attrName>
                                        </p:attrNameLst>
                                      </p:cBhvr>
                                      <p:to>
                                        <p:strVal val="visible"/>
                                      </p:to>
                                    </p:set>
                                    <p:animEffect transition="in" filter="wipe(down)">
                                      <p:cBhvr>
                                        <p:cTn id="13" dur="500"/>
                                        <p:tgtEl>
                                          <p:spTgt spid="4506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5061"/>
                                        </p:tgtEl>
                                        <p:attrNameLst>
                                          <p:attrName>style.visibility</p:attrName>
                                        </p:attrNameLst>
                                      </p:cBhvr>
                                      <p:to>
                                        <p:strVal val="visible"/>
                                      </p:to>
                                    </p:set>
                                    <p:animEffect transition="in" filter="wipe(down)">
                                      <p:cBhvr>
                                        <p:cTn id="18" dur="500"/>
                                        <p:tgtEl>
                                          <p:spTgt spid="45061"/>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animBg="1"/>
      <p:bldP spid="45061"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La presión del Vapor &lt;ul&gt;&lt;li&gt;Es la presión ejercida por un vapor sobre su estado líquido cuando ambos están en equilibrio ..."/>
          <p:cNvPicPr>
            <a:picLocks noChangeAspect="1" noChangeArrowheads="1"/>
          </p:cNvPicPr>
          <p:nvPr/>
        </p:nvPicPr>
        <p:blipFill>
          <a:blip r:embed="rId2"/>
          <a:srcRect/>
          <a:stretch>
            <a:fillRect/>
          </a:stretch>
        </p:blipFill>
        <p:spPr bwMode="auto">
          <a:xfrm>
            <a:off x="857224" y="928670"/>
            <a:ext cx="6934200" cy="5200651"/>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propiedades-coligativas-de-las-disoluciones-8-728.jpg"/>
          <p:cNvPicPr>
            <a:picLocks noChangeAspect="1"/>
          </p:cNvPicPr>
          <p:nvPr/>
        </p:nvPicPr>
        <p:blipFill>
          <a:blip r:embed="rId2"/>
          <a:stretch>
            <a:fillRect/>
          </a:stretch>
        </p:blipFill>
        <p:spPr>
          <a:xfrm>
            <a:off x="1104900" y="828675"/>
            <a:ext cx="6934200" cy="520065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02082" y="692696"/>
            <a:ext cx="8640960" cy="2308324"/>
          </a:xfrm>
          <a:prstGeom prst="rect">
            <a:avLst/>
          </a:prstGeom>
        </p:spPr>
        <p:txBody>
          <a:bodyPr wrap="square">
            <a:spAutoFit/>
          </a:bodyPr>
          <a:lstStyle/>
          <a:p>
            <a:pPr algn="just"/>
            <a:r>
              <a:rPr lang="es-ES" dirty="0"/>
              <a:t>La presión de vapor de un disolvente desciende cuando se le añade un soluto no volátil. Este efecto es el resultado de dos factores:</a:t>
            </a:r>
          </a:p>
          <a:p>
            <a:pPr marL="285750" indent="-285750" algn="just">
              <a:buFont typeface="Wingdings" pitchFamily="2" charset="2"/>
              <a:buChar char="Ø"/>
            </a:pPr>
            <a:r>
              <a:rPr lang="es-ES" dirty="0"/>
              <a:t>D</a:t>
            </a:r>
            <a:r>
              <a:rPr lang="es-ES" dirty="0" smtClean="0"/>
              <a:t>isminución </a:t>
            </a:r>
            <a:r>
              <a:rPr lang="es-ES" dirty="0"/>
              <a:t>del número de moléculas del disolvente en la superficie </a:t>
            </a:r>
            <a:r>
              <a:rPr lang="es-ES" dirty="0" smtClean="0"/>
              <a:t>libre.</a:t>
            </a:r>
          </a:p>
          <a:p>
            <a:pPr marL="285750" indent="-285750" algn="just">
              <a:buFont typeface="Wingdings" pitchFamily="2" charset="2"/>
              <a:buChar char="Ø"/>
            </a:pPr>
            <a:r>
              <a:rPr lang="es-ES" dirty="0"/>
              <a:t>A</a:t>
            </a:r>
            <a:r>
              <a:rPr lang="es-ES" dirty="0" smtClean="0"/>
              <a:t>parición </a:t>
            </a:r>
            <a:r>
              <a:rPr lang="es-ES" dirty="0"/>
              <a:t>de fuerzas atractivas entre las moléculas del soluto y las moléculas del disolvente, dificultando su paso a </a:t>
            </a:r>
            <a:r>
              <a:rPr lang="es-ES" dirty="0" smtClean="0"/>
              <a:t>vapor.</a:t>
            </a:r>
          </a:p>
          <a:p>
            <a:pPr algn="just"/>
            <a:endParaRPr lang="es-ES" dirty="0"/>
          </a:p>
          <a:p>
            <a:r>
              <a:rPr lang="es-ES" dirty="0"/>
              <a:t/>
            </a:r>
            <a:br>
              <a:rPr lang="es-ES" dirty="0"/>
            </a:br>
            <a:endParaRPr lang="es-AR" dirty="0"/>
          </a:p>
        </p:txBody>
      </p:sp>
      <p:pic>
        <p:nvPicPr>
          <p:cNvPr id="4199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420888"/>
            <a:ext cx="4981575"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611560" y="5589240"/>
            <a:ext cx="7560840" cy="369332"/>
          </a:xfrm>
          <a:prstGeom prst="rect">
            <a:avLst/>
          </a:prstGeom>
          <a:noFill/>
        </p:spPr>
        <p:txBody>
          <a:bodyPr wrap="square" rtlCol="0">
            <a:spAutoFit/>
          </a:bodyPr>
          <a:lstStyle/>
          <a:p>
            <a:r>
              <a:rPr lang="es-ES" dirty="0"/>
              <a:t>Cuanto más soluto añadimos, menor es la presión de vapor observada. </a:t>
            </a:r>
            <a:endParaRPr lang="es-AR" dirty="0"/>
          </a:p>
        </p:txBody>
      </p:sp>
      <p:pic>
        <p:nvPicPr>
          <p:cNvPr id="4199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30" y="188640"/>
            <a:ext cx="8229600" cy="6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4748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28596" y="0"/>
            <a:ext cx="8229600" cy="1143000"/>
          </a:xfrm>
        </p:spPr>
        <p:txBody>
          <a:bodyPr>
            <a:normAutofit fontScale="90000"/>
          </a:bodyPr>
          <a:lstStyle/>
          <a:p>
            <a:r>
              <a:rPr lang="es-ES" sz="1800" dirty="0">
                <a:latin typeface="Arial Black" pitchFamily="34" charset="0"/>
              </a:rPr>
              <a:t/>
            </a:r>
            <a:br>
              <a:rPr lang="es-ES" sz="1800" dirty="0">
                <a:latin typeface="Arial Black" pitchFamily="34" charset="0"/>
              </a:rPr>
            </a:br>
            <a:r>
              <a:rPr lang="es-ES" sz="2700" dirty="0" smtClean="0">
                <a:latin typeface="Arial Black" pitchFamily="34" charset="0"/>
              </a:rPr>
              <a:t>Disminución </a:t>
            </a:r>
            <a:r>
              <a:rPr lang="es-ES" sz="2700" dirty="0">
                <a:latin typeface="Arial Black" pitchFamily="34" charset="0"/>
              </a:rPr>
              <a:t>de la presión de vapor</a:t>
            </a:r>
            <a:br>
              <a:rPr lang="es-ES" sz="2700" dirty="0">
                <a:latin typeface="Arial Black" pitchFamily="34" charset="0"/>
              </a:rPr>
            </a:br>
            <a:r>
              <a:rPr lang="es-ES" sz="2700" dirty="0" smtClean="0">
                <a:latin typeface="Arial Black" pitchFamily="34" charset="0"/>
              </a:rPr>
              <a:t>Ley </a:t>
            </a:r>
            <a:r>
              <a:rPr lang="es-ES" sz="2700" dirty="0">
                <a:latin typeface="Arial Black" pitchFamily="34" charset="0"/>
              </a:rPr>
              <a:t>de </a:t>
            </a:r>
            <a:r>
              <a:rPr lang="es-ES" sz="2700" dirty="0" err="1">
                <a:latin typeface="Arial Black" pitchFamily="34" charset="0"/>
              </a:rPr>
              <a:t>Raoult</a:t>
            </a:r>
            <a:r>
              <a:rPr lang="es-ES" sz="1800" dirty="0">
                <a:latin typeface="Arial Black" pitchFamily="34" charset="0"/>
              </a:rPr>
              <a:t/>
            </a:r>
            <a:br>
              <a:rPr lang="es-ES" sz="1800" dirty="0">
                <a:latin typeface="Arial Black" pitchFamily="34" charset="0"/>
              </a:rPr>
            </a:br>
            <a:endParaRPr lang="es-ES" sz="1800" dirty="0">
              <a:latin typeface="Arial Black" pitchFamily="34" charset="0"/>
            </a:endParaRPr>
          </a:p>
        </p:txBody>
      </p:sp>
      <p:sp>
        <p:nvSpPr>
          <p:cNvPr id="59395" name="Rectangle 3"/>
          <p:cNvSpPr>
            <a:spLocks noGrp="1" noChangeArrowheads="1"/>
          </p:cNvSpPr>
          <p:nvPr>
            <p:ph type="body" sz="half" idx="1"/>
          </p:nvPr>
        </p:nvSpPr>
        <p:spPr>
          <a:xfrm>
            <a:off x="500034" y="1196975"/>
            <a:ext cx="8358246" cy="647700"/>
          </a:xfrm>
        </p:spPr>
        <p:txBody>
          <a:bodyPr>
            <a:noAutofit/>
          </a:bodyPr>
          <a:lstStyle/>
          <a:p>
            <a:pPr>
              <a:lnSpc>
                <a:spcPct val="90000"/>
              </a:lnSpc>
            </a:pPr>
            <a:r>
              <a:rPr lang="es-ES" sz="2000" b="1" dirty="0"/>
              <a:t>Cuantitativamente la expresión de la disminución de la </a:t>
            </a:r>
            <a:r>
              <a:rPr lang="es-ES" sz="2000" b="1" dirty="0" err="1"/>
              <a:t>Pv</a:t>
            </a:r>
            <a:r>
              <a:rPr lang="es-ES" sz="2000" b="1" dirty="0"/>
              <a:t> de un solvente por efecto de un soluto no </a:t>
            </a:r>
            <a:r>
              <a:rPr lang="es-ES" sz="2000" b="1" dirty="0" smtClean="0"/>
              <a:t>volátil (ej. Azúcar u otro solido no polar en agua)  </a:t>
            </a:r>
            <a:r>
              <a:rPr lang="es-ES" sz="2000" b="1" dirty="0"/>
              <a:t>esta dada por esta ley.</a:t>
            </a:r>
          </a:p>
        </p:txBody>
      </p:sp>
      <p:sp>
        <p:nvSpPr>
          <p:cNvPr id="59396" name="AutoShape 4"/>
          <p:cNvSpPr>
            <a:spLocks noChangeArrowheads="1"/>
          </p:cNvSpPr>
          <p:nvPr/>
        </p:nvSpPr>
        <p:spPr bwMode="auto">
          <a:xfrm>
            <a:off x="3983842" y="1857364"/>
            <a:ext cx="2916237" cy="434975"/>
          </a:xfrm>
          <a:prstGeom prst="wedgeRectCallout">
            <a:avLst>
              <a:gd name="adj1" fmla="val -51634"/>
              <a:gd name="adj2" fmla="val 127009"/>
            </a:avLst>
          </a:prstGeom>
          <a:solidFill>
            <a:srgbClr val="FFFFCC"/>
          </a:solidFill>
          <a:ln w="9525">
            <a:solidFill>
              <a:schemeClr val="tx1"/>
            </a:solidFill>
            <a:miter lim="800000"/>
            <a:headEnd/>
            <a:tailEnd/>
          </a:ln>
          <a:effectLst/>
        </p:spPr>
        <p:txBody>
          <a:bodyPr lIns="0" tIns="0" rIns="0" bIns="0" anchor="ctr" anchorCtr="1">
            <a:spAutoFit/>
          </a:bodyPr>
          <a:lstStyle/>
          <a:p>
            <a:pPr algn="ctr"/>
            <a:r>
              <a:rPr lang="es-ES" sz="1400" dirty="0" err="1"/>
              <a:t>Pv</a:t>
            </a:r>
            <a:r>
              <a:rPr lang="es-ES" sz="1400" dirty="0"/>
              <a:t> del solvente puro a la misma Temperatura</a:t>
            </a:r>
          </a:p>
        </p:txBody>
      </p:sp>
      <p:sp>
        <p:nvSpPr>
          <p:cNvPr id="59397" name="AutoShape 5"/>
          <p:cNvSpPr>
            <a:spLocks noChangeArrowheads="1"/>
          </p:cNvSpPr>
          <p:nvPr/>
        </p:nvSpPr>
        <p:spPr bwMode="auto">
          <a:xfrm>
            <a:off x="1878476" y="2936437"/>
            <a:ext cx="1512887" cy="647700"/>
          </a:xfrm>
          <a:prstGeom prst="wedgeRectCallout">
            <a:avLst>
              <a:gd name="adj1" fmla="val 19676"/>
              <a:gd name="adj2" fmla="val -77694"/>
            </a:avLst>
          </a:prstGeom>
          <a:solidFill>
            <a:srgbClr val="FFFFCC"/>
          </a:solidFill>
          <a:ln w="9525">
            <a:solidFill>
              <a:srgbClr val="FF3300"/>
            </a:solidFill>
            <a:miter lim="800000"/>
            <a:headEnd/>
            <a:tailEnd/>
          </a:ln>
          <a:effectLst/>
        </p:spPr>
        <p:txBody>
          <a:bodyPr lIns="0" tIns="0" rIns="0" bIns="0" anchor="ctr" anchorCtr="1">
            <a:spAutoFit/>
          </a:bodyPr>
          <a:lstStyle/>
          <a:p>
            <a:pPr algn="ctr"/>
            <a:r>
              <a:rPr lang="es-ES" sz="1400" dirty="0">
                <a:solidFill>
                  <a:srgbClr val="FF3300"/>
                </a:solidFill>
              </a:rPr>
              <a:t>Fracción molar del solvente en la solución</a:t>
            </a:r>
          </a:p>
        </p:txBody>
      </p:sp>
      <p:sp>
        <p:nvSpPr>
          <p:cNvPr id="59398" name="AutoShape 6"/>
          <p:cNvSpPr>
            <a:spLocks noChangeArrowheads="1"/>
          </p:cNvSpPr>
          <p:nvPr/>
        </p:nvSpPr>
        <p:spPr bwMode="auto">
          <a:xfrm>
            <a:off x="214282" y="3429000"/>
            <a:ext cx="1512888" cy="434975"/>
          </a:xfrm>
          <a:prstGeom prst="wedgeRectCallout">
            <a:avLst>
              <a:gd name="adj1" fmla="val 34319"/>
              <a:gd name="adj2" fmla="val -168546"/>
            </a:avLst>
          </a:prstGeom>
          <a:gradFill rotWithShape="1">
            <a:gsLst>
              <a:gs pos="0">
                <a:srgbClr val="FFCC00"/>
              </a:gs>
              <a:gs pos="100000">
                <a:schemeClr val="bg1"/>
              </a:gs>
            </a:gsLst>
            <a:lin ang="18900000" scaled="1"/>
          </a:gradFill>
          <a:ln w="9525">
            <a:solidFill>
              <a:schemeClr val="tx1"/>
            </a:solidFill>
            <a:miter lim="800000"/>
            <a:headEnd/>
            <a:tailEnd/>
          </a:ln>
          <a:effectLst/>
        </p:spPr>
        <p:txBody>
          <a:bodyPr lIns="0" tIns="0" rIns="0" bIns="0" anchor="ctr" anchorCtr="1">
            <a:spAutoFit/>
          </a:bodyPr>
          <a:lstStyle/>
          <a:p>
            <a:pPr algn="ctr"/>
            <a:r>
              <a:rPr lang="es-ES" sz="1400" dirty="0" err="1"/>
              <a:t>Pv</a:t>
            </a:r>
            <a:r>
              <a:rPr lang="es-ES" sz="1400" dirty="0"/>
              <a:t> del solvente en la solución</a:t>
            </a:r>
          </a:p>
        </p:txBody>
      </p:sp>
      <p:sp>
        <p:nvSpPr>
          <p:cNvPr id="59399" name="Rectangle 7"/>
          <p:cNvSpPr>
            <a:spLocks noChangeArrowheads="1"/>
          </p:cNvSpPr>
          <p:nvPr/>
        </p:nvSpPr>
        <p:spPr bwMode="auto">
          <a:xfrm>
            <a:off x="5256213" y="5229225"/>
            <a:ext cx="3887787" cy="2663825"/>
          </a:xfrm>
          <a:prstGeom prst="rect">
            <a:avLst/>
          </a:prstGeom>
          <a:noFill/>
          <a:ln w="9525">
            <a:noFill/>
            <a:miter lim="800000"/>
            <a:headEnd/>
            <a:tailEnd/>
          </a:ln>
          <a:effectLst/>
        </p:spPr>
        <p:txBody>
          <a:bodyPr/>
          <a:lstStyle/>
          <a:p>
            <a:pPr marL="342900" indent="-342900">
              <a:lnSpc>
                <a:spcPct val="90000"/>
              </a:lnSpc>
              <a:spcBef>
                <a:spcPct val="20000"/>
              </a:spcBef>
              <a:buFontTx/>
              <a:buChar char="•"/>
            </a:pPr>
            <a:endParaRPr lang="en-US" sz="1800">
              <a:latin typeface="Arial" charset="0"/>
            </a:endParaRPr>
          </a:p>
        </p:txBody>
      </p:sp>
      <p:graphicFrame>
        <p:nvGraphicFramePr>
          <p:cNvPr id="59401" name="Object 9"/>
          <p:cNvGraphicFramePr>
            <a:graphicFrameLocks noGrp="1" noChangeAspect="1"/>
          </p:cNvGraphicFramePr>
          <p:nvPr>
            <p:ph sz="half" idx="2"/>
            <p:extLst>
              <p:ext uri="{D42A27DB-BD31-4B8C-83A1-F6EECF244321}">
                <p14:modId xmlns:p14="http://schemas.microsoft.com/office/powerpoint/2010/main" val="2327217057"/>
              </p:ext>
            </p:extLst>
          </p:nvPr>
        </p:nvGraphicFramePr>
        <p:xfrm>
          <a:off x="1019408" y="2292339"/>
          <a:ext cx="2828599" cy="543049"/>
        </p:xfrm>
        <a:graphic>
          <a:graphicData uri="http://schemas.openxmlformats.org/presentationml/2006/ole">
            <mc:AlternateContent xmlns:mc="http://schemas.openxmlformats.org/markup-compatibility/2006">
              <mc:Choice xmlns:v="urn:schemas-microsoft-com:vml" Requires="v">
                <p:oleObj spid="_x0000_s1081" name="Ecuación" r:id="rId4" imgW="1320480" imgH="253800" progId="Equation.3">
                  <p:embed/>
                </p:oleObj>
              </mc:Choice>
              <mc:Fallback>
                <p:oleObj name="Ecuación" r:id="rId4" imgW="1320480" imgH="253800" progId="Equation.3">
                  <p:embed/>
                  <p:pic>
                    <p:nvPicPr>
                      <p:cNvPr id="0" name="Picture 2"/>
                      <p:cNvPicPr>
                        <a:picLocks noChangeAspect="1" noChangeArrowheads="1"/>
                      </p:cNvPicPr>
                      <p:nvPr/>
                    </p:nvPicPr>
                    <p:blipFill>
                      <a:blip r:embed="rId5"/>
                      <a:srcRect/>
                      <a:stretch>
                        <a:fillRect/>
                      </a:stretch>
                    </p:blipFill>
                    <p:spPr bwMode="auto">
                      <a:xfrm>
                        <a:off x="1019408" y="2292339"/>
                        <a:ext cx="2828599" cy="543049"/>
                      </a:xfrm>
                      <a:prstGeom prst="rect">
                        <a:avLst/>
                      </a:prstGeom>
                      <a:noFill/>
                      <a:extLst/>
                    </p:spPr>
                  </p:pic>
                </p:oleObj>
              </mc:Fallback>
            </mc:AlternateContent>
          </a:graphicData>
        </a:graphic>
      </p:graphicFrame>
      <p:sp>
        <p:nvSpPr>
          <p:cNvPr id="10" name="9 Rectángulo"/>
          <p:cNvSpPr/>
          <p:nvPr/>
        </p:nvSpPr>
        <p:spPr>
          <a:xfrm>
            <a:off x="214282" y="3929066"/>
            <a:ext cx="8643998" cy="1643527"/>
          </a:xfrm>
          <a:prstGeom prst="rect">
            <a:avLst/>
          </a:prstGeom>
        </p:spPr>
        <p:txBody>
          <a:bodyPr wrap="square">
            <a:spAutoFit/>
          </a:bodyPr>
          <a:lstStyle/>
          <a:p>
            <a:pPr algn="just">
              <a:lnSpc>
                <a:spcPct val="80000"/>
              </a:lnSpc>
            </a:pPr>
            <a:r>
              <a:rPr lang="es-ES" b="1" dirty="0" smtClean="0"/>
              <a:t>Puede ocurrir que ambos componentes sean volátiles o más de dos componentes volátiles como las naftas que son mezclas de hidrocarburos volátiles. También se cumple la ley de Raúl.</a:t>
            </a:r>
          </a:p>
          <a:p>
            <a:pPr algn="just">
              <a:lnSpc>
                <a:spcPct val="80000"/>
              </a:lnSpc>
            </a:pPr>
            <a:endParaRPr lang="es-ES" b="1" dirty="0" smtClean="0"/>
          </a:p>
          <a:p>
            <a:pPr algn="just">
              <a:lnSpc>
                <a:spcPct val="80000"/>
              </a:lnSpc>
            </a:pPr>
            <a:r>
              <a:rPr lang="es-ES" b="1" dirty="0" smtClean="0"/>
              <a:t>La presión de vapor de la solución será la suma de las presiones parciales de los componentes de las mezclas. (Supóngase una mezcla de gases A y B), considerando solución ideal.</a:t>
            </a:r>
            <a:endParaRPr lang="es-ES" b="1" dirty="0"/>
          </a:p>
        </p:txBody>
      </p:sp>
      <p:graphicFrame>
        <p:nvGraphicFramePr>
          <p:cNvPr id="1027" name="Object 3"/>
          <p:cNvGraphicFramePr>
            <a:graphicFrameLocks noChangeAspect="1"/>
          </p:cNvGraphicFramePr>
          <p:nvPr/>
        </p:nvGraphicFramePr>
        <p:xfrm>
          <a:off x="571472" y="5500702"/>
          <a:ext cx="2266950" cy="619125"/>
        </p:xfrm>
        <a:graphic>
          <a:graphicData uri="http://schemas.openxmlformats.org/presentationml/2006/ole">
            <mc:AlternateContent xmlns:mc="http://schemas.openxmlformats.org/markup-compatibility/2006">
              <mc:Choice xmlns:v="urn:schemas-microsoft-com:vml" Requires="v">
                <p:oleObj spid="_x0000_s1082" name="Ecuación" r:id="rId6" imgW="838080" imgH="228600" progId="Equation.3">
                  <p:embed/>
                </p:oleObj>
              </mc:Choice>
              <mc:Fallback>
                <p:oleObj name="Ecuación" r:id="rId6" imgW="838080" imgH="2286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472" y="5500702"/>
                        <a:ext cx="2266950" cy="619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nvGraphicFramePr>
        <p:xfrm>
          <a:off x="3857620" y="5500702"/>
          <a:ext cx="2232025" cy="619125"/>
        </p:xfrm>
        <a:graphic>
          <a:graphicData uri="http://schemas.openxmlformats.org/presentationml/2006/ole">
            <mc:AlternateContent xmlns:mc="http://schemas.openxmlformats.org/markup-compatibility/2006">
              <mc:Choice xmlns:v="urn:schemas-microsoft-com:vml" Requires="v">
                <p:oleObj spid="_x0000_s1083" name="Ecuación" r:id="rId8" imgW="825480" imgH="228600" progId="Equation.3">
                  <p:embed/>
                </p:oleObj>
              </mc:Choice>
              <mc:Fallback>
                <p:oleObj name="Ecuación" r:id="rId8" imgW="825480" imgH="228600"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7620" y="5500702"/>
                        <a:ext cx="2232025" cy="619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AutoShape 8"/>
          <p:cNvSpPr>
            <a:spLocks noChangeArrowheads="1"/>
          </p:cNvSpPr>
          <p:nvPr/>
        </p:nvSpPr>
        <p:spPr bwMode="auto">
          <a:xfrm>
            <a:off x="214282" y="6381908"/>
            <a:ext cx="2643206" cy="215444"/>
          </a:xfrm>
          <a:prstGeom prst="wedgeRectCallout">
            <a:avLst>
              <a:gd name="adj1" fmla="val -21611"/>
              <a:gd name="adj2" fmla="val -152190"/>
            </a:avLst>
          </a:prstGeom>
          <a:gradFill rotWithShape="1">
            <a:gsLst>
              <a:gs pos="0">
                <a:srgbClr val="FFCC00"/>
              </a:gs>
              <a:gs pos="100000">
                <a:schemeClr val="bg1"/>
              </a:gs>
            </a:gsLst>
            <a:lin ang="18900000" scaled="1"/>
          </a:gradFill>
          <a:ln w="9525">
            <a:solidFill>
              <a:schemeClr val="tx1"/>
            </a:solidFill>
            <a:miter lim="800000"/>
            <a:headEnd/>
            <a:tailEnd/>
          </a:ln>
          <a:effectLst/>
        </p:spPr>
        <p:txBody>
          <a:bodyPr wrap="square" lIns="0" tIns="0" rIns="0" bIns="0" anchor="ctr" anchorCtr="1">
            <a:spAutoFit/>
          </a:bodyPr>
          <a:lstStyle/>
          <a:p>
            <a:pPr algn="ctr"/>
            <a:r>
              <a:rPr lang="es-ES" sz="1400" dirty="0"/>
              <a:t>Presión parcial del componente </a:t>
            </a:r>
            <a:r>
              <a:rPr lang="es-ES" sz="1400" dirty="0" smtClean="0"/>
              <a:t>A</a:t>
            </a:r>
            <a:endParaRPr lang="es-ES" sz="1400" dirty="0"/>
          </a:p>
        </p:txBody>
      </p:sp>
      <p:graphicFrame>
        <p:nvGraphicFramePr>
          <p:cNvPr id="1029" name="Object 5"/>
          <p:cNvGraphicFramePr>
            <a:graphicFrameLocks noChangeAspect="1"/>
          </p:cNvGraphicFramePr>
          <p:nvPr/>
        </p:nvGraphicFramePr>
        <p:xfrm>
          <a:off x="7072330" y="5643578"/>
          <a:ext cx="1897062" cy="474662"/>
        </p:xfrm>
        <a:graphic>
          <a:graphicData uri="http://schemas.openxmlformats.org/presentationml/2006/ole">
            <mc:AlternateContent xmlns:mc="http://schemas.openxmlformats.org/markup-compatibility/2006">
              <mc:Choice xmlns:v="urn:schemas-microsoft-com:vml" Requires="v">
                <p:oleObj spid="_x0000_s1084" name="Ecuación" r:id="rId10" imgW="914400" imgH="228600" progId="Equation.3">
                  <p:embed/>
                </p:oleObj>
              </mc:Choice>
              <mc:Fallback>
                <p:oleObj name="Ecuación" r:id="rId10" imgW="914400" imgH="228600" progId="Equation.3">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72330" y="5643578"/>
                        <a:ext cx="1897062" cy="474662"/>
                      </a:xfrm>
                      <a:prstGeom prst="rect">
                        <a:avLst/>
                      </a:prstGeom>
                      <a:solidFill>
                        <a:srgbClr val="FFFFCC"/>
                      </a:solidFill>
                      <a:ln w="9525">
                        <a:solidFill>
                          <a:schemeClr val="tx1"/>
                        </a:solidFill>
                        <a:miter lim="800000"/>
                        <a:headEnd/>
                        <a:tailEnd/>
                      </a:ln>
                    </p:spPr>
                  </p:pic>
                </p:oleObj>
              </mc:Fallback>
            </mc:AlternateContent>
          </a:graphicData>
        </a:graphic>
      </p:graphicFrame>
      <p:graphicFrame>
        <p:nvGraphicFramePr>
          <p:cNvPr id="1030" name="Object 6"/>
          <p:cNvGraphicFramePr>
            <a:graphicFrameLocks noChangeAspect="1"/>
          </p:cNvGraphicFramePr>
          <p:nvPr>
            <p:extLst>
              <p:ext uri="{D42A27DB-BD31-4B8C-83A1-F6EECF244321}">
                <p14:modId xmlns:p14="http://schemas.microsoft.com/office/powerpoint/2010/main" val="1436738785"/>
              </p:ext>
            </p:extLst>
          </p:nvPr>
        </p:nvGraphicFramePr>
        <p:xfrm>
          <a:off x="3727450" y="2824163"/>
          <a:ext cx="5394325" cy="687387"/>
        </p:xfrm>
        <a:graphic>
          <a:graphicData uri="http://schemas.openxmlformats.org/presentationml/2006/ole">
            <mc:AlternateContent xmlns:mc="http://schemas.openxmlformats.org/markup-compatibility/2006">
              <mc:Choice xmlns:v="urn:schemas-microsoft-com:vml" Requires="v">
                <p:oleObj spid="_x0000_s1085" name="Ecuación" r:id="rId12" imgW="1993680" imgH="253800" progId="Equation.3">
                  <p:embed/>
                </p:oleObj>
              </mc:Choice>
              <mc:Fallback>
                <p:oleObj name="Ecuación" r:id="rId12" imgW="1993680" imgH="253800" progId="Equation.3">
                  <p:embed/>
                  <p:pic>
                    <p:nvPicPr>
                      <p:cNvPr id="0" name="Picture 6"/>
                      <p:cNvPicPr>
                        <a:picLocks noChangeAspect="1" noChangeArrowheads="1"/>
                      </p:cNvPicPr>
                      <p:nvPr/>
                    </p:nvPicPr>
                    <p:blipFill>
                      <a:blip r:embed="rId13"/>
                      <a:srcRect/>
                      <a:stretch>
                        <a:fillRect/>
                      </a:stretch>
                    </p:blipFill>
                    <p:spPr bwMode="auto">
                      <a:xfrm>
                        <a:off x="3727450" y="2824163"/>
                        <a:ext cx="5394325" cy="6873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AutoShape 5"/>
          <p:cNvSpPr>
            <a:spLocks noChangeArrowheads="1"/>
          </p:cNvSpPr>
          <p:nvPr/>
        </p:nvSpPr>
        <p:spPr bwMode="auto">
          <a:xfrm>
            <a:off x="6660232" y="3433088"/>
            <a:ext cx="1512887" cy="430887"/>
          </a:xfrm>
          <a:prstGeom prst="wedgeRectCallout">
            <a:avLst>
              <a:gd name="adj1" fmla="val 19676"/>
              <a:gd name="adj2" fmla="val -77694"/>
            </a:avLst>
          </a:prstGeom>
          <a:solidFill>
            <a:srgbClr val="FFFFCC"/>
          </a:solidFill>
          <a:ln w="9525">
            <a:solidFill>
              <a:srgbClr val="FF3300"/>
            </a:solidFill>
            <a:miter lim="800000"/>
            <a:headEnd/>
            <a:tailEnd/>
          </a:ln>
          <a:effectLst/>
        </p:spPr>
        <p:txBody>
          <a:bodyPr lIns="0" tIns="0" rIns="0" bIns="0" anchor="ctr" anchorCtr="1">
            <a:spAutoFit/>
          </a:bodyPr>
          <a:lstStyle/>
          <a:p>
            <a:pPr algn="ctr"/>
            <a:r>
              <a:rPr lang="es-ES" sz="1400" dirty="0">
                <a:solidFill>
                  <a:srgbClr val="FF3300"/>
                </a:solidFill>
              </a:rPr>
              <a:t>Fracción molar del </a:t>
            </a:r>
            <a:r>
              <a:rPr lang="es-ES" sz="1400" dirty="0" smtClean="0">
                <a:solidFill>
                  <a:srgbClr val="FF3300"/>
                </a:solidFill>
              </a:rPr>
              <a:t>soluto </a:t>
            </a:r>
            <a:r>
              <a:rPr lang="es-ES" sz="1400" dirty="0">
                <a:solidFill>
                  <a:srgbClr val="FF3300"/>
                </a:solidFill>
              </a:rPr>
              <a:t>en la solución</a:t>
            </a:r>
          </a:p>
        </p:txBody>
      </p:sp>
      <p:sp>
        <p:nvSpPr>
          <p:cNvPr id="17" name="AutoShape 8"/>
          <p:cNvSpPr>
            <a:spLocks noChangeArrowheads="1"/>
          </p:cNvSpPr>
          <p:nvPr/>
        </p:nvSpPr>
        <p:spPr bwMode="auto">
          <a:xfrm>
            <a:off x="3391363" y="6362024"/>
            <a:ext cx="2643206" cy="215444"/>
          </a:xfrm>
          <a:prstGeom prst="wedgeRectCallout">
            <a:avLst>
              <a:gd name="adj1" fmla="val -21611"/>
              <a:gd name="adj2" fmla="val -152190"/>
            </a:avLst>
          </a:prstGeom>
          <a:gradFill rotWithShape="1">
            <a:gsLst>
              <a:gs pos="0">
                <a:srgbClr val="FFCC00"/>
              </a:gs>
              <a:gs pos="100000">
                <a:schemeClr val="bg1"/>
              </a:gs>
            </a:gsLst>
            <a:lin ang="18900000" scaled="1"/>
          </a:gradFill>
          <a:ln w="9525">
            <a:solidFill>
              <a:schemeClr val="tx1"/>
            </a:solidFill>
            <a:miter lim="800000"/>
            <a:headEnd/>
            <a:tailEnd/>
          </a:ln>
          <a:effectLst/>
        </p:spPr>
        <p:txBody>
          <a:bodyPr wrap="square" lIns="0" tIns="0" rIns="0" bIns="0" anchor="ctr" anchorCtr="1">
            <a:spAutoFit/>
          </a:bodyPr>
          <a:lstStyle/>
          <a:p>
            <a:pPr algn="ctr"/>
            <a:r>
              <a:rPr lang="es-ES" sz="1400" dirty="0"/>
              <a:t>Presión parcial del componente </a:t>
            </a:r>
            <a:r>
              <a:rPr lang="es-ES" sz="1400" dirty="0" smtClean="0"/>
              <a:t>B</a:t>
            </a:r>
            <a:endParaRPr lang="es-E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wipe(up)">
                                      <p:cBhvr>
                                        <p:cTn id="7" dur="500"/>
                                        <p:tgtEl>
                                          <p:spTgt spid="593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401"/>
                                        </p:tgtEl>
                                        <p:attrNameLst>
                                          <p:attrName>style.visibility</p:attrName>
                                        </p:attrNameLst>
                                      </p:cBhvr>
                                      <p:to>
                                        <p:strVal val="visible"/>
                                      </p:to>
                                    </p:set>
                                    <p:animEffect transition="in" filter="wipe(down)">
                                      <p:cBhvr>
                                        <p:cTn id="12" dur="500"/>
                                        <p:tgtEl>
                                          <p:spTgt spid="594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9398"/>
                                        </p:tgtEl>
                                        <p:attrNameLst>
                                          <p:attrName>style.visibility</p:attrName>
                                        </p:attrNameLst>
                                      </p:cBhvr>
                                      <p:to>
                                        <p:strVal val="visible"/>
                                      </p:to>
                                    </p:set>
                                    <p:animEffect transition="in" filter="wipe(down)">
                                      <p:cBhvr>
                                        <p:cTn id="17" dur="500"/>
                                        <p:tgtEl>
                                          <p:spTgt spid="593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9396"/>
                                        </p:tgtEl>
                                        <p:attrNameLst>
                                          <p:attrName>style.visibility</p:attrName>
                                        </p:attrNameLst>
                                      </p:cBhvr>
                                      <p:to>
                                        <p:strVal val="visible"/>
                                      </p:to>
                                    </p:set>
                                    <p:animEffect transition="in" filter="wipe(down)">
                                      <p:cBhvr>
                                        <p:cTn id="22" dur="500"/>
                                        <p:tgtEl>
                                          <p:spTgt spid="593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9397"/>
                                        </p:tgtEl>
                                        <p:attrNameLst>
                                          <p:attrName>style.visibility</p:attrName>
                                        </p:attrNameLst>
                                      </p:cBhvr>
                                      <p:to>
                                        <p:strVal val="visible"/>
                                      </p:to>
                                    </p:set>
                                    <p:animEffect transition="in" filter="wipe(down)">
                                      <p:cBhvr>
                                        <p:cTn id="27" dur="500"/>
                                        <p:tgtEl>
                                          <p:spTgt spid="5939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27"/>
                                        </p:tgtEl>
                                        <p:attrNameLst>
                                          <p:attrName>style.visibility</p:attrName>
                                        </p:attrNameLst>
                                      </p:cBhvr>
                                      <p:to>
                                        <p:strVal val="visible"/>
                                      </p:to>
                                    </p:set>
                                    <p:animEffect transition="in" filter="wipe(down)">
                                      <p:cBhvr>
                                        <p:cTn id="37" dur="500"/>
                                        <p:tgtEl>
                                          <p:spTgt spid="10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028"/>
                                        </p:tgtEl>
                                        <p:attrNameLst>
                                          <p:attrName>style.visibility</p:attrName>
                                        </p:attrNameLst>
                                      </p:cBhvr>
                                      <p:to>
                                        <p:strVal val="visible"/>
                                      </p:to>
                                    </p:set>
                                    <p:animEffect transition="in" filter="wipe(down)">
                                      <p:cBhvr>
                                        <p:cTn id="42" dur="500"/>
                                        <p:tgtEl>
                                          <p:spTgt spid="10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029"/>
                                        </p:tgtEl>
                                        <p:attrNameLst>
                                          <p:attrName>style.visibility</p:attrName>
                                        </p:attrNameLst>
                                      </p:cBhvr>
                                      <p:to>
                                        <p:strVal val="visible"/>
                                      </p:to>
                                    </p:set>
                                    <p:animEffect transition="in" filter="wipe(down)">
                                      <p:cBhvr>
                                        <p:cTn id="52" dur="500"/>
                                        <p:tgtEl>
                                          <p:spTgt spid="10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030"/>
                                        </p:tgtEl>
                                        <p:attrNameLst>
                                          <p:attrName>style.visibility</p:attrName>
                                        </p:attrNameLst>
                                      </p:cBhvr>
                                      <p:to>
                                        <p:strVal val="visible"/>
                                      </p:to>
                                    </p:set>
                                    <p:animEffect transition="in" filter="wipe(down)">
                                      <p:cBhvr>
                                        <p:cTn id="57" dur="500"/>
                                        <p:tgtEl>
                                          <p:spTgt spid="103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down)">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P spid="59396" grpId="0" animBg="1"/>
      <p:bldP spid="59397" grpId="0" animBg="1"/>
      <p:bldP spid="59398" grpId="0" animBg="1"/>
      <p:bldP spid="10" grpId="0"/>
      <p:bldP spid="13" grpId="0" animBg="1"/>
      <p:bldP spid="18"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428596" y="0"/>
            <a:ext cx="8229600" cy="928670"/>
          </a:xfrm>
        </p:spPr>
        <p:txBody>
          <a:bodyPr>
            <a:normAutofit/>
          </a:bodyPr>
          <a:lstStyle/>
          <a:p>
            <a:r>
              <a:rPr lang="es-ES" sz="2000" dirty="0">
                <a:latin typeface="Arial Black" pitchFamily="34" charset="0"/>
              </a:rPr>
              <a:t>ASCENSO EBULLOSCOPICO</a:t>
            </a:r>
            <a:br>
              <a:rPr lang="es-ES" sz="2000" dirty="0">
                <a:latin typeface="Arial Black" pitchFamily="34" charset="0"/>
              </a:rPr>
            </a:br>
            <a:r>
              <a:rPr lang="es-ES" sz="2000" dirty="0">
                <a:latin typeface="Arial Black" pitchFamily="34" charset="0"/>
              </a:rPr>
              <a:t>ELEVACIÓN DEL PTO. DE EBULLICIÓN</a:t>
            </a:r>
          </a:p>
        </p:txBody>
      </p:sp>
      <p:sp>
        <p:nvSpPr>
          <p:cNvPr id="68614" name="Text Box 6"/>
          <p:cNvSpPr txBox="1">
            <a:spLocks noChangeArrowheads="1"/>
          </p:cNvSpPr>
          <p:nvPr/>
        </p:nvSpPr>
        <p:spPr bwMode="auto">
          <a:xfrm>
            <a:off x="0" y="857232"/>
            <a:ext cx="8643998" cy="1477328"/>
          </a:xfrm>
          <a:prstGeom prst="rect">
            <a:avLst/>
          </a:prstGeom>
          <a:noFill/>
          <a:ln w="9525">
            <a:noFill/>
            <a:miter lim="800000"/>
            <a:headEnd/>
            <a:tailEnd/>
          </a:ln>
          <a:effectLst/>
        </p:spPr>
        <p:txBody>
          <a:bodyPr wrap="square">
            <a:spAutoFit/>
          </a:bodyPr>
          <a:lstStyle/>
          <a:p>
            <a:pPr algn="just"/>
            <a:r>
              <a:rPr lang="es-ES" dirty="0" smtClean="0"/>
              <a:t>El punto de ebullición de una solución es la temperatura a la cual su </a:t>
            </a:r>
            <a:r>
              <a:rPr lang="es-ES" dirty="0" err="1" smtClean="0"/>
              <a:t>Pv</a:t>
            </a:r>
            <a:r>
              <a:rPr lang="es-ES" dirty="0" smtClean="0"/>
              <a:t> iguala a la P atmosférica externa. Debido a que la presencia de un soluto no volátil disminuye la </a:t>
            </a:r>
            <a:r>
              <a:rPr lang="es-ES" dirty="0" err="1" smtClean="0"/>
              <a:t>Pv</a:t>
            </a:r>
            <a:r>
              <a:rPr lang="es-ES" dirty="0" smtClean="0"/>
              <a:t> de la solución también afecta el punto de ebullición de la misma. Punto de </a:t>
            </a:r>
            <a:r>
              <a:rPr lang="es-ES" dirty="0" err="1" smtClean="0"/>
              <a:t>Eb</a:t>
            </a:r>
            <a:r>
              <a:rPr lang="es-ES" dirty="0" smtClean="0"/>
              <a:t>. Normal: ídem anterior pero para la P=1 atm.</a:t>
            </a:r>
          </a:p>
          <a:p>
            <a:pPr algn="just"/>
            <a:endParaRPr lang="es-ES" dirty="0"/>
          </a:p>
        </p:txBody>
      </p:sp>
      <p:pic>
        <p:nvPicPr>
          <p:cNvPr id="42" name="41 Imagen" descr="diagrama de fases.gif"/>
          <p:cNvPicPr>
            <a:picLocks noChangeAspect="1"/>
          </p:cNvPicPr>
          <p:nvPr/>
        </p:nvPicPr>
        <p:blipFill>
          <a:blip r:embed="rId4"/>
          <a:stretch>
            <a:fillRect/>
          </a:stretch>
        </p:blipFill>
        <p:spPr>
          <a:xfrm>
            <a:off x="71406" y="2071678"/>
            <a:ext cx="5072098" cy="3971946"/>
          </a:xfrm>
          <a:prstGeom prst="rect">
            <a:avLst/>
          </a:prstGeom>
        </p:spPr>
      </p:pic>
      <p:sp>
        <p:nvSpPr>
          <p:cNvPr id="43" name="42 CuadroTexto"/>
          <p:cNvSpPr txBox="1"/>
          <p:nvPr/>
        </p:nvSpPr>
        <p:spPr>
          <a:xfrm>
            <a:off x="4788024" y="2000240"/>
            <a:ext cx="4141694" cy="2031325"/>
          </a:xfrm>
          <a:prstGeom prst="rect">
            <a:avLst/>
          </a:prstGeom>
          <a:noFill/>
        </p:spPr>
        <p:txBody>
          <a:bodyPr wrap="square" rtlCol="0">
            <a:spAutoFit/>
          </a:bodyPr>
          <a:lstStyle/>
          <a:p>
            <a:pPr algn="just"/>
            <a:r>
              <a:rPr lang="es-ES" dirty="0" smtClean="0"/>
              <a:t>La curva de vapor de la solución siempre esta por debajo del liquido, debido a que la presencia de un soluto no volátil disminuye la presión de vapor de la solución. Se observa que el punto de ebullición de la solución es mayor que la del agua pura.</a:t>
            </a:r>
            <a:endParaRPr lang="en-US" dirty="0"/>
          </a:p>
        </p:txBody>
      </p:sp>
      <p:graphicFrame>
        <p:nvGraphicFramePr>
          <p:cNvPr id="24577" name="Object 1"/>
          <p:cNvGraphicFramePr>
            <a:graphicFrameLocks noChangeAspect="1"/>
          </p:cNvGraphicFramePr>
          <p:nvPr>
            <p:extLst>
              <p:ext uri="{D42A27DB-BD31-4B8C-83A1-F6EECF244321}">
                <p14:modId xmlns:p14="http://schemas.microsoft.com/office/powerpoint/2010/main" val="2453167548"/>
              </p:ext>
            </p:extLst>
          </p:nvPr>
        </p:nvGraphicFramePr>
        <p:xfrm>
          <a:off x="5381625" y="4344988"/>
          <a:ext cx="2752725" cy="515937"/>
        </p:xfrm>
        <a:graphic>
          <a:graphicData uri="http://schemas.openxmlformats.org/presentationml/2006/ole">
            <mc:AlternateContent xmlns:mc="http://schemas.openxmlformats.org/markup-compatibility/2006">
              <mc:Choice xmlns:v="urn:schemas-microsoft-com:vml" Requires="v">
                <p:oleObj spid="_x0000_s24599" name="Ecuación" r:id="rId5" imgW="1358640" imgH="253800" progId="Equation.3">
                  <p:embed/>
                </p:oleObj>
              </mc:Choice>
              <mc:Fallback>
                <p:oleObj name="Ecuación" r:id="rId5" imgW="1358640" imgH="253800" progId="Equation.3">
                  <p:embed/>
                  <p:pic>
                    <p:nvPicPr>
                      <p:cNvPr id="0" name="Picture 1"/>
                      <p:cNvPicPr>
                        <a:picLocks noChangeAspect="1" noChangeArrowheads="1"/>
                      </p:cNvPicPr>
                      <p:nvPr/>
                    </p:nvPicPr>
                    <p:blipFill>
                      <a:blip r:embed="rId6"/>
                      <a:srcRect/>
                      <a:stretch>
                        <a:fillRect/>
                      </a:stretch>
                    </p:blipFill>
                    <p:spPr bwMode="auto">
                      <a:xfrm>
                        <a:off x="5381625" y="4344988"/>
                        <a:ext cx="2752725" cy="515937"/>
                      </a:xfrm>
                      <a:prstGeom prst="rect">
                        <a:avLst/>
                      </a:prstGeom>
                      <a:solidFill>
                        <a:srgbClr val="FFFFCC"/>
                      </a:solidFill>
                      <a:ln w="9525">
                        <a:solidFill>
                          <a:srgbClr val="FF3300"/>
                        </a:solidFill>
                        <a:miter lim="800000"/>
                        <a:headEnd/>
                        <a:tailEnd/>
                      </a:ln>
                    </p:spPr>
                  </p:pic>
                </p:oleObj>
              </mc:Fallback>
            </mc:AlternateContent>
          </a:graphicData>
        </a:graphic>
      </p:graphicFrame>
      <p:graphicFrame>
        <p:nvGraphicFramePr>
          <p:cNvPr id="24578" name="Object 2"/>
          <p:cNvGraphicFramePr>
            <a:graphicFrameLocks noChangeAspect="1"/>
          </p:cNvGraphicFramePr>
          <p:nvPr>
            <p:extLst>
              <p:ext uri="{D42A27DB-BD31-4B8C-83A1-F6EECF244321}">
                <p14:modId xmlns:p14="http://schemas.microsoft.com/office/powerpoint/2010/main" val="1379268778"/>
              </p:ext>
            </p:extLst>
          </p:nvPr>
        </p:nvGraphicFramePr>
        <p:xfrm>
          <a:off x="5473700" y="5000625"/>
          <a:ext cx="2459038" cy="447675"/>
        </p:xfrm>
        <a:graphic>
          <a:graphicData uri="http://schemas.openxmlformats.org/presentationml/2006/ole">
            <mc:AlternateContent xmlns:mc="http://schemas.openxmlformats.org/markup-compatibility/2006">
              <mc:Choice xmlns:v="urn:schemas-microsoft-com:vml" Requires="v">
                <p:oleObj spid="_x0000_s24600" name="Ecuación" r:id="rId7" imgW="1257120" imgH="228600" progId="Equation.3">
                  <p:embed/>
                </p:oleObj>
              </mc:Choice>
              <mc:Fallback>
                <p:oleObj name="Ecuación" r:id="rId7" imgW="1257120" imgH="228600" progId="Equation.3">
                  <p:embed/>
                  <p:pic>
                    <p:nvPicPr>
                      <p:cNvPr id="0" name="Picture 2"/>
                      <p:cNvPicPr>
                        <a:picLocks noChangeAspect="1" noChangeArrowheads="1"/>
                      </p:cNvPicPr>
                      <p:nvPr/>
                    </p:nvPicPr>
                    <p:blipFill>
                      <a:blip r:embed="rId8"/>
                      <a:srcRect/>
                      <a:stretch>
                        <a:fillRect/>
                      </a:stretch>
                    </p:blipFill>
                    <p:spPr bwMode="auto">
                      <a:xfrm>
                        <a:off x="5473700" y="5000625"/>
                        <a:ext cx="2459038" cy="447675"/>
                      </a:xfrm>
                      <a:prstGeom prst="rect">
                        <a:avLst/>
                      </a:prstGeom>
                      <a:solidFill>
                        <a:srgbClr val="FFFFCC"/>
                      </a:solidFill>
                      <a:ln w="9525">
                        <a:solidFill>
                          <a:srgbClr val="FF3300"/>
                        </a:solidFill>
                        <a:miter lim="800000"/>
                        <a:headEnd/>
                        <a:tailEnd/>
                      </a:ln>
                    </p:spPr>
                  </p:pic>
                </p:oleObj>
              </mc:Fallback>
            </mc:AlternateContent>
          </a:graphicData>
        </a:graphic>
      </p:graphicFrame>
      <p:sp>
        <p:nvSpPr>
          <p:cNvPr id="46" name="45 CuadroTexto"/>
          <p:cNvSpPr txBox="1"/>
          <p:nvPr/>
        </p:nvSpPr>
        <p:spPr>
          <a:xfrm>
            <a:off x="5113759" y="3684177"/>
            <a:ext cx="3929090" cy="677108"/>
          </a:xfrm>
          <a:prstGeom prst="rect">
            <a:avLst/>
          </a:prstGeom>
          <a:noFill/>
        </p:spPr>
        <p:txBody>
          <a:bodyPr wrap="square" rtlCol="0">
            <a:spAutoFit/>
          </a:bodyPr>
          <a:lstStyle/>
          <a:p>
            <a:endParaRPr lang="es-ES" dirty="0" smtClean="0"/>
          </a:p>
          <a:p>
            <a:r>
              <a:rPr lang="es-ES" sz="2000" b="1" dirty="0" smtClean="0"/>
              <a:t>Calculo del ascenso </a:t>
            </a:r>
            <a:r>
              <a:rPr lang="es-ES" sz="2000" b="1" dirty="0" err="1" smtClean="0"/>
              <a:t>ebulloscopico</a:t>
            </a:r>
            <a:r>
              <a:rPr lang="es-ES" sz="2000" b="1" dirty="0" smtClean="0"/>
              <a:t>:</a:t>
            </a:r>
            <a:endParaRPr lang="en-US" sz="2000" b="1" dirty="0"/>
          </a:p>
        </p:txBody>
      </p:sp>
      <p:sp>
        <p:nvSpPr>
          <p:cNvPr id="47" name="Text Box 17"/>
          <p:cNvSpPr txBox="1">
            <a:spLocks noChangeArrowheads="1"/>
          </p:cNvSpPr>
          <p:nvPr/>
        </p:nvSpPr>
        <p:spPr bwMode="auto">
          <a:xfrm>
            <a:off x="5429256" y="5643578"/>
            <a:ext cx="3500462" cy="646331"/>
          </a:xfrm>
          <a:prstGeom prst="rect">
            <a:avLst/>
          </a:prstGeom>
          <a:noFill/>
          <a:ln w="9525">
            <a:noFill/>
            <a:miter lim="800000"/>
            <a:headEnd/>
            <a:tailEnd/>
          </a:ln>
          <a:effectLst/>
        </p:spPr>
        <p:txBody>
          <a:bodyPr wrap="square">
            <a:spAutoFit/>
          </a:bodyPr>
          <a:lstStyle/>
          <a:p>
            <a:r>
              <a:rPr lang="es-ES" dirty="0"/>
              <a:t>Kb: </a:t>
            </a:r>
            <a:r>
              <a:rPr lang="es-ES" dirty="0" err="1"/>
              <a:t>cte</a:t>
            </a:r>
            <a:r>
              <a:rPr lang="es-ES" dirty="0"/>
              <a:t> </a:t>
            </a:r>
            <a:r>
              <a:rPr lang="es-ES" dirty="0" err="1"/>
              <a:t>molal</a:t>
            </a:r>
            <a:r>
              <a:rPr lang="es-ES" dirty="0"/>
              <a:t> de </a:t>
            </a:r>
            <a:r>
              <a:rPr lang="es-ES" dirty="0" err="1"/>
              <a:t>asc.ebulloscópico</a:t>
            </a:r>
            <a:endParaRPr lang="es-ES" dirty="0"/>
          </a:p>
          <a:p>
            <a:r>
              <a:rPr lang="es-ES" dirty="0">
                <a:solidFill>
                  <a:srgbClr val="FF3300"/>
                </a:solidFill>
              </a:rPr>
              <a:t>m</a:t>
            </a:r>
            <a:r>
              <a:rPr lang="es-ES" dirty="0"/>
              <a:t>= moles / kg de solvente (agua)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4"/>
                                        </p:tgtEl>
                                        <p:attrNameLst>
                                          <p:attrName>style.visibility</p:attrName>
                                        </p:attrNameLst>
                                      </p:cBhvr>
                                      <p:to>
                                        <p:strVal val="visible"/>
                                      </p:to>
                                    </p:set>
                                    <p:animEffect transition="in" filter="wipe(up)">
                                      <p:cBhvr>
                                        <p:cTn id="7" dur="500"/>
                                        <p:tgtEl>
                                          <p:spTgt spid="686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ox(in)">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box(in)">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box(in)">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4577"/>
                                        </p:tgtEl>
                                        <p:attrNameLst>
                                          <p:attrName>style.visibility</p:attrName>
                                        </p:attrNameLst>
                                      </p:cBhvr>
                                      <p:to>
                                        <p:strVal val="visible"/>
                                      </p:to>
                                    </p:set>
                                    <p:animEffect transition="in" filter="box(in)">
                                      <p:cBhvr>
                                        <p:cTn id="27" dur="500"/>
                                        <p:tgtEl>
                                          <p:spTgt spid="2457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4578"/>
                                        </p:tgtEl>
                                        <p:attrNameLst>
                                          <p:attrName>style.visibility</p:attrName>
                                        </p:attrNameLst>
                                      </p:cBhvr>
                                      <p:to>
                                        <p:strVal val="visible"/>
                                      </p:to>
                                    </p:set>
                                    <p:animEffect transition="in" filter="box(in)">
                                      <p:cBhvr>
                                        <p:cTn id="32" dur="500"/>
                                        <p:tgtEl>
                                          <p:spTgt spid="245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down)">
                                      <p:cBhvr>
                                        <p:cTn id="3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p:bldP spid="43" grpId="0"/>
      <p:bldP spid="46"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28596" y="142852"/>
            <a:ext cx="8229600" cy="1143000"/>
          </a:xfrm>
        </p:spPr>
        <p:txBody>
          <a:bodyPr/>
          <a:lstStyle/>
          <a:p>
            <a:r>
              <a:rPr lang="es-ES" sz="2000" dirty="0">
                <a:latin typeface="Arial Black" pitchFamily="34" charset="0"/>
              </a:rPr>
              <a:t>DESCENSO CRIOSCÓPICO</a:t>
            </a:r>
            <a:br>
              <a:rPr lang="es-ES" sz="2000" dirty="0">
                <a:latin typeface="Arial Black" pitchFamily="34" charset="0"/>
              </a:rPr>
            </a:br>
            <a:r>
              <a:rPr lang="es-ES" sz="2000" dirty="0">
                <a:latin typeface="Arial Black" pitchFamily="34" charset="0"/>
              </a:rPr>
              <a:t>DISMINUCIÓN DEL PTO. DE CONGELACIÓN</a:t>
            </a:r>
          </a:p>
        </p:txBody>
      </p:sp>
      <p:sp>
        <p:nvSpPr>
          <p:cNvPr id="5" name="4 CuadroTexto"/>
          <p:cNvSpPr txBox="1"/>
          <p:nvPr/>
        </p:nvSpPr>
        <p:spPr>
          <a:xfrm>
            <a:off x="357158" y="1285860"/>
            <a:ext cx="8572560" cy="923330"/>
          </a:xfrm>
          <a:prstGeom prst="rect">
            <a:avLst/>
          </a:prstGeom>
          <a:noFill/>
        </p:spPr>
        <p:txBody>
          <a:bodyPr wrap="square" rtlCol="0">
            <a:spAutoFit/>
          </a:bodyPr>
          <a:lstStyle/>
          <a:p>
            <a:pPr algn="just"/>
            <a:r>
              <a:rPr lang="es-ES" dirty="0" smtClean="0"/>
              <a:t>En la figura se  observa que al disminuir la P vapor de la solución, la curva solido-liquido se desplaza hacia la izquierda. La intersección de esta línea con la línea horizontal ocurre a una temperatura menor que para el punto de congelación del agua.</a:t>
            </a:r>
            <a:endParaRPr lang="en-US" dirty="0"/>
          </a:p>
        </p:txBody>
      </p:sp>
      <p:sp>
        <p:nvSpPr>
          <p:cNvPr id="6" name="5 Rectángulo"/>
          <p:cNvSpPr/>
          <p:nvPr/>
        </p:nvSpPr>
        <p:spPr>
          <a:xfrm>
            <a:off x="154110" y="2209190"/>
            <a:ext cx="3705502" cy="400110"/>
          </a:xfrm>
          <a:prstGeom prst="rect">
            <a:avLst/>
          </a:prstGeom>
        </p:spPr>
        <p:txBody>
          <a:bodyPr wrap="none">
            <a:spAutoFit/>
          </a:bodyPr>
          <a:lstStyle/>
          <a:p>
            <a:r>
              <a:rPr lang="es-ES" sz="2000" b="1" dirty="0" smtClean="0"/>
              <a:t>Calculo del descenso </a:t>
            </a:r>
            <a:r>
              <a:rPr lang="es-ES" sz="2000" b="1" dirty="0" err="1" smtClean="0"/>
              <a:t>crioscópico</a:t>
            </a:r>
            <a:r>
              <a:rPr lang="es-ES" sz="2000" b="1" dirty="0" smtClean="0"/>
              <a:t>:</a:t>
            </a:r>
            <a:endParaRPr lang="en-US" sz="2000" b="1" dirty="0"/>
          </a:p>
        </p:txBody>
      </p:sp>
      <p:graphicFrame>
        <p:nvGraphicFramePr>
          <p:cNvPr id="40962" name="Object 2"/>
          <p:cNvGraphicFramePr>
            <a:graphicFrameLocks noChangeAspect="1"/>
          </p:cNvGraphicFramePr>
          <p:nvPr>
            <p:extLst>
              <p:ext uri="{D42A27DB-BD31-4B8C-83A1-F6EECF244321}">
                <p14:modId xmlns:p14="http://schemas.microsoft.com/office/powerpoint/2010/main" val="3731791914"/>
              </p:ext>
            </p:extLst>
          </p:nvPr>
        </p:nvGraphicFramePr>
        <p:xfrm>
          <a:off x="166266" y="2614529"/>
          <a:ext cx="2749550" cy="512762"/>
        </p:xfrm>
        <a:graphic>
          <a:graphicData uri="http://schemas.openxmlformats.org/presentationml/2006/ole">
            <mc:AlternateContent xmlns:mc="http://schemas.openxmlformats.org/markup-compatibility/2006">
              <mc:Choice xmlns:v="urn:schemas-microsoft-com:vml" Requires="v">
                <p:oleObj spid="_x0000_s40982" name="Ecuación" r:id="rId3" imgW="1358640" imgH="253800" progId="Equation.3">
                  <p:embed/>
                </p:oleObj>
              </mc:Choice>
              <mc:Fallback>
                <p:oleObj name="Ecuación" r:id="rId3" imgW="1358640" imgH="253800" progId="Equation.3">
                  <p:embed/>
                  <p:pic>
                    <p:nvPicPr>
                      <p:cNvPr id="0" name="Picture 2"/>
                      <p:cNvPicPr>
                        <a:picLocks noChangeAspect="1" noChangeArrowheads="1"/>
                      </p:cNvPicPr>
                      <p:nvPr/>
                    </p:nvPicPr>
                    <p:blipFill>
                      <a:blip r:embed="rId4"/>
                      <a:srcRect/>
                      <a:stretch>
                        <a:fillRect/>
                      </a:stretch>
                    </p:blipFill>
                    <p:spPr bwMode="auto">
                      <a:xfrm>
                        <a:off x="166266" y="2614529"/>
                        <a:ext cx="2749550" cy="512762"/>
                      </a:xfrm>
                      <a:prstGeom prst="rect">
                        <a:avLst/>
                      </a:prstGeom>
                      <a:solidFill>
                        <a:srgbClr val="FFFF00"/>
                      </a:solidFill>
                      <a:ln w="19050">
                        <a:solidFill>
                          <a:srgbClr val="FF0000"/>
                        </a:solidFill>
                        <a:miter lim="800000"/>
                        <a:headEnd/>
                        <a:tailEnd/>
                      </a:ln>
                    </p:spPr>
                  </p:pic>
                </p:oleObj>
              </mc:Fallback>
            </mc:AlternateContent>
          </a:graphicData>
        </a:graphic>
      </p:graphicFrame>
      <p:graphicFrame>
        <p:nvGraphicFramePr>
          <p:cNvPr id="40963" name="Object 3"/>
          <p:cNvGraphicFramePr>
            <a:graphicFrameLocks noChangeAspect="1"/>
          </p:cNvGraphicFramePr>
          <p:nvPr>
            <p:extLst>
              <p:ext uri="{D42A27DB-BD31-4B8C-83A1-F6EECF244321}">
                <p14:modId xmlns:p14="http://schemas.microsoft.com/office/powerpoint/2010/main" val="3921156867"/>
              </p:ext>
            </p:extLst>
          </p:nvPr>
        </p:nvGraphicFramePr>
        <p:xfrm>
          <a:off x="3308350" y="2647950"/>
          <a:ext cx="1863725" cy="446088"/>
        </p:xfrm>
        <a:graphic>
          <a:graphicData uri="http://schemas.openxmlformats.org/presentationml/2006/ole">
            <mc:AlternateContent xmlns:mc="http://schemas.openxmlformats.org/markup-compatibility/2006">
              <mc:Choice xmlns:v="urn:schemas-microsoft-com:vml" Requires="v">
                <p:oleObj spid="_x0000_s40983" name="Ecuación" r:id="rId5" imgW="952200" imgH="228600" progId="Equation.3">
                  <p:embed/>
                </p:oleObj>
              </mc:Choice>
              <mc:Fallback>
                <p:oleObj name="Ecuación" r:id="rId5" imgW="952200" imgH="228600" progId="Equation.3">
                  <p:embed/>
                  <p:pic>
                    <p:nvPicPr>
                      <p:cNvPr id="0" name="Picture 3"/>
                      <p:cNvPicPr>
                        <a:picLocks noChangeAspect="1" noChangeArrowheads="1"/>
                      </p:cNvPicPr>
                      <p:nvPr/>
                    </p:nvPicPr>
                    <p:blipFill>
                      <a:blip r:embed="rId6"/>
                      <a:srcRect/>
                      <a:stretch>
                        <a:fillRect/>
                      </a:stretch>
                    </p:blipFill>
                    <p:spPr bwMode="auto">
                      <a:xfrm>
                        <a:off x="3308350" y="2647950"/>
                        <a:ext cx="1863725" cy="446088"/>
                      </a:xfrm>
                      <a:prstGeom prst="rect">
                        <a:avLst/>
                      </a:prstGeom>
                      <a:solidFill>
                        <a:srgbClr val="FFFF00"/>
                      </a:solidFill>
                      <a:ln w="19050">
                        <a:solidFill>
                          <a:srgbClr val="FF0000"/>
                        </a:solidFill>
                        <a:miter lim="800000"/>
                        <a:headEnd/>
                        <a:tailEnd/>
                      </a:ln>
                    </p:spPr>
                  </p:pic>
                </p:oleObj>
              </mc:Fallback>
            </mc:AlternateContent>
          </a:graphicData>
        </a:graphic>
      </p:graphicFrame>
      <p:sp>
        <p:nvSpPr>
          <p:cNvPr id="9" name="Text Box 16"/>
          <p:cNvSpPr txBox="1">
            <a:spLocks noChangeArrowheads="1"/>
          </p:cNvSpPr>
          <p:nvPr/>
        </p:nvSpPr>
        <p:spPr bwMode="auto">
          <a:xfrm>
            <a:off x="5504489" y="2209190"/>
            <a:ext cx="3635896" cy="923330"/>
          </a:xfrm>
          <a:prstGeom prst="rect">
            <a:avLst/>
          </a:prstGeom>
          <a:noFill/>
          <a:ln w="9525">
            <a:noFill/>
            <a:miter lim="800000"/>
            <a:headEnd/>
            <a:tailEnd/>
          </a:ln>
          <a:effectLst/>
        </p:spPr>
        <p:txBody>
          <a:bodyPr wrap="square">
            <a:spAutoFit/>
          </a:bodyPr>
          <a:lstStyle/>
          <a:p>
            <a:r>
              <a:rPr lang="es-ES" dirty="0"/>
              <a:t>Kb: </a:t>
            </a:r>
            <a:r>
              <a:rPr lang="es-ES" dirty="0" err="1"/>
              <a:t>cte</a:t>
            </a:r>
            <a:r>
              <a:rPr lang="es-ES" dirty="0"/>
              <a:t> </a:t>
            </a:r>
            <a:r>
              <a:rPr lang="es-ES" dirty="0" err="1"/>
              <a:t>molal</a:t>
            </a:r>
            <a:r>
              <a:rPr lang="es-ES" dirty="0"/>
              <a:t> de disminución del pto.de congelación ºC/</a:t>
            </a:r>
            <a:r>
              <a:rPr lang="es-ES" dirty="0">
                <a:solidFill>
                  <a:srgbClr val="FF3300"/>
                </a:solidFill>
              </a:rPr>
              <a:t>m</a:t>
            </a:r>
          </a:p>
          <a:p>
            <a:r>
              <a:rPr lang="es-ES" dirty="0">
                <a:solidFill>
                  <a:srgbClr val="FF3300"/>
                </a:solidFill>
              </a:rPr>
              <a:t>m</a:t>
            </a:r>
            <a:r>
              <a:rPr lang="es-ES" dirty="0"/>
              <a:t>= moles / kg de solvente (agua)</a:t>
            </a:r>
          </a:p>
        </p:txBody>
      </p:sp>
      <p:pic>
        <p:nvPicPr>
          <p:cNvPr id="2" name="1 Imagen"/>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7544" y="3371818"/>
            <a:ext cx="7286644" cy="3107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0962"/>
                                        </p:tgtEl>
                                        <p:attrNameLst>
                                          <p:attrName>style.visibility</p:attrName>
                                        </p:attrNameLst>
                                      </p:cBhvr>
                                      <p:to>
                                        <p:strVal val="visible"/>
                                      </p:to>
                                    </p:set>
                                    <p:animEffect transition="in" filter="wipe(down)">
                                      <p:cBhvr>
                                        <p:cTn id="17" dur="500"/>
                                        <p:tgtEl>
                                          <p:spTgt spid="409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0963"/>
                                        </p:tgtEl>
                                        <p:attrNameLst>
                                          <p:attrName>style.visibility</p:attrName>
                                        </p:attrNameLst>
                                      </p:cBhvr>
                                      <p:to>
                                        <p:strVal val="visible"/>
                                      </p:to>
                                    </p:set>
                                    <p:animEffect transition="in" filter="wipe(down)">
                                      <p:cBhvr>
                                        <p:cTn id="22" dur="500"/>
                                        <p:tgtEl>
                                          <p:spTgt spid="409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a:grpSpLocks/>
          </p:cNvGrpSpPr>
          <p:nvPr/>
        </p:nvGrpSpPr>
        <p:grpSpPr bwMode="auto">
          <a:xfrm>
            <a:off x="884238" y="1341438"/>
            <a:ext cx="3371850" cy="5516562"/>
            <a:chOff x="567" y="845"/>
            <a:chExt cx="2124" cy="3475"/>
          </a:xfrm>
        </p:grpSpPr>
        <p:pic>
          <p:nvPicPr>
            <p:cNvPr id="81925" name="Picture 5" descr="osmosis 1"/>
            <p:cNvPicPr>
              <a:picLocks noChangeAspect="1" noChangeArrowheads="1"/>
            </p:cNvPicPr>
            <p:nvPr/>
          </p:nvPicPr>
          <p:blipFill>
            <a:blip r:embed="rId3"/>
            <a:srcRect/>
            <a:stretch>
              <a:fillRect/>
            </a:stretch>
          </p:blipFill>
          <p:spPr bwMode="auto">
            <a:xfrm>
              <a:off x="567" y="845"/>
              <a:ext cx="2092" cy="3475"/>
            </a:xfrm>
            <a:prstGeom prst="rect">
              <a:avLst/>
            </a:prstGeom>
            <a:noFill/>
          </p:spPr>
        </p:pic>
        <p:sp>
          <p:nvSpPr>
            <p:cNvPr id="81936" name="Text Box 16"/>
            <p:cNvSpPr txBox="1">
              <a:spLocks noChangeArrowheads="1"/>
            </p:cNvSpPr>
            <p:nvPr/>
          </p:nvSpPr>
          <p:spPr bwMode="auto">
            <a:xfrm>
              <a:off x="2101" y="1498"/>
              <a:ext cx="590" cy="402"/>
            </a:xfrm>
            <a:prstGeom prst="rect">
              <a:avLst/>
            </a:prstGeom>
            <a:solidFill>
              <a:schemeClr val="bg1"/>
            </a:solidFill>
            <a:ln w="9525">
              <a:noFill/>
              <a:miter lim="800000"/>
              <a:headEnd/>
              <a:tailEnd/>
            </a:ln>
            <a:effectLst/>
          </p:spPr>
          <p:txBody>
            <a:bodyPr>
              <a:spAutoFit/>
            </a:bodyPr>
            <a:lstStyle/>
            <a:p>
              <a:pPr>
                <a:spcBef>
                  <a:spcPct val="50000"/>
                </a:spcBef>
              </a:pPr>
              <a:r>
                <a:rPr lang="es-ES"/>
                <a:t>SOLVENTE PURO O SOLUCIÓN DILUIDA</a:t>
              </a:r>
            </a:p>
          </p:txBody>
        </p:sp>
      </p:grpSp>
      <p:sp>
        <p:nvSpPr>
          <p:cNvPr id="81924" name="Rectangle 4"/>
          <p:cNvSpPr>
            <a:spLocks noGrp="1" noChangeArrowheads="1"/>
          </p:cNvSpPr>
          <p:nvPr>
            <p:ph type="title"/>
          </p:nvPr>
        </p:nvSpPr>
        <p:spPr>
          <a:xfrm>
            <a:off x="4787900" y="0"/>
            <a:ext cx="4176713" cy="1143000"/>
          </a:xfrm>
        </p:spPr>
        <p:txBody>
          <a:bodyPr/>
          <a:lstStyle/>
          <a:p>
            <a:r>
              <a:rPr lang="es-ES" sz="2000" dirty="0">
                <a:latin typeface="Arial Black" pitchFamily="34" charset="0"/>
              </a:rPr>
              <a:t>ÓSMOSIS</a:t>
            </a:r>
            <a:br>
              <a:rPr lang="es-ES" sz="2000" dirty="0">
                <a:latin typeface="Arial Black" pitchFamily="34" charset="0"/>
              </a:rPr>
            </a:br>
            <a:r>
              <a:rPr lang="es-ES" sz="2000" dirty="0">
                <a:latin typeface="Arial Black" pitchFamily="34" charset="0"/>
              </a:rPr>
              <a:t>PRESIÓN OSMÓTICA</a:t>
            </a:r>
          </a:p>
        </p:txBody>
      </p:sp>
      <p:sp>
        <p:nvSpPr>
          <p:cNvPr id="81926" name="Text Box 6"/>
          <p:cNvSpPr txBox="1">
            <a:spLocks noChangeArrowheads="1"/>
          </p:cNvSpPr>
          <p:nvPr/>
        </p:nvSpPr>
        <p:spPr bwMode="auto">
          <a:xfrm>
            <a:off x="4429124" y="981075"/>
            <a:ext cx="4556126" cy="3046988"/>
          </a:xfrm>
          <a:prstGeom prst="rect">
            <a:avLst/>
          </a:prstGeom>
          <a:noFill/>
          <a:ln w="9525">
            <a:noFill/>
            <a:miter lim="800000"/>
            <a:headEnd/>
            <a:tailEnd/>
          </a:ln>
          <a:effectLst/>
        </p:spPr>
        <p:txBody>
          <a:bodyPr wrap="square">
            <a:spAutoFit/>
          </a:bodyPr>
          <a:lstStyle/>
          <a:p>
            <a:pPr algn="just"/>
            <a:r>
              <a:rPr lang="es-ES" sz="1600" dirty="0"/>
              <a:t>OSMOSIS: (A) </a:t>
            </a:r>
            <a:r>
              <a:rPr lang="es-ES" sz="1600" dirty="0" smtClean="0"/>
              <a:t>paso selectivo de moléculas de disolvente a través de una membrana porosa desde una disolución diluida hacia una de mayor concentración.</a:t>
            </a:r>
            <a:endParaRPr lang="es-ES" sz="1600" dirty="0"/>
          </a:p>
          <a:p>
            <a:pPr algn="just"/>
            <a:r>
              <a:rPr lang="es-ES" sz="1600" dirty="0"/>
              <a:t>(b) El proceso osmótico se detiene cuando la columna de solución de la izq.  alcanza la altura necesaria para ejercer una presión sobre la membrana suficiente para contrarrestar el movimiento neto del disolvente. En este punto la solución de la izquierda está más diluida, pero aún existe una diferencia de concentración entre las </a:t>
            </a:r>
            <a:r>
              <a:rPr lang="es-ES" sz="1600" dirty="0" smtClean="0"/>
              <a:t>soluciones. </a:t>
            </a:r>
            <a:endParaRPr lang="es-ES" sz="1600" dirty="0"/>
          </a:p>
        </p:txBody>
      </p:sp>
      <p:sp>
        <p:nvSpPr>
          <p:cNvPr id="81927" name="AutoShape 7"/>
          <p:cNvSpPr>
            <a:spLocks noChangeArrowheads="1"/>
          </p:cNvSpPr>
          <p:nvPr/>
        </p:nvSpPr>
        <p:spPr bwMode="auto">
          <a:xfrm>
            <a:off x="107950" y="4752757"/>
            <a:ext cx="1582738" cy="1292662"/>
          </a:xfrm>
          <a:prstGeom prst="wedgeRectCallout">
            <a:avLst>
              <a:gd name="adj1" fmla="val 156120"/>
              <a:gd name="adj2" fmla="val -90815"/>
            </a:avLst>
          </a:prstGeom>
          <a:gradFill rotWithShape="1">
            <a:gsLst>
              <a:gs pos="0">
                <a:srgbClr val="6699FF"/>
              </a:gs>
              <a:gs pos="50000">
                <a:schemeClr val="bg1"/>
              </a:gs>
              <a:gs pos="100000">
                <a:srgbClr val="6699FF"/>
              </a:gs>
            </a:gsLst>
            <a:lin ang="5400000" scaled="1"/>
          </a:gradFill>
          <a:ln w="9525">
            <a:solidFill>
              <a:schemeClr val="tx1"/>
            </a:solidFill>
            <a:miter lim="800000"/>
            <a:headEnd/>
            <a:tailEnd/>
          </a:ln>
          <a:effectLst/>
        </p:spPr>
        <p:txBody>
          <a:bodyPr lIns="0" tIns="0" rIns="0" bIns="0" anchor="ctr" anchorCtr="1">
            <a:spAutoFit/>
          </a:bodyPr>
          <a:lstStyle/>
          <a:p>
            <a:pPr algn="ctr"/>
            <a:r>
              <a:rPr lang="es-ES" sz="1400" dirty="0">
                <a:solidFill>
                  <a:srgbClr val="FF3300"/>
                </a:solidFill>
              </a:rPr>
              <a:t>Membrana semipermeable</a:t>
            </a:r>
            <a:r>
              <a:rPr lang="es-ES" sz="1400" dirty="0"/>
              <a:t>: permite el paso de moléculas de solvente pero no de </a:t>
            </a:r>
            <a:r>
              <a:rPr lang="es-ES" sz="1400" dirty="0" smtClean="0"/>
              <a:t>soluto</a:t>
            </a:r>
            <a:endParaRPr lang="es-ES" sz="1400" dirty="0"/>
          </a:p>
        </p:txBody>
      </p:sp>
      <p:sp>
        <p:nvSpPr>
          <p:cNvPr id="81933" name="AutoShape 13"/>
          <p:cNvSpPr>
            <a:spLocks noChangeArrowheads="1"/>
          </p:cNvSpPr>
          <p:nvPr/>
        </p:nvSpPr>
        <p:spPr bwMode="auto">
          <a:xfrm>
            <a:off x="971550" y="260350"/>
            <a:ext cx="2952750" cy="860425"/>
          </a:xfrm>
          <a:prstGeom prst="wedgeRectCallout">
            <a:avLst>
              <a:gd name="adj1" fmla="val 10431"/>
              <a:gd name="adj2" fmla="val 188190"/>
            </a:avLst>
          </a:prstGeom>
          <a:gradFill rotWithShape="1">
            <a:gsLst>
              <a:gs pos="0">
                <a:srgbClr val="FFFFCC"/>
              </a:gs>
              <a:gs pos="100000">
                <a:srgbClr val="FF9933"/>
              </a:gs>
            </a:gsLst>
            <a:lin ang="5400000" scaled="1"/>
          </a:gradFill>
          <a:ln w="9525">
            <a:solidFill>
              <a:schemeClr val="tx1"/>
            </a:solidFill>
            <a:miter lim="800000"/>
            <a:headEnd/>
            <a:tailEnd/>
          </a:ln>
          <a:effectLst/>
        </p:spPr>
        <p:txBody>
          <a:bodyPr lIns="0" tIns="0" rIns="0" bIns="0" anchor="ctr" anchorCtr="1">
            <a:spAutoFit/>
          </a:bodyPr>
          <a:lstStyle/>
          <a:p>
            <a:pPr algn="ctr"/>
            <a:r>
              <a:rPr lang="es-ES" sz="1400">
                <a:solidFill>
                  <a:srgbClr val="FF3300"/>
                </a:solidFill>
              </a:rPr>
              <a:t>RECORDAR</a:t>
            </a:r>
          </a:p>
          <a:p>
            <a:pPr algn="ctr"/>
            <a:r>
              <a:rPr lang="es-ES" sz="1400">
                <a:solidFill>
                  <a:srgbClr val="FF3300"/>
                </a:solidFill>
              </a:rPr>
              <a:t>El movimiento neto de solvente es siempre hacia la solución más concentrada</a:t>
            </a:r>
            <a:endParaRPr lang="es-ES" sz="1400"/>
          </a:p>
        </p:txBody>
      </p:sp>
      <p:sp>
        <p:nvSpPr>
          <p:cNvPr id="81956" name="Freeform 36"/>
          <p:cNvSpPr>
            <a:spLocks/>
          </p:cNvSpPr>
          <p:nvPr/>
        </p:nvSpPr>
        <p:spPr bwMode="auto">
          <a:xfrm>
            <a:off x="1979613" y="1773238"/>
            <a:ext cx="576262" cy="863600"/>
          </a:xfrm>
          <a:custGeom>
            <a:avLst/>
            <a:gdLst/>
            <a:ahLst/>
            <a:cxnLst>
              <a:cxn ang="0">
                <a:pos x="0" y="0"/>
              </a:cxn>
              <a:cxn ang="0">
                <a:pos x="0" y="136"/>
              </a:cxn>
              <a:cxn ang="0">
                <a:pos x="45" y="272"/>
              </a:cxn>
              <a:cxn ang="0">
                <a:pos x="136" y="408"/>
              </a:cxn>
              <a:cxn ang="0">
                <a:pos x="227" y="499"/>
              </a:cxn>
              <a:cxn ang="0">
                <a:pos x="363" y="544"/>
              </a:cxn>
              <a:cxn ang="0">
                <a:pos x="363" y="453"/>
              </a:cxn>
              <a:cxn ang="0">
                <a:pos x="363" y="408"/>
              </a:cxn>
              <a:cxn ang="0">
                <a:pos x="272" y="363"/>
              </a:cxn>
              <a:cxn ang="0">
                <a:pos x="227" y="317"/>
              </a:cxn>
              <a:cxn ang="0">
                <a:pos x="136" y="181"/>
              </a:cxn>
              <a:cxn ang="0">
                <a:pos x="136" y="90"/>
              </a:cxn>
              <a:cxn ang="0">
                <a:pos x="136" y="0"/>
              </a:cxn>
              <a:cxn ang="0">
                <a:pos x="0" y="0"/>
              </a:cxn>
            </a:cxnLst>
            <a:rect l="0" t="0" r="r" b="b"/>
            <a:pathLst>
              <a:path w="363" h="544">
                <a:moveTo>
                  <a:pt x="0" y="0"/>
                </a:moveTo>
                <a:lnTo>
                  <a:pt x="0" y="136"/>
                </a:lnTo>
                <a:lnTo>
                  <a:pt x="45" y="272"/>
                </a:lnTo>
                <a:lnTo>
                  <a:pt x="136" y="408"/>
                </a:lnTo>
                <a:lnTo>
                  <a:pt x="227" y="499"/>
                </a:lnTo>
                <a:lnTo>
                  <a:pt x="363" y="544"/>
                </a:lnTo>
                <a:lnTo>
                  <a:pt x="363" y="453"/>
                </a:lnTo>
                <a:lnTo>
                  <a:pt x="363" y="408"/>
                </a:lnTo>
                <a:lnTo>
                  <a:pt x="272" y="363"/>
                </a:lnTo>
                <a:lnTo>
                  <a:pt x="227" y="317"/>
                </a:lnTo>
                <a:lnTo>
                  <a:pt x="136" y="181"/>
                </a:lnTo>
                <a:lnTo>
                  <a:pt x="136" y="90"/>
                </a:lnTo>
                <a:lnTo>
                  <a:pt x="136" y="0"/>
                </a:lnTo>
                <a:lnTo>
                  <a:pt x="0" y="0"/>
                </a:lnTo>
                <a:close/>
              </a:path>
            </a:pathLst>
          </a:custGeom>
          <a:solidFill>
            <a:srgbClr val="C0C0C0"/>
          </a:solidFill>
          <a:ln w="9525">
            <a:solidFill>
              <a:schemeClr val="tx1"/>
            </a:solidFill>
            <a:round/>
            <a:headEnd/>
            <a:tailEnd/>
          </a:ln>
          <a:effectLst/>
        </p:spPr>
        <p:txBody>
          <a:bodyPr/>
          <a:lstStyle/>
          <a:p>
            <a:endParaRPr lang="en-US"/>
          </a:p>
        </p:txBody>
      </p:sp>
      <p:sp>
        <p:nvSpPr>
          <p:cNvPr id="81957" name="Freeform 37"/>
          <p:cNvSpPr>
            <a:spLocks/>
          </p:cNvSpPr>
          <p:nvPr/>
        </p:nvSpPr>
        <p:spPr bwMode="auto">
          <a:xfrm>
            <a:off x="1992313" y="5383213"/>
            <a:ext cx="647700" cy="1079500"/>
          </a:xfrm>
          <a:custGeom>
            <a:avLst/>
            <a:gdLst/>
            <a:ahLst/>
            <a:cxnLst>
              <a:cxn ang="0">
                <a:pos x="0" y="0"/>
              </a:cxn>
              <a:cxn ang="0">
                <a:pos x="0" y="317"/>
              </a:cxn>
              <a:cxn ang="0">
                <a:pos x="45" y="408"/>
              </a:cxn>
              <a:cxn ang="0">
                <a:pos x="136" y="544"/>
              </a:cxn>
              <a:cxn ang="0">
                <a:pos x="227" y="635"/>
              </a:cxn>
              <a:cxn ang="0">
                <a:pos x="318" y="680"/>
              </a:cxn>
              <a:cxn ang="0">
                <a:pos x="408" y="680"/>
              </a:cxn>
              <a:cxn ang="0">
                <a:pos x="408" y="544"/>
              </a:cxn>
              <a:cxn ang="0">
                <a:pos x="363" y="544"/>
              </a:cxn>
              <a:cxn ang="0">
                <a:pos x="272" y="499"/>
              </a:cxn>
              <a:cxn ang="0">
                <a:pos x="227" y="453"/>
              </a:cxn>
              <a:cxn ang="0">
                <a:pos x="182" y="408"/>
              </a:cxn>
              <a:cxn ang="0">
                <a:pos x="136" y="317"/>
              </a:cxn>
              <a:cxn ang="0">
                <a:pos x="136" y="227"/>
              </a:cxn>
              <a:cxn ang="0">
                <a:pos x="136" y="90"/>
              </a:cxn>
              <a:cxn ang="0">
                <a:pos x="136" y="0"/>
              </a:cxn>
              <a:cxn ang="0">
                <a:pos x="0" y="0"/>
              </a:cxn>
            </a:cxnLst>
            <a:rect l="0" t="0" r="r" b="b"/>
            <a:pathLst>
              <a:path w="408" h="680">
                <a:moveTo>
                  <a:pt x="0" y="0"/>
                </a:moveTo>
                <a:lnTo>
                  <a:pt x="0" y="317"/>
                </a:lnTo>
                <a:lnTo>
                  <a:pt x="45" y="408"/>
                </a:lnTo>
                <a:lnTo>
                  <a:pt x="136" y="544"/>
                </a:lnTo>
                <a:lnTo>
                  <a:pt x="227" y="635"/>
                </a:lnTo>
                <a:lnTo>
                  <a:pt x="318" y="680"/>
                </a:lnTo>
                <a:lnTo>
                  <a:pt x="408" y="680"/>
                </a:lnTo>
                <a:lnTo>
                  <a:pt x="408" y="544"/>
                </a:lnTo>
                <a:lnTo>
                  <a:pt x="363" y="544"/>
                </a:lnTo>
                <a:lnTo>
                  <a:pt x="272" y="499"/>
                </a:lnTo>
                <a:lnTo>
                  <a:pt x="227" y="453"/>
                </a:lnTo>
                <a:lnTo>
                  <a:pt x="182" y="408"/>
                </a:lnTo>
                <a:lnTo>
                  <a:pt x="136" y="317"/>
                </a:lnTo>
                <a:lnTo>
                  <a:pt x="136" y="227"/>
                </a:lnTo>
                <a:lnTo>
                  <a:pt x="136" y="90"/>
                </a:lnTo>
                <a:lnTo>
                  <a:pt x="136" y="0"/>
                </a:lnTo>
                <a:lnTo>
                  <a:pt x="0" y="0"/>
                </a:lnTo>
                <a:close/>
              </a:path>
            </a:pathLst>
          </a:custGeom>
          <a:solidFill>
            <a:srgbClr val="EAEAEA"/>
          </a:solidFill>
          <a:ln w="9525">
            <a:solidFill>
              <a:schemeClr val="tx1"/>
            </a:solidFill>
            <a:round/>
            <a:headEnd/>
            <a:tailEnd/>
          </a:ln>
          <a:effectLst/>
        </p:spPr>
        <p:txBody>
          <a:bodyPr/>
          <a:lstStyle/>
          <a:p>
            <a:endParaRPr lang="en-US"/>
          </a:p>
        </p:txBody>
      </p:sp>
      <p:sp>
        <p:nvSpPr>
          <p:cNvPr id="12" name="11 CuadroTexto"/>
          <p:cNvSpPr txBox="1"/>
          <p:nvPr/>
        </p:nvSpPr>
        <p:spPr>
          <a:xfrm>
            <a:off x="4357686" y="4143380"/>
            <a:ext cx="4786314" cy="923330"/>
          </a:xfrm>
          <a:prstGeom prst="rect">
            <a:avLst/>
          </a:prstGeom>
          <a:noFill/>
        </p:spPr>
        <p:txBody>
          <a:bodyPr wrap="square" rtlCol="0">
            <a:spAutoFit/>
          </a:bodyPr>
          <a:lstStyle/>
          <a:p>
            <a:r>
              <a:rPr lang="es-ES" b="1" dirty="0" smtClean="0"/>
              <a:t>La presión osmótica es la presión requerida para detener la osmosis y depende de la temperatura y de la concentración molar de la solución.</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27"/>
                                        </p:tgtEl>
                                        <p:attrNameLst>
                                          <p:attrName>style.visibility</p:attrName>
                                        </p:attrNameLst>
                                      </p:cBhvr>
                                      <p:to>
                                        <p:strVal val="visible"/>
                                      </p:to>
                                    </p:set>
                                    <p:animEffect transition="in" filter="wipe(down)">
                                      <p:cBhvr>
                                        <p:cTn id="7" dur="500"/>
                                        <p:tgtEl>
                                          <p:spTgt spid="8192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81926"/>
                                        </p:tgtEl>
                                        <p:attrNameLst>
                                          <p:attrName>style.visibility</p:attrName>
                                        </p:attrNameLst>
                                      </p:cBhvr>
                                      <p:to>
                                        <p:strVal val="visible"/>
                                      </p:to>
                                    </p:set>
                                    <p:anim calcmode="lin" valueType="num">
                                      <p:cBhvr>
                                        <p:cTn id="12" dur="500" fill="hold"/>
                                        <p:tgtEl>
                                          <p:spTgt spid="81926"/>
                                        </p:tgtEl>
                                        <p:attrNameLst>
                                          <p:attrName>ppt_w</p:attrName>
                                        </p:attrNameLst>
                                      </p:cBhvr>
                                      <p:tavLst>
                                        <p:tav tm="0">
                                          <p:val>
                                            <p:fltVal val="0"/>
                                          </p:val>
                                        </p:tav>
                                        <p:tav tm="100000">
                                          <p:val>
                                            <p:strVal val="#ppt_w"/>
                                          </p:val>
                                        </p:tav>
                                      </p:tavLst>
                                    </p:anim>
                                    <p:anim calcmode="lin" valueType="num">
                                      <p:cBhvr>
                                        <p:cTn id="13" dur="500" fill="hold"/>
                                        <p:tgtEl>
                                          <p:spTgt spid="81926"/>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1933"/>
                                        </p:tgtEl>
                                        <p:attrNameLst>
                                          <p:attrName>style.visibility</p:attrName>
                                        </p:attrNameLst>
                                      </p:cBhvr>
                                      <p:to>
                                        <p:strVal val="visible"/>
                                      </p:to>
                                    </p:set>
                                    <p:animEffect transition="in" filter="wipe(down)">
                                      <p:cBhvr>
                                        <p:cTn id="18" dur="500"/>
                                        <p:tgtEl>
                                          <p:spTgt spid="8193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ox(in)">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p:bldP spid="81927" grpId="0" animBg="1"/>
      <p:bldP spid="81933"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5" name="Rectangle 11"/>
          <p:cNvSpPr>
            <a:spLocks noGrp="1" noChangeArrowheads="1"/>
          </p:cNvSpPr>
          <p:nvPr>
            <p:ph type="title"/>
          </p:nvPr>
        </p:nvSpPr>
        <p:spPr/>
        <p:txBody>
          <a:bodyPr/>
          <a:lstStyle/>
          <a:p>
            <a:r>
              <a:rPr lang="es-ES" sz="2000">
                <a:latin typeface="Arial Black" pitchFamily="34" charset="0"/>
              </a:rPr>
              <a:t>MEDIDA DE LA PRESIÓN OSMÓTICA</a:t>
            </a:r>
          </a:p>
        </p:txBody>
      </p:sp>
      <p:pic>
        <p:nvPicPr>
          <p:cNvPr id="98308" name="Picture 4" descr="presion osmotica"/>
          <p:cNvPicPr>
            <a:picLocks noChangeAspect="1" noChangeArrowheads="1"/>
          </p:cNvPicPr>
          <p:nvPr/>
        </p:nvPicPr>
        <p:blipFill>
          <a:blip r:embed="rId4"/>
          <a:srcRect/>
          <a:stretch>
            <a:fillRect/>
          </a:stretch>
        </p:blipFill>
        <p:spPr bwMode="auto">
          <a:xfrm>
            <a:off x="755650" y="1374775"/>
            <a:ext cx="3629025" cy="4681538"/>
          </a:xfrm>
          <a:prstGeom prst="rect">
            <a:avLst/>
          </a:prstGeom>
          <a:noFill/>
        </p:spPr>
      </p:pic>
      <p:sp>
        <p:nvSpPr>
          <p:cNvPr id="98309" name="AutoShape 5"/>
          <p:cNvSpPr>
            <a:spLocks noChangeArrowheads="1"/>
          </p:cNvSpPr>
          <p:nvPr/>
        </p:nvSpPr>
        <p:spPr bwMode="auto">
          <a:xfrm>
            <a:off x="4572000" y="1341438"/>
            <a:ext cx="4321175" cy="1044575"/>
          </a:xfrm>
          <a:prstGeom prst="wedgeRectCallout">
            <a:avLst>
              <a:gd name="adj1" fmla="val -104005"/>
              <a:gd name="adj2" fmla="val 55833"/>
            </a:avLst>
          </a:prstGeom>
          <a:gradFill rotWithShape="1">
            <a:gsLst>
              <a:gs pos="0">
                <a:srgbClr val="FFCC66"/>
              </a:gs>
              <a:gs pos="100000">
                <a:srgbClr val="FFFFCC"/>
              </a:gs>
            </a:gsLst>
            <a:lin ang="5400000" scaled="1"/>
          </a:gradFill>
          <a:ln w="9525">
            <a:solidFill>
              <a:srgbClr val="0000FF"/>
            </a:solidFill>
            <a:miter lim="800000"/>
            <a:headEnd/>
            <a:tailEnd/>
          </a:ln>
          <a:effectLst/>
        </p:spPr>
        <p:txBody>
          <a:bodyPr>
            <a:spAutoFit/>
          </a:bodyPr>
          <a:lstStyle/>
          <a:p>
            <a:r>
              <a:rPr lang="es-ES" sz="1400"/>
              <a:t>La presión aplicada en la rama izquierda detiene le paso de solvente hacia la solución esta presión es la presión osmótica </a:t>
            </a:r>
            <a:r>
              <a:rPr lang="el-GR" sz="2000">
                <a:solidFill>
                  <a:srgbClr val="FF3300"/>
                </a:solidFill>
              </a:rPr>
              <a:t>π</a:t>
            </a:r>
            <a:r>
              <a:rPr lang="es-ES" sz="1400"/>
              <a:t> de la solución.</a:t>
            </a:r>
          </a:p>
        </p:txBody>
      </p:sp>
      <p:sp>
        <p:nvSpPr>
          <p:cNvPr id="98310" name="Text Box 6"/>
          <p:cNvSpPr txBox="1">
            <a:spLocks noChangeArrowheads="1"/>
          </p:cNvSpPr>
          <p:nvPr/>
        </p:nvSpPr>
        <p:spPr bwMode="auto">
          <a:xfrm>
            <a:off x="4572000" y="2643182"/>
            <a:ext cx="4572000" cy="2308324"/>
          </a:xfrm>
          <a:prstGeom prst="rect">
            <a:avLst/>
          </a:prstGeom>
          <a:noFill/>
          <a:ln w="9525">
            <a:noFill/>
            <a:miter lim="800000"/>
            <a:headEnd/>
            <a:tailEnd/>
          </a:ln>
          <a:effectLst/>
        </p:spPr>
        <p:txBody>
          <a:bodyPr>
            <a:spAutoFit/>
          </a:bodyPr>
          <a:lstStyle/>
          <a:p>
            <a:pPr algn="just"/>
            <a:r>
              <a:rPr lang="es-ES" dirty="0"/>
              <a:t>Si dos soluciones que  tienen idéntica presión osmótica se separan por una membrana semipermeable, </a:t>
            </a:r>
            <a:r>
              <a:rPr lang="es-ES" dirty="0">
                <a:solidFill>
                  <a:srgbClr val="0000FF"/>
                </a:solidFill>
              </a:rPr>
              <a:t>NO OCURRIRÁ OSMOSIS, </a:t>
            </a:r>
            <a:r>
              <a:rPr lang="es-ES" dirty="0"/>
              <a:t>las soluciones se denominan </a:t>
            </a:r>
            <a:r>
              <a:rPr lang="es-ES" dirty="0">
                <a:solidFill>
                  <a:srgbClr val="0000FF"/>
                </a:solidFill>
              </a:rPr>
              <a:t>isotónicas</a:t>
            </a:r>
            <a:r>
              <a:rPr lang="es-ES" dirty="0"/>
              <a:t>.</a:t>
            </a:r>
          </a:p>
          <a:p>
            <a:pPr algn="just"/>
            <a:r>
              <a:rPr lang="es-ES" dirty="0" smtClean="0"/>
              <a:t>Si dos soluciones tienen distinta presión osmótica, la solución de mayor concentración es la hipertónica y la de menor concentración es la hipotónica</a:t>
            </a:r>
            <a:endParaRPr lang="es-ES" dirty="0"/>
          </a:p>
        </p:txBody>
      </p:sp>
      <p:graphicFrame>
        <p:nvGraphicFramePr>
          <p:cNvPr id="98312" name="Object 8"/>
          <p:cNvGraphicFramePr>
            <a:graphicFrameLocks noChangeAspect="1"/>
          </p:cNvGraphicFramePr>
          <p:nvPr/>
        </p:nvGraphicFramePr>
        <p:xfrm>
          <a:off x="5357818" y="5072074"/>
          <a:ext cx="2111375" cy="434975"/>
        </p:xfrm>
        <a:graphic>
          <a:graphicData uri="http://schemas.openxmlformats.org/presentationml/2006/ole">
            <mc:AlternateContent xmlns:mc="http://schemas.openxmlformats.org/markup-compatibility/2006">
              <mc:Choice xmlns:v="urn:schemas-microsoft-com:vml" Requires="v">
                <p:oleObj spid="_x0000_s4118" name="Ecuación" r:id="rId5" imgW="863280" imgH="177480" progId="Equation.3">
                  <p:embed/>
                </p:oleObj>
              </mc:Choice>
              <mc:Fallback>
                <p:oleObj name="Ecuación" r:id="rId5" imgW="863280" imgH="17748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7818" y="5072074"/>
                        <a:ext cx="2111375" cy="434975"/>
                      </a:xfrm>
                      <a:prstGeom prst="rect">
                        <a:avLst/>
                      </a:prstGeom>
                      <a:solidFill>
                        <a:srgbClr val="FFFFCC"/>
                      </a:solidFill>
                      <a:ln w="9525">
                        <a:solidFill>
                          <a:srgbClr val="FF3300"/>
                        </a:solidFill>
                        <a:miter lim="800000"/>
                        <a:headEnd/>
                        <a:tailEnd/>
                      </a:ln>
                    </p:spPr>
                  </p:pic>
                </p:oleObj>
              </mc:Fallback>
            </mc:AlternateContent>
          </a:graphicData>
        </a:graphic>
      </p:graphicFrame>
      <p:sp>
        <p:nvSpPr>
          <p:cNvPr id="98313" name="Text Box 9"/>
          <p:cNvSpPr txBox="1">
            <a:spLocks noChangeArrowheads="1"/>
          </p:cNvSpPr>
          <p:nvPr/>
        </p:nvSpPr>
        <p:spPr bwMode="auto">
          <a:xfrm>
            <a:off x="5143504" y="5643578"/>
            <a:ext cx="2907527" cy="923330"/>
          </a:xfrm>
          <a:prstGeom prst="rect">
            <a:avLst/>
          </a:prstGeom>
          <a:noFill/>
          <a:ln w="9525">
            <a:noFill/>
            <a:miter lim="800000"/>
            <a:headEnd/>
            <a:tailEnd/>
          </a:ln>
          <a:effectLst/>
        </p:spPr>
        <p:txBody>
          <a:bodyPr wrap="none">
            <a:spAutoFit/>
          </a:bodyPr>
          <a:lstStyle/>
          <a:p>
            <a:r>
              <a:rPr lang="es-ES" dirty="0"/>
              <a:t>M: Molaridad moles soluto/L</a:t>
            </a:r>
          </a:p>
          <a:p>
            <a:r>
              <a:rPr lang="es-ES" dirty="0"/>
              <a:t>R: constante de gas ideal</a:t>
            </a:r>
          </a:p>
          <a:p>
            <a:r>
              <a:rPr lang="es-ES" dirty="0"/>
              <a:t>T: </a:t>
            </a:r>
            <a:r>
              <a:rPr lang="es-ES" dirty="0" smtClean="0"/>
              <a:t>K</a:t>
            </a:r>
            <a:endParaRPr lang="es-ES" dirty="0"/>
          </a:p>
        </p:txBody>
      </p:sp>
      <p:graphicFrame>
        <p:nvGraphicFramePr>
          <p:cNvPr id="98314" name="Object 10"/>
          <p:cNvGraphicFramePr>
            <a:graphicFrameLocks noGrp="1" noChangeAspect="1"/>
          </p:cNvGraphicFramePr>
          <p:nvPr>
            <p:ph idx="1"/>
          </p:nvPr>
        </p:nvGraphicFramePr>
        <p:xfrm>
          <a:off x="4508500" y="3792538"/>
          <a:ext cx="127000" cy="139700"/>
        </p:xfrm>
        <a:graphic>
          <a:graphicData uri="http://schemas.openxmlformats.org/presentationml/2006/ole">
            <mc:AlternateContent xmlns:mc="http://schemas.openxmlformats.org/markup-compatibility/2006">
              <mc:Choice xmlns:v="urn:schemas-microsoft-com:vml" Requires="v">
                <p:oleObj spid="_x0000_s4119" name="Ecuación" r:id="rId7" imgW="126720" imgH="139680" progId="Equation.3">
                  <p:embed/>
                </p:oleObj>
              </mc:Choice>
              <mc:Fallback>
                <p:oleObj name="Ecuación" r:id="rId7" imgW="126720" imgH="13968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500" y="3792538"/>
                        <a:ext cx="127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17" name="Freeform 13"/>
          <p:cNvSpPr>
            <a:spLocks/>
          </p:cNvSpPr>
          <p:nvPr/>
        </p:nvSpPr>
        <p:spPr bwMode="auto">
          <a:xfrm>
            <a:off x="2057400" y="2881313"/>
            <a:ext cx="649288" cy="936625"/>
          </a:xfrm>
          <a:custGeom>
            <a:avLst/>
            <a:gdLst/>
            <a:ahLst/>
            <a:cxnLst>
              <a:cxn ang="0">
                <a:pos x="0" y="0"/>
              </a:cxn>
              <a:cxn ang="0">
                <a:pos x="0" y="227"/>
              </a:cxn>
              <a:cxn ang="0">
                <a:pos x="46" y="318"/>
              </a:cxn>
              <a:cxn ang="0">
                <a:pos x="91" y="408"/>
              </a:cxn>
              <a:cxn ang="0">
                <a:pos x="137" y="454"/>
              </a:cxn>
              <a:cxn ang="0">
                <a:pos x="227" y="544"/>
              </a:cxn>
              <a:cxn ang="0">
                <a:pos x="363" y="590"/>
              </a:cxn>
              <a:cxn ang="0">
                <a:pos x="409" y="590"/>
              </a:cxn>
              <a:cxn ang="0">
                <a:pos x="409" y="454"/>
              </a:cxn>
              <a:cxn ang="0">
                <a:pos x="318" y="408"/>
              </a:cxn>
              <a:cxn ang="0">
                <a:pos x="227" y="318"/>
              </a:cxn>
              <a:cxn ang="0">
                <a:pos x="182" y="227"/>
              </a:cxn>
              <a:cxn ang="0">
                <a:pos x="182" y="136"/>
              </a:cxn>
              <a:cxn ang="0">
                <a:pos x="182" y="45"/>
              </a:cxn>
              <a:cxn ang="0">
                <a:pos x="182" y="0"/>
              </a:cxn>
              <a:cxn ang="0">
                <a:pos x="0" y="0"/>
              </a:cxn>
            </a:cxnLst>
            <a:rect l="0" t="0" r="r" b="b"/>
            <a:pathLst>
              <a:path w="409" h="590">
                <a:moveTo>
                  <a:pt x="0" y="0"/>
                </a:moveTo>
                <a:lnTo>
                  <a:pt x="0" y="227"/>
                </a:lnTo>
                <a:lnTo>
                  <a:pt x="46" y="318"/>
                </a:lnTo>
                <a:lnTo>
                  <a:pt x="91" y="408"/>
                </a:lnTo>
                <a:lnTo>
                  <a:pt x="137" y="454"/>
                </a:lnTo>
                <a:lnTo>
                  <a:pt x="227" y="544"/>
                </a:lnTo>
                <a:lnTo>
                  <a:pt x="363" y="590"/>
                </a:lnTo>
                <a:lnTo>
                  <a:pt x="409" y="590"/>
                </a:lnTo>
                <a:lnTo>
                  <a:pt x="409" y="454"/>
                </a:lnTo>
                <a:lnTo>
                  <a:pt x="318" y="408"/>
                </a:lnTo>
                <a:lnTo>
                  <a:pt x="227" y="318"/>
                </a:lnTo>
                <a:lnTo>
                  <a:pt x="182" y="227"/>
                </a:lnTo>
                <a:lnTo>
                  <a:pt x="182" y="136"/>
                </a:lnTo>
                <a:lnTo>
                  <a:pt x="182" y="45"/>
                </a:lnTo>
                <a:lnTo>
                  <a:pt x="182" y="0"/>
                </a:lnTo>
                <a:lnTo>
                  <a:pt x="0" y="0"/>
                </a:lnTo>
                <a:close/>
              </a:path>
            </a:pathLst>
          </a:custGeom>
          <a:solidFill>
            <a:srgbClr val="EAEAEA"/>
          </a:solidFill>
          <a:ln w="9525">
            <a:solidFill>
              <a:schemeClr val="tx1"/>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wipe(left)">
                                      <p:cBhvr>
                                        <p:cTn id="7" dur="500"/>
                                        <p:tgtEl>
                                          <p:spTgt spid="9830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98310"/>
                                        </p:tgtEl>
                                        <p:attrNameLst>
                                          <p:attrName>style.visibility</p:attrName>
                                        </p:attrNameLst>
                                      </p:cBhvr>
                                      <p:to>
                                        <p:strVal val="visible"/>
                                      </p:to>
                                    </p:set>
                                    <p:anim calcmode="lin" valueType="num">
                                      <p:cBhvr>
                                        <p:cTn id="12" dur="500" fill="hold"/>
                                        <p:tgtEl>
                                          <p:spTgt spid="98310"/>
                                        </p:tgtEl>
                                        <p:attrNameLst>
                                          <p:attrName>ppt_w</p:attrName>
                                        </p:attrNameLst>
                                      </p:cBhvr>
                                      <p:tavLst>
                                        <p:tav tm="0">
                                          <p:val>
                                            <p:fltVal val="0"/>
                                          </p:val>
                                        </p:tav>
                                        <p:tav tm="100000">
                                          <p:val>
                                            <p:strVal val="#ppt_w"/>
                                          </p:val>
                                        </p:tav>
                                      </p:tavLst>
                                    </p:anim>
                                    <p:anim calcmode="lin" valueType="num">
                                      <p:cBhvr>
                                        <p:cTn id="13" dur="500" fill="hold"/>
                                        <p:tgtEl>
                                          <p:spTgt spid="98310"/>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98312"/>
                                        </p:tgtEl>
                                        <p:attrNameLst>
                                          <p:attrName>style.visibility</p:attrName>
                                        </p:attrNameLst>
                                      </p:cBhvr>
                                      <p:to>
                                        <p:strVal val="visible"/>
                                      </p:to>
                                    </p:set>
                                    <p:animEffect transition="in" filter="wipe(down)">
                                      <p:cBhvr>
                                        <p:cTn id="18" dur="500"/>
                                        <p:tgtEl>
                                          <p:spTgt spid="98312"/>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8313"/>
                                        </p:tgtEl>
                                        <p:attrNameLst>
                                          <p:attrName>style.visibility</p:attrName>
                                        </p:attrNameLst>
                                      </p:cBhvr>
                                      <p:to>
                                        <p:strVal val="visible"/>
                                      </p:to>
                                    </p:set>
                                    <p:animEffect transition="in" filter="wipe(down)">
                                      <p:cBhvr>
                                        <p:cTn id="21" dur="500"/>
                                        <p:tgtEl>
                                          <p:spTgt spid="98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animBg="1"/>
      <p:bldP spid="98310" grpId="0"/>
      <p:bldP spid="983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ctrTitle"/>
          </p:nvPr>
        </p:nvSpPr>
        <p:spPr>
          <a:xfrm>
            <a:off x="685800" y="908050"/>
            <a:ext cx="7772400" cy="1470025"/>
          </a:xfrm>
        </p:spPr>
        <p:txBody>
          <a:bodyPr/>
          <a:lstStyle/>
          <a:p>
            <a:r>
              <a:rPr lang="es-ES">
                <a:latin typeface="Arial Black" pitchFamily="34" charset="0"/>
              </a:rPr>
              <a:t>PROPIEDADES COLIGATIVAS</a:t>
            </a:r>
          </a:p>
        </p:txBody>
      </p:sp>
      <p:sp>
        <p:nvSpPr>
          <p:cNvPr id="88067" name="Rectangle 3"/>
          <p:cNvSpPr>
            <a:spLocks noGrp="1" noChangeArrowheads="1"/>
          </p:cNvSpPr>
          <p:nvPr>
            <p:ph type="subTitle" idx="1"/>
          </p:nvPr>
        </p:nvSpPr>
        <p:spPr>
          <a:xfrm>
            <a:off x="1371600" y="2840038"/>
            <a:ext cx="6400800" cy="1752600"/>
          </a:xfrm>
        </p:spPr>
        <p:txBody>
          <a:bodyPr>
            <a:normAutofit fontScale="92500" lnSpcReduction="20000"/>
          </a:bodyPr>
          <a:lstStyle/>
          <a:p>
            <a:r>
              <a:rPr lang="es-ES" sz="4000" i="1"/>
              <a:t>SOLUCIONES DILUIDAS DE  </a:t>
            </a:r>
          </a:p>
          <a:p>
            <a:r>
              <a:rPr lang="es-ES" sz="4000" i="1"/>
              <a:t>ELECTROLITOS </a:t>
            </a:r>
          </a:p>
          <a:p>
            <a:r>
              <a:rPr lang="es-ES" sz="4000" i="1"/>
              <a:t>solutos iónicos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p:cNvSpPr>
            <a:spLocks noGrp="1" noChangeArrowheads="1"/>
          </p:cNvSpPr>
          <p:nvPr>
            <p:ph type="title"/>
          </p:nvPr>
        </p:nvSpPr>
        <p:spPr>
          <a:xfrm>
            <a:off x="457200" y="-171450"/>
            <a:ext cx="8229600" cy="1143000"/>
          </a:xfrm>
        </p:spPr>
        <p:txBody>
          <a:bodyPr>
            <a:normAutofit/>
          </a:bodyPr>
          <a:lstStyle/>
          <a:p>
            <a:r>
              <a:rPr lang="es-ES" sz="2400" dirty="0">
                <a:latin typeface="Arial Black" pitchFamily="34" charset="0"/>
              </a:rPr>
              <a:t>Propiedades </a:t>
            </a:r>
            <a:r>
              <a:rPr lang="es-ES" sz="2400" dirty="0" err="1">
                <a:latin typeface="Arial Black" pitchFamily="34" charset="0"/>
              </a:rPr>
              <a:t>coligativas</a:t>
            </a:r>
            <a:r>
              <a:rPr lang="es-ES" sz="2400" dirty="0">
                <a:latin typeface="Arial Black" pitchFamily="34" charset="0"/>
              </a:rPr>
              <a:t> de disoluciones de electrolitos</a:t>
            </a:r>
          </a:p>
        </p:txBody>
      </p:sp>
      <p:sp>
        <p:nvSpPr>
          <p:cNvPr id="86021" name="Text Box 5"/>
          <p:cNvSpPr txBox="1">
            <a:spLocks noChangeArrowheads="1"/>
          </p:cNvSpPr>
          <p:nvPr/>
        </p:nvSpPr>
        <p:spPr bwMode="auto">
          <a:xfrm>
            <a:off x="214282" y="765175"/>
            <a:ext cx="8643998" cy="2031325"/>
          </a:xfrm>
          <a:prstGeom prst="rect">
            <a:avLst/>
          </a:prstGeom>
          <a:noFill/>
          <a:ln w="9525">
            <a:noFill/>
            <a:miter lim="800000"/>
            <a:headEnd/>
            <a:tailEnd/>
          </a:ln>
          <a:effectLst/>
        </p:spPr>
        <p:txBody>
          <a:bodyPr wrap="square">
            <a:spAutoFit/>
          </a:bodyPr>
          <a:lstStyle/>
          <a:p>
            <a:pPr algn="just">
              <a:buFontTx/>
              <a:buChar char="•"/>
            </a:pPr>
            <a:r>
              <a:rPr lang="es-ES" dirty="0"/>
              <a:t>Los electrolitos </a:t>
            </a:r>
            <a:r>
              <a:rPr lang="es-ES" dirty="0" smtClean="0"/>
              <a:t>en disolución se </a:t>
            </a:r>
            <a:r>
              <a:rPr lang="es-ES" dirty="0"/>
              <a:t>disocian en </a:t>
            </a:r>
            <a:r>
              <a:rPr lang="es-ES" dirty="0" smtClean="0"/>
              <a:t>iones, por lo tanto cuando se disuelve una unidad de un compuesto de un electrolito se separa en dos o mas partículas..</a:t>
            </a:r>
            <a:endParaRPr lang="es-ES" dirty="0"/>
          </a:p>
          <a:p>
            <a:pPr algn="just">
              <a:buFontTx/>
              <a:buChar char="•"/>
            </a:pPr>
            <a:r>
              <a:rPr lang="es-ES" dirty="0"/>
              <a:t>Las propiedades </a:t>
            </a:r>
            <a:r>
              <a:rPr lang="es-ES" dirty="0" err="1"/>
              <a:t>coligativas</a:t>
            </a:r>
            <a:r>
              <a:rPr lang="es-ES" dirty="0"/>
              <a:t> dependen de la cantidad de partículas (átomos, moléculas, iones o aglomerados)</a:t>
            </a:r>
          </a:p>
          <a:p>
            <a:pPr algn="just">
              <a:buFontTx/>
              <a:buChar char="•"/>
            </a:pPr>
            <a:r>
              <a:rPr lang="es-ES" dirty="0"/>
              <a:t>Los valores de cada una de las propiedades </a:t>
            </a:r>
            <a:r>
              <a:rPr lang="es-ES" dirty="0" err="1"/>
              <a:t>coligativas</a:t>
            </a:r>
            <a:r>
              <a:rPr lang="es-ES" dirty="0"/>
              <a:t> aumentarán en forma proporcional </a:t>
            </a:r>
            <a:r>
              <a:rPr lang="es-ES" dirty="0" smtClean="0"/>
              <a:t>al </a:t>
            </a:r>
            <a:r>
              <a:rPr lang="es-ES" dirty="0"/>
              <a:t>número de partículas por unidad de solución comparando con un no electrolito como la sacarosa o el azúcar</a:t>
            </a:r>
          </a:p>
        </p:txBody>
      </p:sp>
      <p:sp>
        <p:nvSpPr>
          <p:cNvPr id="86022" name="Text Box 6"/>
          <p:cNvSpPr txBox="1">
            <a:spLocks noChangeArrowheads="1"/>
          </p:cNvSpPr>
          <p:nvPr/>
        </p:nvSpPr>
        <p:spPr bwMode="auto">
          <a:xfrm>
            <a:off x="551420" y="2742466"/>
            <a:ext cx="8569325" cy="830997"/>
          </a:xfrm>
          <a:prstGeom prst="rect">
            <a:avLst/>
          </a:prstGeom>
          <a:noFill/>
          <a:ln w="9525">
            <a:noFill/>
            <a:miter lim="800000"/>
            <a:headEnd/>
            <a:tailEnd/>
          </a:ln>
          <a:effectLst/>
        </p:spPr>
        <p:txBody>
          <a:bodyPr>
            <a:spAutoFit/>
          </a:bodyPr>
          <a:lstStyle/>
          <a:p>
            <a:r>
              <a:rPr lang="es-ES" sz="1600" dirty="0" err="1"/>
              <a:t>NaCl</a:t>
            </a:r>
            <a:r>
              <a:rPr lang="es-ES" sz="1600" dirty="0"/>
              <a:t> </a:t>
            </a:r>
            <a:r>
              <a:rPr lang="es-ES" sz="1600" dirty="0">
                <a:latin typeface="Arial" charset="0"/>
                <a:cs typeface="Arial" charset="0"/>
              </a:rPr>
              <a:t>→ </a:t>
            </a:r>
            <a:r>
              <a:rPr lang="es-ES" sz="1600" dirty="0" err="1">
                <a:cs typeface="Arial" charset="0"/>
              </a:rPr>
              <a:t>Na</a:t>
            </a:r>
            <a:r>
              <a:rPr lang="es-ES" sz="1600" baseline="30000" dirty="0">
                <a:cs typeface="Arial" charset="0"/>
              </a:rPr>
              <a:t>+</a:t>
            </a:r>
            <a:r>
              <a:rPr lang="es-ES" sz="1600" dirty="0"/>
              <a:t>  + CL</a:t>
            </a:r>
            <a:r>
              <a:rPr lang="es-ES" sz="1600" baseline="30000" dirty="0"/>
              <a:t>-</a:t>
            </a:r>
            <a:r>
              <a:rPr lang="es-ES" sz="1600" dirty="0"/>
              <a:t>  : 2 partículas teórica implica duplicar las propiedades </a:t>
            </a:r>
            <a:r>
              <a:rPr lang="es-ES" sz="1600" dirty="0" err="1"/>
              <a:t>coligativas</a:t>
            </a:r>
            <a:r>
              <a:rPr lang="es-ES" sz="1600" dirty="0"/>
              <a:t> </a:t>
            </a:r>
          </a:p>
          <a:p>
            <a:r>
              <a:rPr lang="es-ES" sz="1600" dirty="0"/>
              <a:t>CaCl</a:t>
            </a:r>
            <a:r>
              <a:rPr lang="es-ES" sz="1600" baseline="-25000" dirty="0"/>
              <a:t>2 </a:t>
            </a:r>
            <a:r>
              <a:rPr lang="es-ES" sz="1600" dirty="0"/>
              <a:t>→ Ca</a:t>
            </a:r>
            <a:r>
              <a:rPr lang="es-ES" sz="1600" baseline="30000" dirty="0"/>
              <a:t>++</a:t>
            </a:r>
            <a:r>
              <a:rPr lang="es-ES" sz="1600" dirty="0"/>
              <a:t> + 2CL</a:t>
            </a:r>
            <a:r>
              <a:rPr lang="es-ES" sz="1600" baseline="30000" dirty="0"/>
              <a:t>- :</a:t>
            </a:r>
            <a:r>
              <a:rPr lang="es-ES" sz="1600" dirty="0"/>
              <a:t> 3 partículas teórica implica duplicar las propiedades </a:t>
            </a:r>
            <a:r>
              <a:rPr lang="es-ES" sz="1600" dirty="0" err="1"/>
              <a:t>coligativas</a:t>
            </a:r>
            <a:r>
              <a:rPr lang="es-ES" sz="1600" dirty="0"/>
              <a:t>  </a:t>
            </a:r>
          </a:p>
          <a:p>
            <a:r>
              <a:rPr lang="es-ES" sz="1600" dirty="0"/>
              <a:t>			siempre con respecto a una no electrolito.</a:t>
            </a:r>
          </a:p>
        </p:txBody>
      </p:sp>
      <p:graphicFrame>
        <p:nvGraphicFramePr>
          <p:cNvPr id="86023" name="Object 7"/>
          <p:cNvGraphicFramePr>
            <a:graphicFrameLocks noGrp="1" noChangeAspect="1"/>
          </p:cNvGraphicFramePr>
          <p:nvPr>
            <p:ph idx="1"/>
          </p:nvPr>
        </p:nvGraphicFramePr>
        <p:xfrm>
          <a:off x="31750" y="4159250"/>
          <a:ext cx="9112250" cy="631825"/>
        </p:xfrm>
        <a:graphic>
          <a:graphicData uri="http://schemas.openxmlformats.org/presentationml/2006/ole">
            <mc:AlternateContent xmlns:mc="http://schemas.openxmlformats.org/markup-compatibility/2006">
              <mc:Choice xmlns:v="urn:schemas-microsoft-com:vml" Requires="v">
                <p:oleObj spid="_x0000_s5132" name="Ecuación" r:id="rId4" imgW="6045120" imgH="419040" progId="Equation.3">
                  <p:embed/>
                </p:oleObj>
              </mc:Choice>
              <mc:Fallback>
                <p:oleObj name="Ecuación" r:id="rId4" imgW="6045120" imgH="41904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50" y="4159250"/>
                        <a:ext cx="911225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6" name="Text Box 10"/>
          <p:cNvSpPr txBox="1">
            <a:spLocks noChangeArrowheads="1"/>
          </p:cNvSpPr>
          <p:nvPr/>
        </p:nvSpPr>
        <p:spPr bwMode="auto">
          <a:xfrm>
            <a:off x="755650" y="5932488"/>
            <a:ext cx="2866169" cy="338554"/>
          </a:xfrm>
          <a:prstGeom prst="rect">
            <a:avLst/>
          </a:prstGeom>
          <a:noFill/>
          <a:ln w="9525">
            <a:noFill/>
            <a:miter lim="800000"/>
            <a:headEnd/>
            <a:tailEnd/>
          </a:ln>
          <a:effectLst/>
        </p:spPr>
        <p:txBody>
          <a:bodyPr wrap="none">
            <a:spAutoFit/>
          </a:bodyPr>
          <a:lstStyle/>
          <a:p>
            <a:r>
              <a:rPr lang="es-ES" sz="1600" dirty="0"/>
              <a:t>i=1  para todo los no electrolitos</a:t>
            </a:r>
          </a:p>
        </p:txBody>
      </p:sp>
      <p:sp>
        <p:nvSpPr>
          <p:cNvPr id="86027" name="Text Box 11"/>
          <p:cNvSpPr txBox="1">
            <a:spLocks noChangeArrowheads="1"/>
          </p:cNvSpPr>
          <p:nvPr/>
        </p:nvSpPr>
        <p:spPr bwMode="auto">
          <a:xfrm>
            <a:off x="755650" y="6308725"/>
            <a:ext cx="1334596" cy="338554"/>
          </a:xfrm>
          <a:prstGeom prst="rect">
            <a:avLst/>
          </a:prstGeom>
          <a:noFill/>
          <a:ln w="9525">
            <a:noFill/>
            <a:miter lim="800000"/>
            <a:headEnd/>
            <a:tailEnd/>
          </a:ln>
          <a:effectLst/>
        </p:spPr>
        <p:txBody>
          <a:bodyPr wrap="none">
            <a:spAutoFit/>
          </a:bodyPr>
          <a:lstStyle/>
          <a:p>
            <a:r>
              <a:rPr lang="es-ES" sz="1600" dirty="0"/>
              <a:t>i=2  para </a:t>
            </a:r>
            <a:r>
              <a:rPr lang="es-ES" sz="1600" dirty="0" err="1"/>
              <a:t>NaCl</a:t>
            </a:r>
            <a:endParaRPr lang="es-ES" sz="1600" dirty="0"/>
          </a:p>
        </p:txBody>
      </p:sp>
      <p:sp>
        <p:nvSpPr>
          <p:cNvPr id="86029" name="WordArt 13"/>
          <p:cNvSpPr>
            <a:spLocks noChangeArrowheads="1" noChangeShapeType="1" noTextEdit="1"/>
          </p:cNvSpPr>
          <p:nvPr/>
        </p:nvSpPr>
        <p:spPr bwMode="auto">
          <a:xfrm>
            <a:off x="3059113" y="3573463"/>
            <a:ext cx="2581275" cy="285750"/>
          </a:xfrm>
          <a:prstGeom prst="rect">
            <a:avLst/>
          </a:prstGeom>
        </p:spPr>
        <p:txBody>
          <a:bodyPr wrap="none" fromWordArt="1">
            <a:prstTxWarp prst="textPlain">
              <a:avLst>
                <a:gd name="adj" fmla="val 50000"/>
              </a:avLst>
            </a:prstTxWarp>
          </a:bodyPr>
          <a:lstStyle/>
          <a:p>
            <a:pPr algn="ctr"/>
            <a:r>
              <a:rPr lang="en-US" sz="3600" kern="10" dirty="0" err="1">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i</a:t>
            </a:r>
            <a:r>
              <a:rPr lang="en-US" sz="3600" kern="10" dirty="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 de </a:t>
            </a:r>
            <a:r>
              <a:rPr lang="en-US" sz="3600" kern="10" dirty="0" err="1">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Van´t</a:t>
            </a:r>
            <a:r>
              <a:rPr lang="en-US" sz="3600" kern="10" dirty="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 Hoff</a:t>
            </a:r>
          </a:p>
        </p:txBody>
      </p:sp>
      <p:sp>
        <p:nvSpPr>
          <p:cNvPr id="86030" name="Text Box 14"/>
          <p:cNvSpPr txBox="1">
            <a:spLocks noChangeArrowheads="1"/>
          </p:cNvSpPr>
          <p:nvPr/>
        </p:nvSpPr>
        <p:spPr bwMode="auto">
          <a:xfrm>
            <a:off x="214282" y="5000636"/>
            <a:ext cx="8470900" cy="584775"/>
          </a:xfrm>
          <a:prstGeom prst="rect">
            <a:avLst/>
          </a:prstGeom>
          <a:noFill/>
          <a:ln w="9525">
            <a:noFill/>
            <a:miter lim="800000"/>
            <a:headEnd/>
            <a:tailEnd/>
          </a:ln>
          <a:effectLst/>
        </p:spPr>
        <p:txBody>
          <a:bodyPr>
            <a:spAutoFit/>
          </a:bodyPr>
          <a:lstStyle/>
          <a:p>
            <a:r>
              <a:rPr lang="es-ES" sz="1600" dirty="0"/>
              <a:t>El i de </a:t>
            </a:r>
            <a:r>
              <a:rPr lang="es-ES" sz="1600" dirty="0" err="1"/>
              <a:t>Van´t</a:t>
            </a:r>
            <a:r>
              <a:rPr lang="es-ES" sz="1600" dirty="0"/>
              <a:t> </a:t>
            </a:r>
            <a:r>
              <a:rPr lang="es-ES" sz="1600" dirty="0" err="1"/>
              <a:t>Hoff</a:t>
            </a:r>
            <a:r>
              <a:rPr lang="es-ES" sz="1600" dirty="0"/>
              <a:t> es un factor de corrección por generación de partículas a partir de la disociación de la fórmula molecular teórica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6021">
                                            <p:txEl>
                                              <p:pRg st="0" end="0"/>
                                            </p:txEl>
                                          </p:spTgt>
                                        </p:tgtEl>
                                        <p:attrNameLst>
                                          <p:attrName>style.visibility</p:attrName>
                                        </p:attrNameLst>
                                      </p:cBhvr>
                                      <p:to>
                                        <p:strVal val="visible"/>
                                      </p:to>
                                    </p:set>
                                    <p:animEffect transition="in" filter="wipe(up)">
                                      <p:cBhvr>
                                        <p:cTn id="7" dur="500"/>
                                        <p:tgtEl>
                                          <p:spTgt spid="860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6021">
                                            <p:txEl>
                                              <p:pRg st="1" end="1"/>
                                            </p:txEl>
                                          </p:spTgt>
                                        </p:tgtEl>
                                        <p:attrNameLst>
                                          <p:attrName>style.visibility</p:attrName>
                                        </p:attrNameLst>
                                      </p:cBhvr>
                                      <p:to>
                                        <p:strVal val="visible"/>
                                      </p:to>
                                    </p:set>
                                    <p:animEffect transition="in" filter="wipe(up)">
                                      <p:cBhvr>
                                        <p:cTn id="12" dur="500"/>
                                        <p:tgtEl>
                                          <p:spTgt spid="860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6021">
                                            <p:txEl>
                                              <p:pRg st="2" end="2"/>
                                            </p:txEl>
                                          </p:spTgt>
                                        </p:tgtEl>
                                        <p:attrNameLst>
                                          <p:attrName>style.visibility</p:attrName>
                                        </p:attrNameLst>
                                      </p:cBhvr>
                                      <p:to>
                                        <p:strVal val="visible"/>
                                      </p:to>
                                    </p:set>
                                    <p:animEffect transition="in" filter="wipe(up)">
                                      <p:cBhvr>
                                        <p:cTn id="17" dur="500"/>
                                        <p:tgtEl>
                                          <p:spTgt spid="860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6022"/>
                                        </p:tgtEl>
                                        <p:attrNameLst>
                                          <p:attrName>style.visibility</p:attrName>
                                        </p:attrNameLst>
                                      </p:cBhvr>
                                      <p:to>
                                        <p:strVal val="visible"/>
                                      </p:to>
                                    </p:set>
                                    <p:animEffect transition="in" filter="wipe(up)">
                                      <p:cBhvr>
                                        <p:cTn id="22" dur="500"/>
                                        <p:tgtEl>
                                          <p:spTgt spid="86022"/>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86029"/>
                                        </p:tgtEl>
                                        <p:attrNameLst>
                                          <p:attrName>style.visibility</p:attrName>
                                        </p:attrNameLst>
                                      </p:cBhvr>
                                      <p:to>
                                        <p:strVal val="visible"/>
                                      </p:to>
                                    </p:set>
                                    <p:anim calcmode="lin" valueType="num">
                                      <p:cBhvr>
                                        <p:cTn id="27" dur="500" fill="hold"/>
                                        <p:tgtEl>
                                          <p:spTgt spid="86029"/>
                                        </p:tgtEl>
                                        <p:attrNameLst>
                                          <p:attrName>ppt_w</p:attrName>
                                        </p:attrNameLst>
                                      </p:cBhvr>
                                      <p:tavLst>
                                        <p:tav tm="0">
                                          <p:val>
                                            <p:fltVal val="0"/>
                                          </p:val>
                                        </p:tav>
                                        <p:tav tm="100000">
                                          <p:val>
                                            <p:strVal val="#ppt_w"/>
                                          </p:val>
                                        </p:tav>
                                      </p:tavLst>
                                    </p:anim>
                                    <p:anim calcmode="lin" valueType="num">
                                      <p:cBhvr>
                                        <p:cTn id="28" dur="500" fill="hold"/>
                                        <p:tgtEl>
                                          <p:spTgt spid="8602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86023"/>
                                        </p:tgtEl>
                                        <p:attrNameLst>
                                          <p:attrName>style.visibility</p:attrName>
                                        </p:attrNameLst>
                                      </p:cBhvr>
                                      <p:to>
                                        <p:strVal val="visible"/>
                                      </p:to>
                                    </p:set>
                                    <p:anim calcmode="lin" valueType="num">
                                      <p:cBhvr>
                                        <p:cTn id="33" dur="500" fill="hold"/>
                                        <p:tgtEl>
                                          <p:spTgt spid="86023"/>
                                        </p:tgtEl>
                                        <p:attrNameLst>
                                          <p:attrName>ppt_w</p:attrName>
                                        </p:attrNameLst>
                                      </p:cBhvr>
                                      <p:tavLst>
                                        <p:tav tm="0">
                                          <p:val>
                                            <p:fltVal val="0"/>
                                          </p:val>
                                        </p:tav>
                                        <p:tav tm="100000">
                                          <p:val>
                                            <p:strVal val="#ppt_w"/>
                                          </p:val>
                                        </p:tav>
                                      </p:tavLst>
                                    </p:anim>
                                    <p:anim calcmode="lin" valueType="num">
                                      <p:cBhvr>
                                        <p:cTn id="34" dur="500" fill="hold"/>
                                        <p:tgtEl>
                                          <p:spTgt spid="86023"/>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86030"/>
                                        </p:tgtEl>
                                        <p:attrNameLst>
                                          <p:attrName>style.visibility</p:attrName>
                                        </p:attrNameLst>
                                      </p:cBhvr>
                                      <p:to>
                                        <p:strVal val="visible"/>
                                      </p:to>
                                    </p:set>
                                    <p:anim calcmode="lin" valueType="num">
                                      <p:cBhvr>
                                        <p:cTn id="39" dur="500" fill="hold"/>
                                        <p:tgtEl>
                                          <p:spTgt spid="86030"/>
                                        </p:tgtEl>
                                        <p:attrNameLst>
                                          <p:attrName>ppt_w</p:attrName>
                                        </p:attrNameLst>
                                      </p:cBhvr>
                                      <p:tavLst>
                                        <p:tav tm="0">
                                          <p:val>
                                            <p:fltVal val="0"/>
                                          </p:val>
                                        </p:tav>
                                        <p:tav tm="100000">
                                          <p:val>
                                            <p:strVal val="#ppt_w"/>
                                          </p:val>
                                        </p:tav>
                                      </p:tavLst>
                                    </p:anim>
                                    <p:anim calcmode="lin" valueType="num">
                                      <p:cBhvr>
                                        <p:cTn id="40" dur="500" fill="hold"/>
                                        <p:tgtEl>
                                          <p:spTgt spid="86030"/>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86026"/>
                                        </p:tgtEl>
                                        <p:attrNameLst>
                                          <p:attrName>style.visibility</p:attrName>
                                        </p:attrNameLst>
                                      </p:cBhvr>
                                      <p:to>
                                        <p:strVal val="visible"/>
                                      </p:to>
                                    </p:set>
                                    <p:animEffect transition="in" filter="wipe(up)">
                                      <p:cBhvr>
                                        <p:cTn id="45" dur="500"/>
                                        <p:tgtEl>
                                          <p:spTgt spid="86026"/>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6027"/>
                                        </p:tgtEl>
                                        <p:attrNameLst>
                                          <p:attrName>style.visibility</p:attrName>
                                        </p:attrNameLst>
                                      </p:cBhvr>
                                      <p:to>
                                        <p:strVal val="visible"/>
                                      </p:to>
                                    </p:set>
                                    <p:animEffect transition="in" filter="wipe(up)">
                                      <p:cBhvr>
                                        <p:cTn id="48" dur="500"/>
                                        <p:tgtEl>
                                          <p:spTgt spid="86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build="p"/>
      <p:bldP spid="86022" grpId="0"/>
      <p:bldP spid="86026" grpId="0"/>
      <p:bldP spid="86027" grpId="0"/>
      <p:bldP spid="86029" grpId="0" animBg="1"/>
      <p:bldP spid="860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p:cNvSpPr>
            <a:spLocks noGrp="1" noChangeArrowheads="1"/>
          </p:cNvSpPr>
          <p:nvPr>
            <p:ph type="title"/>
          </p:nvPr>
        </p:nvSpPr>
        <p:spPr>
          <a:xfrm>
            <a:off x="457200" y="-100013"/>
            <a:ext cx="8229600" cy="706438"/>
          </a:xfrm>
        </p:spPr>
        <p:txBody>
          <a:bodyPr/>
          <a:lstStyle/>
          <a:p>
            <a:r>
              <a:rPr lang="es-ES" sz="2000"/>
              <a:t>Fórmulas corregidas de las propiedades coligativas</a:t>
            </a:r>
          </a:p>
        </p:txBody>
      </p:sp>
      <p:graphicFrame>
        <p:nvGraphicFramePr>
          <p:cNvPr id="92167" name="Object 7"/>
          <p:cNvGraphicFramePr>
            <a:graphicFrameLocks noGrp="1" noChangeAspect="1"/>
          </p:cNvGraphicFramePr>
          <p:nvPr>
            <p:ph sz="half" idx="1"/>
          </p:nvPr>
        </p:nvGraphicFramePr>
        <p:xfrm>
          <a:off x="3348038" y="1989138"/>
          <a:ext cx="2447925" cy="428625"/>
        </p:xfrm>
        <a:graphic>
          <a:graphicData uri="http://schemas.openxmlformats.org/presentationml/2006/ole">
            <mc:AlternateContent xmlns:mc="http://schemas.openxmlformats.org/markup-compatibility/2006">
              <mc:Choice xmlns:v="urn:schemas-microsoft-com:vml" Requires="v">
                <p:oleObj spid="_x0000_s6176" name="Ecuación" r:id="rId4" imgW="1015920" imgH="177480" progId="Equation.3">
                  <p:embed/>
                </p:oleObj>
              </mc:Choice>
              <mc:Fallback>
                <p:oleObj name="Ecuación" r:id="rId4" imgW="1015920" imgH="177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8038" y="1989138"/>
                        <a:ext cx="2447925" cy="428625"/>
                      </a:xfrm>
                      <a:prstGeom prst="rect">
                        <a:avLst/>
                      </a:prstGeom>
                      <a:solidFill>
                        <a:schemeClr val="bg1"/>
                      </a:solidFill>
                      <a:ln w="9525">
                        <a:solidFill>
                          <a:srgbClr val="0000FF"/>
                        </a:solidFill>
                        <a:miter lim="800000"/>
                        <a:headEnd/>
                        <a:tailEnd/>
                      </a:ln>
                    </p:spPr>
                  </p:pic>
                </p:oleObj>
              </mc:Fallback>
            </mc:AlternateContent>
          </a:graphicData>
        </a:graphic>
      </p:graphicFrame>
      <p:graphicFrame>
        <p:nvGraphicFramePr>
          <p:cNvPr id="92166" name="Object 6"/>
          <p:cNvGraphicFramePr>
            <a:graphicFrameLocks noChangeAspect="1"/>
          </p:cNvGraphicFramePr>
          <p:nvPr/>
        </p:nvGraphicFramePr>
        <p:xfrm>
          <a:off x="3346450" y="1341438"/>
          <a:ext cx="2449513" cy="533400"/>
        </p:xfrm>
        <a:graphic>
          <a:graphicData uri="http://schemas.openxmlformats.org/presentationml/2006/ole">
            <mc:AlternateContent xmlns:mc="http://schemas.openxmlformats.org/markup-compatibility/2006">
              <mc:Choice xmlns:v="urn:schemas-microsoft-com:vml" Requires="v">
                <p:oleObj spid="_x0000_s6177" name="Ecuación" r:id="rId6" imgW="990360" imgH="215640" progId="Equation.3">
                  <p:embed/>
                </p:oleObj>
              </mc:Choice>
              <mc:Fallback>
                <p:oleObj name="Ecuación" r:id="rId6" imgW="990360" imgH="21564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0" y="1341438"/>
                        <a:ext cx="2449513" cy="533400"/>
                      </a:xfrm>
                      <a:prstGeom prst="rect">
                        <a:avLst/>
                      </a:prstGeom>
                      <a:solidFill>
                        <a:schemeClr val="bg1"/>
                      </a:solidFill>
                      <a:ln w="9525">
                        <a:solidFill>
                          <a:srgbClr val="0000FF"/>
                        </a:solidFill>
                        <a:miter lim="800000"/>
                        <a:headEnd/>
                        <a:tailEnd/>
                      </a:ln>
                    </p:spPr>
                  </p:pic>
                </p:oleObj>
              </mc:Fallback>
            </mc:AlternateContent>
          </a:graphicData>
        </a:graphic>
      </p:graphicFrame>
      <p:graphicFrame>
        <p:nvGraphicFramePr>
          <p:cNvPr id="92169" name="Object 9"/>
          <p:cNvGraphicFramePr>
            <a:graphicFrameLocks noGrp="1" noChangeAspect="1"/>
          </p:cNvGraphicFramePr>
          <p:nvPr>
            <p:ph sz="half" idx="2"/>
          </p:nvPr>
        </p:nvGraphicFramePr>
        <p:xfrm>
          <a:off x="3348038" y="620713"/>
          <a:ext cx="2447925" cy="549275"/>
        </p:xfrm>
        <a:graphic>
          <a:graphicData uri="http://schemas.openxmlformats.org/presentationml/2006/ole">
            <mc:AlternateContent xmlns:mc="http://schemas.openxmlformats.org/markup-compatibility/2006">
              <mc:Choice xmlns:v="urn:schemas-microsoft-com:vml" Requires="v">
                <p:oleObj spid="_x0000_s6178" name="Ecuación" r:id="rId8" imgW="1015920" imgH="228600" progId="Equation.3">
                  <p:embed/>
                </p:oleObj>
              </mc:Choice>
              <mc:Fallback>
                <p:oleObj name="Ecuación" r:id="rId8" imgW="1015920" imgH="228600"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8038" y="620713"/>
                        <a:ext cx="2447925" cy="549275"/>
                      </a:xfrm>
                      <a:prstGeom prst="rect">
                        <a:avLst/>
                      </a:prstGeom>
                      <a:solidFill>
                        <a:schemeClr val="bg1"/>
                      </a:solidFill>
                      <a:ln w="9525">
                        <a:solidFill>
                          <a:srgbClr val="0000FF"/>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169"/>
                                        </p:tgtEl>
                                        <p:attrNameLst>
                                          <p:attrName>style.visibility</p:attrName>
                                        </p:attrNameLst>
                                      </p:cBhvr>
                                      <p:to>
                                        <p:strVal val="visible"/>
                                      </p:to>
                                    </p:set>
                                    <p:animEffect transition="in" filter="wipe(down)">
                                      <p:cBhvr>
                                        <p:cTn id="7" dur="500"/>
                                        <p:tgtEl>
                                          <p:spTgt spid="92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2166"/>
                                        </p:tgtEl>
                                        <p:attrNameLst>
                                          <p:attrName>style.visibility</p:attrName>
                                        </p:attrNameLst>
                                      </p:cBhvr>
                                      <p:to>
                                        <p:strVal val="visible"/>
                                      </p:to>
                                    </p:set>
                                    <p:animEffect transition="in" filter="wipe(down)">
                                      <p:cBhvr>
                                        <p:cTn id="12" dur="500"/>
                                        <p:tgtEl>
                                          <p:spTgt spid="921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2167"/>
                                        </p:tgtEl>
                                        <p:attrNameLst>
                                          <p:attrName>style.visibility</p:attrName>
                                        </p:attrNameLst>
                                      </p:cBhvr>
                                      <p:to>
                                        <p:strVal val="visible"/>
                                      </p:to>
                                    </p:set>
                                    <p:animEffect transition="in" filter="wipe(down)">
                                      <p:cBhvr>
                                        <p:cTn id="17" dur="500"/>
                                        <p:tgtEl>
                                          <p:spTgt spid="92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916</Words>
  <Application>Microsoft Office PowerPoint</Application>
  <PresentationFormat>Presentación en pantalla (4:3)</PresentationFormat>
  <Paragraphs>79</Paragraphs>
  <Slides>13</Slides>
  <Notes>8</Notes>
  <HiddenSlides>0</HiddenSlides>
  <MMClips>0</MMClips>
  <ScaleCrop>false</ScaleCrop>
  <HeadingPairs>
    <vt:vector size="6" baseType="variant">
      <vt:variant>
        <vt:lpstr>Tema</vt:lpstr>
      </vt:variant>
      <vt:variant>
        <vt:i4>1</vt:i4>
      </vt:variant>
      <vt:variant>
        <vt:lpstr>Servidores OLE incrustados</vt:lpstr>
      </vt:variant>
      <vt:variant>
        <vt:i4>2</vt:i4>
      </vt:variant>
      <vt:variant>
        <vt:lpstr>Títulos de diapositiva</vt:lpstr>
      </vt:variant>
      <vt:variant>
        <vt:i4>13</vt:i4>
      </vt:variant>
    </vt:vector>
  </HeadingPairs>
  <TitlesOfParts>
    <vt:vector size="16" baseType="lpstr">
      <vt:lpstr>Tema de Office</vt:lpstr>
      <vt:lpstr>Ecuación</vt:lpstr>
      <vt:lpstr>Microsoft Editor de ecuaciones 3.0</vt:lpstr>
      <vt:lpstr>Presentación de PowerPoint</vt:lpstr>
      <vt:lpstr>Propiedades coligativas  no electrolitos</vt:lpstr>
      <vt:lpstr>Presentación de PowerPoint</vt:lpstr>
      <vt:lpstr>Presentación de PowerPoint</vt:lpstr>
      <vt:lpstr>Presentación de PowerPoint</vt:lpstr>
      <vt:lpstr> Disminución de la presión de vapor Ley de Raoult </vt:lpstr>
      <vt:lpstr>ASCENSO EBULLOSCOPICO ELEVACIÓN DEL PTO. DE EBULLICIÓN</vt:lpstr>
      <vt:lpstr>DESCENSO CRIOSCÓPICO DISMINUCIÓN DEL PTO. DE CONGELACIÓN</vt:lpstr>
      <vt:lpstr>ÓSMOSIS PRESIÓN OSMÓTICA</vt:lpstr>
      <vt:lpstr>MEDIDA DE LA PRESIÓN OSMÓTICA</vt:lpstr>
      <vt:lpstr>PROPIEDADES COLIGATIVAS</vt:lpstr>
      <vt:lpstr>Propiedades coligativas de disoluciones de electrolitos</vt:lpstr>
      <vt:lpstr>Fórmulas corregidas de las propiedades coligativas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Vanina Mazzieri</dc:creator>
  <cp:lastModifiedBy>Vanina</cp:lastModifiedBy>
  <cp:revision>27</cp:revision>
  <dcterms:created xsi:type="dcterms:W3CDTF">2016-04-26T16:46:16Z</dcterms:created>
  <dcterms:modified xsi:type="dcterms:W3CDTF">2021-05-17T14:08:03Z</dcterms:modified>
</cp:coreProperties>
</file>
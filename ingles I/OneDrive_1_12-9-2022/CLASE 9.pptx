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69" r:id="rId4"/>
    <p:sldId id="270" r:id="rId5"/>
    <p:sldId id="275" r:id="rId6"/>
    <p:sldId id="271" r:id="rId7"/>
    <p:sldId id="272" r:id="rId8"/>
    <p:sldId id="27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2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95340-4BE6-4894-A688-34F7A76CA03E}" type="datetimeFigureOut">
              <a:rPr lang="es-AR" smtClean="0"/>
              <a:t>17/8/2022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D7C5B1-55CA-4B16-89CC-489E737D1A4C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36340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01F781-A72F-40F2-A968-DEF888180348}" type="slidenum">
              <a:rPr lang="es-AR" smtClean="0"/>
              <a:pPr/>
              <a:t>5</a:t>
            </a:fld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488880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8/17/2022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8/17/2022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AR" dirty="0" smtClean="0"/>
              <a:t>INGLÉS I</a:t>
            </a:r>
            <a:endParaRPr lang="es-A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endParaRPr lang="es-AR" dirty="0" smtClean="0"/>
          </a:p>
          <a:p>
            <a:r>
              <a:rPr lang="es-AR" dirty="0" smtClean="0"/>
              <a:t>Prof. Nidia S. </a:t>
            </a:r>
            <a:r>
              <a:rPr lang="es-AR" dirty="0" err="1" smtClean="0"/>
              <a:t>Redonder</a:t>
            </a:r>
            <a:endParaRPr lang="es-AR" dirty="0"/>
          </a:p>
          <a:p>
            <a:r>
              <a:rPr lang="es-AR" dirty="0" smtClean="0"/>
              <a:t>UTN - FRSF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842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551234"/>
            <a:ext cx="8596668" cy="907915"/>
          </a:xfrm>
        </p:spPr>
        <p:txBody>
          <a:bodyPr/>
          <a:lstStyle/>
          <a:p>
            <a:pPr algn="ctr"/>
            <a:r>
              <a:rPr lang="es-AR" dirty="0" smtClean="0"/>
              <a:t>TIEMPOS CONTINUOS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07692" y="1622965"/>
            <a:ext cx="9450707" cy="47649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AR" sz="2400" dirty="0" smtClean="0"/>
              <a:t>                </a:t>
            </a:r>
            <a:endParaRPr lang="es-AR" sz="2400" dirty="0">
              <a:solidFill>
                <a:schemeClr val="tx2"/>
              </a:solidFill>
            </a:endParaRPr>
          </a:p>
        </p:txBody>
      </p:sp>
      <p:graphicFrame>
        <p:nvGraphicFramePr>
          <p:cNvPr id="5" name="Tabla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4704263"/>
              </p:ext>
            </p:extLst>
          </p:nvPr>
        </p:nvGraphicFramePr>
        <p:xfrm>
          <a:off x="677334" y="1120466"/>
          <a:ext cx="10115163" cy="554952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8062"/>
                <a:gridCol w="2070598"/>
                <a:gridCol w="2274450"/>
                <a:gridCol w="2274450"/>
                <a:gridCol w="2137603"/>
              </a:tblGrid>
              <a:tr h="502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>
                          <a:effectLst/>
                        </a:rPr>
                        <a:t> </a:t>
                      </a:r>
                      <a:endParaRPr lang="es-A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Pronombre</a:t>
                      </a:r>
                      <a:endParaRPr lang="es-A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PRESENTE CONTINUO</a:t>
                      </a:r>
                      <a:endParaRPr lang="es-A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PASADO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CONTINUO</a:t>
                      </a:r>
                      <a:endParaRPr lang="es-A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FUTURO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CONTINUO</a:t>
                      </a:r>
                      <a:endParaRPr lang="es-A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12275">
                <a:tc rowSpan="6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Afirmativo</a:t>
                      </a: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>
                          <a:effectLst/>
                        </a:rPr>
                        <a:t>I</a:t>
                      </a:r>
                      <a:endParaRPr lang="es-A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>
                          <a:effectLst/>
                        </a:rPr>
                        <a:t>am studying</a:t>
                      </a:r>
                      <a:endParaRPr lang="es-A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>
                          <a:effectLst/>
                        </a:rPr>
                        <a:t>was studying</a:t>
                      </a:r>
                      <a:endParaRPr lang="es-A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rowSpan="6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 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 err="1">
                          <a:effectLst/>
                        </a:rPr>
                        <a:t>will</a:t>
                      </a:r>
                      <a:r>
                        <a:rPr lang="es-AR" sz="1100" dirty="0">
                          <a:effectLst/>
                        </a:rPr>
                        <a:t> be </a:t>
                      </a:r>
                      <a:r>
                        <a:rPr lang="es-AR" sz="1100" dirty="0" err="1">
                          <a:effectLst/>
                        </a:rPr>
                        <a:t>studying</a:t>
                      </a:r>
                      <a:r>
                        <a:rPr lang="es-AR" sz="1100" dirty="0">
                          <a:effectLst/>
                        </a:rPr>
                        <a:t>.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dirty="0">
                          <a:effectLst/>
                        </a:rPr>
                        <a:t>(igual para todos los sujetos)</a:t>
                      </a:r>
                      <a:endParaRPr lang="es-A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122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You (sing)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are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were</a:t>
                      </a:r>
                      <a:r>
                        <a:rPr lang="es-AR" sz="1200" dirty="0">
                          <a:effectLst/>
                        </a:rPr>
                        <a:t>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122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He/She/It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is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was</a:t>
                      </a:r>
                      <a:r>
                        <a:rPr lang="es-AR" sz="1200" dirty="0">
                          <a:effectLst/>
                        </a:rPr>
                        <a:t>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122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We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are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were</a:t>
                      </a:r>
                      <a:r>
                        <a:rPr lang="es-AR" sz="1200" dirty="0">
                          <a:effectLst/>
                        </a:rPr>
                        <a:t>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122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You (plural)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are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were</a:t>
                      </a:r>
                      <a:r>
                        <a:rPr lang="es-AR" sz="1200" dirty="0">
                          <a:effectLst/>
                        </a:rPr>
                        <a:t>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122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They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are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were</a:t>
                      </a:r>
                      <a:r>
                        <a:rPr lang="es-AR" sz="1200" dirty="0">
                          <a:effectLst/>
                        </a:rPr>
                        <a:t>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122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700">
                          <a:effectLst/>
                        </a:rPr>
                        <a:t> </a:t>
                      </a:r>
                      <a:endParaRPr lang="es-A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 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 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 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effectLst/>
                        </a:rPr>
                        <a:t> 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44666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700">
                          <a:effectLst/>
                        </a:rPr>
                        <a:t> </a:t>
                      </a:r>
                      <a:endParaRPr lang="es-A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effectLst/>
                        </a:rPr>
                        <a:t>Pronombre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PRESENTE CONTINUO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PASADO CONTINUO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effectLst/>
                        </a:rPr>
                        <a:t> 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57791">
                <a:tc rowSpan="6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Negativo</a:t>
                      </a: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I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am not (I´m not)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was not (wasn´t)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rowSpan="6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s-AR" sz="12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s-AR" sz="12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will not be studying.</a:t>
                      </a:r>
                      <a:endParaRPr lang="es-AR" sz="1200" dirty="0">
                        <a:effectLst/>
                      </a:endParaRP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(won´t)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25566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You (sing)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are not (aren´t)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were not (weren´t) 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41678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He/She/It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is not (isn´t)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was not (wasn´t) 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177232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We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are not (aren´t)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were not (weren´t) 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177231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You (plural)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are not (aren´t)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were not (weren´t) 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177232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They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are not (aren´t) studying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were not (weren´t) studying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</a:tr>
              <a:tr h="212275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700">
                          <a:effectLst/>
                        </a:rPr>
                        <a:t> </a:t>
                      </a:r>
                      <a:endParaRPr lang="es-A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 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47673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  <a:tabLst>
                          <a:tab pos="707390" algn="l"/>
                        </a:tabLst>
                      </a:pPr>
                      <a:r>
                        <a:rPr lang="en-US" sz="700">
                          <a:effectLst/>
                        </a:rPr>
                        <a:t>	</a:t>
                      </a:r>
                      <a:endParaRPr lang="es-AR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PRESENTE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CONTINUO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PASADO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CONTINUO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Pronombre + -ING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effectLst/>
                        </a:rPr>
                        <a:t>FUTURO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>
                          <a:effectLst/>
                        </a:rPr>
                        <a:t>CONTINUO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12275">
                <a:tc rowSpan="6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1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Interrogativo</a:t>
                      </a: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Am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Was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I </a:t>
                      </a:r>
                      <a:r>
                        <a:rPr lang="en-US" sz="1200">
                          <a:effectLst/>
                        </a:rPr>
                        <a:t>studying?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Will</a:t>
                      </a:r>
                      <a:r>
                        <a:rPr lang="es-AR" sz="1200" dirty="0">
                          <a:effectLst/>
                        </a:rPr>
                        <a:t> I be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r>
                        <a:rPr lang="es-AR" sz="1200" dirty="0">
                          <a:effectLst/>
                        </a:rPr>
                        <a:t>?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122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Are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Were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you (sing)</a:t>
                      </a:r>
                      <a:r>
                        <a:rPr lang="en-US" sz="1200">
                          <a:effectLst/>
                        </a:rPr>
                        <a:t> studying?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Will</a:t>
                      </a:r>
                      <a:r>
                        <a:rPr lang="es-AR" sz="1200" dirty="0">
                          <a:effectLst/>
                        </a:rPr>
                        <a:t> </a:t>
                      </a:r>
                      <a:r>
                        <a:rPr lang="es-AR" sz="1200" dirty="0" err="1">
                          <a:effectLst/>
                        </a:rPr>
                        <a:t>you</a:t>
                      </a:r>
                      <a:r>
                        <a:rPr lang="es-AR" sz="1200" dirty="0">
                          <a:effectLst/>
                        </a:rPr>
                        <a:t> be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r>
                        <a:rPr lang="es-AR" sz="1200" dirty="0">
                          <a:effectLst/>
                        </a:rPr>
                        <a:t>?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07560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Is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Was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he/She/It</a:t>
                      </a:r>
                      <a:r>
                        <a:rPr lang="en-US" sz="1200">
                          <a:effectLst/>
                        </a:rPr>
                        <a:t> studying?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Will he/she/it be studying?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122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Are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Were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we</a:t>
                      </a:r>
                      <a:r>
                        <a:rPr lang="en-US" sz="1200">
                          <a:effectLst/>
                        </a:rPr>
                        <a:t> studying?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Will</a:t>
                      </a:r>
                      <a:r>
                        <a:rPr lang="es-AR" sz="1200" dirty="0">
                          <a:effectLst/>
                        </a:rPr>
                        <a:t> I be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r>
                        <a:rPr lang="es-AR" sz="1200" dirty="0">
                          <a:effectLst/>
                        </a:rPr>
                        <a:t>?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122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Are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Were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you </a:t>
                      </a:r>
                      <a:r>
                        <a:rPr lang="en-US" sz="1200">
                          <a:effectLst/>
                        </a:rPr>
                        <a:t>studying?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Will</a:t>
                      </a:r>
                      <a:r>
                        <a:rPr lang="es-AR" sz="1200" dirty="0">
                          <a:effectLst/>
                        </a:rPr>
                        <a:t> I be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r>
                        <a:rPr lang="es-AR" sz="1200" dirty="0">
                          <a:effectLst/>
                        </a:rPr>
                        <a:t>?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  <a:tr h="212275">
                <a:tc v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Are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Were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>
                          <a:effectLst/>
                        </a:rPr>
                        <a:t>they </a:t>
                      </a:r>
                      <a:r>
                        <a:rPr lang="en-US" sz="1200">
                          <a:effectLst/>
                        </a:rPr>
                        <a:t>studying?</a:t>
                      </a:r>
                      <a:endParaRPr lang="es-AR" sz="12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AR" sz="1200" dirty="0" err="1">
                          <a:effectLst/>
                        </a:rPr>
                        <a:t>Will</a:t>
                      </a:r>
                      <a:r>
                        <a:rPr lang="es-AR" sz="1200" dirty="0">
                          <a:effectLst/>
                        </a:rPr>
                        <a:t> I be </a:t>
                      </a:r>
                      <a:r>
                        <a:rPr lang="es-AR" sz="1200" dirty="0" err="1">
                          <a:effectLst/>
                        </a:rPr>
                        <a:t>studying</a:t>
                      </a:r>
                      <a:r>
                        <a:rPr lang="es-AR" sz="1200" dirty="0">
                          <a:effectLst/>
                        </a:rPr>
                        <a:t>?</a:t>
                      </a:r>
                      <a:endParaRPr lang="es-AR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554" marR="52554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515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2986"/>
          </a:xfrm>
        </p:spPr>
        <p:txBody>
          <a:bodyPr/>
          <a:lstStyle/>
          <a:p>
            <a:pPr algn="ctr"/>
            <a:r>
              <a:rPr lang="es-AR" b="1" dirty="0" smtClean="0"/>
              <a:t>USOS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1184856"/>
            <a:ext cx="8930305" cy="5306095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s-AR" sz="2800" dirty="0" smtClean="0"/>
          </a:p>
          <a:p>
            <a:pPr algn="just"/>
            <a:r>
              <a:rPr lang="es-AR" sz="2000" b="1" dirty="0" smtClean="0"/>
              <a:t>Presente </a:t>
            </a:r>
            <a:r>
              <a:rPr lang="es-AR" sz="2000" b="1" dirty="0"/>
              <a:t>Continuo: </a:t>
            </a:r>
            <a:r>
              <a:rPr lang="es-AR" sz="2000" dirty="0"/>
              <a:t>a) para hablar de actividades que están sucediendo ahora o en el momento que se habla, b) para indicar acciones futuras que se han planificado de antemano, c) para referirse a un proceso que se da en un tiempo presente más amplio; d) con “</a:t>
            </a:r>
            <a:r>
              <a:rPr lang="es-AR" sz="2000" dirty="0" err="1"/>
              <a:t>always</a:t>
            </a:r>
            <a:r>
              <a:rPr lang="es-AR" sz="2000" dirty="0"/>
              <a:t>” o “</a:t>
            </a:r>
            <a:r>
              <a:rPr lang="es-AR" sz="2000" dirty="0" err="1"/>
              <a:t>forever</a:t>
            </a:r>
            <a:r>
              <a:rPr lang="es-AR" sz="2000" dirty="0"/>
              <a:t>”, el Presente Continuo se usa para describir un hábito que el hablante encuentra fastidioso o molesto</a:t>
            </a:r>
            <a:r>
              <a:rPr lang="es-AR" sz="2000" dirty="0" smtClean="0"/>
              <a:t>.</a:t>
            </a:r>
          </a:p>
          <a:p>
            <a:r>
              <a:rPr lang="en-US" sz="2000" u="sng" dirty="0" err="1"/>
              <a:t>Ejemplos</a:t>
            </a:r>
            <a:r>
              <a:rPr lang="en-US" sz="2000" dirty="0"/>
              <a:t>:</a:t>
            </a:r>
            <a:endParaRPr lang="es-AR" sz="2000" dirty="0"/>
          </a:p>
          <a:p>
            <a:pPr marL="0" lvl="0" indent="0">
              <a:buNone/>
            </a:pPr>
            <a:r>
              <a:rPr lang="en-US" sz="2000" dirty="0" smtClean="0"/>
              <a:t>- At </a:t>
            </a:r>
            <a:r>
              <a:rPr lang="en-US" sz="2000" dirty="0"/>
              <a:t>the moment, a lot of computer scientists </a:t>
            </a:r>
            <a:r>
              <a:rPr lang="en-US" sz="2000" b="1" dirty="0"/>
              <a:t>are working</a:t>
            </a:r>
            <a:r>
              <a:rPr lang="en-US" sz="2000" dirty="0"/>
              <a:t> on artificial Intelligence.</a:t>
            </a:r>
            <a:endParaRPr lang="es-AR" sz="2000" dirty="0"/>
          </a:p>
          <a:p>
            <a:pPr marL="0" lvl="0" indent="0">
              <a:buNone/>
            </a:pPr>
            <a:r>
              <a:rPr lang="en-US" sz="2000" b="1" dirty="0" smtClean="0"/>
              <a:t>- I’m </a:t>
            </a:r>
            <a:r>
              <a:rPr lang="en-US" sz="2000" b="1" dirty="0"/>
              <a:t>meeting</a:t>
            </a:r>
            <a:r>
              <a:rPr lang="en-US" sz="2000" dirty="0"/>
              <a:t> my instructor next Saturday.</a:t>
            </a:r>
            <a:endParaRPr lang="es-AR" sz="2000" dirty="0"/>
          </a:p>
          <a:p>
            <a:pPr marL="0" lvl="0" indent="0">
              <a:buNone/>
            </a:pPr>
            <a:r>
              <a:rPr lang="en-US" sz="2000" dirty="0" smtClean="0"/>
              <a:t>- This </a:t>
            </a:r>
            <a:r>
              <a:rPr lang="en-US" sz="2000" dirty="0"/>
              <a:t>kind of software </a:t>
            </a:r>
            <a:r>
              <a:rPr lang="en-US" sz="2000" b="1" dirty="0"/>
              <a:t>is getting</a:t>
            </a:r>
            <a:r>
              <a:rPr lang="en-US" sz="2000" dirty="0"/>
              <a:t> better every year.</a:t>
            </a:r>
            <a:endParaRPr lang="es-AR" sz="2000" dirty="0"/>
          </a:p>
          <a:p>
            <a:pPr marL="0" lvl="0" indent="0">
              <a:buNone/>
            </a:pPr>
            <a:r>
              <a:rPr lang="en-US" sz="2000" dirty="0" smtClean="0"/>
              <a:t>- She</a:t>
            </a:r>
            <a:r>
              <a:rPr lang="en-US" sz="2000" b="1" dirty="0" smtClean="0"/>
              <a:t>’s</a:t>
            </a:r>
            <a:r>
              <a:rPr lang="en-US" sz="2000" dirty="0" smtClean="0"/>
              <a:t> </a:t>
            </a:r>
            <a:r>
              <a:rPr lang="en-US" sz="2000" dirty="0"/>
              <a:t>always </a:t>
            </a:r>
            <a:r>
              <a:rPr lang="en-US" sz="2000" b="1" dirty="0"/>
              <a:t>buying</a:t>
            </a:r>
            <a:r>
              <a:rPr lang="en-US" sz="2000" dirty="0"/>
              <a:t> cheap things on the Net.</a:t>
            </a:r>
            <a:endParaRPr lang="es-AR" sz="2000" dirty="0"/>
          </a:p>
          <a:p>
            <a:endParaRPr lang="es-AR" sz="2300" dirty="0"/>
          </a:p>
        </p:txBody>
      </p:sp>
    </p:spTree>
    <p:extLst>
      <p:ext uri="{BB962C8B-B14F-4D97-AF65-F5344CB8AC3E}">
        <p14:creationId xmlns:p14="http://schemas.microsoft.com/office/powerpoint/2010/main" val="3697746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45719"/>
          </a:xfrm>
        </p:spPr>
        <p:txBody>
          <a:bodyPr>
            <a:normAutofit fontScale="90000"/>
          </a:bodyPr>
          <a:lstStyle/>
          <a:p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655319"/>
            <a:ext cx="9561370" cy="5809875"/>
          </a:xfrm>
        </p:spPr>
        <p:txBody>
          <a:bodyPr>
            <a:normAutofit/>
          </a:bodyPr>
          <a:lstStyle/>
          <a:p>
            <a:r>
              <a:rPr lang="es-ES_tradnl" sz="2000" b="1" dirty="0"/>
              <a:t>Pasado Continuo</a:t>
            </a:r>
            <a:r>
              <a:rPr lang="es-AR" sz="2000" dirty="0"/>
              <a:t>: </a:t>
            </a:r>
            <a:r>
              <a:rPr lang="es-ES_tradnl" sz="2000" dirty="0" smtClean="0"/>
              <a:t>para </a:t>
            </a:r>
            <a:r>
              <a:rPr lang="es-ES_tradnl" sz="2000" dirty="0"/>
              <a:t>referirnos a acciones progresivas realizadas en un período de tiempo pasado ya finalizado.</a:t>
            </a:r>
            <a:endParaRPr lang="es-AR" sz="2000" dirty="0"/>
          </a:p>
          <a:p>
            <a:pPr marL="0" indent="0">
              <a:buNone/>
            </a:pPr>
            <a:r>
              <a:rPr lang="en-US" sz="2000" u="sng" dirty="0" err="1"/>
              <a:t>Ejemplos</a:t>
            </a:r>
            <a:r>
              <a:rPr lang="en-US" sz="2000" dirty="0"/>
              <a:t>: 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- I </a:t>
            </a:r>
            <a:r>
              <a:rPr lang="en-US" sz="2000" b="1" dirty="0"/>
              <a:t>was</a:t>
            </a:r>
            <a:r>
              <a:rPr lang="en-US" sz="2000" dirty="0"/>
              <a:t> </a:t>
            </a:r>
            <a:r>
              <a:rPr lang="en-US" sz="2000" b="1" dirty="0"/>
              <a:t>reading</a:t>
            </a:r>
            <a:r>
              <a:rPr lang="en-US" sz="2000" dirty="0"/>
              <a:t> an interesting book when the phone </a:t>
            </a:r>
            <a:r>
              <a:rPr lang="en-US" sz="2000" b="1" dirty="0"/>
              <a:t>rang</a:t>
            </a:r>
            <a:r>
              <a:rPr lang="en-US" sz="2000" dirty="0"/>
              <a:t>.</a:t>
            </a:r>
            <a:endParaRPr lang="es-AR" sz="2000" dirty="0"/>
          </a:p>
          <a:p>
            <a:pPr marL="0" indent="0">
              <a:buNone/>
            </a:pPr>
            <a:r>
              <a:rPr lang="en-US" sz="2000" dirty="0" smtClean="0"/>
              <a:t>- Yesterday </a:t>
            </a:r>
            <a:r>
              <a:rPr lang="en-US" sz="2000" dirty="0"/>
              <a:t>morning my children </a:t>
            </a:r>
            <a:r>
              <a:rPr lang="en-US" sz="2000" b="1" dirty="0"/>
              <a:t>were playing</a:t>
            </a:r>
            <a:r>
              <a:rPr lang="en-US" sz="2000" dirty="0"/>
              <a:t> with their computers while I </a:t>
            </a:r>
            <a:r>
              <a:rPr lang="en-US" sz="2000" b="1" dirty="0"/>
              <a:t>was preparing</a:t>
            </a:r>
            <a:r>
              <a:rPr lang="en-US" sz="2000" dirty="0"/>
              <a:t> this class.</a:t>
            </a:r>
            <a:endParaRPr lang="es-AR" sz="2000" dirty="0"/>
          </a:p>
          <a:p>
            <a:pPr lvl="0"/>
            <a:endParaRPr lang="en-US" sz="2000" b="1" dirty="0" smtClean="0"/>
          </a:p>
          <a:p>
            <a:pPr lvl="0"/>
            <a:r>
              <a:rPr lang="en-US" sz="2000" b="1" dirty="0" smtClean="0"/>
              <a:t>Spelling</a:t>
            </a:r>
            <a:r>
              <a:rPr lang="en-US" sz="2000" dirty="0"/>
              <a:t>:</a:t>
            </a:r>
            <a:endParaRPr lang="es-AR" sz="2000" dirty="0"/>
          </a:p>
          <a:p>
            <a:pPr marL="0" lvl="0" indent="0">
              <a:buNone/>
            </a:pPr>
            <a:r>
              <a:rPr lang="es-AR" sz="2000" dirty="0" smtClean="0"/>
              <a:t>-  </a:t>
            </a:r>
            <a:r>
              <a:rPr lang="es-AR" sz="2000" dirty="0"/>
              <a:t>Cuando el verbo termina con una consonante + “e” (</a:t>
            </a:r>
            <a:r>
              <a:rPr lang="es-AR" sz="2000" dirty="0" err="1"/>
              <a:t>e.g</a:t>
            </a:r>
            <a:r>
              <a:rPr lang="es-AR" sz="2000" dirty="0"/>
              <a:t>.: com</a:t>
            </a:r>
            <a:r>
              <a:rPr lang="es-AR" sz="2000" b="1" dirty="0"/>
              <a:t>e</a:t>
            </a:r>
            <a:r>
              <a:rPr lang="es-AR" sz="2000" dirty="0"/>
              <a:t>, </a:t>
            </a:r>
            <a:r>
              <a:rPr lang="es-AR" sz="2000" dirty="0" err="1"/>
              <a:t>writ</a:t>
            </a:r>
            <a:r>
              <a:rPr lang="es-AR" sz="2000" b="1" dirty="0" err="1"/>
              <a:t>e</a:t>
            </a:r>
            <a:r>
              <a:rPr lang="es-AR" sz="2000" dirty="0"/>
              <a:t>), se quita la“-e” final y agregamos “-</a:t>
            </a:r>
            <a:r>
              <a:rPr lang="es-AR" sz="2000" dirty="0" err="1"/>
              <a:t>ing</a:t>
            </a:r>
            <a:r>
              <a:rPr lang="es-AR" sz="2000" dirty="0"/>
              <a:t>” (</a:t>
            </a:r>
            <a:r>
              <a:rPr lang="es-AR" sz="2000" dirty="0" err="1"/>
              <a:t>com</a:t>
            </a:r>
            <a:r>
              <a:rPr lang="es-AR" sz="2000" b="1" dirty="0" err="1"/>
              <a:t>ing</a:t>
            </a:r>
            <a:r>
              <a:rPr lang="es-AR" sz="2000" dirty="0"/>
              <a:t>, </a:t>
            </a:r>
            <a:r>
              <a:rPr lang="es-AR" sz="2000" dirty="0" err="1"/>
              <a:t>writ</a:t>
            </a:r>
            <a:r>
              <a:rPr lang="es-AR" sz="2000" b="1" dirty="0" err="1"/>
              <a:t>ing</a:t>
            </a:r>
            <a:r>
              <a:rPr lang="es-AR" sz="2000" dirty="0"/>
              <a:t>).</a:t>
            </a:r>
          </a:p>
          <a:p>
            <a:pPr marL="0" lvl="0" indent="0">
              <a:buNone/>
            </a:pPr>
            <a:r>
              <a:rPr lang="es-AR" sz="2000" dirty="0" smtClean="0"/>
              <a:t>-  </a:t>
            </a:r>
            <a:r>
              <a:rPr lang="es-AR" sz="2000" dirty="0"/>
              <a:t>Cuando el verbo termina en una vocal + una consonante (</a:t>
            </a:r>
            <a:r>
              <a:rPr lang="es-AR" sz="2000" dirty="0" err="1"/>
              <a:t>e.g</a:t>
            </a:r>
            <a:r>
              <a:rPr lang="es-AR" sz="2000" dirty="0"/>
              <a:t>.: s</a:t>
            </a:r>
            <a:r>
              <a:rPr lang="es-AR" sz="2000" b="1" dirty="0"/>
              <a:t>et</a:t>
            </a:r>
            <a:r>
              <a:rPr lang="es-AR" sz="2000" dirty="0"/>
              <a:t>, </a:t>
            </a:r>
            <a:r>
              <a:rPr lang="es-AR" sz="2000" dirty="0" err="1"/>
              <a:t>put</a:t>
            </a:r>
            <a:r>
              <a:rPr lang="es-AR" sz="2000" dirty="0"/>
              <a:t>), se duplica la consonante (</a:t>
            </a:r>
            <a:r>
              <a:rPr lang="es-AR" sz="2000" dirty="0" err="1"/>
              <a:t>se</a:t>
            </a:r>
            <a:r>
              <a:rPr lang="es-AR" sz="2000" b="1" dirty="0" err="1"/>
              <a:t>tting</a:t>
            </a:r>
            <a:r>
              <a:rPr lang="es-AR" sz="2000" dirty="0"/>
              <a:t>, </a:t>
            </a:r>
            <a:r>
              <a:rPr lang="es-AR" sz="2000" dirty="0" err="1"/>
              <a:t>pu</a:t>
            </a:r>
            <a:r>
              <a:rPr lang="es-AR" sz="2000" b="1" dirty="0" err="1"/>
              <a:t>tting</a:t>
            </a:r>
            <a:r>
              <a:rPr lang="es-AR" sz="2000" dirty="0"/>
              <a:t>).</a:t>
            </a:r>
          </a:p>
          <a:p>
            <a:pPr marL="0" lvl="0" indent="0">
              <a:buNone/>
            </a:pPr>
            <a:r>
              <a:rPr lang="es-AR" sz="2000" dirty="0" smtClean="0"/>
              <a:t>- Cuando </a:t>
            </a:r>
            <a:r>
              <a:rPr lang="es-AR" sz="2000" dirty="0"/>
              <a:t>el  verbo termina con una vocal + “y”, se agrega “-</a:t>
            </a:r>
            <a:r>
              <a:rPr lang="es-AR" sz="2000" dirty="0" err="1"/>
              <a:t>ing</a:t>
            </a:r>
            <a:r>
              <a:rPr lang="es-AR" sz="2000" dirty="0"/>
              <a:t>” (</a:t>
            </a:r>
            <a:r>
              <a:rPr lang="es-AR" sz="2000" dirty="0" err="1"/>
              <a:t>e.g</a:t>
            </a:r>
            <a:r>
              <a:rPr lang="es-AR" sz="2000" dirty="0"/>
              <a:t>.: </a:t>
            </a:r>
            <a:r>
              <a:rPr lang="es-AR" sz="2000" dirty="0" err="1"/>
              <a:t>stud</a:t>
            </a:r>
            <a:r>
              <a:rPr lang="es-AR" sz="2000" b="1" dirty="0" err="1"/>
              <a:t>y</a:t>
            </a:r>
            <a:r>
              <a:rPr lang="es-AR" sz="2000" dirty="0"/>
              <a:t>/</a:t>
            </a:r>
            <a:r>
              <a:rPr lang="es-AR" sz="2000" dirty="0" err="1"/>
              <a:t>stud</a:t>
            </a:r>
            <a:r>
              <a:rPr lang="es-AR" sz="2000" b="1" dirty="0" err="1"/>
              <a:t>ying</a:t>
            </a:r>
            <a:r>
              <a:rPr lang="es-AR" sz="2000" dirty="0" smtClean="0"/>
              <a:t>).</a:t>
            </a:r>
            <a:r>
              <a:rPr lang="es-AR" sz="2000" dirty="0"/>
              <a:t> </a:t>
            </a:r>
          </a:p>
          <a:p>
            <a:pPr>
              <a:buFontTx/>
              <a:buChar char="-"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88759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981200" y="708338"/>
            <a:ext cx="8229600" cy="776446"/>
          </a:xfrm>
        </p:spPr>
        <p:txBody>
          <a:bodyPr>
            <a:normAutofit/>
          </a:bodyPr>
          <a:lstStyle/>
          <a:p>
            <a:pPr algn="ctr"/>
            <a:r>
              <a:rPr lang="es-AR" b="1" dirty="0" smtClean="0"/>
              <a:t>EL FUTURO SIMPLE</a:t>
            </a:r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79550" y="1609859"/>
            <a:ext cx="9445299" cy="4945488"/>
          </a:xfrm>
        </p:spPr>
        <p:txBody>
          <a:bodyPr>
            <a:normAutofit fontScale="47500" lnSpcReduction="20000"/>
          </a:bodyPr>
          <a:lstStyle/>
          <a:p>
            <a:r>
              <a:rPr lang="es-AR" sz="3200" dirty="0" smtClean="0"/>
              <a:t> </a:t>
            </a:r>
            <a:r>
              <a:rPr lang="es-AR" sz="4200" b="1" dirty="0"/>
              <a:t>Uso</a:t>
            </a:r>
            <a:r>
              <a:rPr lang="es-AR" sz="4200" dirty="0"/>
              <a:t>: </a:t>
            </a:r>
            <a:r>
              <a:rPr lang="es-AR" sz="4200" dirty="0" smtClean="0"/>
              <a:t>para </a:t>
            </a:r>
            <a:r>
              <a:rPr lang="es-AR" sz="4200" dirty="0"/>
              <a:t>referirnos a eventos que se producirán en algún momento en el futuro. </a:t>
            </a:r>
          </a:p>
          <a:p>
            <a:pPr marL="0" indent="0">
              <a:buNone/>
            </a:pPr>
            <a:r>
              <a:rPr lang="es-AR" sz="4200" dirty="0" smtClean="0"/>
              <a:t> </a:t>
            </a:r>
            <a:r>
              <a:rPr lang="es-AR" sz="4200" b="1" dirty="0"/>
              <a:t>	</a:t>
            </a:r>
            <a:endParaRPr lang="es-ES" sz="4200" b="1" dirty="0" smtClean="0"/>
          </a:p>
          <a:p>
            <a:pPr lvl="0"/>
            <a:r>
              <a:rPr lang="es-ES_tradnl" sz="4200" dirty="0"/>
              <a:t> </a:t>
            </a:r>
            <a:r>
              <a:rPr lang="es-AR" sz="4200" b="1" dirty="0"/>
              <a:t>Estructura</a:t>
            </a:r>
            <a:endParaRPr lang="es-AR" sz="4200" dirty="0"/>
          </a:p>
          <a:p>
            <a:pPr marL="0" indent="0">
              <a:buNone/>
            </a:pPr>
            <a:endParaRPr lang="es-AR" sz="4200" dirty="0" smtClean="0"/>
          </a:p>
          <a:p>
            <a:pPr marL="0" indent="0">
              <a:buNone/>
            </a:pPr>
            <a:r>
              <a:rPr lang="es-AR" sz="4200" dirty="0" smtClean="0"/>
              <a:t>Independientemente </a:t>
            </a:r>
            <a:r>
              <a:rPr lang="es-AR" sz="4200" dirty="0"/>
              <a:t>del sujeto (pronombre) la estructura es la siguiente:</a:t>
            </a:r>
          </a:p>
          <a:p>
            <a:pPr marL="0" indent="0">
              <a:buNone/>
            </a:pPr>
            <a:r>
              <a:rPr lang="es-AR" sz="4200" dirty="0"/>
              <a:t> </a:t>
            </a:r>
          </a:p>
          <a:p>
            <a:pPr marL="0" indent="0">
              <a:buNone/>
            </a:pPr>
            <a:r>
              <a:rPr lang="es-ES_tradnl" sz="4200" b="1" dirty="0"/>
              <a:t>    Afirmativo:      SUJETO  +     WILL  +  INFINITIVO (sin “to”)</a:t>
            </a:r>
            <a:endParaRPr lang="es-AR" sz="4200" dirty="0"/>
          </a:p>
          <a:p>
            <a:pPr marL="0" indent="0">
              <a:buNone/>
            </a:pPr>
            <a:r>
              <a:rPr lang="es-AR" sz="4200" dirty="0"/>
              <a:t> </a:t>
            </a:r>
          </a:p>
          <a:p>
            <a:pPr marL="0" indent="0">
              <a:buNone/>
            </a:pPr>
            <a:r>
              <a:rPr lang="es-AR" sz="4200" b="1" dirty="0"/>
              <a:t>    Negativo:       SUJETO  +    WILL  +  NOT  +   INFINITIVO (sin “to”)</a:t>
            </a:r>
            <a:endParaRPr lang="es-AR" sz="4200" dirty="0"/>
          </a:p>
          <a:p>
            <a:pPr marL="0" indent="0">
              <a:buNone/>
            </a:pPr>
            <a:r>
              <a:rPr lang="es-AR" sz="4200" dirty="0"/>
              <a:t> </a:t>
            </a:r>
          </a:p>
          <a:p>
            <a:pPr marL="0" indent="0">
              <a:buNone/>
            </a:pPr>
            <a:r>
              <a:rPr lang="es-ES_tradnl" sz="4200" b="1" dirty="0"/>
              <a:t>    Afirmativo:           WILL  +   SUJETO  +  INFINITIVO (sin “to”) ?</a:t>
            </a:r>
            <a:endParaRPr lang="es-AR" sz="4200" dirty="0"/>
          </a:p>
          <a:p>
            <a:pPr marL="0" indent="0">
              <a:buNone/>
            </a:pPr>
            <a:r>
              <a:rPr lang="en-US" sz="3300" dirty="0" smtClean="0"/>
              <a:t>                        </a:t>
            </a:r>
            <a:endParaRPr lang="es-AR" sz="3300" dirty="0"/>
          </a:p>
          <a:p>
            <a:pPr marL="0" indent="0">
              <a:buNone/>
            </a:pP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038645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21972"/>
            <a:ext cx="8596668" cy="347729"/>
          </a:xfrm>
        </p:spPr>
        <p:txBody>
          <a:bodyPr>
            <a:normAutofit fontScale="90000"/>
          </a:bodyPr>
          <a:lstStyle/>
          <a:p>
            <a:pPr algn="ctr"/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28033" y="862885"/>
            <a:ext cx="9981127" cy="576973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s-AR" sz="2400" b="1" dirty="0" smtClean="0"/>
              <a:t> </a:t>
            </a:r>
            <a:r>
              <a:rPr lang="es-AR" sz="2300" dirty="0">
                <a:sym typeface="Wingdings" panose="05000000000000000000" pitchFamily="2" charset="2"/>
              </a:rPr>
              <a:t></a:t>
            </a:r>
            <a:r>
              <a:rPr lang="es-AR" sz="2300" dirty="0"/>
              <a:t> </a:t>
            </a:r>
            <a:r>
              <a:rPr lang="es-AR" sz="2600" b="1" u="sng" dirty="0"/>
              <a:t>Nota</a:t>
            </a:r>
            <a:r>
              <a:rPr lang="es-AR" sz="2600" dirty="0"/>
              <a:t>: La misma estructura puede utilizarse para las siguientes situaciones:</a:t>
            </a:r>
          </a:p>
          <a:p>
            <a:pPr marL="0" lvl="0" indent="0">
              <a:buNone/>
            </a:pPr>
            <a:r>
              <a:rPr lang="es-ES_tradnl" sz="2600" dirty="0" smtClean="0"/>
              <a:t>a) Cuando</a:t>
            </a:r>
            <a:r>
              <a:rPr lang="es-ES_tradnl" sz="2600" dirty="0"/>
              <a:t>, en el momento en que estamos hablando, decidimos hacer algo en el futuro.</a:t>
            </a:r>
            <a:endParaRPr lang="es-AR" sz="2600" dirty="0"/>
          </a:p>
          <a:p>
            <a:pPr marL="0" indent="0">
              <a:buNone/>
            </a:pPr>
            <a:r>
              <a:rPr lang="en-US" sz="2600" dirty="0" err="1"/>
              <a:t>Ejemplo</a:t>
            </a:r>
            <a:r>
              <a:rPr lang="en-US" sz="2600" dirty="0"/>
              <a:t>: </a:t>
            </a:r>
            <a:r>
              <a:rPr lang="en-US" sz="2600" b="1" dirty="0"/>
              <a:t>I’ll answer</a:t>
            </a:r>
            <a:r>
              <a:rPr lang="en-US" sz="2600" dirty="0"/>
              <a:t> the question.</a:t>
            </a:r>
            <a:endParaRPr lang="es-AR" sz="2600" dirty="0"/>
          </a:p>
          <a:p>
            <a:pPr marL="0" indent="0">
              <a:buNone/>
            </a:pPr>
            <a:r>
              <a:rPr lang="en-US" sz="2600" dirty="0"/>
              <a:t> </a:t>
            </a:r>
            <a:endParaRPr lang="es-AR" sz="2600" dirty="0"/>
          </a:p>
          <a:p>
            <a:pPr marL="0" indent="0">
              <a:buNone/>
            </a:pPr>
            <a:r>
              <a:rPr lang="es-ES_tradnl" sz="2600" dirty="0"/>
              <a:t>b)  Para hacer especulaciones (pronósticos) sobre cosas que no podemos controlar en el futuro.</a:t>
            </a:r>
            <a:endParaRPr lang="es-AR" sz="2600" dirty="0"/>
          </a:p>
          <a:p>
            <a:pPr marL="0" indent="0">
              <a:buNone/>
            </a:pPr>
            <a:r>
              <a:rPr lang="en-US" sz="2600" dirty="0" err="1"/>
              <a:t>Ejemplo</a:t>
            </a:r>
            <a:r>
              <a:rPr lang="en-US" sz="2600" dirty="0"/>
              <a:t>: </a:t>
            </a:r>
            <a:r>
              <a:rPr lang="en-US" sz="2600" b="1" dirty="0"/>
              <a:t>There will be</a:t>
            </a:r>
            <a:r>
              <a:rPr lang="en-US" sz="2600" dirty="0"/>
              <a:t> great changes in our country over the next few years.</a:t>
            </a:r>
            <a:endParaRPr lang="es-AR" sz="2600" dirty="0"/>
          </a:p>
          <a:p>
            <a:pPr marL="0" indent="0">
              <a:buNone/>
            </a:pPr>
            <a:r>
              <a:rPr lang="en-US" sz="2600" dirty="0"/>
              <a:t> </a:t>
            </a:r>
            <a:endParaRPr lang="es-AR" sz="2600" dirty="0"/>
          </a:p>
          <a:p>
            <a:pPr marL="0" indent="0">
              <a:buNone/>
            </a:pPr>
            <a:r>
              <a:rPr lang="es-ES_tradnl" sz="2600" dirty="0"/>
              <a:t>c)  Para hablar sobre planes definidos en situaciones formales.</a:t>
            </a:r>
            <a:endParaRPr lang="es-AR" sz="2600" dirty="0"/>
          </a:p>
          <a:p>
            <a:pPr marL="0" indent="0">
              <a:buNone/>
            </a:pPr>
            <a:r>
              <a:rPr lang="en-US" sz="2600" dirty="0" err="1"/>
              <a:t>E</a:t>
            </a:r>
            <a:r>
              <a:rPr lang="en-US" sz="2600" dirty="0" err="1" smtClean="0"/>
              <a:t>jemplo</a:t>
            </a:r>
            <a:r>
              <a:rPr lang="en-US" sz="2600" dirty="0" smtClean="0"/>
              <a:t>: </a:t>
            </a:r>
            <a:r>
              <a:rPr lang="en-US" sz="2600" dirty="0"/>
              <a:t>Microsoft </a:t>
            </a:r>
            <a:r>
              <a:rPr lang="en-US" sz="2600" b="1" dirty="0"/>
              <a:t>will launch</a:t>
            </a:r>
            <a:r>
              <a:rPr lang="en-US" sz="2600" dirty="0"/>
              <a:t> new software very soon.</a:t>
            </a:r>
            <a:endParaRPr lang="es-AR" sz="2600" dirty="0"/>
          </a:p>
          <a:p>
            <a:pPr marL="0" indent="0">
              <a:buNone/>
            </a:pPr>
            <a:r>
              <a:rPr lang="en-US" sz="2600" dirty="0"/>
              <a:t> </a:t>
            </a:r>
            <a:endParaRPr lang="es-AR" sz="2600" dirty="0"/>
          </a:p>
          <a:p>
            <a:pPr marL="0" lvl="0" indent="0">
              <a:buNone/>
            </a:pPr>
            <a:r>
              <a:rPr lang="es-ES_tradnl" sz="2600" dirty="0" smtClean="0"/>
              <a:t>d) Cuando </a:t>
            </a:r>
            <a:r>
              <a:rPr lang="es-ES_tradnl" sz="2600" dirty="0"/>
              <a:t>prometemos u ofrecemos hacer algo.</a:t>
            </a:r>
            <a:endParaRPr lang="es-AR" sz="2600" dirty="0"/>
          </a:p>
          <a:p>
            <a:pPr marL="0" indent="0">
              <a:buNone/>
            </a:pPr>
            <a:r>
              <a:rPr lang="en-US" sz="2600" dirty="0" err="1" smtClean="0"/>
              <a:t>Ejemplo</a:t>
            </a:r>
            <a:r>
              <a:rPr lang="en-US" sz="2600" dirty="0" smtClean="0"/>
              <a:t>: </a:t>
            </a:r>
            <a:r>
              <a:rPr lang="en-US" sz="2600" b="1" dirty="0"/>
              <a:t>I’ll phone</a:t>
            </a:r>
            <a:r>
              <a:rPr lang="en-US" sz="2600" dirty="0"/>
              <a:t> as soon as I get back.</a:t>
            </a:r>
            <a:endParaRPr lang="es-AR" sz="2600" dirty="0"/>
          </a:p>
          <a:p>
            <a:pPr marL="0" indent="0">
              <a:buNone/>
            </a:pPr>
            <a:r>
              <a:rPr lang="en-US" sz="2600" dirty="0"/>
              <a:t> </a:t>
            </a:r>
            <a:endParaRPr lang="es-AR" sz="2600" dirty="0"/>
          </a:p>
          <a:p>
            <a:pPr marL="0" lvl="0" indent="0">
              <a:buNone/>
            </a:pPr>
            <a:r>
              <a:rPr lang="es-ES_tradnl" sz="2600" dirty="0" smtClean="0"/>
              <a:t>e) Para </a:t>
            </a:r>
            <a:r>
              <a:rPr lang="es-ES_tradnl" sz="2600" dirty="0"/>
              <a:t>pedir algo o pedir a alguien que haga algo.</a:t>
            </a:r>
            <a:endParaRPr lang="es-AR" sz="2600" dirty="0"/>
          </a:p>
          <a:p>
            <a:pPr marL="0" indent="0">
              <a:buNone/>
            </a:pPr>
            <a:r>
              <a:rPr lang="en-US" sz="2600" dirty="0" err="1" smtClean="0"/>
              <a:t>Ejemplo</a:t>
            </a:r>
            <a:r>
              <a:rPr lang="en-US" sz="2600" dirty="0" smtClean="0"/>
              <a:t>: </a:t>
            </a:r>
            <a:r>
              <a:rPr lang="en-US" sz="2600" b="1" dirty="0"/>
              <a:t>Will you help</a:t>
            </a:r>
            <a:r>
              <a:rPr lang="en-US" sz="2600" dirty="0"/>
              <a:t> me, please?</a:t>
            </a:r>
            <a:endParaRPr lang="es-AR" sz="2600" dirty="0"/>
          </a:p>
          <a:p>
            <a:pPr marL="0" indent="0">
              <a:buNone/>
            </a:pPr>
            <a:r>
              <a:rPr lang="en-US" sz="2600" dirty="0"/>
              <a:t> </a:t>
            </a:r>
            <a:endParaRPr lang="es-AR" sz="2600" dirty="0"/>
          </a:p>
          <a:p>
            <a:pPr marL="0" lvl="0" indent="0">
              <a:buNone/>
            </a:pPr>
            <a:r>
              <a:rPr lang="en-US" sz="2600" dirty="0" smtClean="0"/>
              <a:t>f) Para </a:t>
            </a:r>
            <a:r>
              <a:rPr lang="en-US" sz="2600" dirty="0" err="1"/>
              <a:t>dar</a:t>
            </a:r>
            <a:r>
              <a:rPr lang="en-US" sz="2600" dirty="0"/>
              <a:t> </a:t>
            </a:r>
            <a:r>
              <a:rPr lang="en-US" sz="2600" dirty="0" err="1"/>
              <a:t>órdenes</a:t>
            </a:r>
            <a:r>
              <a:rPr lang="en-US" sz="2600" dirty="0"/>
              <a:t>.</a:t>
            </a:r>
            <a:endParaRPr lang="es-AR" sz="2600" dirty="0"/>
          </a:p>
          <a:p>
            <a:pPr marL="0" indent="0">
              <a:buNone/>
            </a:pPr>
            <a:r>
              <a:rPr lang="en-US" sz="2600" dirty="0" err="1" smtClean="0"/>
              <a:t>Ejemplo</a:t>
            </a:r>
            <a:r>
              <a:rPr lang="en-US" sz="2600" dirty="0" smtClean="0"/>
              <a:t>: </a:t>
            </a:r>
            <a:r>
              <a:rPr lang="en-US" sz="2600" dirty="0"/>
              <a:t>You </a:t>
            </a:r>
            <a:r>
              <a:rPr lang="en-US" sz="2600" b="1" dirty="0"/>
              <a:t>will come back</a:t>
            </a:r>
            <a:r>
              <a:rPr lang="en-US" sz="2600" dirty="0"/>
              <a:t> home before 12 </a:t>
            </a:r>
            <a:r>
              <a:rPr lang="en-US" sz="2600" dirty="0" smtClean="0"/>
              <a:t>pm</a:t>
            </a:r>
            <a:r>
              <a:rPr lang="en-US" sz="2600" dirty="0"/>
              <a:t>.</a:t>
            </a:r>
            <a:endParaRPr lang="es-AR" sz="2600" dirty="0"/>
          </a:p>
        </p:txBody>
      </p:sp>
    </p:spTree>
    <p:extLst>
      <p:ext uri="{BB962C8B-B14F-4D97-AF65-F5344CB8AC3E}">
        <p14:creationId xmlns:p14="http://schemas.microsoft.com/office/powerpoint/2010/main" val="2623129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476518"/>
            <a:ext cx="8596668" cy="399245"/>
          </a:xfrm>
        </p:spPr>
        <p:txBody>
          <a:bodyPr>
            <a:normAutofit fontScale="90000"/>
          </a:bodyPr>
          <a:lstStyle/>
          <a:p>
            <a:pPr algn="ctr"/>
            <a:endParaRPr lang="es-AR" b="1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4" y="1068946"/>
            <a:ext cx="9419702" cy="51000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u="sng" dirty="0" err="1"/>
              <a:t>Ejemplos</a:t>
            </a:r>
            <a:r>
              <a:rPr lang="en-US" sz="2200" dirty="0"/>
              <a:t>: </a:t>
            </a:r>
            <a:endParaRPr lang="es-AR" sz="2200" dirty="0"/>
          </a:p>
          <a:p>
            <a:pPr marL="0" lvl="0" indent="0">
              <a:buNone/>
            </a:pPr>
            <a:r>
              <a:rPr lang="en-US" sz="2200" dirty="0" smtClean="0"/>
              <a:t>-  In </a:t>
            </a:r>
            <a:r>
              <a:rPr lang="en-US" sz="2200" dirty="0"/>
              <a:t>the future most libraries </a:t>
            </a:r>
            <a:r>
              <a:rPr lang="en-US" sz="2200" b="1" dirty="0"/>
              <a:t>will be</a:t>
            </a:r>
            <a:r>
              <a:rPr lang="en-US" sz="2200" dirty="0"/>
              <a:t> digital and users </a:t>
            </a:r>
            <a:r>
              <a:rPr lang="en-US" sz="2200" b="1" dirty="0"/>
              <a:t>will have</a:t>
            </a:r>
            <a:r>
              <a:rPr lang="en-US" sz="2200" dirty="0"/>
              <a:t> access to information  by means of computers.</a:t>
            </a:r>
            <a:endParaRPr lang="es-AR" sz="2200" dirty="0"/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s-AR" sz="2200" dirty="0"/>
              <a:t>(En el futuro la mayoría de las bibliotecas </a:t>
            </a:r>
            <a:r>
              <a:rPr lang="es-AR" sz="2200" i="1" dirty="0"/>
              <a:t>serán</a:t>
            </a:r>
            <a:r>
              <a:rPr lang="es-AR" sz="2200" dirty="0"/>
              <a:t> digitales…)</a:t>
            </a:r>
          </a:p>
          <a:p>
            <a:pPr marL="0" lvl="0" indent="0">
              <a:buNone/>
            </a:pPr>
            <a:r>
              <a:rPr lang="es-AR" sz="2200" dirty="0" smtClean="0"/>
              <a:t>-  </a:t>
            </a:r>
            <a:r>
              <a:rPr lang="en-US" sz="2200" b="1" dirty="0"/>
              <a:t>Will</a:t>
            </a:r>
            <a:r>
              <a:rPr lang="en-US" sz="2200" dirty="0"/>
              <a:t> people </a:t>
            </a:r>
            <a:r>
              <a:rPr lang="en-US" sz="2200" b="1" dirty="0"/>
              <a:t>abandon</a:t>
            </a:r>
            <a:r>
              <a:rPr lang="en-US" sz="2200" dirty="0"/>
              <a:t> the use of traditional libraries or will they still prefer to keep going to the traditional building?</a:t>
            </a:r>
            <a:endParaRPr lang="es-AR" sz="2200" dirty="0"/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s-AR" sz="2200" dirty="0" smtClean="0"/>
              <a:t>(</a:t>
            </a:r>
            <a:r>
              <a:rPr lang="es-AR" sz="2200" i="1" dirty="0"/>
              <a:t>Dejará</a:t>
            </a:r>
            <a:r>
              <a:rPr lang="es-AR" sz="2200" dirty="0"/>
              <a:t> la gente de usar las bibliotecas tradicionales…?</a:t>
            </a:r>
          </a:p>
          <a:p>
            <a:pPr marL="0" lvl="0" indent="0">
              <a:buNone/>
            </a:pPr>
            <a:r>
              <a:rPr lang="en-US" sz="2200" dirty="0" smtClean="0"/>
              <a:t>- Users </a:t>
            </a:r>
            <a:r>
              <a:rPr lang="en-US" sz="2200" b="1" dirty="0"/>
              <a:t>will not have to leave</a:t>
            </a:r>
            <a:r>
              <a:rPr lang="en-US" sz="2200" dirty="0"/>
              <a:t> their homes to get information from a library.</a:t>
            </a:r>
            <a:endParaRPr lang="es-AR" sz="2200" dirty="0"/>
          </a:p>
          <a:p>
            <a:pPr marL="0" indent="0">
              <a:buNone/>
            </a:pPr>
            <a:r>
              <a:rPr lang="en-US" sz="2200" dirty="0"/>
              <a:t> </a:t>
            </a:r>
            <a:r>
              <a:rPr lang="es-AR" sz="2200" dirty="0" smtClean="0"/>
              <a:t>(</a:t>
            </a:r>
            <a:r>
              <a:rPr lang="es-AR" sz="2200" dirty="0"/>
              <a:t>Los usuarios </a:t>
            </a:r>
            <a:r>
              <a:rPr lang="es-AR" sz="2200" i="1" dirty="0"/>
              <a:t>no deberán / no tendrán que abandonar</a:t>
            </a:r>
            <a:r>
              <a:rPr lang="es-AR" sz="2200" dirty="0"/>
              <a:t> sus hogares …)</a:t>
            </a:r>
          </a:p>
          <a:p>
            <a:endParaRPr lang="es-AR" sz="2600" dirty="0"/>
          </a:p>
        </p:txBody>
      </p:sp>
    </p:spTree>
    <p:extLst>
      <p:ext uri="{BB962C8B-B14F-4D97-AF65-F5344CB8AC3E}">
        <p14:creationId xmlns:p14="http://schemas.microsoft.com/office/powerpoint/2010/main" val="597396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334851"/>
            <a:ext cx="8596668" cy="618185"/>
          </a:xfrm>
        </p:spPr>
        <p:txBody>
          <a:bodyPr>
            <a:normAutofit fontScale="90000"/>
          </a:bodyPr>
          <a:lstStyle/>
          <a:p>
            <a:pPr lvl="0" algn="ctr"/>
            <a:r>
              <a:rPr lang="es-AR" b="1" dirty="0"/>
              <a:t>Futuro con “</a:t>
            </a:r>
            <a:r>
              <a:rPr lang="es-AR" b="1" dirty="0" err="1"/>
              <a:t>going</a:t>
            </a:r>
            <a:r>
              <a:rPr lang="es-AR" b="1" dirty="0"/>
              <a:t> to”</a:t>
            </a:r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97029" y="1236372"/>
            <a:ext cx="9509856" cy="5280337"/>
          </a:xfrm>
        </p:spPr>
        <p:txBody>
          <a:bodyPr>
            <a:normAutofit fontScale="92500" lnSpcReduction="20000"/>
          </a:bodyPr>
          <a:lstStyle/>
          <a:p>
            <a:pPr lvl="0"/>
            <a:r>
              <a:rPr lang="es-AR" sz="2000" b="1" dirty="0" smtClean="0"/>
              <a:t> </a:t>
            </a:r>
            <a:r>
              <a:rPr lang="en-US" sz="2200" b="1" dirty="0" err="1"/>
              <a:t>Estructura</a:t>
            </a:r>
            <a:r>
              <a:rPr lang="en-US" dirty="0" smtClean="0"/>
              <a:t>:</a:t>
            </a:r>
            <a:r>
              <a:rPr lang="en-US" dirty="0"/>
              <a:t> </a:t>
            </a:r>
            <a:endParaRPr lang="es-AR" dirty="0"/>
          </a:p>
          <a:p>
            <a:pPr marL="0" indent="0">
              <a:buNone/>
            </a:pPr>
            <a:r>
              <a:rPr lang="en-US" b="1" dirty="0" smtClean="0"/>
              <a:t>- </a:t>
            </a:r>
            <a:r>
              <a:rPr lang="en-US" b="1" dirty="0" err="1" smtClean="0"/>
              <a:t>Afirmativo</a:t>
            </a:r>
            <a:r>
              <a:rPr lang="en-US" b="1" dirty="0"/>
              <a:t>:</a:t>
            </a:r>
            <a:r>
              <a:rPr lang="en-US" dirty="0"/>
              <a:t>     </a:t>
            </a:r>
            <a:r>
              <a:rPr lang="en-US" b="1" dirty="0"/>
              <a:t>SUJETO  +</a:t>
            </a:r>
            <a:r>
              <a:rPr lang="en-US" dirty="0"/>
              <a:t>      </a:t>
            </a:r>
            <a:r>
              <a:rPr lang="en-US" b="1" dirty="0"/>
              <a:t>AM/IS/ARE    +    </a:t>
            </a:r>
            <a:r>
              <a:rPr lang="en-US" b="1" i="1" dirty="0"/>
              <a:t>GOING TO</a:t>
            </a:r>
            <a:r>
              <a:rPr lang="en-US" b="1" dirty="0"/>
              <a:t>     +      INFINITIVO </a:t>
            </a:r>
            <a:r>
              <a:rPr lang="en-US" dirty="0"/>
              <a:t> </a:t>
            </a:r>
            <a:endParaRPr lang="es-AR" dirty="0"/>
          </a:p>
          <a:p>
            <a:pPr marL="0" indent="0">
              <a:buNone/>
            </a:pPr>
            <a:r>
              <a:rPr lang="en-US" b="1" dirty="0" smtClean="0"/>
              <a:t>- </a:t>
            </a:r>
            <a:r>
              <a:rPr lang="en-US" b="1" dirty="0" err="1" smtClean="0"/>
              <a:t>Negativo</a:t>
            </a:r>
            <a:r>
              <a:rPr lang="en-US" b="1" dirty="0"/>
              <a:t>:     SUJETO   +</a:t>
            </a:r>
            <a:r>
              <a:rPr lang="en-US" dirty="0"/>
              <a:t>    </a:t>
            </a:r>
            <a:r>
              <a:rPr lang="en-US" b="1" dirty="0"/>
              <a:t>AM/IS/ARE    +    </a:t>
            </a:r>
            <a:r>
              <a:rPr lang="en-US" b="1" i="1" dirty="0"/>
              <a:t>GOING TO</a:t>
            </a:r>
            <a:r>
              <a:rPr lang="en-US" b="1" dirty="0"/>
              <a:t>     +      INFINITIVO </a:t>
            </a:r>
            <a:r>
              <a:rPr lang="en-US" dirty="0"/>
              <a:t> </a:t>
            </a:r>
            <a:endParaRPr lang="es-AR" dirty="0"/>
          </a:p>
          <a:p>
            <a:pPr marL="0" indent="0">
              <a:buNone/>
            </a:pPr>
            <a:r>
              <a:rPr lang="en-US" b="1" dirty="0" smtClean="0"/>
              <a:t>- </a:t>
            </a:r>
            <a:r>
              <a:rPr lang="en-US" b="1" dirty="0" err="1" smtClean="0"/>
              <a:t>Afirmativo</a:t>
            </a:r>
            <a:r>
              <a:rPr lang="en-US" b="1" dirty="0"/>
              <a:t>:     AM/IS/ARE    +   SUJETO   + </a:t>
            </a:r>
            <a:r>
              <a:rPr lang="en-US" b="1" i="1" dirty="0"/>
              <a:t>GOING TO</a:t>
            </a:r>
            <a:r>
              <a:rPr lang="en-US" b="1" dirty="0"/>
              <a:t>     +      INFINITIVO </a:t>
            </a:r>
            <a:r>
              <a:rPr lang="en-US" b="1" dirty="0" smtClean="0"/>
              <a:t>?</a:t>
            </a:r>
            <a:r>
              <a:rPr lang="en-US" b="1" dirty="0"/>
              <a:t> </a:t>
            </a:r>
            <a:endParaRPr lang="es-AR" dirty="0"/>
          </a:p>
          <a:p>
            <a:endParaRPr lang="es-AR" dirty="0"/>
          </a:p>
          <a:p>
            <a:pPr lvl="0"/>
            <a:r>
              <a:rPr lang="es-ES_tradnl" sz="2200" b="1" dirty="0"/>
              <a:t>Uso</a:t>
            </a:r>
            <a:r>
              <a:rPr lang="es-ES_tradnl" dirty="0"/>
              <a:t>: Usamos “</a:t>
            </a:r>
            <a:r>
              <a:rPr lang="es-ES_tradnl" dirty="0" err="1"/>
              <a:t>going</a:t>
            </a:r>
            <a:r>
              <a:rPr lang="es-ES_tradnl" dirty="0"/>
              <a:t> to” para hablar sobre planes futuros o expresar intenciones</a:t>
            </a:r>
            <a:r>
              <a:rPr lang="es-ES_tradnl" dirty="0" smtClean="0"/>
              <a:t>.</a:t>
            </a:r>
            <a:endParaRPr lang="es-AR" dirty="0"/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Ejemplos</a:t>
            </a:r>
            <a:r>
              <a:rPr lang="en-US" dirty="0" smtClean="0"/>
              <a:t>:</a:t>
            </a:r>
            <a:endParaRPr lang="es-AR" dirty="0"/>
          </a:p>
          <a:p>
            <a:pPr marL="0" lvl="0" indent="0">
              <a:buNone/>
            </a:pPr>
            <a:r>
              <a:rPr lang="en-US" dirty="0" smtClean="0"/>
              <a:t>-  </a:t>
            </a:r>
            <a:r>
              <a:rPr lang="en-US" b="1" dirty="0"/>
              <a:t>I’m going to buy</a:t>
            </a:r>
            <a:r>
              <a:rPr lang="en-US" dirty="0"/>
              <a:t> a new computer next week.</a:t>
            </a:r>
            <a:endParaRPr lang="es-AR" dirty="0"/>
          </a:p>
          <a:p>
            <a:pPr marL="0" indent="0">
              <a:buNone/>
            </a:pPr>
            <a:r>
              <a:rPr lang="en-US" dirty="0" smtClean="0"/>
              <a:t>   (</a:t>
            </a:r>
            <a:r>
              <a:rPr lang="en-US" i="1" dirty="0" err="1"/>
              <a:t>Voy</a:t>
            </a:r>
            <a:r>
              <a:rPr lang="en-US" i="1" dirty="0"/>
              <a:t> a </a:t>
            </a:r>
            <a:r>
              <a:rPr lang="en-US" i="1" dirty="0" err="1"/>
              <a:t>comprar</a:t>
            </a:r>
            <a:r>
              <a:rPr lang="en-US" i="1" dirty="0"/>
              <a:t> …</a:t>
            </a:r>
            <a:r>
              <a:rPr lang="en-US" dirty="0"/>
              <a:t>)</a:t>
            </a:r>
            <a:endParaRPr lang="es-AR" dirty="0"/>
          </a:p>
          <a:p>
            <a:pPr marL="0" indent="0">
              <a:buNone/>
            </a:pPr>
            <a:endParaRPr lang="es-AR" dirty="0"/>
          </a:p>
          <a:p>
            <a:pPr marL="0" lvl="0" indent="0">
              <a:buNone/>
            </a:pPr>
            <a:r>
              <a:rPr lang="en-US" dirty="0" smtClean="0"/>
              <a:t>- They </a:t>
            </a:r>
            <a:r>
              <a:rPr lang="en-US" b="1" dirty="0"/>
              <a:t>are NOT going to invite</a:t>
            </a:r>
            <a:r>
              <a:rPr lang="en-US" dirty="0"/>
              <a:t> two famous technologists for the conference.</a:t>
            </a:r>
            <a:endParaRPr lang="es-AR" dirty="0"/>
          </a:p>
          <a:p>
            <a:pPr marL="0" indent="0">
              <a:buNone/>
            </a:pPr>
            <a:r>
              <a:rPr lang="es-AR" dirty="0" smtClean="0"/>
              <a:t>   (</a:t>
            </a:r>
            <a:r>
              <a:rPr lang="es-AR" dirty="0"/>
              <a:t>No v</a:t>
            </a:r>
            <a:r>
              <a:rPr lang="es-AR" i="1" dirty="0"/>
              <a:t>an a invitar a dos</a:t>
            </a:r>
            <a:r>
              <a:rPr lang="es-AR" dirty="0"/>
              <a:t>…)</a:t>
            </a:r>
          </a:p>
          <a:p>
            <a:pPr marL="0" indent="0">
              <a:buNone/>
            </a:pPr>
            <a:r>
              <a:rPr lang="es-AR" dirty="0"/>
              <a:t> </a:t>
            </a:r>
          </a:p>
          <a:p>
            <a:pPr marL="0" lvl="0" indent="0">
              <a:buNone/>
            </a:pPr>
            <a:r>
              <a:rPr lang="en-US" b="1" dirty="0" smtClean="0"/>
              <a:t>- Are</a:t>
            </a:r>
            <a:r>
              <a:rPr lang="en-US" dirty="0" smtClean="0"/>
              <a:t> </a:t>
            </a:r>
            <a:r>
              <a:rPr lang="en-US" dirty="0"/>
              <a:t>you </a:t>
            </a:r>
            <a:r>
              <a:rPr lang="en-US" b="1" dirty="0"/>
              <a:t>going to complete</a:t>
            </a:r>
            <a:r>
              <a:rPr lang="en-US" dirty="0"/>
              <a:t> all the activities?</a:t>
            </a:r>
            <a:endParaRPr lang="es-AR" dirty="0"/>
          </a:p>
          <a:p>
            <a:pPr marL="0" indent="0">
              <a:buNone/>
            </a:pPr>
            <a:r>
              <a:rPr lang="es-AR" dirty="0" smtClean="0"/>
              <a:t>   (</a:t>
            </a:r>
            <a:r>
              <a:rPr lang="es-AR" i="1" dirty="0"/>
              <a:t>Vas a completar</a:t>
            </a:r>
            <a:r>
              <a:rPr lang="es-AR" dirty="0"/>
              <a:t> todas las actividades?)</a:t>
            </a:r>
          </a:p>
          <a:p>
            <a:endParaRPr lang="es-AR" i="1" dirty="0"/>
          </a:p>
        </p:txBody>
      </p:sp>
    </p:spTree>
    <p:extLst>
      <p:ext uri="{BB962C8B-B14F-4D97-AF65-F5344CB8AC3E}">
        <p14:creationId xmlns:p14="http://schemas.microsoft.com/office/powerpoint/2010/main" val="3156229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419977" cy="1320800"/>
          </a:xfrm>
        </p:spPr>
        <p:txBody>
          <a:bodyPr/>
          <a:lstStyle/>
          <a:p>
            <a:pPr algn="ctr"/>
            <a:endParaRPr lang="es-AR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77333" y="2160589"/>
            <a:ext cx="9692351" cy="388077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AR" sz="6000" dirty="0" smtClean="0"/>
              <a:t>THANKS!</a:t>
            </a:r>
          </a:p>
          <a:p>
            <a:pPr marL="0" indent="0" algn="ctr">
              <a:buNone/>
            </a:pPr>
            <a:endParaRPr lang="es-AR" sz="6000" dirty="0"/>
          </a:p>
          <a:p>
            <a:pPr marL="0" indent="0" algn="ctr">
              <a:buNone/>
            </a:pPr>
            <a:endParaRPr lang="es-AR" sz="6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870" y="3988339"/>
            <a:ext cx="1850562" cy="2283211"/>
          </a:xfrm>
          <a:prstGeom prst="rect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126998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Faceta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6E45A29B641E459FF137569A0F5FF9" ma:contentTypeVersion="4" ma:contentTypeDescription="Crear nuevo documento." ma:contentTypeScope="" ma:versionID="d2cc56b9c178553dc8dae7cbf609185d">
  <xsd:schema xmlns:xsd="http://www.w3.org/2001/XMLSchema" xmlns:xs="http://www.w3.org/2001/XMLSchema" xmlns:p="http://schemas.microsoft.com/office/2006/metadata/properties" xmlns:ns2="22dc5ea4-9cdd-4970-8bc4-2ea26828404c" targetNamespace="http://schemas.microsoft.com/office/2006/metadata/properties" ma:root="true" ma:fieldsID="d0fdf1282d8307d7848beffaf71b994c" ns2:_="">
    <xsd:import namespace="22dc5ea4-9cdd-4970-8bc4-2ea2682840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dc5ea4-9cdd-4970-8bc4-2ea2682840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57587DC-978F-4A9D-B8EB-23FCD2D0B9CF}"/>
</file>

<file path=customXml/itemProps2.xml><?xml version="1.0" encoding="utf-8"?>
<ds:datastoreItem xmlns:ds="http://schemas.openxmlformats.org/officeDocument/2006/customXml" ds:itemID="{90482D1A-6842-4FCB-A8CB-3E2BCA2E9315}"/>
</file>

<file path=customXml/itemProps3.xml><?xml version="1.0" encoding="utf-8"?>
<ds:datastoreItem xmlns:ds="http://schemas.openxmlformats.org/officeDocument/2006/customXml" ds:itemID="{B888FF24-E02F-4E5A-8DC4-9DDB5EDDDD5D}"/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9426</TotalTime>
  <Words>657</Words>
  <Application>Microsoft Office PowerPoint</Application>
  <PresentationFormat>Panorámica</PresentationFormat>
  <Paragraphs>181</Paragraphs>
  <Slides>9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6" baseType="lpstr">
      <vt:lpstr>Arial</vt:lpstr>
      <vt:lpstr>Calibri</vt:lpstr>
      <vt:lpstr>Times New Roman</vt:lpstr>
      <vt:lpstr>Trebuchet MS</vt:lpstr>
      <vt:lpstr>Wingdings</vt:lpstr>
      <vt:lpstr>Wingdings 3</vt:lpstr>
      <vt:lpstr>Faceta</vt:lpstr>
      <vt:lpstr>INGLÉS I</vt:lpstr>
      <vt:lpstr>TIEMPOS CONTINUOS</vt:lpstr>
      <vt:lpstr>USOS</vt:lpstr>
      <vt:lpstr>Presentación de PowerPoint</vt:lpstr>
      <vt:lpstr>EL FUTURO SIMPLE</vt:lpstr>
      <vt:lpstr>Presentación de PowerPoint</vt:lpstr>
      <vt:lpstr>Presentación de PowerPoint</vt:lpstr>
      <vt:lpstr>Futuro con “going to”</vt:lpstr>
      <vt:lpstr>Presentación de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INGLÉS I</dc:title>
  <dc:creator>Usuario</dc:creator>
  <cp:lastModifiedBy>Usuario</cp:lastModifiedBy>
  <cp:revision>67</cp:revision>
  <dcterms:created xsi:type="dcterms:W3CDTF">2020-03-27T22:25:37Z</dcterms:created>
  <dcterms:modified xsi:type="dcterms:W3CDTF">2022-08-17T12:38:03Z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0x010100C26E45A29B641E459FF137569A0F5FF9</vt:lpwstr>
  </property>
</Properties>
</file>
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3.xml" ContentType="application/vnd.openxmlformats-officedocument.presentationml.slideLayout+xml"/>
  <Override PartName="/ppt/slideLayouts/slideLayout16.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72" r:id="rId4"/>
    <p:sldId id="273" r:id="rId5"/>
    <p:sldId id="274" r:id="rId6"/>
    <p:sldId id="264" r:id="rId7"/>
    <p:sldId id="267" r:id="rId8"/>
    <p:sldId id="269" r:id="rId9"/>
    <p:sldId id="275" r:id="rId10"/>
    <p:sldId id="276"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2" autoAdjust="0"/>
    <p:restoredTop sz="94660"/>
  </p:normalViewPr>
  <p:slideViewPr>
    <p:cSldViewPr snapToGrid="0">
      <p:cViewPr varScale="1">
        <p:scale>
          <a:sx n="74" d="100"/>
          <a:sy n="74" d="100"/>
        </p:scale>
        <p:origin x="4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6/8/2022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6/8/2022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6/8/2022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voanews.com/a/mobile-wireless-devices-saves-lives-money-123541154/158283.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AR" dirty="0" smtClean="0"/>
              <a:t>INGLÉS I</a:t>
            </a:r>
            <a:endParaRPr lang="es-AR" dirty="0"/>
          </a:p>
        </p:txBody>
      </p:sp>
      <p:sp>
        <p:nvSpPr>
          <p:cNvPr id="3" name="Subtítulo 2"/>
          <p:cNvSpPr>
            <a:spLocks noGrp="1"/>
          </p:cNvSpPr>
          <p:nvPr>
            <p:ph type="subTitle" idx="1"/>
          </p:nvPr>
        </p:nvSpPr>
        <p:spPr/>
        <p:txBody>
          <a:bodyPr>
            <a:normAutofit lnSpcReduction="10000"/>
          </a:bodyPr>
          <a:lstStyle/>
          <a:p>
            <a:endParaRPr lang="es-AR" dirty="0" smtClean="0"/>
          </a:p>
          <a:p>
            <a:r>
              <a:rPr lang="es-AR" dirty="0" smtClean="0"/>
              <a:t>Prof. Nidia S. </a:t>
            </a:r>
            <a:r>
              <a:rPr lang="es-AR" dirty="0" err="1" smtClean="0"/>
              <a:t>Redonder</a:t>
            </a:r>
            <a:endParaRPr lang="es-AR" dirty="0"/>
          </a:p>
          <a:p>
            <a:r>
              <a:rPr lang="es-AR" dirty="0" smtClean="0"/>
              <a:t>UTN - FRSF</a:t>
            </a:r>
            <a:endParaRPr lang="es-AR" dirty="0"/>
          </a:p>
        </p:txBody>
      </p:sp>
    </p:spTree>
    <p:extLst>
      <p:ext uri="{BB962C8B-B14F-4D97-AF65-F5344CB8AC3E}">
        <p14:creationId xmlns:p14="http://schemas.microsoft.com/office/powerpoint/2010/main" val="358421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551234"/>
            <a:ext cx="8596668" cy="907915"/>
          </a:xfrm>
        </p:spPr>
        <p:txBody>
          <a:bodyPr/>
          <a:lstStyle/>
          <a:p>
            <a:pPr algn="ctr"/>
            <a:r>
              <a:rPr lang="es-AR" altLang="es-AR" b="1" dirty="0" smtClean="0"/>
              <a:t>TEXTO </a:t>
            </a:r>
            <a:r>
              <a:rPr lang="es-AR" altLang="es-AR" b="1" dirty="0"/>
              <a:t>TÉCNICO</a:t>
            </a:r>
            <a:endParaRPr lang="es-AR" b="1" dirty="0"/>
          </a:p>
        </p:txBody>
      </p:sp>
      <p:sp>
        <p:nvSpPr>
          <p:cNvPr id="3" name="Marcador de contenido 2"/>
          <p:cNvSpPr>
            <a:spLocks noGrp="1"/>
          </p:cNvSpPr>
          <p:nvPr>
            <p:ph idx="1"/>
          </p:nvPr>
        </p:nvSpPr>
        <p:spPr>
          <a:xfrm>
            <a:off x="607693" y="1622965"/>
            <a:ext cx="8596668" cy="4279121"/>
          </a:xfrm>
        </p:spPr>
        <p:txBody>
          <a:bodyPr/>
          <a:lstStyle/>
          <a:p>
            <a:pPr marL="0" indent="0" algn="ctr">
              <a:buFont typeface="Wingdings 3" panose="05040102010807070707" pitchFamily="18" charset="2"/>
              <a:buNone/>
            </a:pPr>
            <a:endParaRPr lang="es-AR" altLang="es-AR" sz="2400" b="1" dirty="0"/>
          </a:p>
          <a:p>
            <a:pPr marL="0" indent="0" algn="ctr">
              <a:buClr>
                <a:schemeClr val="tx2">
                  <a:lumMod val="60000"/>
                  <a:lumOff val="40000"/>
                </a:schemeClr>
              </a:buClr>
              <a:buNone/>
              <a:defRPr/>
            </a:pPr>
            <a:r>
              <a:rPr lang="es-AR" sz="2400" dirty="0"/>
              <a:t>     </a:t>
            </a:r>
          </a:p>
          <a:p>
            <a:pPr marL="0" indent="0" algn="ctr">
              <a:buClr>
                <a:schemeClr val="tx2">
                  <a:lumMod val="60000"/>
                  <a:lumOff val="40000"/>
                </a:schemeClr>
              </a:buClr>
              <a:buNone/>
              <a:defRPr/>
            </a:pPr>
            <a:r>
              <a:rPr lang="es-AR" sz="2400" dirty="0"/>
              <a:t>   </a:t>
            </a:r>
            <a:r>
              <a:rPr lang="es-AR" sz="2800" b="1" dirty="0"/>
              <a:t>CARACTERÍSTICAS</a:t>
            </a:r>
          </a:p>
          <a:p>
            <a:pPr marL="0" indent="0">
              <a:buClr>
                <a:schemeClr val="tx2">
                  <a:lumMod val="60000"/>
                  <a:lumOff val="40000"/>
                </a:schemeClr>
              </a:buClr>
              <a:buNone/>
              <a:defRPr/>
            </a:pPr>
            <a:endParaRPr lang="es-AR" sz="2400" dirty="0"/>
          </a:p>
          <a:p>
            <a:pPr>
              <a:buClr>
                <a:schemeClr val="tx2">
                  <a:lumMod val="60000"/>
                  <a:lumOff val="40000"/>
                </a:schemeClr>
              </a:buClr>
              <a:defRPr/>
            </a:pPr>
            <a:r>
              <a:rPr lang="es-AR" sz="2400" b="1" dirty="0"/>
              <a:t>Frase Nominal o sustantiva</a:t>
            </a:r>
          </a:p>
          <a:p>
            <a:pPr>
              <a:buClr>
                <a:schemeClr val="tx2">
                  <a:lumMod val="60000"/>
                  <a:lumOff val="40000"/>
                </a:schemeClr>
              </a:buClr>
              <a:defRPr/>
            </a:pPr>
            <a:r>
              <a:rPr lang="es-AR" sz="2400" b="1" dirty="0"/>
              <a:t>Voz Pasiva</a:t>
            </a:r>
          </a:p>
          <a:p>
            <a:pPr>
              <a:buClr>
                <a:schemeClr val="tx2">
                  <a:lumMod val="60000"/>
                  <a:lumOff val="40000"/>
                </a:schemeClr>
              </a:buClr>
              <a:defRPr/>
            </a:pPr>
            <a:r>
              <a:rPr lang="es-AR" sz="2400" b="1" dirty="0"/>
              <a:t>Formas –ING / -</a:t>
            </a:r>
            <a:r>
              <a:rPr lang="es-AR" sz="2400" b="1" dirty="0" smtClean="0"/>
              <a:t>ED</a:t>
            </a:r>
          </a:p>
          <a:p>
            <a:pPr>
              <a:buClr>
                <a:schemeClr val="tx2">
                  <a:lumMod val="60000"/>
                  <a:lumOff val="40000"/>
                </a:schemeClr>
              </a:buClr>
              <a:defRPr/>
            </a:pPr>
            <a:r>
              <a:rPr lang="es-AR" sz="2400" b="1" dirty="0" smtClean="0"/>
              <a:t>Infinitivo</a:t>
            </a:r>
            <a:endParaRPr lang="es-AR" sz="2400" b="1" dirty="0"/>
          </a:p>
        </p:txBody>
      </p:sp>
      <p:sp>
        <p:nvSpPr>
          <p:cNvPr id="4" name="Flecha abajo 3"/>
          <p:cNvSpPr/>
          <p:nvPr/>
        </p:nvSpPr>
        <p:spPr>
          <a:xfrm>
            <a:off x="4739425" y="1635617"/>
            <a:ext cx="656822" cy="643944"/>
          </a:xfrm>
          <a:prstGeom prst="downArrow">
            <a:avLst>
              <a:gd name="adj1" fmla="val 50000"/>
              <a:gd name="adj2" fmla="val 442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655156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71728"/>
          </a:xfrm>
        </p:spPr>
        <p:txBody>
          <a:bodyPr/>
          <a:lstStyle/>
          <a:p>
            <a:pPr algn="ctr"/>
            <a:r>
              <a:rPr lang="es-AR" b="1" dirty="0" smtClean="0"/>
              <a:t>EL INFINITIV</a:t>
            </a:r>
            <a:r>
              <a:rPr lang="es-AR" dirty="0" smtClean="0"/>
              <a:t>O</a:t>
            </a:r>
            <a:endParaRPr lang="es-AR" dirty="0"/>
          </a:p>
        </p:txBody>
      </p:sp>
      <p:sp>
        <p:nvSpPr>
          <p:cNvPr id="3" name="Marcador de contenido 2"/>
          <p:cNvSpPr>
            <a:spLocks noGrp="1"/>
          </p:cNvSpPr>
          <p:nvPr>
            <p:ph idx="1"/>
          </p:nvPr>
        </p:nvSpPr>
        <p:spPr>
          <a:xfrm>
            <a:off x="677334" y="1887166"/>
            <a:ext cx="8596668" cy="4357991"/>
          </a:xfrm>
        </p:spPr>
        <p:txBody>
          <a:bodyPr>
            <a:normAutofit/>
          </a:bodyPr>
          <a:lstStyle/>
          <a:p>
            <a:r>
              <a:rPr lang="es-AR" sz="2800" dirty="0"/>
              <a:t>F</a:t>
            </a:r>
            <a:r>
              <a:rPr lang="es-AR" sz="2800" dirty="0" smtClean="0"/>
              <a:t>orma </a:t>
            </a:r>
            <a:r>
              <a:rPr lang="es-AR" sz="2800" dirty="0"/>
              <a:t>verbal NO CONJUGADA </a:t>
            </a:r>
            <a:endParaRPr lang="es-AR" sz="2800" dirty="0" smtClean="0"/>
          </a:p>
          <a:p>
            <a:r>
              <a:rPr lang="es-AR" sz="2800" dirty="0" smtClean="0"/>
              <a:t>Se </a:t>
            </a:r>
            <a:r>
              <a:rPr lang="es-AR" sz="2800" dirty="0"/>
              <a:t>traduce con la terminación: -</a:t>
            </a:r>
            <a:r>
              <a:rPr lang="es-AR" sz="2800" i="1" dirty="0" err="1"/>
              <a:t>ar</a:t>
            </a:r>
            <a:r>
              <a:rPr lang="es-AR" sz="2800" i="1" dirty="0"/>
              <a:t>, -</a:t>
            </a:r>
            <a:r>
              <a:rPr lang="es-AR" sz="2800" i="1" dirty="0" err="1"/>
              <a:t>er</a:t>
            </a:r>
            <a:r>
              <a:rPr lang="es-AR" sz="2800" i="1" dirty="0"/>
              <a:t>, -ir. </a:t>
            </a:r>
            <a:endParaRPr lang="es-AR" sz="2800" i="1" dirty="0" smtClean="0"/>
          </a:p>
          <a:p>
            <a:r>
              <a:rPr lang="es-AR" sz="2800" dirty="0" smtClean="0"/>
              <a:t>Aparece en la primera </a:t>
            </a:r>
            <a:r>
              <a:rPr lang="es-AR" sz="2800" dirty="0"/>
              <a:t>columna de </a:t>
            </a:r>
            <a:r>
              <a:rPr lang="es-AR" sz="2800" dirty="0" smtClean="0"/>
              <a:t>tabla: </a:t>
            </a:r>
          </a:p>
          <a:p>
            <a:pPr marL="0" indent="0">
              <a:buNone/>
            </a:pPr>
            <a:r>
              <a:rPr lang="es-AR" sz="2800" dirty="0"/>
              <a:t> </a:t>
            </a:r>
            <a:r>
              <a:rPr lang="es-AR" sz="2800" dirty="0" smtClean="0"/>
              <a:t>                    </a:t>
            </a:r>
            <a:r>
              <a:rPr lang="es-AR" sz="2800" b="1" dirty="0" err="1" smtClean="0"/>
              <a:t>write</a:t>
            </a:r>
            <a:r>
              <a:rPr lang="es-AR" sz="2800" dirty="0" smtClean="0"/>
              <a:t> – </a:t>
            </a:r>
            <a:r>
              <a:rPr lang="es-AR" sz="2800" dirty="0" err="1" smtClean="0"/>
              <a:t>wrote</a:t>
            </a:r>
            <a:r>
              <a:rPr lang="es-AR" sz="2800" dirty="0" smtClean="0"/>
              <a:t> - </a:t>
            </a:r>
            <a:r>
              <a:rPr lang="es-AR" sz="2800" dirty="0" err="1" smtClean="0"/>
              <a:t>written</a:t>
            </a:r>
            <a:endParaRPr lang="es-AR" sz="2800" dirty="0" smtClean="0"/>
          </a:p>
          <a:p>
            <a:pPr marL="0" indent="0">
              <a:buNone/>
            </a:pPr>
            <a:r>
              <a:rPr lang="es-AR" sz="2800" dirty="0" smtClean="0"/>
              <a:t> </a:t>
            </a:r>
            <a:endParaRPr lang="es-AR" sz="2800" dirty="0"/>
          </a:p>
          <a:p>
            <a:r>
              <a:rPr lang="es-AR" sz="2800" dirty="0" smtClean="0"/>
              <a:t> Nota: Puede </a:t>
            </a:r>
            <a:r>
              <a:rPr lang="es-AR" sz="2800" dirty="0"/>
              <a:t>aparecer con la preposición “to” o sin </a:t>
            </a:r>
            <a:r>
              <a:rPr lang="es-AR" sz="2800" dirty="0" smtClean="0"/>
              <a:t>“to”, </a:t>
            </a:r>
            <a:r>
              <a:rPr lang="es-AR" sz="2800" dirty="0"/>
              <a:t>y según esto indicará diferentes funciones y se traducirá de distintas maneras. </a:t>
            </a:r>
          </a:p>
        </p:txBody>
      </p:sp>
    </p:spTree>
    <p:extLst>
      <p:ext uri="{BB962C8B-B14F-4D97-AF65-F5344CB8AC3E}">
        <p14:creationId xmlns:p14="http://schemas.microsoft.com/office/powerpoint/2010/main" val="683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849549"/>
          </a:xfrm>
        </p:spPr>
        <p:txBody>
          <a:bodyPr/>
          <a:lstStyle/>
          <a:p>
            <a:pPr algn="ctr"/>
            <a:r>
              <a:rPr lang="es-AR" b="1" dirty="0"/>
              <a:t>EL INFINITIV</a:t>
            </a:r>
            <a:r>
              <a:rPr lang="es-AR" dirty="0"/>
              <a:t>O</a:t>
            </a:r>
          </a:p>
        </p:txBody>
      </p:sp>
      <p:sp>
        <p:nvSpPr>
          <p:cNvPr id="3" name="Marcador de contenido 2"/>
          <p:cNvSpPr>
            <a:spLocks noGrp="1"/>
          </p:cNvSpPr>
          <p:nvPr>
            <p:ph idx="1"/>
          </p:nvPr>
        </p:nvSpPr>
        <p:spPr>
          <a:xfrm>
            <a:off x="677333" y="1459149"/>
            <a:ext cx="9342156" cy="4883285"/>
          </a:xfrm>
        </p:spPr>
        <p:txBody>
          <a:bodyPr>
            <a:normAutofit/>
          </a:bodyPr>
          <a:lstStyle/>
          <a:p>
            <a:pPr marL="0" indent="0">
              <a:buNone/>
            </a:pPr>
            <a:r>
              <a:rPr lang="es-AR" sz="3000" b="1" dirty="0" smtClean="0"/>
              <a:t>          CON </a:t>
            </a:r>
            <a:r>
              <a:rPr lang="es-AR" sz="3000" b="1" dirty="0"/>
              <a:t>“to” </a:t>
            </a:r>
            <a:endParaRPr lang="es-AR" sz="3000" b="1" dirty="0" smtClean="0"/>
          </a:p>
          <a:p>
            <a:r>
              <a:rPr lang="es-AR" sz="2200" b="1" dirty="0" smtClean="0"/>
              <a:t>De propósito</a:t>
            </a:r>
            <a:r>
              <a:rPr lang="es-AR" sz="2200" dirty="0" smtClean="0"/>
              <a:t>. Se traduce como “</a:t>
            </a:r>
            <a:r>
              <a:rPr lang="es-AR" sz="2200" b="1" dirty="0" smtClean="0"/>
              <a:t>para</a:t>
            </a:r>
            <a:r>
              <a:rPr lang="es-AR" sz="2200" dirty="0" smtClean="0"/>
              <a:t>”: </a:t>
            </a:r>
          </a:p>
          <a:p>
            <a:pPr marL="0" indent="0">
              <a:buNone/>
            </a:pPr>
            <a:r>
              <a:rPr lang="es-AR" sz="2200" b="1" dirty="0" smtClean="0"/>
              <a:t>To </a:t>
            </a:r>
            <a:r>
              <a:rPr lang="es-AR" sz="2200" b="1" dirty="0" err="1"/>
              <a:t>find</a:t>
            </a:r>
            <a:r>
              <a:rPr lang="es-AR" sz="2200" dirty="0"/>
              <a:t> </a:t>
            </a:r>
            <a:r>
              <a:rPr lang="es-AR" sz="2200" dirty="0" err="1"/>
              <a:t>the</a:t>
            </a:r>
            <a:r>
              <a:rPr lang="es-AR" sz="2200" dirty="0"/>
              <a:t> </a:t>
            </a:r>
            <a:r>
              <a:rPr lang="es-AR" sz="2200" dirty="0" err="1"/>
              <a:t>answer</a:t>
            </a:r>
            <a:r>
              <a:rPr lang="es-AR" sz="2200" dirty="0"/>
              <a:t> to </a:t>
            </a:r>
            <a:r>
              <a:rPr lang="es-AR" sz="2200" dirty="0" err="1"/>
              <a:t>the</a:t>
            </a:r>
            <a:r>
              <a:rPr lang="es-AR" sz="2200" dirty="0"/>
              <a:t> </a:t>
            </a:r>
            <a:r>
              <a:rPr lang="es-AR" sz="2200" dirty="0" err="1"/>
              <a:t>problem</a:t>
            </a:r>
            <a:r>
              <a:rPr lang="es-AR" sz="2200" dirty="0"/>
              <a:t> </a:t>
            </a:r>
            <a:r>
              <a:rPr lang="es-AR" sz="2200" dirty="0" err="1"/>
              <a:t>scientists</a:t>
            </a:r>
            <a:r>
              <a:rPr lang="es-AR" sz="2200" dirty="0"/>
              <a:t> </a:t>
            </a:r>
            <a:r>
              <a:rPr lang="es-AR" sz="2200" dirty="0" err="1"/>
              <a:t>have</a:t>
            </a:r>
            <a:r>
              <a:rPr lang="es-AR" sz="2200" dirty="0"/>
              <a:t> </a:t>
            </a:r>
            <a:r>
              <a:rPr lang="es-AR" sz="2200" b="1" dirty="0"/>
              <a:t>to </a:t>
            </a:r>
            <a:r>
              <a:rPr lang="es-AR" sz="2200" b="1" dirty="0" err="1"/>
              <a:t>study</a:t>
            </a:r>
            <a:r>
              <a:rPr lang="es-AR" sz="2200" b="1" dirty="0"/>
              <a:t> </a:t>
            </a:r>
            <a:r>
              <a:rPr lang="es-AR" sz="2200" dirty="0" err="1"/>
              <a:t>the</a:t>
            </a:r>
            <a:r>
              <a:rPr lang="es-AR" sz="2200" dirty="0"/>
              <a:t> new causes </a:t>
            </a:r>
            <a:r>
              <a:rPr lang="es-AR" sz="2200" dirty="0" err="1"/>
              <a:t>reported</a:t>
            </a:r>
            <a:r>
              <a:rPr lang="es-AR" sz="2200" dirty="0" smtClean="0"/>
              <a:t>.</a:t>
            </a:r>
          </a:p>
          <a:p>
            <a:pPr marL="0" indent="0">
              <a:buNone/>
            </a:pPr>
            <a:r>
              <a:rPr lang="es-AR" sz="2200" dirty="0" smtClean="0"/>
              <a:t> </a:t>
            </a:r>
            <a:r>
              <a:rPr lang="es-AR" sz="2200" dirty="0"/>
              <a:t>(</a:t>
            </a:r>
            <a:r>
              <a:rPr lang="es-AR" sz="2200" i="1" dirty="0"/>
              <a:t>Para encontrar </a:t>
            </a:r>
            <a:r>
              <a:rPr lang="es-AR" sz="2200" dirty="0"/>
              <a:t>la respuesta al problema los científicos tienen que </a:t>
            </a:r>
            <a:r>
              <a:rPr lang="es-AR" sz="2200" i="1" dirty="0"/>
              <a:t>estudiar</a:t>
            </a:r>
            <a:r>
              <a:rPr lang="es-AR" sz="2200" dirty="0"/>
              <a:t> los nuevos casos informados) </a:t>
            </a:r>
            <a:endParaRPr lang="es-AR" sz="2200" dirty="0" smtClean="0"/>
          </a:p>
          <a:p>
            <a:pPr marL="0" indent="0">
              <a:buNone/>
            </a:pPr>
            <a:endParaRPr lang="es-AR" sz="2200" dirty="0" smtClean="0"/>
          </a:p>
          <a:p>
            <a:r>
              <a:rPr lang="es-AR" sz="2200" dirty="0" smtClean="0"/>
              <a:t> </a:t>
            </a:r>
            <a:r>
              <a:rPr lang="es-AR" sz="2200" dirty="0"/>
              <a:t>O bien estar presente pero </a:t>
            </a:r>
            <a:r>
              <a:rPr lang="es-AR" sz="2200" b="1" dirty="0" smtClean="0"/>
              <a:t>NO </a:t>
            </a:r>
            <a:r>
              <a:rPr lang="es-AR" sz="2200" b="1" dirty="0"/>
              <a:t>traducirse</a:t>
            </a:r>
            <a:r>
              <a:rPr lang="es-AR" sz="2200" dirty="0"/>
              <a:t>. </a:t>
            </a:r>
            <a:endParaRPr lang="es-AR" sz="2200" dirty="0" smtClean="0"/>
          </a:p>
          <a:p>
            <a:pPr marL="0" indent="0">
              <a:buNone/>
            </a:pPr>
            <a:r>
              <a:rPr lang="es-AR" sz="2200" dirty="0" err="1" smtClean="0"/>
              <a:t>The</a:t>
            </a:r>
            <a:r>
              <a:rPr lang="es-AR" sz="2200" dirty="0" smtClean="0"/>
              <a:t> </a:t>
            </a:r>
            <a:r>
              <a:rPr lang="es-AR" sz="2200" dirty="0" err="1"/>
              <a:t>aim</a:t>
            </a:r>
            <a:r>
              <a:rPr lang="es-AR" sz="2200" dirty="0"/>
              <a:t> of </a:t>
            </a:r>
            <a:r>
              <a:rPr lang="es-AR" sz="2200" dirty="0" err="1"/>
              <a:t>this</a:t>
            </a:r>
            <a:r>
              <a:rPr lang="es-AR" sz="2200" dirty="0"/>
              <a:t> </a:t>
            </a:r>
            <a:r>
              <a:rPr lang="es-AR" sz="2200" dirty="0" err="1"/>
              <a:t>work</a:t>
            </a:r>
            <a:r>
              <a:rPr lang="es-AR" sz="2200" dirty="0"/>
              <a:t> </a:t>
            </a:r>
            <a:r>
              <a:rPr lang="es-AR" sz="2200" dirty="0" err="1"/>
              <a:t>is</a:t>
            </a:r>
            <a:r>
              <a:rPr lang="es-AR" sz="2200" dirty="0"/>
              <a:t> </a:t>
            </a:r>
            <a:r>
              <a:rPr lang="es-AR" sz="2200" b="1" dirty="0"/>
              <a:t>to </a:t>
            </a:r>
            <a:r>
              <a:rPr lang="es-AR" sz="2200" b="1" dirty="0" err="1"/>
              <a:t>study</a:t>
            </a:r>
            <a:r>
              <a:rPr lang="es-AR" sz="2200" b="1" dirty="0"/>
              <a:t> </a:t>
            </a:r>
            <a:r>
              <a:rPr lang="es-AR" sz="2200" dirty="0" err="1"/>
              <a:t>the</a:t>
            </a:r>
            <a:r>
              <a:rPr lang="es-AR" sz="2200" dirty="0"/>
              <a:t> </a:t>
            </a:r>
            <a:r>
              <a:rPr lang="es-AR" sz="2200" dirty="0" err="1"/>
              <a:t>parameters</a:t>
            </a:r>
            <a:r>
              <a:rPr lang="es-AR" sz="2200" dirty="0"/>
              <a:t> </a:t>
            </a:r>
            <a:r>
              <a:rPr lang="es-AR" sz="2200" dirty="0" err="1"/>
              <a:t>affecting</a:t>
            </a:r>
            <a:r>
              <a:rPr lang="es-AR" sz="2200" dirty="0"/>
              <a:t> </a:t>
            </a:r>
            <a:r>
              <a:rPr lang="es-AR" sz="2200" dirty="0" err="1"/>
              <a:t>the</a:t>
            </a:r>
            <a:r>
              <a:rPr lang="es-AR" sz="2200" dirty="0"/>
              <a:t> </a:t>
            </a:r>
            <a:r>
              <a:rPr lang="es-AR" sz="2200" dirty="0" err="1"/>
              <a:t>reaction</a:t>
            </a:r>
            <a:r>
              <a:rPr lang="es-AR" sz="2200" dirty="0" smtClean="0"/>
              <a:t>.</a:t>
            </a:r>
          </a:p>
          <a:p>
            <a:pPr marL="0" indent="0">
              <a:buNone/>
            </a:pPr>
            <a:r>
              <a:rPr lang="es-AR" sz="2200" dirty="0" smtClean="0"/>
              <a:t> </a:t>
            </a:r>
            <a:r>
              <a:rPr lang="es-AR" sz="2200" dirty="0"/>
              <a:t>(El objetivo del trabajo es </a:t>
            </a:r>
            <a:r>
              <a:rPr lang="es-AR" sz="2200" i="1" dirty="0"/>
              <a:t>estudiar</a:t>
            </a:r>
            <a:r>
              <a:rPr lang="es-AR" sz="2200" dirty="0"/>
              <a:t> los parámetros que afectan la reacción)</a:t>
            </a:r>
          </a:p>
        </p:txBody>
      </p:sp>
      <p:sp>
        <p:nvSpPr>
          <p:cNvPr id="4" name="Flecha derecha 3"/>
          <p:cNvSpPr/>
          <p:nvPr/>
        </p:nvSpPr>
        <p:spPr>
          <a:xfrm>
            <a:off x="953311" y="1459149"/>
            <a:ext cx="700391" cy="6031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66741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91183"/>
          </a:xfrm>
        </p:spPr>
        <p:txBody>
          <a:bodyPr/>
          <a:lstStyle/>
          <a:p>
            <a:pPr algn="ctr"/>
            <a:r>
              <a:rPr lang="es-AR" b="1" dirty="0"/>
              <a:t>EL INFINITIV</a:t>
            </a:r>
            <a:r>
              <a:rPr lang="es-AR" dirty="0"/>
              <a:t>O</a:t>
            </a:r>
          </a:p>
        </p:txBody>
      </p:sp>
      <p:sp>
        <p:nvSpPr>
          <p:cNvPr id="3" name="Marcador de contenido 2"/>
          <p:cNvSpPr>
            <a:spLocks noGrp="1"/>
          </p:cNvSpPr>
          <p:nvPr>
            <p:ph idx="1"/>
          </p:nvPr>
        </p:nvSpPr>
        <p:spPr>
          <a:xfrm>
            <a:off x="428017" y="1400783"/>
            <a:ext cx="9552561" cy="5019472"/>
          </a:xfrm>
        </p:spPr>
        <p:txBody>
          <a:bodyPr/>
          <a:lstStyle/>
          <a:p>
            <a:pPr marL="0" indent="0">
              <a:buNone/>
            </a:pPr>
            <a:r>
              <a:rPr lang="es-AR" sz="2400" b="1" dirty="0" smtClean="0"/>
              <a:t>             SIN </a:t>
            </a:r>
            <a:r>
              <a:rPr lang="es-AR" sz="2400" b="1" dirty="0"/>
              <a:t>“to” </a:t>
            </a:r>
            <a:r>
              <a:rPr lang="es-AR" sz="2400" b="1" dirty="0" smtClean="0"/>
              <a:t> (</a:t>
            </a:r>
            <a:r>
              <a:rPr lang="es-AR" sz="2800" b="1" dirty="0" smtClean="0"/>
              <a:t>Imperativo</a:t>
            </a:r>
            <a:r>
              <a:rPr lang="es-AR" sz="2400" b="1" dirty="0" smtClean="0"/>
              <a:t>)</a:t>
            </a:r>
          </a:p>
          <a:p>
            <a:r>
              <a:rPr lang="es-AR" sz="2200" dirty="0" smtClean="0"/>
              <a:t>Para </a:t>
            </a:r>
            <a:r>
              <a:rPr lang="es-AR" sz="2200" dirty="0"/>
              <a:t>dar órdenes, instrucciones, hacer pedidos, sugerencias o advertencias </a:t>
            </a:r>
            <a:r>
              <a:rPr lang="es-AR" sz="2200" dirty="0" smtClean="0"/>
              <a:t>(</a:t>
            </a:r>
            <a:r>
              <a:rPr lang="es-AR" sz="2200" dirty="0"/>
              <a:t>afirmativo o negativo). </a:t>
            </a:r>
            <a:endParaRPr lang="es-AR" sz="2200" dirty="0" smtClean="0"/>
          </a:p>
          <a:p>
            <a:r>
              <a:rPr lang="es-AR" sz="2200" u="sng" dirty="0" smtClean="0"/>
              <a:t>Afirmativo</a:t>
            </a:r>
            <a:r>
              <a:rPr lang="es-AR" sz="2200" dirty="0"/>
              <a:t>: La oración comienza con un Infinitivo sin “to” </a:t>
            </a:r>
            <a:endParaRPr lang="es-AR" sz="2200" dirty="0" smtClean="0"/>
          </a:p>
          <a:p>
            <a:pPr marL="0" indent="0">
              <a:buNone/>
            </a:pPr>
            <a:r>
              <a:rPr lang="es-AR" sz="2200" b="1" dirty="0" smtClean="0"/>
              <a:t>    </a:t>
            </a:r>
            <a:r>
              <a:rPr lang="es-AR" sz="2200" b="1" dirty="0" err="1" smtClean="0"/>
              <a:t>Turn</a:t>
            </a:r>
            <a:r>
              <a:rPr lang="es-AR" sz="2200" b="1" dirty="0" smtClean="0"/>
              <a:t> </a:t>
            </a:r>
            <a:r>
              <a:rPr lang="es-AR" sz="2200" b="1" dirty="0" err="1"/>
              <a:t>on</a:t>
            </a:r>
            <a:r>
              <a:rPr lang="es-AR" sz="2200" b="1" dirty="0"/>
              <a:t> </a:t>
            </a:r>
            <a:r>
              <a:rPr lang="es-AR" sz="2200" dirty="0" err="1"/>
              <a:t>the</a:t>
            </a:r>
            <a:r>
              <a:rPr lang="es-AR" sz="2200" dirty="0"/>
              <a:t> </a:t>
            </a:r>
            <a:r>
              <a:rPr lang="es-AR" sz="2200" dirty="0" err="1"/>
              <a:t>computer</a:t>
            </a:r>
            <a:r>
              <a:rPr lang="es-AR" sz="2200" dirty="0"/>
              <a:t> and </a:t>
            </a:r>
            <a:r>
              <a:rPr lang="es-AR" sz="2200" b="1" dirty="0" err="1"/>
              <a:t>wait</a:t>
            </a:r>
            <a:r>
              <a:rPr lang="es-AR" sz="2200" dirty="0"/>
              <a:t> </a:t>
            </a:r>
            <a:r>
              <a:rPr lang="es-AR" sz="2200" dirty="0" err="1"/>
              <a:t>for</a:t>
            </a:r>
            <a:r>
              <a:rPr lang="es-AR" sz="2200" dirty="0"/>
              <a:t> </a:t>
            </a:r>
            <a:r>
              <a:rPr lang="es-AR" sz="2200" dirty="0" err="1"/>
              <a:t>five</a:t>
            </a:r>
            <a:r>
              <a:rPr lang="es-AR" sz="2200" dirty="0"/>
              <a:t> minutes. </a:t>
            </a:r>
            <a:endParaRPr lang="es-AR" sz="2200" dirty="0" smtClean="0"/>
          </a:p>
          <a:p>
            <a:pPr marL="0" indent="0">
              <a:buNone/>
            </a:pPr>
            <a:r>
              <a:rPr lang="es-AR" sz="2200" dirty="0" smtClean="0"/>
              <a:t>   (</a:t>
            </a:r>
            <a:r>
              <a:rPr lang="es-AR" sz="2200" i="1" dirty="0"/>
              <a:t>Encienda</a:t>
            </a:r>
            <a:r>
              <a:rPr lang="es-AR" sz="2200" dirty="0"/>
              <a:t> la computadora y </a:t>
            </a:r>
            <a:r>
              <a:rPr lang="es-AR" sz="2200" i="1" dirty="0"/>
              <a:t>espere</a:t>
            </a:r>
            <a:r>
              <a:rPr lang="es-AR" sz="2200" dirty="0"/>
              <a:t> cinco minutos</a:t>
            </a:r>
            <a:r>
              <a:rPr lang="es-AR" sz="2200" dirty="0" smtClean="0"/>
              <a:t>)</a:t>
            </a:r>
          </a:p>
          <a:p>
            <a:pPr marL="0" indent="0">
              <a:buNone/>
            </a:pPr>
            <a:endParaRPr lang="es-AR" sz="2200" dirty="0" smtClean="0"/>
          </a:p>
          <a:p>
            <a:r>
              <a:rPr lang="es-AR" sz="2200" u="sng" dirty="0" smtClean="0"/>
              <a:t>Negativo</a:t>
            </a:r>
            <a:r>
              <a:rPr lang="es-AR" sz="2200" dirty="0"/>
              <a:t>: La oración comienza con DO NOT (DON’T) + Infinitivo sin “to</a:t>
            </a:r>
            <a:r>
              <a:rPr lang="es-AR" sz="2200" dirty="0" smtClean="0"/>
              <a:t>”</a:t>
            </a:r>
          </a:p>
          <a:p>
            <a:pPr marL="0" indent="0">
              <a:buNone/>
            </a:pPr>
            <a:r>
              <a:rPr lang="es-AR" sz="2200" dirty="0" smtClean="0"/>
              <a:t> </a:t>
            </a:r>
            <a:r>
              <a:rPr lang="es-AR" sz="2200" b="1" dirty="0" err="1"/>
              <a:t>Don’t</a:t>
            </a:r>
            <a:r>
              <a:rPr lang="es-AR" sz="2200" b="1" dirty="0"/>
              <a:t> </a:t>
            </a:r>
            <a:r>
              <a:rPr lang="es-AR" sz="2200" b="1" dirty="0" err="1"/>
              <a:t>start</a:t>
            </a:r>
            <a:r>
              <a:rPr lang="es-AR" sz="2200" b="1" dirty="0"/>
              <a:t> </a:t>
            </a:r>
            <a:r>
              <a:rPr lang="es-AR" sz="2200" b="1" dirty="0" smtClean="0"/>
              <a:t>/ Do </a:t>
            </a:r>
            <a:r>
              <a:rPr lang="es-AR" sz="2200" b="1" dirty="0" err="1" smtClean="0"/>
              <a:t>not</a:t>
            </a:r>
            <a:r>
              <a:rPr lang="es-AR" sz="2200" b="1" dirty="0" smtClean="0"/>
              <a:t> </a:t>
            </a:r>
            <a:r>
              <a:rPr lang="es-AR" sz="2200" b="1" dirty="0" err="1" smtClean="0"/>
              <a:t>start</a:t>
            </a:r>
            <a:r>
              <a:rPr lang="es-AR" sz="2200" b="1" dirty="0" smtClean="0"/>
              <a:t> </a:t>
            </a:r>
            <a:r>
              <a:rPr lang="es-AR" sz="2200" dirty="0" err="1" smtClean="0"/>
              <a:t>working</a:t>
            </a:r>
            <a:r>
              <a:rPr lang="es-AR" sz="2200" dirty="0" smtClean="0"/>
              <a:t> </a:t>
            </a:r>
            <a:r>
              <a:rPr lang="es-AR" sz="2200" dirty="0" err="1"/>
              <a:t>before</a:t>
            </a:r>
            <a:r>
              <a:rPr lang="es-AR" sz="2200" dirty="0"/>
              <a:t> </a:t>
            </a:r>
            <a:r>
              <a:rPr lang="es-AR" sz="2200" dirty="0" err="1"/>
              <a:t>checking</a:t>
            </a:r>
            <a:r>
              <a:rPr lang="es-AR" sz="2200" dirty="0"/>
              <a:t> </a:t>
            </a:r>
            <a:r>
              <a:rPr lang="es-AR" sz="2200" dirty="0" err="1"/>
              <a:t>the</a:t>
            </a:r>
            <a:r>
              <a:rPr lang="es-AR" sz="2200" dirty="0"/>
              <a:t> </a:t>
            </a:r>
            <a:r>
              <a:rPr lang="es-AR" sz="2200" dirty="0" err="1"/>
              <a:t>device</a:t>
            </a:r>
            <a:r>
              <a:rPr lang="es-AR" sz="2200" dirty="0" smtClean="0"/>
              <a:t>.</a:t>
            </a:r>
          </a:p>
          <a:p>
            <a:pPr marL="0" indent="0">
              <a:buNone/>
            </a:pPr>
            <a:r>
              <a:rPr lang="es-AR" sz="2200" dirty="0" smtClean="0"/>
              <a:t> </a:t>
            </a:r>
            <a:r>
              <a:rPr lang="es-AR" sz="2200" dirty="0"/>
              <a:t>(</a:t>
            </a:r>
            <a:r>
              <a:rPr lang="es-AR" sz="2200" i="1" dirty="0"/>
              <a:t>No empiece </a:t>
            </a:r>
            <a:r>
              <a:rPr lang="es-AR" sz="2200" dirty="0"/>
              <a:t>a trabajar antes de controlar el </a:t>
            </a:r>
            <a:r>
              <a:rPr lang="es-AR" sz="2200" dirty="0" smtClean="0"/>
              <a:t>dispositivo)</a:t>
            </a:r>
            <a:endParaRPr lang="es-AR" sz="2200" dirty="0"/>
          </a:p>
        </p:txBody>
      </p:sp>
      <p:sp>
        <p:nvSpPr>
          <p:cNvPr id="4" name="Flecha derecha 3"/>
          <p:cNvSpPr/>
          <p:nvPr/>
        </p:nvSpPr>
        <p:spPr>
          <a:xfrm>
            <a:off x="953311" y="1264596"/>
            <a:ext cx="700391" cy="6031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77387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31442"/>
            <a:ext cx="8596668" cy="872064"/>
          </a:xfrm>
        </p:spPr>
        <p:txBody>
          <a:bodyPr>
            <a:normAutofit/>
          </a:bodyPr>
          <a:lstStyle/>
          <a:p>
            <a:pPr algn="ctr"/>
            <a:r>
              <a:rPr lang="es-AR" b="1" smtClean="0"/>
              <a:t>ADJETIVOS</a:t>
            </a:r>
            <a:endParaRPr lang="es-AR" sz="2400" b="1" dirty="0"/>
          </a:p>
        </p:txBody>
      </p:sp>
      <p:sp>
        <p:nvSpPr>
          <p:cNvPr id="3" name="Marcador de contenido 2"/>
          <p:cNvSpPr>
            <a:spLocks noGrp="1"/>
          </p:cNvSpPr>
          <p:nvPr>
            <p:ph idx="1"/>
          </p:nvPr>
        </p:nvSpPr>
        <p:spPr>
          <a:xfrm>
            <a:off x="677334" y="1517514"/>
            <a:ext cx="8972504" cy="5340485"/>
          </a:xfrm>
        </p:spPr>
        <p:txBody>
          <a:bodyPr>
            <a:normAutofit/>
          </a:bodyPr>
          <a:lstStyle/>
          <a:p>
            <a:pPr marL="0" lvl="0" indent="0" defTabSz="914400" eaLnBrk="0" fontAlgn="base" hangingPunct="0">
              <a:spcBef>
                <a:spcPct val="0"/>
              </a:spcBef>
              <a:spcAft>
                <a:spcPct val="0"/>
              </a:spcAft>
              <a:buClrTx/>
              <a:buSzTx/>
              <a:buNone/>
            </a:pPr>
            <a:r>
              <a:rPr lang="es-AR" altLang="es-AR" b="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400" b="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CARACTERÍSTICAS</a:t>
            </a:r>
            <a:r>
              <a:rPr lang="es-AR" altLang="es-AR" sz="24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4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(repasamos)</a:t>
            </a:r>
          </a:p>
          <a:p>
            <a:pPr marL="0" lvl="0" indent="0" defTabSz="914400" eaLnBrk="0" fontAlgn="base" hangingPunct="0">
              <a:spcBef>
                <a:spcPct val="0"/>
              </a:spcBef>
              <a:spcAft>
                <a:spcPct val="0"/>
              </a:spcAft>
              <a:buClrTx/>
              <a:buSzTx/>
              <a:buNone/>
            </a:pPr>
            <a:endParaRPr lang="es-AR" altLang="es-AR" dirty="0" smtClean="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lvl="0" defTabSz="914400" eaLnBrk="0" fontAlgn="base" hangingPunct="0">
              <a:spcBef>
                <a:spcPct val="0"/>
              </a:spcBef>
              <a:spcAft>
                <a:spcPct val="0"/>
              </a:spcAft>
              <a:buClrTx/>
              <a:buSzTx/>
              <a:buFont typeface="Wingdings" panose="05000000000000000000" pitchFamily="2" charset="2"/>
              <a:buChar char="Ø"/>
            </a:pP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Los </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adjetivos en Ingl</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é</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 se ubican DELANTE del Sustantivo que modifican</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a:t>
            </a:r>
          </a:p>
          <a:p>
            <a:pPr marL="0" lvl="0" indent="0" defTabSz="914400" eaLnBrk="0" fontAlgn="base" hangingPunct="0">
              <a:spcBef>
                <a:spcPct val="0"/>
              </a:spcBef>
              <a:spcAft>
                <a:spcPct val="0"/>
              </a:spcAft>
              <a:buClrTx/>
              <a:buSzTx/>
              <a:buNone/>
            </a:pPr>
            <a:endParaRPr lang="es-AR" altLang="es-AR" sz="2000" dirty="0">
              <a:solidFill>
                <a:schemeClr val="tx1"/>
              </a:solidFill>
            </a:endParaRPr>
          </a:p>
          <a:p>
            <a:pPr lvl="0" algn="just" defTabSz="914400" eaLnBrk="0" fontAlgn="base" hangingPunct="0">
              <a:spcBef>
                <a:spcPct val="0"/>
              </a:spcBef>
              <a:spcAft>
                <a:spcPct val="0"/>
              </a:spcAft>
              <a:buClrTx/>
              <a:buSzTx/>
              <a:buFont typeface="Wingdings" panose="05000000000000000000" pitchFamily="2" charset="2"/>
              <a:buChar char="Ø"/>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Los adjetivos se ubican DESPU</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É</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  de algunos verbos: </a:t>
            </a:r>
            <a:r>
              <a:rPr lang="es-AR" altLang="es-AR" sz="2000" i="1" dirty="0">
                <a:solidFill>
                  <a:schemeClr val="tx1"/>
                </a:solidFill>
                <a:latin typeface="Arial" panose="020B0604020202020204" pitchFamily="34" charset="0"/>
                <a:ea typeface="Times New Roman" panose="02020603050405020304" pitchFamily="18" charset="0"/>
                <a:cs typeface="Arial" panose="020B0604020202020204" pitchFamily="34" charset="0"/>
              </a:rPr>
              <a:t>be</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become</a:t>
            </a:r>
            <a:r>
              <a:rPr lang="es-AR" altLang="es-AR" sz="2000" i="1"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seem</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a:t>
            </a:r>
          </a:p>
          <a:p>
            <a:pPr marL="0" lvl="0" indent="0" defTabSz="914400" eaLnBrk="0" fontAlgn="base" hangingPunct="0">
              <a:spcBef>
                <a:spcPct val="0"/>
              </a:spcBef>
              <a:spcAft>
                <a:spcPct val="0"/>
              </a:spcAft>
              <a:buClrTx/>
              <a:buSzTx/>
              <a:buNone/>
            </a:pPr>
            <a:endParaRPr lang="es-AR" altLang="es-AR" sz="2000" dirty="0">
              <a:solidFill>
                <a:schemeClr val="tx1"/>
              </a:solidFill>
            </a:endParaRPr>
          </a:p>
          <a:p>
            <a:pPr lvl="0" defTabSz="914400" eaLnBrk="0" fontAlgn="base" hangingPunct="0">
              <a:spcBef>
                <a:spcPct val="0"/>
              </a:spcBef>
              <a:spcAft>
                <a:spcPct val="0"/>
              </a:spcAft>
              <a:buClrTx/>
              <a:buSzTx/>
              <a:buFont typeface="Wingdings" panose="05000000000000000000" pitchFamily="2" charset="2"/>
              <a:buChar char="Ø"/>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Los adjetivos en Ingl</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é</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 NO TIENEN PLURAL (son iguales en Singular y Plural). </a:t>
            </a:r>
            <a:r>
              <a:rPr lang="es-AR" altLang="es-AR" sz="2000" b="1" dirty="0">
                <a:solidFill>
                  <a:schemeClr val="tx1"/>
                </a:solidFill>
                <a:latin typeface="Arial" panose="020B0604020202020204" pitchFamily="34" charset="0"/>
                <a:ea typeface="Times New Roman" panose="02020603050405020304" pitchFamily="18" charset="0"/>
                <a:cs typeface="Arial" panose="020B0604020202020204" pitchFamily="34" charset="0"/>
              </a:rPr>
              <a:t>Nota</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Si la palabra termina con </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NO ES ADJETIVO</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a:t>
            </a:r>
          </a:p>
          <a:p>
            <a:pPr marL="0" lvl="0" indent="0" defTabSz="914400" eaLnBrk="0" fontAlgn="base" hangingPunct="0">
              <a:spcBef>
                <a:spcPct val="0"/>
              </a:spcBef>
              <a:spcAft>
                <a:spcPct val="0"/>
              </a:spcAft>
              <a:buClrTx/>
              <a:buSzTx/>
              <a:buNone/>
            </a:pPr>
            <a:endParaRPr lang="es-AR" altLang="es-AR" sz="2000" dirty="0">
              <a:solidFill>
                <a:schemeClr val="tx1"/>
              </a:solidFill>
            </a:endParaRPr>
          </a:p>
          <a:p>
            <a:pPr lvl="0" defTabSz="914400" eaLnBrk="0" fontAlgn="base" hangingPunct="0">
              <a:spcBef>
                <a:spcPct val="0"/>
              </a:spcBef>
              <a:spcAft>
                <a:spcPct val="0"/>
              </a:spcAft>
              <a:buClrTx/>
              <a:buSzTx/>
              <a:buFont typeface="Wingdings" panose="05000000000000000000" pitchFamily="2" charset="2"/>
              <a:buChar char="Ø"/>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Los adjetivos tienen terminaciones que son caracter</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í</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sticas: -</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able</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smtClean="0">
                <a:solidFill>
                  <a:schemeClr val="tx1"/>
                </a:solidFill>
                <a:latin typeface="Arial" panose="020B0604020202020204" pitchFamily="34" charset="0"/>
                <a:ea typeface="Times New Roman" panose="02020603050405020304" pitchFamily="18" charset="0"/>
                <a:cs typeface="Arial" panose="020B0604020202020204" pitchFamily="34" charset="0"/>
              </a:rPr>
              <a:t>ic</a:t>
            </a:r>
            <a:r>
              <a:rPr lang="es-AR" altLang="es-AR" sz="200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a:t>
            </a:r>
            <a:r>
              <a:rPr lang="es-AR" altLang="es-AR" sz="2000" i="1" dirty="0">
                <a:solidFill>
                  <a:schemeClr val="tx1"/>
                </a:solidFill>
                <a:latin typeface="Arial" panose="020B0604020202020204" pitchFamily="34" charset="0"/>
                <a:ea typeface="Times New Roman" panose="02020603050405020304" pitchFamily="18" charset="0"/>
                <a:cs typeface="Arial" panose="020B0604020202020204" pitchFamily="34" charset="0"/>
              </a:rPr>
              <a:t>al</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ous</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a:t>
            </a:r>
          </a:p>
          <a:p>
            <a:pPr marL="0" lvl="0" indent="0" defTabSz="914400" eaLnBrk="0" fontAlgn="base" hangingPunct="0">
              <a:spcBef>
                <a:spcPct val="0"/>
              </a:spcBef>
              <a:spcAft>
                <a:spcPct val="0"/>
              </a:spcAft>
              <a:buClrTx/>
              <a:buSzTx/>
              <a:buNone/>
            </a:pPr>
            <a:endParaRPr lang="es-AR" altLang="es-AR" sz="2000" dirty="0">
              <a:solidFill>
                <a:schemeClr val="tx1"/>
              </a:solidFill>
            </a:endParaRPr>
          </a:p>
          <a:p>
            <a:pPr lvl="0" defTabSz="914400" eaLnBrk="0" fontAlgn="base" hangingPunct="0">
              <a:spcBef>
                <a:spcPct val="0"/>
              </a:spcBef>
              <a:spcAft>
                <a:spcPct val="0"/>
              </a:spcAft>
              <a:buClrTx/>
              <a:buSzTx/>
              <a:buFont typeface="Wingdings" panose="05000000000000000000" pitchFamily="2" charset="2"/>
              <a:buChar char="Ø"/>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Los adjetivos pueden terminar en </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ed</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o </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ing</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y no hay que confundirlos con verbos conjugados en pasado o presente (de all</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í</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la importancia de reconocer su ubicaci</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ó</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n).</a:t>
            </a:r>
            <a:endParaRPr lang="es-AR" altLang="es-AR" sz="2000" dirty="0">
              <a:solidFill>
                <a:schemeClr val="tx1"/>
              </a:solidFill>
              <a:latin typeface="Arial" panose="020B0604020202020204" pitchFamily="34" charset="0"/>
            </a:endParaRPr>
          </a:p>
          <a:p>
            <a:pPr marL="0" indent="0">
              <a:buNone/>
            </a:pPr>
            <a:endParaRPr lang="es-AR" sz="2000" dirty="0" smtClean="0"/>
          </a:p>
          <a:p>
            <a:endParaRPr lang="es-AR" dirty="0"/>
          </a:p>
        </p:txBody>
      </p:sp>
      <p:sp>
        <p:nvSpPr>
          <p:cNvPr id="7" name="Rectangle 5"/>
          <p:cNvSpPr>
            <a:spLocks noChangeArrowheads="1"/>
          </p:cNvSpPr>
          <p:nvPr/>
        </p:nvSpPr>
        <p:spPr bwMode="auto">
          <a:xfrm>
            <a:off x="0" y="-2575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Tree>
    <p:extLst>
      <p:ext uri="{BB962C8B-B14F-4D97-AF65-F5344CB8AC3E}">
        <p14:creationId xmlns:p14="http://schemas.microsoft.com/office/powerpoint/2010/main" val="2406774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89397"/>
            <a:ext cx="8596668" cy="540913"/>
          </a:xfrm>
        </p:spPr>
        <p:txBody>
          <a:bodyPr>
            <a:normAutofit fontScale="90000"/>
          </a:bodyPr>
          <a:lstStyle/>
          <a:p>
            <a:pPr algn="ctr"/>
            <a:r>
              <a:rPr lang="es-AR" b="1" smtClean="0"/>
              <a:t>COMPARACIÓN DE ADJETIVOS</a:t>
            </a:r>
            <a:endParaRPr lang="es-AR" b="1" dirty="0"/>
          </a:p>
        </p:txBody>
      </p:sp>
      <p:sp>
        <p:nvSpPr>
          <p:cNvPr id="3" name="Marcador de contenido 2"/>
          <p:cNvSpPr>
            <a:spLocks noGrp="1"/>
          </p:cNvSpPr>
          <p:nvPr>
            <p:ph idx="1"/>
          </p:nvPr>
        </p:nvSpPr>
        <p:spPr/>
        <p:txBody>
          <a:bodyPr/>
          <a:lstStyle/>
          <a:p>
            <a:endParaRPr lang="es-AR"/>
          </a:p>
          <a:p>
            <a:endParaRPr lang="es-AR"/>
          </a:p>
        </p:txBody>
      </p:sp>
      <p:graphicFrame>
        <p:nvGraphicFramePr>
          <p:cNvPr id="5" name="Tabla 4"/>
          <p:cNvGraphicFramePr>
            <a:graphicFrameLocks noGrp="1"/>
          </p:cNvGraphicFramePr>
          <p:nvPr>
            <p:extLst>
              <p:ext uri="{D42A27DB-BD31-4B8C-83A1-F6EECF244321}">
                <p14:modId xmlns:p14="http://schemas.microsoft.com/office/powerpoint/2010/main" val="2046362013"/>
              </p:ext>
            </p:extLst>
          </p:nvPr>
        </p:nvGraphicFramePr>
        <p:xfrm>
          <a:off x="677334" y="1210615"/>
          <a:ext cx="8551573" cy="5354448"/>
        </p:xfrm>
        <a:graphic>
          <a:graphicData uri="http://schemas.openxmlformats.org/drawingml/2006/table">
            <a:tbl>
              <a:tblPr>
                <a:tableStyleId>{5C22544A-7EE6-4342-B048-85BDC9FD1C3A}</a:tableStyleId>
              </a:tblPr>
              <a:tblGrid>
                <a:gridCol w="3037617"/>
                <a:gridCol w="1551384"/>
                <a:gridCol w="1719607"/>
                <a:gridCol w="2242965"/>
              </a:tblGrid>
              <a:tr h="393050">
                <a:tc>
                  <a:txBody>
                    <a:bodyPr/>
                    <a:lstStyle/>
                    <a:p>
                      <a:pPr marR="476250" algn="ctr">
                        <a:lnSpc>
                          <a:spcPct val="115000"/>
                        </a:lnSpc>
                        <a:spcAft>
                          <a:spcPts val="0"/>
                        </a:spcAft>
                        <a:tabLst>
                          <a:tab pos="5791200" algn="l"/>
                        </a:tabLst>
                      </a:pPr>
                      <a:r>
                        <a:rPr lang="en-US" sz="1200" b="1" dirty="0" err="1" smtClean="0">
                          <a:effectLst/>
                        </a:rPr>
                        <a:t>Característica</a:t>
                      </a:r>
                      <a:endParaRPr lang="en-US" sz="1200" b="1" dirty="0" smtClean="0">
                        <a:effectLst/>
                      </a:endParaRPr>
                    </a:p>
                    <a:p>
                      <a:pPr marR="476250" algn="ctr">
                        <a:lnSpc>
                          <a:spcPct val="115000"/>
                        </a:lnSpc>
                        <a:spcAft>
                          <a:spcPts val="0"/>
                        </a:spcAft>
                        <a:tabLst>
                          <a:tab pos="5791200" algn="l"/>
                        </a:tabLst>
                      </a:pPr>
                      <a:endParaRPr lang="es-AR"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3180" algn="ctr">
                        <a:lnSpc>
                          <a:spcPct val="115000"/>
                        </a:lnSpc>
                        <a:spcAft>
                          <a:spcPts val="0"/>
                        </a:spcAft>
                        <a:tabLst>
                          <a:tab pos="5791200" algn="l"/>
                        </a:tabLst>
                      </a:pPr>
                      <a:r>
                        <a:rPr lang="en-US" sz="1200" b="1">
                          <a:effectLst/>
                        </a:rPr>
                        <a:t>Ejemplo</a:t>
                      </a:r>
                      <a:endParaRPr lang="es-AR" sz="12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146050" algn="ctr">
                        <a:lnSpc>
                          <a:spcPct val="115000"/>
                        </a:lnSpc>
                        <a:spcAft>
                          <a:spcPts val="0"/>
                        </a:spcAft>
                        <a:tabLst>
                          <a:tab pos="947420" algn="l"/>
                          <a:tab pos="5791200" algn="l"/>
                        </a:tabLst>
                      </a:pPr>
                      <a:r>
                        <a:rPr lang="en-US" sz="1200" b="1">
                          <a:effectLst/>
                        </a:rPr>
                        <a:t>Comparativo</a:t>
                      </a:r>
                      <a:endParaRPr lang="es-AR" sz="12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209550" algn="ctr">
                        <a:lnSpc>
                          <a:spcPct val="115000"/>
                        </a:lnSpc>
                        <a:spcAft>
                          <a:spcPts val="0"/>
                        </a:spcAft>
                        <a:tabLst>
                          <a:tab pos="5791200" algn="l"/>
                        </a:tabLst>
                      </a:pPr>
                      <a:r>
                        <a:rPr lang="en-US" sz="1200" b="1">
                          <a:effectLst/>
                        </a:rPr>
                        <a:t>Superlativo</a:t>
                      </a:r>
                      <a:endParaRPr lang="es-AR" sz="12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r>
              <a:tr h="415924">
                <a:tc>
                  <a:txBody>
                    <a:bodyPr/>
                    <a:lstStyle/>
                    <a:p>
                      <a:pPr marR="476250" algn="ctr">
                        <a:lnSpc>
                          <a:spcPct val="115000"/>
                        </a:lnSpc>
                        <a:spcAft>
                          <a:spcPts val="0"/>
                        </a:spcAft>
                        <a:tabLst>
                          <a:tab pos="5791200" algn="l"/>
                        </a:tabLst>
                      </a:pPr>
                      <a:r>
                        <a:rPr lang="es-AR" sz="1600" b="1" smtClean="0">
                          <a:effectLst/>
                          <a:latin typeface="Calibri" panose="020F0502020204030204" pitchFamily="34" charset="0"/>
                          <a:ea typeface="Calibri" panose="020F0502020204030204" pitchFamily="34" charset="0"/>
                          <a:cs typeface="Times New Roman" panose="02020603050405020304" pitchFamily="18" charset="0"/>
                        </a:rPr>
                        <a:t>REGULARES</a:t>
                      </a:r>
                    </a:p>
                    <a:p>
                      <a:pPr marR="476250" algn="ctr">
                        <a:lnSpc>
                          <a:spcPct val="115000"/>
                        </a:lnSpc>
                        <a:spcAft>
                          <a:spcPts val="0"/>
                        </a:spcAft>
                        <a:tabLst>
                          <a:tab pos="5791200" algn="l"/>
                        </a:tabLst>
                      </a:pPr>
                      <a:endParaRPr lang="es-AR" sz="11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3180" algn="ctr">
                        <a:lnSpc>
                          <a:spcPct val="115000"/>
                        </a:lnSpc>
                        <a:spcAft>
                          <a:spcPts val="0"/>
                        </a:spcAft>
                        <a:tabLst>
                          <a:tab pos="5791200" algn="l"/>
                        </a:tabLst>
                      </a:pPr>
                      <a:endParaRPr lang="es-AR" sz="11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146050" algn="ctr">
                        <a:lnSpc>
                          <a:spcPct val="115000"/>
                        </a:lnSpc>
                        <a:spcAft>
                          <a:spcPts val="0"/>
                        </a:spcAft>
                        <a:tabLst>
                          <a:tab pos="947420" algn="l"/>
                          <a:tab pos="5791200" algn="l"/>
                        </a:tabLst>
                      </a:pPr>
                      <a:endParaRPr lang="es-AR" sz="11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209550" algn="ctr">
                        <a:lnSpc>
                          <a:spcPct val="115000"/>
                        </a:lnSpc>
                        <a:spcAft>
                          <a:spcPts val="0"/>
                        </a:spcAft>
                        <a:tabLst>
                          <a:tab pos="5791200" algn="l"/>
                        </a:tabLst>
                      </a:pPr>
                      <a:endParaRPr lang="es-AR" sz="11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r>
              <a:tr h="492947">
                <a:tc>
                  <a:txBody>
                    <a:bodyPr/>
                    <a:lstStyle/>
                    <a:p>
                      <a:pPr marR="476250">
                        <a:lnSpc>
                          <a:spcPct val="115000"/>
                        </a:lnSpc>
                        <a:spcAft>
                          <a:spcPts val="0"/>
                        </a:spcAft>
                        <a:tabLst>
                          <a:tab pos="5791200" algn="l"/>
                        </a:tabLst>
                      </a:pPr>
                      <a:r>
                        <a:rPr lang="en-US" sz="1600">
                          <a:effectLst/>
                        </a:rPr>
                        <a:t>1 </a:t>
                      </a:r>
                      <a:r>
                        <a:rPr lang="en-US" sz="1600" smtClean="0">
                          <a:effectLst/>
                        </a:rPr>
                        <a:t>sílaba</a:t>
                      </a:r>
                    </a:p>
                    <a:p>
                      <a:pPr marR="476250">
                        <a:lnSpc>
                          <a:spcPct val="115000"/>
                        </a:lnSpc>
                        <a:spcAft>
                          <a:spcPts val="0"/>
                        </a:spcAft>
                        <a:tabLst>
                          <a:tab pos="5791200" algn="l"/>
                        </a:tabLst>
                      </a:pPr>
                      <a:endParaRPr lang="es-AR" sz="16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r>
                        <a:rPr lang="en-US" sz="1600" i="1">
                          <a:effectLst/>
                        </a:rPr>
                        <a:t>young</a:t>
                      </a:r>
                      <a:endParaRPr lang="es-AR" sz="1600" i="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r>
                        <a:rPr lang="en-US" sz="1600">
                          <a:effectLst/>
                        </a:rPr>
                        <a:t>young</a:t>
                      </a:r>
                      <a:r>
                        <a:rPr lang="en-US" sz="1600" b="1">
                          <a:effectLst/>
                        </a:rPr>
                        <a:t>er </a:t>
                      </a:r>
                      <a:r>
                        <a:rPr lang="en-US" sz="1600">
                          <a:effectLst/>
                        </a:rPr>
                        <a:t> </a:t>
                      </a:r>
                      <a:endParaRPr lang="es-AR" sz="16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209550">
                        <a:lnSpc>
                          <a:spcPct val="115000"/>
                        </a:lnSpc>
                        <a:spcAft>
                          <a:spcPts val="0"/>
                        </a:spcAft>
                        <a:tabLst>
                          <a:tab pos="5791200" algn="l"/>
                        </a:tabLst>
                      </a:pPr>
                      <a:r>
                        <a:rPr lang="en-US" sz="1600" b="1">
                          <a:effectLst/>
                        </a:rPr>
                        <a:t>the</a:t>
                      </a:r>
                      <a:r>
                        <a:rPr lang="en-US" sz="1600">
                          <a:effectLst/>
                        </a:rPr>
                        <a:t> young</a:t>
                      </a:r>
                      <a:r>
                        <a:rPr lang="en-US" sz="1600" b="1">
                          <a:effectLst/>
                        </a:rPr>
                        <a:t>est</a:t>
                      </a:r>
                      <a:endParaRPr lang="es-AR" sz="16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r>
              <a:tr h="492947">
                <a:tc>
                  <a:txBody>
                    <a:bodyPr/>
                    <a:lstStyle/>
                    <a:p>
                      <a:pPr marR="53975">
                        <a:lnSpc>
                          <a:spcPct val="115000"/>
                        </a:lnSpc>
                        <a:spcAft>
                          <a:spcPts val="0"/>
                        </a:spcAft>
                        <a:tabLst>
                          <a:tab pos="5791200" algn="l"/>
                        </a:tabLst>
                      </a:pPr>
                      <a:r>
                        <a:rPr lang="es-ES" sz="1600">
                          <a:effectLst/>
                        </a:rPr>
                        <a:t>1 sílaba y termina en “-e</a:t>
                      </a:r>
                      <a:r>
                        <a:rPr lang="es-ES" sz="1600" smtClean="0">
                          <a:effectLst/>
                        </a:rPr>
                        <a:t>”</a:t>
                      </a:r>
                      <a:endParaRPr lang="es-AR" sz="1600" smtClean="0">
                        <a:effectLst/>
                      </a:endParaRPr>
                    </a:p>
                    <a:p>
                      <a:pPr marR="53975">
                        <a:lnSpc>
                          <a:spcPct val="115000"/>
                        </a:lnSpc>
                        <a:spcAft>
                          <a:spcPts val="0"/>
                        </a:spcAft>
                        <a:tabLst>
                          <a:tab pos="5791200" algn="l"/>
                        </a:tabLst>
                      </a:pPr>
                      <a:endParaRPr lang="es-AR" sz="16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r>
                        <a:rPr lang="en-US" sz="1600" i="1">
                          <a:effectLst/>
                        </a:rPr>
                        <a:t>brave</a:t>
                      </a:r>
                      <a:endParaRPr lang="es-AR" sz="1600" i="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r>
                        <a:rPr lang="en-US" sz="1600">
                          <a:effectLst/>
                        </a:rPr>
                        <a:t>brav</a:t>
                      </a:r>
                      <a:r>
                        <a:rPr lang="en-US" sz="1600" b="1">
                          <a:effectLst/>
                        </a:rPr>
                        <a:t>er</a:t>
                      </a:r>
                      <a:endParaRPr lang="es-AR" sz="16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r>
                        <a:rPr lang="en-US" sz="1600" b="1">
                          <a:effectLst/>
                        </a:rPr>
                        <a:t>the</a:t>
                      </a:r>
                      <a:r>
                        <a:rPr lang="en-US" sz="1600">
                          <a:effectLst/>
                        </a:rPr>
                        <a:t> brav</a:t>
                      </a:r>
                      <a:r>
                        <a:rPr lang="en-US" sz="1600" b="1">
                          <a:effectLst/>
                        </a:rPr>
                        <a:t>est</a:t>
                      </a:r>
                      <a:endParaRPr lang="es-AR" sz="16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r>
              <a:tr h="659075">
                <a:tc>
                  <a:txBody>
                    <a:bodyPr/>
                    <a:lstStyle/>
                    <a:p>
                      <a:pPr marR="180975">
                        <a:lnSpc>
                          <a:spcPct val="115000"/>
                        </a:lnSpc>
                        <a:spcAft>
                          <a:spcPts val="0"/>
                        </a:spcAft>
                        <a:tabLst>
                          <a:tab pos="5791200" algn="l"/>
                        </a:tabLst>
                      </a:pPr>
                      <a:r>
                        <a:rPr lang="es-ES" sz="1600">
                          <a:effectLst/>
                        </a:rPr>
                        <a:t>2 sílabas y termina en “-y” o “-e”</a:t>
                      </a:r>
                      <a:endParaRPr lang="es-AR" sz="16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r>
                        <a:rPr lang="en-US" sz="1600" i="1">
                          <a:effectLst/>
                        </a:rPr>
                        <a:t>dirty</a:t>
                      </a:r>
                      <a:endParaRPr lang="es-AR" sz="1600" i="1">
                        <a:effectLst/>
                      </a:endParaRPr>
                    </a:p>
                    <a:p>
                      <a:pPr marR="476250">
                        <a:lnSpc>
                          <a:spcPct val="115000"/>
                        </a:lnSpc>
                        <a:spcAft>
                          <a:spcPts val="0"/>
                        </a:spcAft>
                        <a:tabLst>
                          <a:tab pos="5791200" algn="l"/>
                        </a:tabLst>
                      </a:pPr>
                      <a:r>
                        <a:rPr lang="en-US" sz="1600" i="1">
                          <a:effectLst/>
                        </a:rPr>
                        <a:t>simple</a:t>
                      </a:r>
                      <a:endParaRPr lang="es-AR" sz="1600" i="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r>
                        <a:rPr lang="en-US" sz="1600">
                          <a:effectLst/>
                        </a:rPr>
                        <a:t>dirt</a:t>
                      </a:r>
                      <a:r>
                        <a:rPr lang="en-US" sz="1600" b="1">
                          <a:effectLst/>
                        </a:rPr>
                        <a:t>ier</a:t>
                      </a:r>
                      <a:endParaRPr lang="es-AR" sz="1600" b="1">
                        <a:effectLst/>
                      </a:endParaRPr>
                    </a:p>
                    <a:p>
                      <a:pPr marR="476250">
                        <a:lnSpc>
                          <a:spcPct val="115000"/>
                        </a:lnSpc>
                        <a:spcAft>
                          <a:spcPts val="0"/>
                        </a:spcAft>
                        <a:tabLst>
                          <a:tab pos="5791200" algn="l"/>
                        </a:tabLst>
                      </a:pPr>
                      <a:r>
                        <a:rPr lang="en-US" sz="1600">
                          <a:effectLst/>
                        </a:rPr>
                        <a:t>simpl</a:t>
                      </a:r>
                      <a:r>
                        <a:rPr lang="en-US" sz="1600" b="1">
                          <a:effectLst/>
                        </a:rPr>
                        <a:t>er</a:t>
                      </a:r>
                      <a:endParaRPr lang="es-AR" sz="16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r>
                        <a:rPr lang="en-US" sz="1600" b="1">
                          <a:effectLst/>
                        </a:rPr>
                        <a:t>the</a:t>
                      </a:r>
                      <a:r>
                        <a:rPr lang="en-US" sz="1600">
                          <a:effectLst/>
                        </a:rPr>
                        <a:t> dirt</a:t>
                      </a:r>
                      <a:r>
                        <a:rPr lang="en-US" sz="1600" b="1">
                          <a:effectLst/>
                        </a:rPr>
                        <a:t>iest</a:t>
                      </a:r>
                      <a:endParaRPr lang="es-AR" sz="1600" b="1">
                        <a:effectLst/>
                      </a:endParaRPr>
                    </a:p>
                    <a:p>
                      <a:pPr>
                        <a:lnSpc>
                          <a:spcPct val="115000"/>
                        </a:lnSpc>
                        <a:spcAft>
                          <a:spcPts val="0"/>
                        </a:spcAft>
                        <a:tabLst>
                          <a:tab pos="5791200" algn="l"/>
                        </a:tabLst>
                      </a:pPr>
                      <a:r>
                        <a:rPr lang="en-US" sz="1600" b="1">
                          <a:effectLst/>
                        </a:rPr>
                        <a:t>the</a:t>
                      </a:r>
                      <a:r>
                        <a:rPr lang="en-US" sz="1600">
                          <a:effectLst/>
                        </a:rPr>
                        <a:t> simpl</a:t>
                      </a:r>
                      <a:r>
                        <a:rPr lang="en-US" sz="1600" b="1">
                          <a:effectLst/>
                        </a:rPr>
                        <a:t>est</a:t>
                      </a:r>
                      <a:endParaRPr lang="es-AR" sz="1600" b="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r>
              <a:tr h="659075">
                <a:tc>
                  <a:txBody>
                    <a:bodyPr/>
                    <a:lstStyle/>
                    <a:p>
                      <a:pPr marR="117475">
                        <a:lnSpc>
                          <a:spcPct val="115000"/>
                        </a:lnSpc>
                        <a:spcAft>
                          <a:spcPts val="0"/>
                        </a:spcAft>
                        <a:tabLst>
                          <a:tab pos="5791200" algn="l"/>
                        </a:tabLst>
                      </a:pPr>
                      <a:r>
                        <a:rPr lang="en-US" sz="1600" smtClean="0">
                          <a:effectLst/>
                        </a:rPr>
                        <a:t>2  o  </a:t>
                      </a:r>
                      <a:r>
                        <a:rPr lang="en-US" sz="1600">
                          <a:effectLst/>
                        </a:rPr>
                        <a:t>más </a:t>
                      </a:r>
                      <a:r>
                        <a:rPr lang="en-US" sz="1600" smtClean="0">
                          <a:effectLst/>
                        </a:rPr>
                        <a:t>sílabas</a:t>
                      </a:r>
                      <a:endParaRPr lang="es-AR" sz="16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r>
                        <a:rPr lang="en-US" sz="1600" i="1">
                          <a:effectLst/>
                        </a:rPr>
                        <a:t>careful</a:t>
                      </a:r>
                      <a:endParaRPr lang="es-AR" sz="1600" i="1">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146050">
                        <a:lnSpc>
                          <a:spcPct val="115000"/>
                        </a:lnSpc>
                        <a:spcAft>
                          <a:spcPts val="0"/>
                        </a:spcAft>
                        <a:tabLst>
                          <a:tab pos="1010920" algn="l"/>
                          <a:tab pos="5791200" algn="l"/>
                        </a:tabLst>
                      </a:pPr>
                      <a:r>
                        <a:rPr lang="en-US" sz="1600" b="1">
                          <a:effectLst/>
                        </a:rPr>
                        <a:t>more</a:t>
                      </a:r>
                      <a:r>
                        <a:rPr lang="en-US" sz="1600">
                          <a:effectLst/>
                        </a:rPr>
                        <a:t> careful</a:t>
                      </a:r>
                      <a:endParaRPr lang="es-AR" sz="1600">
                        <a:effectLst/>
                      </a:endParaRPr>
                    </a:p>
                    <a:p>
                      <a:pPr marR="146050">
                        <a:lnSpc>
                          <a:spcPct val="115000"/>
                        </a:lnSpc>
                        <a:spcAft>
                          <a:spcPts val="0"/>
                        </a:spcAft>
                        <a:tabLst>
                          <a:tab pos="1010920" algn="l"/>
                          <a:tab pos="5791200" algn="l"/>
                        </a:tabLst>
                      </a:pPr>
                      <a:r>
                        <a:rPr lang="en-US" sz="1600" b="1">
                          <a:effectLst/>
                        </a:rPr>
                        <a:t>less</a:t>
                      </a:r>
                      <a:r>
                        <a:rPr lang="en-US" sz="1600">
                          <a:effectLst/>
                        </a:rPr>
                        <a:t> careful</a:t>
                      </a:r>
                      <a:endParaRPr lang="es-AR" sz="16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82550">
                        <a:lnSpc>
                          <a:spcPct val="115000"/>
                        </a:lnSpc>
                        <a:spcAft>
                          <a:spcPts val="0"/>
                        </a:spcAft>
                        <a:tabLst>
                          <a:tab pos="5791200" algn="l"/>
                        </a:tabLst>
                      </a:pPr>
                      <a:r>
                        <a:rPr lang="en-US" sz="1600" b="1">
                          <a:effectLst/>
                        </a:rPr>
                        <a:t>the most </a:t>
                      </a:r>
                      <a:r>
                        <a:rPr lang="en-US" sz="1600">
                          <a:effectLst/>
                        </a:rPr>
                        <a:t>careful</a:t>
                      </a:r>
                      <a:endParaRPr lang="es-AR" sz="1600">
                        <a:effectLst/>
                      </a:endParaRPr>
                    </a:p>
                    <a:p>
                      <a:pPr marR="82550">
                        <a:lnSpc>
                          <a:spcPct val="115000"/>
                        </a:lnSpc>
                        <a:spcAft>
                          <a:spcPts val="0"/>
                        </a:spcAft>
                        <a:tabLst>
                          <a:tab pos="5791200" algn="l"/>
                        </a:tabLst>
                      </a:pPr>
                      <a:r>
                        <a:rPr lang="en-US" sz="1600" b="1">
                          <a:effectLst/>
                        </a:rPr>
                        <a:t>the least </a:t>
                      </a:r>
                      <a:r>
                        <a:rPr lang="en-US" sz="1600">
                          <a:effectLst/>
                        </a:rPr>
                        <a:t>careful</a:t>
                      </a:r>
                      <a:endParaRPr lang="es-AR" sz="16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r>
              <a:tr h="2020808">
                <a:tc>
                  <a:txBody>
                    <a:bodyPr/>
                    <a:lstStyle/>
                    <a:p>
                      <a:pPr marR="476250" algn="ctr">
                        <a:lnSpc>
                          <a:spcPct val="115000"/>
                        </a:lnSpc>
                        <a:spcAft>
                          <a:spcPts val="0"/>
                        </a:spcAft>
                        <a:tabLst>
                          <a:tab pos="5791200" algn="l"/>
                        </a:tabLst>
                      </a:pPr>
                      <a:endParaRPr lang="en-US" sz="1600" b="1" dirty="0" smtClean="0">
                        <a:effectLst/>
                      </a:endParaRPr>
                    </a:p>
                    <a:p>
                      <a:pPr marR="476250" algn="ctr">
                        <a:lnSpc>
                          <a:spcPct val="115000"/>
                        </a:lnSpc>
                        <a:spcAft>
                          <a:spcPts val="0"/>
                        </a:spcAft>
                        <a:tabLst>
                          <a:tab pos="5791200" algn="l"/>
                        </a:tabLst>
                      </a:pPr>
                      <a:endParaRPr lang="en-US" sz="1600" b="1" dirty="0" smtClean="0">
                        <a:effectLst/>
                      </a:endParaRPr>
                    </a:p>
                    <a:p>
                      <a:pPr marR="476250" algn="ctr">
                        <a:lnSpc>
                          <a:spcPct val="115000"/>
                        </a:lnSpc>
                        <a:spcAft>
                          <a:spcPts val="0"/>
                        </a:spcAft>
                        <a:tabLst>
                          <a:tab pos="5791200" algn="l"/>
                        </a:tabLst>
                      </a:pPr>
                      <a:r>
                        <a:rPr lang="en-US" sz="1600" b="1" dirty="0" smtClean="0">
                          <a:effectLst/>
                        </a:rPr>
                        <a:t>IRREGULARES</a:t>
                      </a:r>
                      <a:endParaRPr lang="es-AR"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endParaRPr lang="en-US" sz="1600" i="1" dirty="0" smtClean="0">
                        <a:effectLst/>
                      </a:endParaRPr>
                    </a:p>
                    <a:p>
                      <a:pPr marR="476250">
                        <a:lnSpc>
                          <a:spcPct val="115000"/>
                        </a:lnSpc>
                        <a:spcAft>
                          <a:spcPts val="0"/>
                        </a:spcAft>
                        <a:tabLst>
                          <a:tab pos="5791200" algn="l"/>
                        </a:tabLst>
                      </a:pPr>
                      <a:r>
                        <a:rPr lang="en-US" sz="1600" i="1" dirty="0" smtClean="0">
                          <a:effectLst/>
                        </a:rPr>
                        <a:t>good</a:t>
                      </a:r>
                      <a:endParaRPr lang="es-AR" sz="1600" i="1" dirty="0">
                        <a:effectLst/>
                      </a:endParaRPr>
                    </a:p>
                    <a:p>
                      <a:pPr marR="476250">
                        <a:lnSpc>
                          <a:spcPct val="115000"/>
                        </a:lnSpc>
                        <a:spcAft>
                          <a:spcPts val="0"/>
                        </a:spcAft>
                        <a:tabLst>
                          <a:tab pos="5791200" algn="l"/>
                        </a:tabLst>
                      </a:pPr>
                      <a:r>
                        <a:rPr lang="en-US" sz="1600" i="1" dirty="0">
                          <a:effectLst/>
                        </a:rPr>
                        <a:t>bad</a:t>
                      </a:r>
                      <a:endParaRPr lang="es-AR" sz="1600" i="1" dirty="0">
                        <a:effectLst/>
                      </a:endParaRPr>
                    </a:p>
                    <a:p>
                      <a:pPr marR="476250">
                        <a:lnSpc>
                          <a:spcPct val="115000"/>
                        </a:lnSpc>
                        <a:spcAft>
                          <a:spcPts val="0"/>
                        </a:spcAft>
                        <a:tabLst>
                          <a:tab pos="5791200" algn="l"/>
                        </a:tabLst>
                      </a:pPr>
                      <a:r>
                        <a:rPr lang="en-US" sz="1600" i="1" dirty="0">
                          <a:effectLst/>
                        </a:rPr>
                        <a:t>little</a:t>
                      </a:r>
                      <a:endParaRPr lang="es-AR" sz="1600" i="1" dirty="0">
                        <a:effectLst/>
                      </a:endParaRPr>
                    </a:p>
                    <a:p>
                      <a:pPr marR="146050">
                        <a:lnSpc>
                          <a:spcPct val="115000"/>
                        </a:lnSpc>
                        <a:spcAft>
                          <a:spcPts val="0"/>
                        </a:spcAft>
                        <a:tabLst>
                          <a:tab pos="5791200" algn="l"/>
                        </a:tabLst>
                      </a:pPr>
                      <a:r>
                        <a:rPr lang="en-US" sz="1600" i="1" dirty="0">
                          <a:effectLst/>
                        </a:rPr>
                        <a:t>many/much</a:t>
                      </a:r>
                      <a:endParaRPr lang="es-AR" sz="1600" i="1" dirty="0">
                        <a:effectLst/>
                      </a:endParaRPr>
                    </a:p>
                    <a:p>
                      <a:pPr marR="476250">
                        <a:lnSpc>
                          <a:spcPct val="115000"/>
                        </a:lnSpc>
                        <a:spcAft>
                          <a:spcPts val="0"/>
                        </a:spcAft>
                        <a:tabLst>
                          <a:tab pos="5791200" algn="l"/>
                        </a:tabLst>
                      </a:pPr>
                      <a:r>
                        <a:rPr lang="en-US" sz="1600" i="1" dirty="0">
                          <a:effectLst/>
                        </a:rPr>
                        <a:t>far</a:t>
                      </a:r>
                      <a:endParaRPr lang="es-AR" sz="1600" i="1"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endParaRPr lang="en-US" sz="1600" dirty="0" smtClean="0">
                        <a:effectLst/>
                      </a:endParaRPr>
                    </a:p>
                    <a:p>
                      <a:pPr marR="476250">
                        <a:lnSpc>
                          <a:spcPct val="115000"/>
                        </a:lnSpc>
                        <a:spcAft>
                          <a:spcPts val="0"/>
                        </a:spcAft>
                        <a:tabLst>
                          <a:tab pos="5791200" algn="l"/>
                        </a:tabLst>
                      </a:pPr>
                      <a:r>
                        <a:rPr lang="en-US" sz="1600" dirty="0" smtClean="0">
                          <a:effectLst/>
                        </a:rPr>
                        <a:t>better</a:t>
                      </a:r>
                      <a:endParaRPr lang="es-AR" sz="1600" dirty="0">
                        <a:effectLst/>
                      </a:endParaRPr>
                    </a:p>
                    <a:p>
                      <a:pPr marR="476250">
                        <a:lnSpc>
                          <a:spcPct val="115000"/>
                        </a:lnSpc>
                        <a:spcAft>
                          <a:spcPts val="0"/>
                        </a:spcAft>
                        <a:tabLst>
                          <a:tab pos="5791200" algn="l"/>
                        </a:tabLst>
                      </a:pPr>
                      <a:r>
                        <a:rPr lang="en-US" sz="1600" dirty="0">
                          <a:effectLst/>
                        </a:rPr>
                        <a:t>worse</a:t>
                      </a:r>
                      <a:endParaRPr lang="es-AR" sz="1600" dirty="0">
                        <a:effectLst/>
                      </a:endParaRPr>
                    </a:p>
                    <a:p>
                      <a:pPr marR="476250">
                        <a:lnSpc>
                          <a:spcPct val="115000"/>
                        </a:lnSpc>
                        <a:spcAft>
                          <a:spcPts val="0"/>
                        </a:spcAft>
                        <a:tabLst>
                          <a:tab pos="5791200" algn="l"/>
                        </a:tabLst>
                      </a:pPr>
                      <a:r>
                        <a:rPr lang="en-US" sz="1600" dirty="0">
                          <a:effectLst/>
                        </a:rPr>
                        <a:t>less</a:t>
                      </a:r>
                      <a:endParaRPr lang="es-AR" sz="1600" dirty="0">
                        <a:effectLst/>
                      </a:endParaRPr>
                    </a:p>
                    <a:p>
                      <a:pPr>
                        <a:lnSpc>
                          <a:spcPct val="115000"/>
                        </a:lnSpc>
                        <a:spcAft>
                          <a:spcPts val="0"/>
                        </a:spcAft>
                        <a:tabLst>
                          <a:tab pos="5791200" algn="l"/>
                        </a:tabLst>
                      </a:pPr>
                      <a:r>
                        <a:rPr lang="en-US" sz="1600" dirty="0">
                          <a:effectLst/>
                        </a:rPr>
                        <a:t>more</a:t>
                      </a:r>
                      <a:endParaRPr lang="es-AR" sz="1600" dirty="0">
                        <a:effectLst/>
                      </a:endParaRPr>
                    </a:p>
                    <a:p>
                      <a:pPr>
                        <a:lnSpc>
                          <a:spcPct val="115000"/>
                        </a:lnSpc>
                        <a:spcAft>
                          <a:spcPts val="0"/>
                        </a:spcAft>
                        <a:tabLst>
                          <a:tab pos="5791200" algn="l"/>
                        </a:tabLst>
                      </a:pPr>
                      <a:r>
                        <a:rPr lang="en-US" sz="1600" dirty="0">
                          <a:effectLst/>
                        </a:rPr>
                        <a:t>farther/further</a:t>
                      </a:r>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marR="476250">
                        <a:lnSpc>
                          <a:spcPct val="115000"/>
                        </a:lnSpc>
                        <a:spcAft>
                          <a:spcPts val="0"/>
                        </a:spcAft>
                        <a:tabLst>
                          <a:tab pos="5791200" algn="l"/>
                        </a:tabLst>
                      </a:pPr>
                      <a:endParaRPr lang="en-US" sz="1600" dirty="0" smtClean="0">
                        <a:effectLst/>
                      </a:endParaRPr>
                    </a:p>
                    <a:p>
                      <a:pPr marR="476250">
                        <a:lnSpc>
                          <a:spcPct val="115000"/>
                        </a:lnSpc>
                        <a:spcAft>
                          <a:spcPts val="0"/>
                        </a:spcAft>
                        <a:tabLst>
                          <a:tab pos="5791200" algn="l"/>
                        </a:tabLst>
                      </a:pPr>
                      <a:r>
                        <a:rPr lang="en-US" sz="1600" dirty="0" smtClean="0">
                          <a:effectLst/>
                        </a:rPr>
                        <a:t>the </a:t>
                      </a:r>
                      <a:r>
                        <a:rPr lang="en-US" sz="1600" dirty="0">
                          <a:effectLst/>
                        </a:rPr>
                        <a:t>best</a:t>
                      </a:r>
                      <a:endParaRPr lang="es-AR" sz="1600" dirty="0">
                        <a:effectLst/>
                      </a:endParaRPr>
                    </a:p>
                    <a:p>
                      <a:pPr marR="476250">
                        <a:lnSpc>
                          <a:spcPct val="115000"/>
                        </a:lnSpc>
                        <a:spcAft>
                          <a:spcPts val="0"/>
                        </a:spcAft>
                        <a:tabLst>
                          <a:tab pos="5791200" algn="l"/>
                        </a:tabLst>
                      </a:pPr>
                      <a:r>
                        <a:rPr lang="en-US" sz="1600" dirty="0">
                          <a:effectLst/>
                        </a:rPr>
                        <a:t>the worst</a:t>
                      </a:r>
                      <a:endParaRPr lang="es-AR" sz="1600" dirty="0">
                        <a:effectLst/>
                      </a:endParaRPr>
                    </a:p>
                    <a:p>
                      <a:pPr marR="476250">
                        <a:lnSpc>
                          <a:spcPct val="115000"/>
                        </a:lnSpc>
                        <a:spcAft>
                          <a:spcPts val="0"/>
                        </a:spcAft>
                        <a:tabLst>
                          <a:tab pos="5791200" algn="l"/>
                        </a:tabLst>
                      </a:pPr>
                      <a:r>
                        <a:rPr lang="en-US" sz="1600" dirty="0">
                          <a:effectLst/>
                        </a:rPr>
                        <a:t>the least</a:t>
                      </a:r>
                      <a:endParaRPr lang="es-AR" sz="1600" dirty="0">
                        <a:effectLst/>
                      </a:endParaRPr>
                    </a:p>
                    <a:p>
                      <a:pPr marR="82550">
                        <a:lnSpc>
                          <a:spcPct val="115000"/>
                        </a:lnSpc>
                        <a:spcAft>
                          <a:spcPts val="0"/>
                        </a:spcAft>
                        <a:tabLst>
                          <a:tab pos="5791200" algn="l"/>
                        </a:tabLst>
                      </a:pPr>
                      <a:r>
                        <a:rPr lang="en-US" sz="1600" dirty="0">
                          <a:effectLst/>
                        </a:rPr>
                        <a:t>the most</a:t>
                      </a:r>
                      <a:endParaRPr lang="es-AR" sz="1600" dirty="0">
                        <a:effectLst/>
                      </a:endParaRPr>
                    </a:p>
                    <a:p>
                      <a:pPr marR="82550">
                        <a:lnSpc>
                          <a:spcPct val="115000"/>
                        </a:lnSpc>
                        <a:spcAft>
                          <a:spcPts val="0"/>
                        </a:spcAft>
                        <a:tabLst>
                          <a:tab pos="5791200" algn="l"/>
                        </a:tabLst>
                      </a:pPr>
                      <a:r>
                        <a:rPr lang="en-US" sz="1600" dirty="0">
                          <a:effectLst/>
                        </a:rPr>
                        <a:t>the farthest/ furthest</a:t>
                      </a:r>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r>
            </a:tbl>
          </a:graphicData>
        </a:graphic>
      </p:graphicFrame>
    </p:spTree>
    <p:extLst>
      <p:ext uri="{BB962C8B-B14F-4D97-AF65-F5344CB8AC3E}">
        <p14:creationId xmlns:p14="http://schemas.microsoft.com/office/powerpoint/2010/main" val="15775742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386366"/>
            <a:ext cx="8596668" cy="605307"/>
          </a:xfrm>
        </p:spPr>
        <p:txBody>
          <a:bodyPr>
            <a:normAutofit fontScale="90000"/>
          </a:bodyPr>
          <a:lstStyle/>
          <a:p>
            <a:pPr algn="ctr"/>
            <a:r>
              <a:rPr lang="es-AR" b="1" smtClean="0"/>
              <a:t>OTRAS CONSTRUCCIONES</a:t>
            </a:r>
            <a:endParaRPr lang="es-AR" b="1" dirty="0"/>
          </a:p>
        </p:txBody>
      </p:sp>
      <p:sp>
        <p:nvSpPr>
          <p:cNvPr id="3" name="Marcador de contenido 2"/>
          <p:cNvSpPr>
            <a:spLocks noGrp="1"/>
          </p:cNvSpPr>
          <p:nvPr>
            <p:ph idx="1"/>
          </p:nvPr>
        </p:nvSpPr>
        <p:spPr>
          <a:xfrm>
            <a:off x="677335" y="1287887"/>
            <a:ext cx="8260604" cy="5396248"/>
          </a:xfrm>
        </p:spPr>
        <p:txBody>
          <a:bodyPr>
            <a:normAutofit fontScale="25000" lnSpcReduction="20000"/>
          </a:bodyPr>
          <a:lstStyle/>
          <a:p>
            <a:pPr marL="0" indent="0" algn="ctr">
              <a:buNone/>
            </a:pPr>
            <a:endParaRPr lang="es-AR" dirty="0" smtClean="0"/>
          </a:p>
          <a:p>
            <a:pPr lvl="0"/>
            <a:r>
              <a:rPr lang="es-AR" sz="6400" b="1" dirty="0"/>
              <a:t>COMPARATIVO,  COMPARATIVO</a:t>
            </a:r>
            <a:endParaRPr lang="es-AR" sz="6400" dirty="0"/>
          </a:p>
          <a:p>
            <a:pPr marL="0" indent="0">
              <a:buNone/>
            </a:pPr>
            <a:r>
              <a:rPr lang="en-US" sz="6400" b="1" dirty="0"/>
              <a:t>The more </a:t>
            </a:r>
            <a:r>
              <a:rPr lang="en-US" sz="6400" dirty="0"/>
              <a:t>you </a:t>
            </a:r>
            <a:r>
              <a:rPr lang="en-US" sz="6400" dirty="0" err="1"/>
              <a:t>practise</a:t>
            </a:r>
            <a:r>
              <a:rPr lang="en-US" sz="6400" dirty="0"/>
              <a:t>, </a:t>
            </a:r>
            <a:r>
              <a:rPr lang="en-US" sz="6400" b="1" dirty="0"/>
              <a:t>the better </a:t>
            </a:r>
            <a:r>
              <a:rPr lang="en-US" sz="6400" dirty="0"/>
              <a:t>it is.</a:t>
            </a:r>
            <a:endParaRPr lang="es-AR" sz="6400" dirty="0"/>
          </a:p>
          <a:p>
            <a:pPr marL="0" indent="0">
              <a:buNone/>
            </a:pPr>
            <a:r>
              <a:rPr lang="es-AR" sz="6400" dirty="0"/>
              <a:t>(Cuanto </a:t>
            </a:r>
            <a:r>
              <a:rPr lang="es-AR" sz="6400" b="1" dirty="0"/>
              <a:t>más</a:t>
            </a:r>
            <a:r>
              <a:rPr lang="es-AR" sz="6400" dirty="0"/>
              <a:t> practicas, </a:t>
            </a:r>
            <a:r>
              <a:rPr lang="es-AR" sz="6400" b="1" dirty="0"/>
              <a:t>mejor</a:t>
            </a:r>
            <a:r>
              <a:rPr lang="es-AR" sz="6400" dirty="0"/>
              <a:t> es)</a:t>
            </a:r>
          </a:p>
          <a:p>
            <a:pPr marL="0" indent="0">
              <a:buNone/>
            </a:pPr>
            <a:r>
              <a:rPr lang="en-US" sz="6400" b="1" dirty="0"/>
              <a:t>The sooner</a:t>
            </a:r>
            <a:r>
              <a:rPr lang="en-US" sz="6400" dirty="0"/>
              <a:t>, </a:t>
            </a:r>
            <a:r>
              <a:rPr lang="en-US" sz="6400" b="1" dirty="0"/>
              <a:t>the better</a:t>
            </a:r>
            <a:r>
              <a:rPr lang="en-US" sz="6400" dirty="0"/>
              <a:t>.</a:t>
            </a:r>
            <a:endParaRPr lang="es-AR" sz="6400" dirty="0"/>
          </a:p>
          <a:p>
            <a:pPr marL="0" indent="0">
              <a:buNone/>
            </a:pPr>
            <a:r>
              <a:rPr lang="en-US" sz="6400" dirty="0"/>
              <a:t>(</a:t>
            </a:r>
            <a:r>
              <a:rPr lang="en-US" sz="6400" b="1" i="1" dirty="0" err="1"/>
              <a:t>Cuanto</a:t>
            </a:r>
            <a:r>
              <a:rPr lang="en-US" sz="6400" b="1" i="1" dirty="0"/>
              <a:t> </a:t>
            </a:r>
            <a:r>
              <a:rPr lang="en-US" sz="6400" b="1" i="1" dirty="0" smtClean="0"/>
              <a:t>antes </a:t>
            </a:r>
            <a:r>
              <a:rPr lang="en-US" sz="6400" i="1" dirty="0" smtClean="0"/>
              <a:t>…..</a:t>
            </a:r>
            <a:r>
              <a:rPr lang="en-US" sz="6400" dirty="0" smtClean="0"/>
              <a:t>, </a:t>
            </a:r>
            <a:r>
              <a:rPr lang="en-US" sz="6400" b="1" i="1" dirty="0" err="1"/>
              <a:t>mejor</a:t>
            </a:r>
            <a:r>
              <a:rPr lang="en-US" sz="6400" dirty="0"/>
              <a:t>)</a:t>
            </a:r>
            <a:endParaRPr lang="es-AR" sz="6400" dirty="0"/>
          </a:p>
          <a:p>
            <a:pPr marL="0" indent="0">
              <a:buNone/>
            </a:pPr>
            <a:r>
              <a:rPr lang="en-US" sz="6400" dirty="0"/>
              <a:t> </a:t>
            </a:r>
            <a:endParaRPr lang="en-US" sz="6400" dirty="0" smtClean="0"/>
          </a:p>
          <a:p>
            <a:pPr marL="0" indent="0">
              <a:buNone/>
            </a:pPr>
            <a:r>
              <a:rPr lang="en-US" sz="6400" b="1" dirty="0" smtClean="0"/>
              <a:t>COMPARATIVO </a:t>
            </a:r>
            <a:r>
              <a:rPr lang="en-US" sz="6400" b="1" dirty="0"/>
              <a:t>+ AND + COMPARATIVO</a:t>
            </a:r>
            <a:endParaRPr lang="es-AR" sz="6400" dirty="0"/>
          </a:p>
          <a:p>
            <a:pPr marL="0" indent="0">
              <a:buNone/>
            </a:pPr>
            <a:r>
              <a:rPr lang="en-US" sz="6400" dirty="0"/>
              <a:t>He does it </a:t>
            </a:r>
            <a:r>
              <a:rPr lang="en-US" sz="6400" b="1" dirty="0"/>
              <a:t>better and better.</a:t>
            </a:r>
            <a:endParaRPr lang="es-AR" sz="6400" b="1" dirty="0"/>
          </a:p>
          <a:p>
            <a:pPr marL="0" indent="0">
              <a:buNone/>
            </a:pPr>
            <a:r>
              <a:rPr lang="es-AR" sz="6400" dirty="0"/>
              <a:t>(Lo hace </a:t>
            </a:r>
            <a:r>
              <a:rPr lang="es-AR" sz="6400" b="1" dirty="0"/>
              <a:t>cada vez</a:t>
            </a:r>
            <a:r>
              <a:rPr lang="es-AR" sz="6400" dirty="0"/>
              <a:t> mejor)</a:t>
            </a:r>
          </a:p>
          <a:p>
            <a:pPr marL="0" indent="0">
              <a:buNone/>
            </a:pPr>
            <a:r>
              <a:rPr lang="en-US" sz="6400" dirty="0"/>
              <a:t>It is getting </a:t>
            </a:r>
            <a:r>
              <a:rPr lang="en-US" sz="6400" b="1" dirty="0"/>
              <a:t>worse and worse</a:t>
            </a:r>
            <a:r>
              <a:rPr lang="en-US" sz="6400" dirty="0"/>
              <a:t>.</a:t>
            </a:r>
            <a:endParaRPr lang="es-AR" sz="6400" dirty="0"/>
          </a:p>
          <a:p>
            <a:pPr marL="0" indent="0">
              <a:buNone/>
            </a:pPr>
            <a:r>
              <a:rPr lang="es-AR" sz="6400" dirty="0"/>
              <a:t>(Se está poniendo </a:t>
            </a:r>
            <a:r>
              <a:rPr lang="es-AR" sz="6400" b="1" i="1" dirty="0"/>
              <a:t>cada vez</a:t>
            </a:r>
            <a:r>
              <a:rPr lang="es-AR" sz="6400" dirty="0"/>
              <a:t> peor)</a:t>
            </a:r>
          </a:p>
          <a:p>
            <a:pPr marL="0" indent="0">
              <a:buNone/>
            </a:pPr>
            <a:r>
              <a:rPr lang="es-AR" sz="6400" dirty="0"/>
              <a:t> </a:t>
            </a:r>
          </a:p>
          <a:p>
            <a:pPr lvl="0"/>
            <a:r>
              <a:rPr lang="en-US" sz="6400" b="1" dirty="0"/>
              <a:t>“MOST OF”</a:t>
            </a:r>
            <a:endParaRPr lang="es-AR" sz="6400" dirty="0"/>
          </a:p>
          <a:p>
            <a:pPr marL="0" indent="0">
              <a:buNone/>
            </a:pPr>
            <a:r>
              <a:rPr lang="en-US" sz="6400" b="1" dirty="0"/>
              <a:t>Most of </a:t>
            </a:r>
            <a:r>
              <a:rPr lang="en-US" sz="6400" dirty="0"/>
              <a:t>the computers do not work.</a:t>
            </a:r>
            <a:endParaRPr lang="es-AR" sz="6400" dirty="0"/>
          </a:p>
          <a:p>
            <a:pPr marL="0" indent="0">
              <a:buNone/>
            </a:pPr>
            <a:r>
              <a:rPr lang="es-AR" sz="6400" dirty="0"/>
              <a:t>(</a:t>
            </a:r>
            <a:r>
              <a:rPr lang="es-AR" sz="6400" b="1" i="1" dirty="0"/>
              <a:t>La mayoría</a:t>
            </a:r>
            <a:r>
              <a:rPr lang="es-AR" sz="6400" i="1" dirty="0"/>
              <a:t> </a:t>
            </a:r>
            <a:r>
              <a:rPr lang="es-AR" sz="6400" dirty="0"/>
              <a:t>de las computadoras no funciona</a:t>
            </a:r>
            <a:r>
              <a:rPr lang="es-AR" sz="6400" dirty="0" smtClean="0"/>
              <a:t>)</a:t>
            </a:r>
            <a:endParaRPr lang="es-AR" sz="6400" dirty="0"/>
          </a:p>
        </p:txBody>
      </p:sp>
    </p:spTree>
    <p:extLst>
      <p:ext uri="{BB962C8B-B14F-4D97-AF65-F5344CB8AC3E}">
        <p14:creationId xmlns:p14="http://schemas.microsoft.com/office/powerpoint/2010/main" val="369774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386366"/>
            <a:ext cx="8596668" cy="703132"/>
          </a:xfrm>
        </p:spPr>
        <p:txBody>
          <a:bodyPr>
            <a:normAutofit/>
          </a:bodyPr>
          <a:lstStyle/>
          <a:p>
            <a:pPr algn="ctr"/>
            <a:r>
              <a:rPr lang="es-AR" b="1" dirty="0" smtClean="0"/>
              <a:t>PRÁCTICA</a:t>
            </a:r>
            <a:endParaRPr lang="es-AR" b="1" dirty="0"/>
          </a:p>
        </p:txBody>
      </p:sp>
      <p:sp>
        <p:nvSpPr>
          <p:cNvPr id="3" name="Marcador de contenido 2"/>
          <p:cNvSpPr>
            <a:spLocks noGrp="1"/>
          </p:cNvSpPr>
          <p:nvPr>
            <p:ph idx="1"/>
          </p:nvPr>
        </p:nvSpPr>
        <p:spPr>
          <a:xfrm>
            <a:off x="677333" y="1439695"/>
            <a:ext cx="9186513" cy="5000016"/>
          </a:xfrm>
        </p:spPr>
        <p:txBody>
          <a:bodyPr>
            <a:normAutofit/>
          </a:bodyPr>
          <a:lstStyle/>
          <a:p>
            <a:pPr marL="0" indent="0">
              <a:buNone/>
            </a:pPr>
            <a:r>
              <a:rPr lang="en-US" b="1" dirty="0"/>
              <a:t>The Smallest Computer in the World</a:t>
            </a:r>
            <a:endParaRPr lang="es-AR" dirty="0"/>
          </a:p>
          <a:p>
            <a:pPr marL="0" lvl="0" indent="0" algn="just">
              <a:buNone/>
            </a:pPr>
            <a:r>
              <a:rPr lang="en-US" sz="2200" dirty="0"/>
              <a:t>Long before there were iPod Nanos and laptops, in fact, long before </a:t>
            </a:r>
            <a:r>
              <a:rPr lang="en-US" sz="2200" dirty="0" err="1"/>
              <a:t>before</a:t>
            </a:r>
            <a:r>
              <a:rPr lang="en-US" sz="2200" dirty="0"/>
              <a:t> Bill Gates was even born, a British mathematician proved that it was possible </a:t>
            </a:r>
            <a:r>
              <a:rPr lang="en-US" sz="2200" b="1" dirty="0"/>
              <a:t>to build </a:t>
            </a:r>
            <a:r>
              <a:rPr lang="en-US" sz="2200" dirty="0"/>
              <a:t>computing machines that could be programmed </a:t>
            </a:r>
            <a:r>
              <a:rPr lang="en-US" sz="2200" b="1" dirty="0"/>
              <a:t>to carry out </a:t>
            </a:r>
            <a:r>
              <a:rPr lang="en-US" sz="2200" dirty="0"/>
              <a:t>any calculation that could ever arise. The mathematician was Alan Turing, and the theoretical device he invented in the 1930s is nowadays called a Turing machine. (There is not just one Turing machine; rather they are an entire class of hypothetical computing devices. </a:t>
            </a:r>
            <a:r>
              <a:rPr lang="en-US" sz="2200" dirty="0" smtClean="0"/>
              <a:t>The </a:t>
            </a:r>
            <a:r>
              <a:rPr lang="en-US" sz="2200" dirty="0"/>
              <a:t>second world war gave Turing an opportunity </a:t>
            </a:r>
            <a:r>
              <a:rPr lang="en-US" sz="2200" b="1" dirty="0"/>
              <a:t>to put </a:t>
            </a:r>
            <a:r>
              <a:rPr lang="en-US" sz="2200" dirty="0"/>
              <a:t>his theory into practice, and he spent the war years at the British secret code breaking facility in Bletchley Park, building the real computer that was used </a:t>
            </a:r>
            <a:r>
              <a:rPr lang="en-US" sz="2200" b="1" dirty="0"/>
              <a:t>to break </a:t>
            </a:r>
            <a:r>
              <a:rPr lang="en-US" sz="2200" dirty="0"/>
              <a:t>the German Enigma code, a major turning point in the war</a:t>
            </a:r>
            <a:r>
              <a:rPr lang="en-US" sz="2200" dirty="0" smtClean="0"/>
              <a:t>.</a:t>
            </a:r>
            <a:endParaRPr lang="es-AR" sz="2200" dirty="0"/>
          </a:p>
        </p:txBody>
      </p:sp>
    </p:spTree>
    <p:extLst>
      <p:ext uri="{BB962C8B-B14F-4D97-AF65-F5344CB8AC3E}">
        <p14:creationId xmlns:p14="http://schemas.microsoft.com/office/powerpoint/2010/main" val="8174260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654996"/>
          </a:xfrm>
        </p:spPr>
        <p:txBody>
          <a:bodyPr/>
          <a:lstStyle/>
          <a:p>
            <a:endParaRPr lang="es-AR" dirty="0"/>
          </a:p>
        </p:txBody>
      </p:sp>
      <p:sp>
        <p:nvSpPr>
          <p:cNvPr id="3" name="Marcador de contenido 2"/>
          <p:cNvSpPr>
            <a:spLocks noGrp="1"/>
          </p:cNvSpPr>
          <p:nvPr>
            <p:ph idx="1"/>
          </p:nvPr>
        </p:nvSpPr>
        <p:spPr>
          <a:xfrm>
            <a:off x="677333" y="1478605"/>
            <a:ext cx="9011415" cy="4902740"/>
          </a:xfrm>
        </p:spPr>
        <p:txBody>
          <a:bodyPr/>
          <a:lstStyle/>
          <a:p>
            <a:pPr marL="0" indent="0" algn="just">
              <a:buNone/>
            </a:pPr>
            <a:r>
              <a:rPr lang="en-US" sz="2200" dirty="0"/>
              <a:t>The computer built at Bletchley Park, like all computers since, is </a:t>
            </a:r>
            <a:r>
              <a:rPr lang="en-US" sz="2200" u="sng" dirty="0"/>
              <a:t>much more complicated</a:t>
            </a:r>
            <a:r>
              <a:rPr lang="en-US" sz="2200" dirty="0"/>
              <a:t> than Turing's theoretical machine. In principle you could build a physical Turing machine, and in fact several people have done so, but they are not useful; it could take tens or hundreds of years </a:t>
            </a:r>
            <a:r>
              <a:rPr lang="en-US" sz="2200" b="1" dirty="0"/>
              <a:t>to program </a:t>
            </a:r>
            <a:r>
              <a:rPr lang="en-US" sz="2200" dirty="0"/>
              <a:t>them </a:t>
            </a:r>
            <a:r>
              <a:rPr lang="en-US" sz="2200" b="1" dirty="0"/>
              <a:t>to carry o</a:t>
            </a:r>
            <a:r>
              <a:rPr lang="en-US" sz="2200" dirty="0"/>
              <a:t>ut useful calculations, and for some problems even </a:t>
            </a:r>
            <a:r>
              <a:rPr lang="en-US" sz="2200" u="sng" dirty="0"/>
              <a:t>longer</a:t>
            </a:r>
            <a:r>
              <a:rPr lang="en-US" sz="2200" dirty="0"/>
              <a:t> </a:t>
            </a:r>
            <a:r>
              <a:rPr lang="en-US" sz="2200" b="1" dirty="0"/>
              <a:t>to find </a:t>
            </a:r>
            <a:r>
              <a:rPr lang="en-US" sz="2200" dirty="0"/>
              <a:t>the answer. They may be simple, but they are not practical. Their importance is that they help us understand what computation is and how it works. (For instance, the security of your credit card number when you order something online depends crucially on mathematics involving Turing machines.) </a:t>
            </a:r>
            <a:endParaRPr lang="en-US" sz="2200" dirty="0" smtClean="0"/>
          </a:p>
          <a:p>
            <a:pPr marL="0" indent="0" algn="just">
              <a:buNone/>
            </a:pPr>
            <a:r>
              <a:rPr lang="en-US" sz="2200" dirty="0"/>
              <a:t>More Practice: </a:t>
            </a:r>
            <a:r>
              <a:rPr lang="en-US" sz="2200" dirty="0">
                <a:hlinkClick r:id="rId2"/>
              </a:rPr>
              <a:t>https://</a:t>
            </a:r>
            <a:r>
              <a:rPr lang="en-US" sz="2200" dirty="0" smtClean="0">
                <a:hlinkClick r:id="rId2"/>
              </a:rPr>
              <a:t>www.voanews.com/a/mobile-wireless-devices-saves-lives-money-123541154/158283.html</a:t>
            </a:r>
            <a:endParaRPr lang="en-US" sz="2200" dirty="0" smtClean="0"/>
          </a:p>
          <a:p>
            <a:pPr marL="0" indent="0" algn="just">
              <a:buNone/>
            </a:pPr>
            <a:endParaRPr lang="es-AR" sz="2200" dirty="0"/>
          </a:p>
          <a:p>
            <a:endParaRPr lang="es-AR" dirty="0"/>
          </a:p>
        </p:txBody>
      </p:sp>
    </p:spTree>
    <p:extLst>
      <p:ext uri="{BB962C8B-B14F-4D97-AF65-F5344CB8AC3E}">
        <p14:creationId xmlns:p14="http://schemas.microsoft.com/office/powerpoint/2010/main" val="19303953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3" y="609600"/>
            <a:ext cx="9419977" cy="1320800"/>
          </a:xfrm>
        </p:spPr>
        <p:txBody>
          <a:bodyPr/>
          <a:lstStyle/>
          <a:p>
            <a:pPr algn="ctr"/>
            <a:endParaRPr lang="es-AR" dirty="0"/>
          </a:p>
        </p:txBody>
      </p:sp>
      <p:sp>
        <p:nvSpPr>
          <p:cNvPr id="3" name="Marcador de contenido 2"/>
          <p:cNvSpPr>
            <a:spLocks noGrp="1"/>
          </p:cNvSpPr>
          <p:nvPr>
            <p:ph idx="1"/>
          </p:nvPr>
        </p:nvSpPr>
        <p:spPr>
          <a:xfrm>
            <a:off x="677333" y="2160589"/>
            <a:ext cx="9692351" cy="3880773"/>
          </a:xfrm>
        </p:spPr>
        <p:txBody>
          <a:bodyPr>
            <a:normAutofit/>
          </a:bodyPr>
          <a:lstStyle/>
          <a:p>
            <a:pPr marL="0" indent="0" algn="ctr">
              <a:buNone/>
            </a:pPr>
            <a:r>
              <a:rPr lang="es-AR" sz="6000" dirty="0" smtClean="0"/>
              <a:t>THANKS!</a:t>
            </a:r>
          </a:p>
          <a:p>
            <a:pPr marL="0" indent="0" algn="ctr">
              <a:buNone/>
            </a:pPr>
            <a:endParaRPr lang="es-AR" sz="6000" dirty="0"/>
          </a:p>
          <a:p>
            <a:pPr marL="0" indent="0" algn="ctr">
              <a:buNone/>
            </a:pPr>
            <a:endParaRPr lang="es-AR" sz="6000" dirty="0"/>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6870" y="3988339"/>
            <a:ext cx="1850562" cy="2283211"/>
          </a:xfrm>
          <a:prstGeom prst="rect">
            <a:avLst/>
          </a:prstGeom>
          <a:effectLst>
            <a:glow rad="63500">
              <a:schemeClr val="accent2">
                <a:satMod val="175000"/>
                <a:alpha val="40000"/>
              </a:schemeClr>
            </a:glow>
          </a:effectLst>
        </p:spPr>
      </p:pic>
    </p:spTree>
    <p:extLst>
      <p:ext uri="{BB962C8B-B14F-4D97-AF65-F5344CB8AC3E}">
        <p14:creationId xmlns:p14="http://schemas.microsoft.com/office/powerpoint/2010/main" val="112699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1)">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26E45A29B641E459FF137569A0F5FF9" ma:contentTypeVersion="4" ma:contentTypeDescription="Crear nuevo documento." ma:contentTypeScope="" ma:versionID="d2cc56b9c178553dc8dae7cbf609185d">
  <xsd:schema xmlns:xsd="http://www.w3.org/2001/XMLSchema" xmlns:xs="http://www.w3.org/2001/XMLSchema" xmlns:p="http://schemas.microsoft.com/office/2006/metadata/properties" xmlns:ns2="22dc5ea4-9cdd-4970-8bc4-2ea26828404c" targetNamespace="http://schemas.microsoft.com/office/2006/metadata/properties" ma:root="true" ma:fieldsID="d0fdf1282d8307d7848beffaf71b994c" ns2:_="">
    <xsd:import namespace="22dc5ea4-9cdd-4970-8bc4-2ea2682840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dc5ea4-9cdd-4970-8bc4-2ea2682840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F749CF-3F3E-48AE-8D2D-A1E72876EE33}"/>
</file>

<file path=customXml/itemProps2.xml><?xml version="1.0" encoding="utf-8"?>
<ds:datastoreItem xmlns:ds="http://schemas.openxmlformats.org/officeDocument/2006/customXml" ds:itemID="{57004A3F-F3B5-46D1-AEA1-4EF19BEF9701}"/>
</file>

<file path=customXml/itemProps3.xml><?xml version="1.0" encoding="utf-8"?>
<ds:datastoreItem xmlns:ds="http://schemas.openxmlformats.org/officeDocument/2006/customXml" ds:itemID="{3FE4F47C-7AC5-43D6-AB13-D33FA53A0D9B}"/>
</file>

<file path=docProps/app.xml><?xml version="1.0" encoding="utf-8"?>
<Properties xmlns="http://schemas.openxmlformats.org/officeDocument/2006/extended-properties" xmlns:vt="http://schemas.openxmlformats.org/officeDocument/2006/docPropsVTypes">
  <Template>Facet</Template>
  <TotalTime>5344</TotalTime>
  <Words>801</Words>
  <Application>Microsoft Office PowerPoint</Application>
  <PresentationFormat>Panorámica</PresentationFormat>
  <Paragraphs>122</Paragraphs>
  <Slides>11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Arial</vt:lpstr>
      <vt:lpstr>Calibri</vt:lpstr>
      <vt:lpstr>Times New Roman</vt:lpstr>
      <vt:lpstr>Trebuchet MS</vt:lpstr>
      <vt:lpstr>Wingdings</vt:lpstr>
      <vt:lpstr>Wingdings 3</vt:lpstr>
      <vt:lpstr>Faceta</vt:lpstr>
      <vt:lpstr>INGLÉS I</vt:lpstr>
      <vt:lpstr>TEXTO TÉCNICO</vt:lpstr>
      <vt:lpstr>EL INFINITIVO</vt:lpstr>
      <vt:lpstr>EL INFINITIVO</vt:lpstr>
      <vt:lpstr>EL INFINITIVO</vt:lpstr>
      <vt:lpstr>ADJETIVOS</vt:lpstr>
      <vt:lpstr>COMPARACIÓN DE ADJETIVOS</vt:lpstr>
      <vt:lpstr>OTRAS CONSTRUCCIONES</vt:lpstr>
      <vt:lpstr>PRÁCTICA</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INGLÉS I</dc:title>
  <dc:creator>Usuario</dc:creator>
  <cp:lastModifiedBy>Usuario</cp:lastModifiedBy>
  <cp:revision>56</cp:revision>
  <dcterms:created xsi:type="dcterms:W3CDTF">2020-03-27T22:25:37Z</dcterms:created>
  <dcterms:modified xsi:type="dcterms:W3CDTF">2022-06-08T16:56:23Z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0x010100C26E45A29B641E459FF137569A0F5FF9</vt:lpwstr>
  </property>
</Properties>
</file>
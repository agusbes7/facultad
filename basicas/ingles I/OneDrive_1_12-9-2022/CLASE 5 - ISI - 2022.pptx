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70" r:id="rId4"/>
    <p:sldId id="274" r:id="rId5"/>
    <p:sldId id="271" r:id="rId6"/>
    <p:sldId id="275" r:id="rId7"/>
    <p:sldId id="273" r:id="rId8"/>
    <p:sldId id="276" r:id="rId9"/>
    <p:sldId id="277" r:id="rId10"/>
    <p:sldId id="27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6017"/>
          </a:xfrm>
        </p:spPr>
        <p:txBody>
          <a:bodyPr>
            <a:normAutofit/>
          </a:bodyPr>
          <a:lstStyle/>
          <a:p>
            <a:pPr algn="ctr"/>
            <a:r>
              <a:rPr lang="es-AR" altLang="es-AR" b="1" dirty="0"/>
              <a:t>TEXTO TÉCNICO</a:t>
            </a:r>
            <a:endParaRPr lang="es-AR" sz="31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35617"/>
            <a:ext cx="8596668" cy="4405745"/>
          </a:xfrm>
        </p:spPr>
        <p:txBody>
          <a:bodyPr/>
          <a:lstStyle/>
          <a:p>
            <a:pPr marL="0" indent="0" algn="ctr">
              <a:buFont typeface="Wingdings 3" panose="05040102010807070707" pitchFamily="18" charset="2"/>
              <a:buNone/>
            </a:pPr>
            <a:endParaRPr lang="es-AR" altLang="es-AR" b="1" dirty="0" smtClean="0"/>
          </a:p>
          <a:p>
            <a:pPr marL="0" indent="0" algn="ctr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2400" dirty="0" smtClean="0"/>
              <a:t>     </a:t>
            </a:r>
          </a:p>
          <a:p>
            <a:pPr marL="0" indent="0" algn="ctr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2400" dirty="0" smtClean="0"/>
              <a:t>   </a:t>
            </a:r>
            <a:r>
              <a:rPr lang="es-AR" sz="2800" b="1" dirty="0" smtClean="0"/>
              <a:t>CARACTERÍSTICAS</a:t>
            </a:r>
            <a:endParaRPr lang="es-AR" sz="2800" b="1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s-AR" sz="2400" dirty="0"/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AR" sz="2400" b="1" dirty="0"/>
              <a:t>Frase Nominal o sustantiva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AR" sz="2400" b="1" dirty="0"/>
              <a:t>Voz Pasiva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AR" sz="2400" b="1" dirty="0"/>
              <a:t>Formas –ING / -ED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s-AR" altLang="es-AR" dirty="0"/>
          </a:p>
          <a:p>
            <a:endParaRPr lang="es-AR" dirty="0"/>
          </a:p>
        </p:txBody>
      </p:sp>
      <p:sp>
        <p:nvSpPr>
          <p:cNvPr id="4" name="Flecha abajo 3"/>
          <p:cNvSpPr/>
          <p:nvPr/>
        </p:nvSpPr>
        <p:spPr>
          <a:xfrm>
            <a:off x="4739425" y="1635617"/>
            <a:ext cx="656822" cy="643944"/>
          </a:xfrm>
          <a:prstGeom prst="downArrow">
            <a:avLst>
              <a:gd name="adj1" fmla="val 50000"/>
              <a:gd name="adj2" fmla="val 442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333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97983"/>
          </a:xfrm>
        </p:spPr>
        <p:txBody>
          <a:bodyPr>
            <a:normAutofit fontScale="90000"/>
          </a:bodyPr>
          <a:lstStyle/>
          <a:p>
            <a:pPr algn="ctr"/>
            <a:r>
              <a:rPr lang="es-AR" altLang="es-AR" b="1" dirty="0" smtClean="0"/>
              <a:t>FORMAS </a:t>
            </a:r>
            <a:r>
              <a:rPr lang="es-AR" altLang="es-AR" b="1" dirty="0"/>
              <a:t>“-ING”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442434"/>
            <a:ext cx="8878790" cy="5254579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s-AR" sz="2000" dirty="0" smtClean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2200" b="1" dirty="0" smtClean="0"/>
              <a:t>      “-</a:t>
            </a:r>
            <a:r>
              <a:rPr lang="es-AR" sz="2200" b="1" dirty="0"/>
              <a:t>ING” no siempre se traduce </a:t>
            </a:r>
            <a:r>
              <a:rPr lang="es-AR" sz="2200" b="1" dirty="0" smtClean="0"/>
              <a:t>como </a:t>
            </a:r>
            <a:r>
              <a:rPr lang="es-AR" sz="2200" b="1" i="1" dirty="0" smtClean="0"/>
              <a:t>“-</a:t>
            </a:r>
            <a:r>
              <a:rPr lang="es-AR" sz="2200" b="1" i="1" dirty="0"/>
              <a:t>ando” /  “-</a:t>
            </a:r>
            <a:r>
              <a:rPr lang="es-AR" sz="2200" b="1" i="1" dirty="0" err="1"/>
              <a:t>endo</a:t>
            </a:r>
            <a:r>
              <a:rPr lang="es-AR" sz="2200" b="1" dirty="0"/>
              <a:t>”</a:t>
            </a:r>
            <a:r>
              <a:rPr lang="es-AR" sz="2200" dirty="0"/>
              <a:t> </a:t>
            </a:r>
            <a:r>
              <a:rPr lang="es-AR" sz="1600" dirty="0"/>
              <a:t>	        	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600" b="1" dirty="0"/>
              <a:t>		</a:t>
            </a:r>
            <a:endParaRPr lang="es-AR" sz="1600" b="1" dirty="0" smtClean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600" b="1" dirty="0" smtClean="0"/>
              <a:t>	</a:t>
            </a:r>
            <a:r>
              <a:rPr lang="es-AR" sz="1600" b="1" dirty="0"/>
              <a:t>	</a:t>
            </a:r>
            <a:r>
              <a:rPr lang="es-AR" sz="1600" b="1" dirty="0" smtClean="0"/>
              <a:t>	</a:t>
            </a:r>
            <a:r>
              <a:rPr lang="es-AR" sz="2400" b="1" dirty="0" smtClean="0"/>
              <a:t>sustantivo</a:t>
            </a:r>
            <a:endParaRPr lang="es-AR" sz="24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600" b="1" dirty="0"/>
              <a:t>		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600" b="1" dirty="0" smtClean="0"/>
              <a:t>	</a:t>
            </a:r>
            <a:r>
              <a:rPr lang="es-AR" sz="1600" b="1" dirty="0"/>
              <a:t>		</a:t>
            </a:r>
            <a:r>
              <a:rPr lang="es-AR" sz="2400" b="1" dirty="0"/>
              <a:t>infinitivo</a:t>
            </a:r>
            <a:r>
              <a:rPr lang="es-AR" sz="1600" dirty="0"/>
              <a:t> 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600" dirty="0"/>
              <a:t>			</a:t>
            </a:r>
            <a:r>
              <a:rPr lang="es-AR" sz="2400" b="1" dirty="0" smtClean="0"/>
              <a:t>adjetivo</a:t>
            </a:r>
            <a:r>
              <a:rPr lang="es-AR" sz="5400" dirty="0"/>
              <a:t> 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i="1" dirty="0"/>
              <a:t>	         				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i="1" dirty="0" smtClean="0"/>
              <a:t>	</a:t>
            </a:r>
            <a:r>
              <a:rPr lang="en-US" sz="2000" i="1" dirty="0"/>
              <a:t>	      </a:t>
            </a:r>
            <a:r>
              <a:rPr lang="en-US" sz="2400" b="1" dirty="0" smtClean="0"/>
              <a:t>que </a:t>
            </a:r>
            <a:r>
              <a:rPr lang="en-US" sz="2400" b="1" dirty="0"/>
              <a:t>+ </a:t>
            </a:r>
            <a:r>
              <a:rPr lang="en-US" sz="2400" b="1" dirty="0" err="1"/>
              <a:t>verbo</a:t>
            </a:r>
            <a:r>
              <a:rPr lang="en-US" sz="2400" b="1" dirty="0"/>
              <a:t> </a:t>
            </a:r>
            <a:r>
              <a:rPr lang="en-US" sz="2400" b="1" dirty="0" err="1"/>
              <a:t>conjugado</a:t>
            </a:r>
            <a:r>
              <a:rPr lang="en-US" sz="2000" i="1" dirty="0"/>
              <a:t>	</a:t>
            </a:r>
            <a:endParaRPr lang="es-AR" dirty="0" smtClean="0"/>
          </a:p>
        </p:txBody>
      </p:sp>
      <p:sp>
        <p:nvSpPr>
          <p:cNvPr id="5" name="Flecha abajo 4"/>
          <p:cNvSpPr/>
          <p:nvPr/>
        </p:nvSpPr>
        <p:spPr>
          <a:xfrm flipH="1">
            <a:off x="4250029" y="1442434"/>
            <a:ext cx="592428" cy="4578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Flecha derecha 5"/>
          <p:cNvSpPr/>
          <p:nvPr/>
        </p:nvSpPr>
        <p:spPr>
          <a:xfrm>
            <a:off x="1229929" y="2987901"/>
            <a:ext cx="450761" cy="399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lecha derecha 6"/>
          <p:cNvSpPr/>
          <p:nvPr/>
        </p:nvSpPr>
        <p:spPr>
          <a:xfrm>
            <a:off x="1229928" y="3812147"/>
            <a:ext cx="450761" cy="399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lecha derecha 7"/>
          <p:cNvSpPr/>
          <p:nvPr/>
        </p:nvSpPr>
        <p:spPr>
          <a:xfrm>
            <a:off x="1229927" y="4739417"/>
            <a:ext cx="450761" cy="399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lecha derecha 8"/>
          <p:cNvSpPr/>
          <p:nvPr/>
        </p:nvSpPr>
        <p:spPr>
          <a:xfrm>
            <a:off x="1223481" y="5756858"/>
            <a:ext cx="450761" cy="399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759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89397"/>
            <a:ext cx="8596668" cy="656823"/>
          </a:xfrm>
        </p:spPr>
        <p:txBody>
          <a:bodyPr>
            <a:normAutofit/>
          </a:bodyPr>
          <a:lstStyle/>
          <a:p>
            <a:pPr algn="ctr"/>
            <a:r>
              <a:rPr lang="es-AR" altLang="es-AR" sz="3200" b="1" dirty="0" smtClean="0"/>
              <a:t>FORMAS </a:t>
            </a:r>
            <a:r>
              <a:rPr lang="es-AR" altLang="es-AR" sz="3200" b="1" dirty="0"/>
              <a:t>“-ING”</a:t>
            </a:r>
            <a:endParaRPr lang="es-AR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352281"/>
            <a:ext cx="9368187" cy="5164429"/>
          </a:xfrm>
        </p:spPr>
        <p:txBody>
          <a:bodyPr>
            <a:normAutofit fontScale="77500" lnSpcReduction="20000"/>
          </a:bodyPr>
          <a:lstStyle/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3200" b="1" dirty="0" smtClean="0"/>
              <a:t>             PREPOSICIÓN </a:t>
            </a:r>
            <a:r>
              <a:rPr lang="es-AR" sz="3200" b="1" dirty="0"/>
              <a:t>+ “-ING”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s-ES_tradnl" sz="2400" dirty="0" smtClean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400" dirty="0" smtClean="0"/>
              <a:t>Se </a:t>
            </a:r>
            <a:r>
              <a:rPr lang="es-ES_tradnl" sz="2400" dirty="0"/>
              <a:t>traduce como:      </a:t>
            </a:r>
            <a:r>
              <a:rPr lang="es-ES_tradnl" sz="2900" b="1" dirty="0"/>
              <a:t>PREP + INFINITIVO     o     PREP + FRASE NOMINAL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s-AR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000" dirty="0"/>
              <a:t> </a:t>
            </a:r>
            <a:r>
              <a:rPr lang="en-US" sz="2000" dirty="0"/>
              <a:t> </a:t>
            </a:r>
            <a:r>
              <a:rPr lang="en-US" sz="2000" dirty="0" smtClean="0"/>
              <a:t>-  </a:t>
            </a:r>
            <a:r>
              <a:rPr lang="en-US" sz="2300" dirty="0"/>
              <a:t>Technology is used </a:t>
            </a:r>
            <a:r>
              <a:rPr lang="en-US" sz="2300" b="1" i="1" dirty="0"/>
              <a:t>FOR improving</a:t>
            </a:r>
            <a:r>
              <a:rPr lang="en-US" sz="2300" dirty="0"/>
              <a:t> the learning process. </a:t>
            </a:r>
            <a:endParaRPr lang="es-AR" sz="23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300" dirty="0"/>
              <a:t>            </a:t>
            </a:r>
            <a:r>
              <a:rPr lang="es-AR" sz="2300" dirty="0"/>
              <a:t>(</a:t>
            </a:r>
            <a:r>
              <a:rPr lang="es-ES_tradnl" sz="2300" dirty="0"/>
              <a:t>“</a:t>
            </a:r>
            <a:r>
              <a:rPr lang="es-ES_tradnl" sz="2300" b="1" i="1" dirty="0"/>
              <a:t>para</a:t>
            </a:r>
            <a:r>
              <a:rPr lang="es-ES_tradnl" sz="2300" i="1" dirty="0"/>
              <a:t> mejor</a:t>
            </a:r>
            <a:r>
              <a:rPr lang="es-ES_tradnl" sz="2300" b="1" i="1" dirty="0"/>
              <a:t>ar</a:t>
            </a:r>
            <a:r>
              <a:rPr lang="es-ES_tradnl" sz="2300" dirty="0"/>
              <a:t>” o “</a:t>
            </a:r>
            <a:r>
              <a:rPr lang="es-ES_tradnl" sz="2300" b="1" i="1" dirty="0"/>
              <a:t>para</a:t>
            </a:r>
            <a:r>
              <a:rPr lang="es-ES_tradnl" sz="2300" i="1" dirty="0"/>
              <a:t> la </a:t>
            </a:r>
            <a:r>
              <a:rPr lang="es-ES_tradnl" sz="2300" b="1" i="1" dirty="0"/>
              <a:t>mejora</a:t>
            </a:r>
            <a:r>
              <a:rPr lang="es-ES_tradnl" sz="2300" i="1" dirty="0"/>
              <a:t> / el </a:t>
            </a:r>
            <a:r>
              <a:rPr lang="es-ES_tradnl" sz="2300" b="1" i="1" dirty="0"/>
              <a:t>mejoramiento</a:t>
            </a:r>
            <a:r>
              <a:rPr lang="es-ES_tradnl" sz="2300" dirty="0"/>
              <a:t>”)</a:t>
            </a:r>
            <a:endParaRPr lang="es-AR" sz="23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2000" dirty="0"/>
              <a:t> 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000" b="1" dirty="0"/>
              <a:t>NOTA</a:t>
            </a:r>
            <a:r>
              <a:rPr lang="es-ES_tradnl" sz="2000" dirty="0"/>
              <a:t>: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ES_tradnl" sz="2300" dirty="0"/>
              <a:t>En el caso particular de “</a:t>
            </a:r>
            <a:r>
              <a:rPr lang="es-ES_tradnl" sz="2300" b="1" i="1" dirty="0"/>
              <a:t>IN</a:t>
            </a:r>
            <a:r>
              <a:rPr lang="es-ES_tradnl" sz="2300" dirty="0"/>
              <a:t>” y “</a:t>
            </a:r>
            <a:r>
              <a:rPr lang="es-ES_tradnl" sz="2300" b="1" i="1" dirty="0"/>
              <a:t>ON</a:t>
            </a:r>
            <a:r>
              <a:rPr lang="es-ES_tradnl" sz="2300" dirty="0"/>
              <a:t>”  la traducción puede ser </a:t>
            </a:r>
            <a:r>
              <a:rPr lang="es-ES_tradnl" sz="2300" b="1" dirty="0"/>
              <a:t>“al” + infinitivo</a:t>
            </a:r>
            <a:r>
              <a:rPr lang="es-ES_tradnl" sz="2300" dirty="0"/>
              <a:t>.</a:t>
            </a:r>
            <a:endParaRPr lang="es-AR" sz="23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300" dirty="0"/>
              <a:t> </a:t>
            </a:r>
            <a:r>
              <a:rPr lang="en-US" sz="2300" dirty="0" smtClean="0"/>
              <a:t>- </a:t>
            </a:r>
            <a:r>
              <a:rPr lang="en-US" sz="2300" dirty="0"/>
              <a:t>You must be careful </a:t>
            </a:r>
            <a:r>
              <a:rPr lang="en-US" sz="2300" b="1" i="1" dirty="0"/>
              <a:t>IN analyzing</a:t>
            </a:r>
            <a:r>
              <a:rPr lang="en-US" sz="2300" i="1" dirty="0"/>
              <a:t> </a:t>
            </a:r>
            <a:r>
              <a:rPr lang="en-US" sz="2300" dirty="0"/>
              <a:t>the text content. (“</a:t>
            </a:r>
            <a:r>
              <a:rPr lang="en-US" sz="2300" b="1" i="1" dirty="0"/>
              <a:t>al </a:t>
            </a:r>
            <a:r>
              <a:rPr lang="en-US" sz="2300" i="1" dirty="0" err="1"/>
              <a:t>analizar</a:t>
            </a:r>
            <a:r>
              <a:rPr lang="en-US" sz="2300" dirty="0" smtClean="0"/>
              <a:t>”/ </a:t>
            </a:r>
            <a:r>
              <a:rPr lang="en-US" sz="2300" i="1" dirty="0" smtClean="0"/>
              <a:t>con el </a:t>
            </a:r>
            <a:r>
              <a:rPr lang="en-US" sz="2300" i="1" dirty="0" err="1" smtClean="0"/>
              <a:t>análisis</a:t>
            </a:r>
            <a:r>
              <a:rPr lang="en-US" sz="2300" i="1" dirty="0" smtClean="0"/>
              <a:t> de</a:t>
            </a:r>
            <a:r>
              <a:rPr lang="en-US" sz="2300" dirty="0" smtClean="0"/>
              <a:t>)</a:t>
            </a:r>
            <a:endParaRPr lang="es-AR" sz="23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300" dirty="0"/>
              <a:t>- The problem increases </a:t>
            </a:r>
            <a:r>
              <a:rPr lang="en-US" sz="2300" b="1" i="1" dirty="0"/>
              <a:t>ON adding</a:t>
            </a:r>
            <a:r>
              <a:rPr lang="en-US" sz="2300" i="1" dirty="0"/>
              <a:t> </a:t>
            </a:r>
            <a:r>
              <a:rPr lang="en-US" sz="2300" dirty="0"/>
              <a:t>more information to the topic. </a:t>
            </a:r>
            <a:r>
              <a:rPr lang="es-AR" sz="2300" dirty="0"/>
              <a:t>(</a:t>
            </a:r>
            <a:r>
              <a:rPr lang="es-ES_tradnl" sz="2300" dirty="0"/>
              <a:t>“</a:t>
            </a:r>
            <a:r>
              <a:rPr lang="es-ES_tradnl" sz="2300" b="1" i="1" dirty="0"/>
              <a:t>al</a:t>
            </a:r>
            <a:r>
              <a:rPr lang="es-ES_tradnl" sz="2300" i="1" dirty="0"/>
              <a:t> agregar</a:t>
            </a:r>
            <a:r>
              <a:rPr lang="es-ES_tradnl" sz="2300" dirty="0"/>
              <a:t>”)</a:t>
            </a:r>
            <a:endParaRPr lang="es-AR" sz="23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2300" dirty="0"/>
              <a:t> 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ES_tradnl" sz="2300" dirty="0" smtClean="0"/>
              <a:t>EXCEPCIÓN: En </a:t>
            </a:r>
            <a:r>
              <a:rPr lang="es-ES_tradnl" sz="2300" dirty="0"/>
              <a:t>el caso de “</a:t>
            </a:r>
            <a:r>
              <a:rPr lang="es-ES_tradnl" sz="2300" b="1" dirty="0"/>
              <a:t>BY” + -</a:t>
            </a:r>
            <a:r>
              <a:rPr lang="es-ES_tradnl" sz="2300" b="1" dirty="0" err="1"/>
              <a:t>ing</a:t>
            </a:r>
            <a:r>
              <a:rPr lang="es-ES_tradnl" sz="2300" dirty="0"/>
              <a:t>, se traduce con terminación </a:t>
            </a:r>
            <a:r>
              <a:rPr lang="es-ES_tradnl" sz="2300" b="1" dirty="0"/>
              <a:t>“-ando/</a:t>
            </a:r>
            <a:r>
              <a:rPr lang="es-ES_tradnl" sz="2300" b="1" dirty="0" err="1"/>
              <a:t>endo</a:t>
            </a:r>
            <a:r>
              <a:rPr lang="es-ES_tradnl" sz="2300" dirty="0"/>
              <a:t>”. </a:t>
            </a:r>
            <a:endParaRPr lang="es-AR" sz="23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300" dirty="0" smtClean="0"/>
              <a:t>- </a:t>
            </a:r>
            <a:r>
              <a:rPr lang="en-US" sz="2300" dirty="0"/>
              <a:t>You motivate students </a:t>
            </a:r>
            <a:r>
              <a:rPr lang="en-US" sz="2300" b="1" i="1" dirty="0"/>
              <a:t>by using </a:t>
            </a:r>
            <a:r>
              <a:rPr lang="en-US" sz="2300" dirty="0"/>
              <a:t>technology in the classroom. (“</a:t>
            </a:r>
            <a:r>
              <a:rPr lang="en-US" sz="2300" b="1" i="1" dirty="0" err="1"/>
              <a:t>usando</a:t>
            </a:r>
            <a:r>
              <a:rPr lang="en-US" sz="2300" dirty="0"/>
              <a:t>”)</a:t>
            </a:r>
            <a:endParaRPr lang="es-AR" sz="2300" dirty="0"/>
          </a:p>
          <a:p>
            <a:endParaRPr lang="es-AR" dirty="0"/>
          </a:p>
        </p:txBody>
      </p:sp>
      <p:sp>
        <p:nvSpPr>
          <p:cNvPr id="4" name="Flecha derecha 3"/>
          <p:cNvSpPr/>
          <p:nvPr/>
        </p:nvSpPr>
        <p:spPr>
          <a:xfrm>
            <a:off x="927276" y="1352281"/>
            <a:ext cx="450761" cy="399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196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6772"/>
          </a:xfrm>
        </p:spPr>
        <p:txBody>
          <a:bodyPr>
            <a:normAutofit fontScale="90000"/>
          </a:bodyPr>
          <a:lstStyle/>
          <a:p>
            <a:pPr algn="ctr"/>
            <a:r>
              <a:rPr lang="es-AR" altLang="es-AR" b="1" dirty="0"/>
              <a:t>FORMAS “-ING”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8034" y="1596982"/>
            <a:ext cx="9537998" cy="4726546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2400" b="1" dirty="0" smtClean="0"/>
              <a:t>          </a:t>
            </a:r>
            <a:r>
              <a:rPr lang="es-AR" sz="2000" b="1" dirty="0" smtClean="0"/>
              <a:t>SUSTANTIVO</a:t>
            </a:r>
            <a:endParaRPr lang="es-ES_tradnl" sz="2000" b="1" dirty="0"/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ES_tradnl" sz="2000" dirty="0"/>
              <a:t>La forma “-</a:t>
            </a:r>
            <a:r>
              <a:rPr lang="es-ES_tradnl" sz="2000" dirty="0" err="1"/>
              <a:t>ing</a:t>
            </a:r>
            <a:r>
              <a:rPr lang="es-ES_tradnl" sz="2000" dirty="0"/>
              <a:t>” puede ser el SUJETO de la oración. Se traduce como </a:t>
            </a:r>
            <a:r>
              <a:rPr lang="es-ES_tradnl" sz="2000" b="1" i="1" dirty="0"/>
              <a:t>Sustantivo</a:t>
            </a:r>
            <a:r>
              <a:rPr lang="es-ES_tradnl" sz="2000" dirty="0"/>
              <a:t> o </a:t>
            </a:r>
            <a:r>
              <a:rPr lang="es-ES_tradnl" sz="2000" b="1" i="1" dirty="0"/>
              <a:t>Infinitivo</a:t>
            </a:r>
            <a:r>
              <a:rPr lang="es-ES_tradnl" sz="2000" dirty="0"/>
              <a:t>. 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b="1" dirty="0"/>
              <a:t>	Reading</a:t>
            </a:r>
            <a:r>
              <a:rPr lang="en-US" sz="2000" dirty="0"/>
              <a:t> is always a pleasure for him.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/>
              <a:t> 	</a:t>
            </a:r>
            <a:r>
              <a:rPr lang="es-AR" sz="2000" dirty="0"/>
              <a:t>(</a:t>
            </a:r>
            <a:r>
              <a:rPr lang="es-ES_tradnl" sz="2000" dirty="0"/>
              <a:t>“</a:t>
            </a:r>
            <a:r>
              <a:rPr lang="es-ES_tradnl" sz="2000" i="1" dirty="0"/>
              <a:t>La lectura</a:t>
            </a:r>
            <a:r>
              <a:rPr lang="es-ES_tradnl" sz="2000" dirty="0"/>
              <a:t>” o “</a:t>
            </a:r>
            <a:r>
              <a:rPr lang="es-ES_tradnl" sz="2000" i="1" dirty="0"/>
              <a:t>El leer</a:t>
            </a:r>
            <a:r>
              <a:rPr lang="es-ES_tradnl" sz="2000" dirty="0"/>
              <a:t>” es…)	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000" dirty="0"/>
              <a:t> </a:t>
            </a:r>
            <a:endParaRPr lang="es-AR" sz="2000" dirty="0"/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ES_tradnl" sz="2000" dirty="0"/>
              <a:t>Puede encontrarse en una FRASE NOMINAL y ser el NÚCLEO de la misma (título):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b="1" dirty="0"/>
              <a:t>	Sending</a:t>
            </a:r>
            <a:r>
              <a:rPr lang="en-US" sz="2000" dirty="0"/>
              <a:t> files over the Internet 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/>
              <a:t>	(El </a:t>
            </a:r>
            <a:r>
              <a:rPr lang="en-US" sz="2000" i="1" dirty="0" err="1"/>
              <a:t>envío</a:t>
            </a:r>
            <a:r>
              <a:rPr lang="en-US" sz="2000" dirty="0"/>
              <a:t> de </a:t>
            </a:r>
            <a:r>
              <a:rPr lang="en-US" sz="2000" dirty="0" err="1"/>
              <a:t>archivos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Internet)</a:t>
            </a:r>
            <a:endParaRPr lang="es-AR" sz="2000" dirty="0"/>
          </a:p>
        </p:txBody>
      </p:sp>
      <p:sp>
        <p:nvSpPr>
          <p:cNvPr id="4" name="Flecha derecha 3"/>
          <p:cNvSpPr/>
          <p:nvPr/>
        </p:nvSpPr>
        <p:spPr>
          <a:xfrm>
            <a:off x="677334" y="1596982"/>
            <a:ext cx="450761" cy="399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3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6924"/>
          </a:xfrm>
        </p:spPr>
        <p:txBody>
          <a:bodyPr/>
          <a:lstStyle/>
          <a:p>
            <a:pPr algn="ctr"/>
            <a:r>
              <a:rPr lang="es-AR" altLang="es-AR" b="1" dirty="0"/>
              <a:t>FORMAS “-ING”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7031" y="1429556"/>
            <a:ext cx="9122275" cy="5087154"/>
          </a:xfrm>
        </p:spPr>
        <p:txBody>
          <a:bodyPr>
            <a:normAutofit/>
          </a:bodyPr>
          <a:lstStyle/>
          <a:p>
            <a:endParaRPr lang="es-AR" sz="2000" dirty="0" smtClean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b="1" dirty="0"/>
              <a:t> </a:t>
            </a:r>
            <a:r>
              <a:rPr lang="en-US" sz="2000" b="1" dirty="0" smtClean="0"/>
              <a:t>        </a:t>
            </a:r>
            <a:r>
              <a:rPr lang="en-US" sz="2400" b="1" dirty="0" smtClean="0"/>
              <a:t>-</a:t>
            </a:r>
            <a:r>
              <a:rPr lang="en-US" sz="2400" b="1" dirty="0"/>
              <a:t>ING + SUSTANTIVO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AR" sz="2000" dirty="0"/>
              <a:t>Se traduce como </a:t>
            </a:r>
            <a:r>
              <a:rPr lang="es-AR" sz="2000" b="1" dirty="0"/>
              <a:t>ADJETIVO</a:t>
            </a:r>
            <a:endParaRPr lang="es-AR" sz="2000" dirty="0"/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AR" sz="2000" dirty="0"/>
              <a:t>Se traduce como </a:t>
            </a:r>
            <a:r>
              <a:rPr lang="es-AR" sz="2000" b="1" dirty="0"/>
              <a:t>DE + SUSTANTIVO.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n-US" sz="2000" u="sng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2000" u="sng" dirty="0" smtClean="0"/>
              <a:t>- </a:t>
            </a:r>
            <a:r>
              <a:rPr lang="en-US" sz="2000" dirty="0" smtClean="0"/>
              <a:t>The </a:t>
            </a:r>
            <a:r>
              <a:rPr lang="en-US" sz="2000" b="1" dirty="0"/>
              <a:t>increasing</a:t>
            </a:r>
            <a:r>
              <a:rPr lang="en-US" sz="2000" dirty="0"/>
              <a:t> use of technology in the classroom contributes to the learning process. 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000" u="sng" dirty="0"/>
              <a:t>(</a:t>
            </a:r>
            <a:r>
              <a:rPr lang="es-ES_tradnl" sz="2000" dirty="0"/>
              <a:t> “El uso </a:t>
            </a:r>
            <a:r>
              <a:rPr lang="es-ES_tradnl" sz="2000" i="1" dirty="0"/>
              <a:t>creciente</a:t>
            </a:r>
            <a:r>
              <a:rPr lang="es-ES_tradnl" sz="2000" dirty="0"/>
              <a:t>…”)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000" dirty="0"/>
              <a:t> 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2000" dirty="0" smtClean="0"/>
              <a:t>- Desktop </a:t>
            </a:r>
            <a:r>
              <a:rPr lang="es-ES_tradnl" sz="2000" b="1" dirty="0" err="1"/>
              <a:t>publishing</a:t>
            </a:r>
            <a:r>
              <a:rPr lang="es-ES_tradnl" sz="2000" dirty="0"/>
              <a:t> </a:t>
            </a:r>
            <a:r>
              <a:rPr lang="es-ES_tradnl" sz="2000" dirty="0" err="1"/>
              <a:t>programs</a:t>
            </a:r>
            <a:endParaRPr lang="es-AR" sz="2000" dirty="0"/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s-ES_tradnl" sz="2000" dirty="0"/>
              <a:t>(Programas </a:t>
            </a:r>
            <a:r>
              <a:rPr lang="es-ES_tradnl" sz="2000" i="1" dirty="0"/>
              <a:t>de publicidad</a:t>
            </a:r>
            <a:r>
              <a:rPr lang="es-ES_tradnl" sz="2000" dirty="0"/>
              <a:t> de escritorio)</a:t>
            </a:r>
            <a:endParaRPr lang="es-AR" dirty="0"/>
          </a:p>
        </p:txBody>
      </p:sp>
      <p:sp>
        <p:nvSpPr>
          <p:cNvPr id="4" name="Flecha derecha 3"/>
          <p:cNvSpPr/>
          <p:nvPr/>
        </p:nvSpPr>
        <p:spPr>
          <a:xfrm>
            <a:off x="677334" y="1815921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279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73488"/>
            <a:ext cx="8596668" cy="785611"/>
          </a:xfrm>
        </p:spPr>
        <p:txBody>
          <a:bodyPr>
            <a:normAutofit/>
          </a:bodyPr>
          <a:lstStyle/>
          <a:p>
            <a:pPr algn="ctr"/>
            <a:r>
              <a:rPr lang="es-AR" altLang="es-AR" b="1" dirty="0"/>
              <a:t>FORMAS “-ING”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159100"/>
            <a:ext cx="8596668" cy="53318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/>
              <a:t> </a:t>
            </a:r>
            <a:r>
              <a:rPr lang="es-AR" dirty="0" smtClean="0"/>
              <a:t>       </a:t>
            </a:r>
            <a:r>
              <a:rPr lang="en-US" sz="2000" b="1" dirty="0" smtClean="0"/>
              <a:t>SUSTANTIVO </a:t>
            </a:r>
            <a:r>
              <a:rPr lang="en-US" sz="2000" b="1" dirty="0"/>
              <a:t>+ -ING</a:t>
            </a:r>
            <a:endParaRPr lang="es-AR" sz="20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dirty="0"/>
              <a:t>Se trata de una </a:t>
            </a:r>
            <a:r>
              <a:rPr lang="es-AR" i="1" dirty="0"/>
              <a:t>cláusula adjetiva contraída</a:t>
            </a:r>
            <a:r>
              <a:rPr lang="es-AR" dirty="0"/>
              <a:t>. Se traduce como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dirty="0"/>
              <a:t> </a:t>
            </a:r>
            <a:r>
              <a:rPr lang="es-AR" dirty="0" smtClean="0"/>
              <a:t>					</a:t>
            </a:r>
            <a:r>
              <a:rPr lang="es-AR" sz="2200" b="1" dirty="0" smtClean="0"/>
              <a:t>QUE  </a:t>
            </a:r>
            <a:r>
              <a:rPr lang="es-AR" sz="2200" b="1" dirty="0"/>
              <a:t>+ Verbo conjugado.</a:t>
            </a:r>
            <a:endParaRPr lang="es-AR" sz="22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/>
              <a:t>- The </a:t>
            </a:r>
            <a:r>
              <a:rPr lang="en-US" dirty="0"/>
              <a:t>early excitement </a:t>
            </a:r>
            <a:r>
              <a:rPr lang="en-US" b="1" dirty="0"/>
              <a:t>surrounding</a:t>
            </a:r>
            <a:r>
              <a:rPr lang="en-US" dirty="0"/>
              <a:t> programmed instruction </a:t>
            </a:r>
            <a:r>
              <a:rPr lang="en-US" b="1" dirty="0"/>
              <a:t>was</a:t>
            </a:r>
            <a:r>
              <a:rPr lang="en-US" dirty="0"/>
              <a:t> not long sustained.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/>
              <a:t>                                  (</a:t>
            </a:r>
            <a:r>
              <a:rPr lang="es-ES_tradnl" dirty="0"/>
              <a:t>“</a:t>
            </a:r>
            <a:r>
              <a:rPr lang="es-ES_tradnl" i="1" dirty="0"/>
              <a:t>que rode</a:t>
            </a:r>
            <a:r>
              <a:rPr lang="es-ES_tradnl" b="1" i="1" dirty="0"/>
              <a:t>aba</a:t>
            </a:r>
            <a:r>
              <a:rPr lang="es-ES_tradnl" dirty="0"/>
              <a:t>”)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endParaRPr lang="es-AR" sz="14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400" dirty="0"/>
              <a:t>            </a:t>
            </a:r>
            <a:r>
              <a:rPr lang="es-ES_tradnl" sz="2000" b="1" dirty="0"/>
              <a:t>“ING” FINAL</a:t>
            </a:r>
            <a:endParaRPr lang="es-AR" sz="2000" b="1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1400" b="1" dirty="0"/>
              <a:t>          </a:t>
            </a:r>
            <a:endParaRPr lang="es-AR" sz="2000" b="1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sz="1600" dirty="0"/>
              <a:t>  </a:t>
            </a:r>
            <a:r>
              <a:rPr lang="es-ES_tradnl" dirty="0"/>
              <a:t>Aparece al final de la oración, después de una “</a:t>
            </a:r>
            <a:r>
              <a:rPr lang="es-ES_tradnl" b="1" dirty="0"/>
              <a:t>,</a:t>
            </a:r>
            <a:r>
              <a:rPr lang="es-ES_tradnl" dirty="0"/>
              <a:t>” y se traduce como </a:t>
            </a:r>
            <a:r>
              <a:rPr lang="es-ES_tradnl" b="1" i="1" dirty="0"/>
              <a:t>“-ando/</a:t>
            </a:r>
            <a:r>
              <a:rPr lang="es-ES_tradnl" b="1" i="1" dirty="0" err="1"/>
              <a:t>endo</a:t>
            </a:r>
            <a:r>
              <a:rPr lang="es-ES_tradnl" dirty="0"/>
              <a:t>”.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/>
              <a:t>- They </a:t>
            </a:r>
            <a:r>
              <a:rPr lang="en-US" dirty="0"/>
              <a:t>rejected the conclusion</a:t>
            </a:r>
            <a:r>
              <a:rPr lang="en-US" b="1" dirty="0"/>
              <a:t>, arguing</a:t>
            </a:r>
            <a:r>
              <a:rPr lang="en-US" dirty="0"/>
              <a:t> that it was not objective.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400" dirty="0"/>
              <a:t>                                                         (“</a:t>
            </a:r>
            <a:r>
              <a:rPr lang="en-US" b="1" i="1" dirty="0" err="1"/>
              <a:t>argumentando</a:t>
            </a:r>
            <a:r>
              <a:rPr lang="en-US" sz="1400" dirty="0"/>
              <a:t>”</a:t>
            </a:r>
            <a:r>
              <a:rPr lang="es-ES" sz="1400" dirty="0"/>
              <a:t> )</a:t>
            </a:r>
            <a:endParaRPr lang="es-AR" sz="2000" dirty="0"/>
          </a:p>
        </p:txBody>
      </p:sp>
      <p:sp>
        <p:nvSpPr>
          <p:cNvPr id="5" name="Flecha derecha 4"/>
          <p:cNvSpPr/>
          <p:nvPr/>
        </p:nvSpPr>
        <p:spPr>
          <a:xfrm>
            <a:off x="677334" y="1468192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Flecha derecha 5"/>
          <p:cNvSpPr/>
          <p:nvPr/>
        </p:nvSpPr>
        <p:spPr>
          <a:xfrm>
            <a:off x="677334" y="4559122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745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09094"/>
            <a:ext cx="8596668" cy="643944"/>
          </a:xfrm>
        </p:spPr>
        <p:txBody>
          <a:bodyPr/>
          <a:lstStyle/>
          <a:p>
            <a:pPr algn="ctr"/>
            <a:r>
              <a:rPr lang="es-AR" altLang="es-AR" b="1" dirty="0"/>
              <a:t>FORMAS “-ING”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953038"/>
            <a:ext cx="9020458" cy="5640945"/>
          </a:xfrm>
        </p:spPr>
        <p:txBody>
          <a:bodyPr>
            <a:noAutofit/>
          </a:bodyPr>
          <a:lstStyle/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b="1" dirty="0"/>
              <a:t> </a:t>
            </a:r>
            <a:r>
              <a:rPr lang="en-US" sz="1600" b="1" dirty="0" smtClean="0"/>
              <a:t>       ADVERBIO </a:t>
            </a:r>
            <a:r>
              <a:rPr lang="en-US" sz="1600" b="1" dirty="0"/>
              <a:t>DE TIEMPO + -ING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 smtClean="0"/>
              <a:t>-       </a:t>
            </a:r>
            <a:r>
              <a:rPr lang="en-US" sz="1600" dirty="0"/>
              <a:t>WHEN/WHILE:   </a:t>
            </a:r>
            <a:r>
              <a:rPr lang="en-US" sz="1600" dirty="0" smtClean="0"/>
              <a:t>- </a:t>
            </a:r>
            <a:r>
              <a:rPr lang="en-US" sz="1600" b="1" dirty="0" smtClean="0"/>
              <a:t>When </a:t>
            </a:r>
            <a:r>
              <a:rPr lang="en-US" sz="1600" b="1" dirty="0"/>
              <a:t>presenting</a:t>
            </a:r>
            <a:r>
              <a:rPr lang="en-US" sz="1600" dirty="0"/>
              <a:t> this topic, we mentioned ..../ </a:t>
            </a:r>
            <a:r>
              <a:rPr lang="en-US" sz="1600" b="1" dirty="0"/>
              <a:t>While presenting</a:t>
            </a:r>
            <a:r>
              <a:rPr lang="en-US" sz="1600" dirty="0"/>
              <a:t> ….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                                   (“</a:t>
            </a:r>
            <a:r>
              <a:rPr lang="en-US" sz="1600" b="1" i="1" dirty="0" err="1"/>
              <a:t>Cuando</a:t>
            </a:r>
            <a:r>
              <a:rPr lang="en-US" sz="1600" b="1" i="1" dirty="0"/>
              <a:t> </a:t>
            </a:r>
            <a:r>
              <a:rPr lang="en-US" sz="1600" b="1" i="1" dirty="0" err="1"/>
              <a:t>presentamos</a:t>
            </a:r>
            <a:r>
              <a:rPr lang="en-US" sz="1600" dirty="0"/>
              <a:t>...”, “</a:t>
            </a:r>
            <a:r>
              <a:rPr lang="en-US" sz="1600" b="1" i="1" dirty="0" err="1"/>
              <a:t>Mientras</a:t>
            </a:r>
            <a:r>
              <a:rPr lang="en-US" sz="1600" b="1" i="1" dirty="0"/>
              <a:t> </a:t>
            </a:r>
            <a:r>
              <a:rPr lang="en-US" sz="1600" b="1" i="1" dirty="0" err="1"/>
              <a:t>presentamos</a:t>
            </a:r>
            <a:r>
              <a:rPr lang="en-US" sz="1600" dirty="0"/>
              <a:t>...”)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 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- AFTER/BEFORE :  </a:t>
            </a:r>
            <a:r>
              <a:rPr lang="en-US" sz="1600" dirty="0" smtClean="0"/>
              <a:t>- </a:t>
            </a:r>
            <a:r>
              <a:rPr lang="en-US" sz="1600" b="1" dirty="0" smtClean="0"/>
              <a:t>After </a:t>
            </a:r>
            <a:r>
              <a:rPr lang="en-US" sz="1600" b="1" dirty="0"/>
              <a:t>considering</a:t>
            </a:r>
            <a:r>
              <a:rPr lang="en-US" sz="1600" dirty="0"/>
              <a:t> this topic, analyze the sentences. 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			        (</a:t>
            </a:r>
            <a:r>
              <a:rPr lang="en-US" sz="1600" b="1" i="1" dirty="0" err="1"/>
              <a:t>Después</a:t>
            </a:r>
            <a:r>
              <a:rPr lang="en-US" sz="1600" i="1" dirty="0"/>
              <a:t> </a:t>
            </a:r>
            <a:r>
              <a:rPr lang="en-US" sz="1600" b="1" i="1" dirty="0"/>
              <a:t>de</a:t>
            </a:r>
            <a:r>
              <a:rPr lang="en-US" sz="1600" i="1" dirty="0"/>
              <a:t> </a:t>
            </a:r>
            <a:r>
              <a:rPr lang="en-US" sz="1600" b="1" i="1" dirty="0" err="1"/>
              <a:t>considerar</a:t>
            </a:r>
            <a:r>
              <a:rPr lang="en-US" sz="1600" dirty="0"/>
              <a:t>…)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		   </a:t>
            </a:r>
            <a:r>
              <a:rPr lang="en-US" sz="1600" dirty="0" smtClean="0"/>
              <a:t>           - </a:t>
            </a:r>
            <a:r>
              <a:rPr lang="en-US" sz="1600" b="1" dirty="0" smtClean="0"/>
              <a:t>Before </a:t>
            </a:r>
            <a:r>
              <a:rPr lang="en-US" sz="1600" b="1" dirty="0"/>
              <a:t>using</a:t>
            </a:r>
            <a:r>
              <a:rPr lang="en-US" sz="1600" dirty="0"/>
              <a:t> the dictionary, study the abbreviations.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b="1" dirty="0"/>
              <a:t>			        </a:t>
            </a:r>
            <a:r>
              <a:rPr lang="en-US" sz="1600" i="1" dirty="0"/>
              <a:t>(</a:t>
            </a:r>
            <a:r>
              <a:rPr lang="en-US" sz="1600" b="1" i="1" dirty="0"/>
              <a:t>Antes</a:t>
            </a:r>
            <a:r>
              <a:rPr lang="en-US" sz="1600" i="1" dirty="0"/>
              <a:t> </a:t>
            </a:r>
            <a:r>
              <a:rPr lang="en-US" sz="1600" b="1" i="1" dirty="0"/>
              <a:t>de</a:t>
            </a:r>
            <a:r>
              <a:rPr lang="en-US" sz="1600" i="1" dirty="0"/>
              <a:t> </a:t>
            </a:r>
            <a:r>
              <a:rPr lang="en-US" sz="1600" b="1" i="1" dirty="0" err="1"/>
              <a:t>usar</a:t>
            </a:r>
            <a:r>
              <a:rPr lang="en-US" sz="1600" i="1" dirty="0"/>
              <a:t>…)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 </a:t>
            </a:r>
            <a:r>
              <a:rPr lang="es-ES_tradnl" sz="1600" dirty="0"/>
              <a:t> 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b="1" dirty="0"/>
              <a:t>        DESPUÉS DE CIERTOS VERBOS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 smtClean="0"/>
              <a:t>- BEGIN/PREFER/LOVE/STOP</a:t>
            </a:r>
            <a:r>
              <a:rPr lang="en-US" sz="1600" dirty="0"/>
              <a:t>:    The program </a:t>
            </a:r>
            <a:r>
              <a:rPr lang="en-US" sz="1600" b="1" dirty="0"/>
              <a:t>began running</a:t>
            </a:r>
            <a:r>
              <a:rPr lang="en-US" sz="1600" dirty="0"/>
              <a:t>.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			      </a:t>
            </a:r>
            <a:r>
              <a:rPr lang="en-US" sz="1600" dirty="0" smtClean="0"/>
              <a:t>			   I </a:t>
            </a:r>
            <a:r>
              <a:rPr lang="en-US" sz="1600" b="1" dirty="0"/>
              <a:t>prefer reading</a:t>
            </a:r>
            <a:r>
              <a:rPr lang="en-US" sz="1600" dirty="0"/>
              <a:t> than speaking in English.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		                      </a:t>
            </a:r>
            <a:r>
              <a:rPr lang="en-US" sz="1600" dirty="0" smtClean="0"/>
              <a:t>          Students </a:t>
            </a:r>
            <a:r>
              <a:rPr lang="en-US" sz="1600" b="1" dirty="0"/>
              <a:t>love playing</a:t>
            </a:r>
            <a:r>
              <a:rPr lang="en-US" sz="1600" dirty="0"/>
              <a:t> computer games.</a:t>
            </a:r>
            <a:endParaRPr lang="es-AR" sz="16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sz="1600" dirty="0"/>
              <a:t>		                     </a:t>
            </a:r>
            <a:r>
              <a:rPr lang="en-US" sz="1600" dirty="0" smtClean="0"/>
              <a:t>           </a:t>
            </a:r>
            <a:r>
              <a:rPr lang="es-AR" sz="1600" b="1" dirty="0"/>
              <a:t>Stop </a:t>
            </a:r>
            <a:r>
              <a:rPr lang="es-AR" sz="1600" b="1" dirty="0" err="1"/>
              <a:t>talking</a:t>
            </a:r>
            <a:r>
              <a:rPr lang="es-AR" sz="1600" dirty="0"/>
              <a:t>.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sz="1600" dirty="0"/>
              <a:t> </a:t>
            </a:r>
            <a:r>
              <a:rPr lang="es-ES_tradnl" sz="1600" u="sng" dirty="0"/>
              <a:t>(</a:t>
            </a:r>
            <a:r>
              <a:rPr lang="es-ES_tradnl" sz="1600" dirty="0"/>
              <a:t> “</a:t>
            </a:r>
            <a:r>
              <a:rPr lang="es-ES_tradnl" sz="1600" i="1" dirty="0"/>
              <a:t>comenzó</a:t>
            </a:r>
            <a:r>
              <a:rPr lang="es-ES_tradnl" sz="1600" dirty="0"/>
              <a:t> </a:t>
            </a:r>
            <a:r>
              <a:rPr lang="es-ES_tradnl" sz="1600" i="1" dirty="0"/>
              <a:t>a</a:t>
            </a:r>
            <a:r>
              <a:rPr lang="es-ES_tradnl" sz="1600" b="1" i="1" dirty="0"/>
              <a:t> funcionar</a:t>
            </a:r>
            <a:r>
              <a:rPr lang="es-ES_tradnl" sz="1600" dirty="0"/>
              <a:t>...”, “</a:t>
            </a:r>
            <a:r>
              <a:rPr lang="es-ES_tradnl" sz="1600" i="1" dirty="0"/>
              <a:t>prefiero</a:t>
            </a:r>
            <a:r>
              <a:rPr lang="es-ES_tradnl" sz="1600" dirty="0"/>
              <a:t> </a:t>
            </a:r>
            <a:r>
              <a:rPr lang="es-ES_tradnl" sz="1600" b="1" i="1" dirty="0"/>
              <a:t>leer</a:t>
            </a:r>
            <a:r>
              <a:rPr lang="es-ES_tradnl" sz="1600" dirty="0"/>
              <a:t>...”, “ les gusta </a:t>
            </a:r>
            <a:r>
              <a:rPr lang="es-ES_tradnl" sz="1600" b="1" i="1" dirty="0"/>
              <a:t>jugar</a:t>
            </a:r>
            <a:r>
              <a:rPr lang="es-ES_tradnl" sz="1600" dirty="0"/>
              <a:t>”, “deja de </a:t>
            </a:r>
            <a:r>
              <a:rPr lang="es-ES_tradnl" sz="1600" b="1" i="1" dirty="0"/>
              <a:t>hablar</a:t>
            </a:r>
            <a:r>
              <a:rPr lang="es-ES_tradnl" sz="1600" dirty="0"/>
              <a:t>... ”)</a:t>
            </a:r>
            <a:endParaRPr lang="es-AR" sz="1600" dirty="0"/>
          </a:p>
        </p:txBody>
      </p:sp>
      <p:sp>
        <p:nvSpPr>
          <p:cNvPr id="5" name="Flecha derecha 4"/>
          <p:cNvSpPr/>
          <p:nvPr/>
        </p:nvSpPr>
        <p:spPr>
          <a:xfrm>
            <a:off x="677334" y="953038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Flecha derecha 5"/>
          <p:cNvSpPr/>
          <p:nvPr/>
        </p:nvSpPr>
        <p:spPr>
          <a:xfrm>
            <a:off x="677334" y="4262908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506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12124"/>
            <a:ext cx="8596668" cy="708338"/>
          </a:xfrm>
        </p:spPr>
        <p:txBody>
          <a:bodyPr/>
          <a:lstStyle/>
          <a:p>
            <a:pPr algn="ctr"/>
            <a:r>
              <a:rPr lang="es-AR" altLang="es-AR" b="1" dirty="0"/>
              <a:t>FORMAS “-ING”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0761" y="1120462"/>
            <a:ext cx="9375819" cy="5370489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b="1" dirty="0"/>
              <a:t> </a:t>
            </a:r>
            <a:r>
              <a:rPr lang="en-US" b="1" dirty="0" smtClean="0"/>
              <a:t>         </a:t>
            </a:r>
            <a:r>
              <a:rPr lang="en-US" sz="2200" b="1" dirty="0" smtClean="0"/>
              <a:t>TO </a:t>
            </a:r>
            <a:r>
              <a:rPr lang="en-US" sz="2200" b="1" dirty="0"/>
              <a:t>BE + -ING (</a:t>
            </a:r>
            <a:r>
              <a:rPr lang="en-US" sz="2200" b="1" dirty="0" err="1"/>
              <a:t>Tiempos</a:t>
            </a:r>
            <a:r>
              <a:rPr lang="en-US" sz="2200" b="1" dirty="0"/>
              <a:t> </a:t>
            </a:r>
            <a:r>
              <a:rPr lang="en-US" sz="2200" b="1" dirty="0" err="1"/>
              <a:t>Contínuos</a:t>
            </a:r>
            <a:r>
              <a:rPr lang="en-US" sz="2200" b="1" dirty="0"/>
              <a:t>)</a:t>
            </a:r>
            <a:endParaRPr lang="es-AR" sz="2200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/>
              <a:t>Many teachers </a:t>
            </a:r>
            <a:r>
              <a:rPr lang="en-US" b="1" dirty="0"/>
              <a:t>ARE/</a:t>
            </a:r>
            <a:r>
              <a:rPr lang="en-US" b="1" dirty="0" err="1"/>
              <a:t>WEREintroducing</a:t>
            </a:r>
            <a:r>
              <a:rPr lang="en-US" dirty="0"/>
              <a:t> technology in the classroom. (</a:t>
            </a:r>
            <a:r>
              <a:rPr lang="en-US" dirty="0" err="1"/>
              <a:t>Presente</a:t>
            </a:r>
            <a:r>
              <a:rPr lang="en-US" dirty="0"/>
              <a:t>/</a:t>
            </a:r>
            <a:r>
              <a:rPr lang="en-US" dirty="0" err="1"/>
              <a:t>Pasado</a:t>
            </a:r>
            <a:r>
              <a:rPr lang="en-US" dirty="0"/>
              <a:t> Continuo)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/>
              <a:t>                        (</a:t>
            </a:r>
            <a:r>
              <a:rPr lang="en-US" i="1" dirty="0" err="1"/>
              <a:t>están</a:t>
            </a:r>
            <a:r>
              <a:rPr lang="en-US" i="1" dirty="0"/>
              <a:t> / </a:t>
            </a:r>
            <a:r>
              <a:rPr lang="en-US" i="1" dirty="0" err="1"/>
              <a:t>estaban</a:t>
            </a:r>
            <a:r>
              <a:rPr lang="en-US" i="1" dirty="0"/>
              <a:t> </a:t>
            </a:r>
            <a:r>
              <a:rPr lang="en-US" i="1" dirty="0" err="1"/>
              <a:t>incorporando</a:t>
            </a:r>
            <a:r>
              <a:rPr lang="en-US" dirty="0"/>
              <a:t>…)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/>
              <a:t> 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AR" b="1" dirty="0"/>
              <a:t> </a:t>
            </a:r>
            <a:r>
              <a:rPr lang="es-AR" b="1" dirty="0" smtClean="0"/>
              <a:t>         </a:t>
            </a:r>
            <a:r>
              <a:rPr lang="en-US" sz="2000" b="1" dirty="0" smtClean="0"/>
              <a:t>PRESENTE </a:t>
            </a:r>
            <a:r>
              <a:rPr lang="en-US" sz="2000" b="1" dirty="0"/>
              <a:t>CONTINUO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b="1" u="sng" dirty="0"/>
              <a:t>Uso</a:t>
            </a:r>
            <a:r>
              <a:rPr lang="es-ES_tradnl" dirty="0"/>
              <a:t>: </a:t>
            </a:r>
            <a:r>
              <a:rPr lang="es-ES_tradnl" dirty="0" smtClean="0"/>
              <a:t>a</a:t>
            </a:r>
            <a:r>
              <a:rPr lang="es-ES_tradnl" dirty="0"/>
              <a:t>) Actividades que suceden en el momento en que se habla,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/>
              <a:t>- At </a:t>
            </a:r>
            <a:r>
              <a:rPr lang="en-US" dirty="0"/>
              <a:t>the moment, a lot of computer scientists </a:t>
            </a:r>
            <a:r>
              <a:rPr lang="en-US" b="1" dirty="0"/>
              <a:t>are working</a:t>
            </a:r>
            <a:r>
              <a:rPr lang="en-US" dirty="0"/>
              <a:t> on artificial Intelligence.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dirty="0"/>
              <a:t>	</a:t>
            </a:r>
            <a:r>
              <a:rPr lang="es-ES_tradnl" dirty="0" smtClean="0"/>
              <a:t> b</a:t>
            </a:r>
            <a:r>
              <a:rPr lang="es-ES_tradnl" dirty="0"/>
              <a:t>) Acciones futuras planificadas de antemano,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/>
              <a:t>- I</a:t>
            </a:r>
            <a:r>
              <a:rPr lang="en-US" b="1" dirty="0" smtClean="0"/>
              <a:t>’m </a:t>
            </a:r>
            <a:r>
              <a:rPr lang="en-US" b="1" dirty="0"/>
              <a:t>meeting </a:t>
            </a:r>
            <a:r>
              <a:rPr lang="en-US" dirty="0"/>
              <a:t>my instructor next Saturday.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dirty="0"/>
              <a:t>	</a:t>
            </a:r>
            <a:r>
              <a:rPr lang="es-ES_tradnl" dirty="0" smtClean="0"/>
              <a:t> c</a:t>
            </a:r>
            <a:r>
              <a:rPr lang="es-ES_tradnl" dirty="0"/>
              <a:t>) Referirse a un proceso que se da en un tiempo presente más amplio; </a:t>
            </a:r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/>
              <a:t>- This </a:t>
            </a:r>
            <a:r>
              <a:rPr lang="en-US" dirty="0"/>
              <a:t>kind of software </a:t>
            </a:r>
            <a:r>
              <a:rPr lang="en-US" b="1" dirty="0"/>
              <a:t>is getting </a:t>
            </a:r>
            <a:r>
              <a:rPr lang="en-US" dirty="0"/>
              <a:t>better every year.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s-ES_tradnl" dirty="0"/>
              <a:t>	</a:t>
            </a:r>
            <a:r>
              <a:rPr lang="es-ES_tradnl" dirty="0" smtClean="0"/>
              <a:t> d</a:t>
            </a:r>
            <a:r>
              <a:rPr lang="es-ES_tradnl" dirty="0"/>
              <a:t>) Con “</a:t>
            </a:r>
            <a:r>
              <a:rPr lang="es-ES_tradnl" dirty="0" err="1"/>
              <a:t>always</a:t>
            </a:r>
            <a:r>
              <a:rPr lang="es-ES_tradnl" dirty="0"/>
              <a:t>” o “</a:t>
            </a:r>
            <a:r>
              <a:rPr lang="es-ES_tradnl" dirty="0" err="1"/>
              <a:t>forever</a:t>
            </a:r>
            <a:r>
              <a:rPr lang="es-ES_tradnl" dirty="0"/>
              <a:t>”, el Presente Continuo se usa para describir un hábito que el hablante encuentra fastidioso o molesto. </a:t>
            </a:r>
            <a:endParaRPr lang="es-AR" dirty="0"/>
          </a:p>
          <a:p>
            <a:pPr marL="0" indent="0">
              <a:buClr>
                <a:schemeClr val="tx2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/>
              <a:t>- She</a:t>
            </a:r>
            <a:r>
              <a:rPr lang="en-US" b="1" dirty="0" smtClean="0"/>
              <a:t>’s </a:t>
            </a:r>
            <a:r>
              <a:rPr lang="en-US" b="1" dirty="0"/>
              <a:t>always buying</a:t>
            </a:r>
            <a:r>
              <a:rPr lang="en-US" dirty="0"/>
              <a:t> cheap things on the Net.</a:t>
            </a:r>
            <a:endParaRPr lang="es-AR" dirty="0"/>
          </a:p>
        </p:txBody>
      </p:sp>
      <p:sp>
        <p:nvSpPr>
          <p:cNvPr id="4" name="Flecha derecha 3"/>
          <p:cNvSpPr/>
          <p:nvPr/>
        </p:nvSpPr>
        <p:spPr>
          <a:xfrm>
            <a:off x="548545" y="1120462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Flecha derecha 4"/>
          <p:cNvSpPr/>
          <p:nvPr/>
        </p:nvSpPr>
        <p:spPr>
          <a:xfrm>
            <a:off x="548545" y="2779690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229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pPr algn="ctr"/>
            <a:r>
              <a:rPr lang="es-AR" dirty="0" smtClean="0"/>
              <a:t>PRÁCTICA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532586"/>
            <a:ext cx="9123489" cy="4829577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The author aims to help readers make sense of the latest professional dynamics in the software industry, </a:t>
            </a:r>
            <a:r>
              <a:rPr lang="en-US" b="1" dirty="0"/>
              <a:t>providing</a:t>
            </a:r>
            <a:r>
              <a:rPr lang="en-US" dirty="0"/>
              <a:t> the tools and insights to truly jumpstart a career.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 Most large software systems result </a:t>
            </a: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b="1" dirty="0"/>
              <a:t>weaving</a:t>
            </a:r>
            <a:r>
              <a:rPr lang="en-US" dirty="0"/>
              <a:t> together many independently developed systems.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Equipment manufacturers and suppliers </a:t>
            </a:r>
            <a:r>
              <a:rPr lang="en-US" b="1" dirty="0"/>
              <a:t>are saying</a:t>
            </a:r>
            <a:r>
              <a:rPr lang="en-US" dirty="0"/>
              <a:t> that they are working on the problem.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Control centers have data acquisition capability to gather information on the </a:t>
            </a:r>
            <a:r>
              <a:rPr lang="en-US" dirty="0" err="1"/>
              <a:t>realtime</a:t>
            </a:r>
            <a:r>
              <a:rPr lang="en-US" dirty="0"/>
              <a:t> status of the </a:t>
            </a:r>
            <a:r>
              <a:rPr lang="en-US" b="1" dirty="0"/>
              <a:t>operating</a:t>
            </a:r>
            <a:r>
              <a:rPr lang="en-US" dirty="0"/>
              <a:t> system.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b="1" dirty="0"/>
              <a:t>Selling</a:t>
            </a:r>
            <a:r>
              <a:rPr lang="en-US" dirty="0"/>
              <a:t> "extras" has a less tangible but more important benefit.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Deregulation is forcing utilities to </a:t>
            </a:r>
            <a:r>
              <a:rPr lang="en-US" b="1" dirty="0"/>
              <a:t>begin treating </a:t>
            </a:r>
            <a:r>
              <a:rPr lang="en-US" dirty="0"/>
              <a:t>their customers as valuable assets.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An </a:t>
            </a:r>
            <a:r>
              <a:rPr lang="en-US" b="1" dirty="0"/>
              <a:t>understanding</a:t>
            </a:r>
            <a:r>
              <a:rPr lang="en-US" dirty="0"/>
              <a:t> of today's issues, provides industry with a clear picture of future trends in project development.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Information Technology (IT) </a:t>
            </a:r>
            <a:r>
              <a:rPr lang="en-US" b="1" dirty="0"/>
              <a:t>is providing</a:t>
            </a:r>
            <a:r>
              <a:rPr lang="en-US" dirty="0"/>
              <a:t> many answers </a:t>
            </a:r>
            <a:r>
              <a:rPr lang="en-US" b="1" dirty="0"/>
              <a:t>for increasing </a:t>
            </a:r>
            <a:r>
              <a:rPr lang="en-US" dirty="0"/>
              <a:t>the efficiency and profitability of the electric power generation industry. 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defRPr/>
            </a:pPr>
            <a:r>
              <a:rPr lang="en-US" dirty="0"/>
              <a:t>Many companies </a:t>
            </a:r>
            <a:r>
              <a:rPr lang="en-US" b="1" dirty="0"/>
              <a:t>are beginning </a:t>
            </a:r>
            <a:r>
              <a:rPr lang="en-US" dirty="0"/>
              <a:t>to consider </a:t>
            </a:r>
            <a:r>
              <a:rPr lang="en-US" b="1" dirty="0"/>
              <a:t>using</a:t>
            </a:r>
            <a:r>
              <a:rPr lang="en-US" dirty="0"/>
              <a:t> call centers for telemarketing of products and services. </a:t>
            </a:r>
          </a:p>
        </p:txBody>
      </p:sp>
    </p:spTree>
    <p:extLst>
      <p:ext uri="{BB962C8B-B14F-4D97-AF65-F5344CB8AC3E}">
        <p14:creationId xmlns:p14="http://schemas.microsoft.com/office/powerpoint/2010/main" val="253496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6E45A29B641E459FF137569A0F5FF9" ma:contentTypeVersion="4" ma:contentTypeDescription="Crear nuevo documento." ma:contentTypeScope="" ma:versionID="d2cc56b9c178553dc8dae7cbf609185d">
  <xsd:schema xmlns:xsd="http://www.w3.org/2001/XMLSchema" xmlns:xs="http://www.w3.org/2001/XMLSchema" xmlns:p="http://schemas.microsoft.com/office/2006/metadata/properties" xmlns:ns2="22dc5ea4-9cdd-4970-8bc4-2ea26828404c" targetNamespace="http://schemas.microsoft.com/office/2006/metadata/properties" ma:root="true" ma:fieldsID="d0fdf1282d8307d7848beffaf71b994c" ns2:_="">
    <xsd:import namespace="22dc5ea4-9cdd-4970-8bc4-2ea2682840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c5ea4-9cdd-4970-8bc4-2ea268284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CE79FA-261C-43D5-933E-07462AE98BC9}"/>
</file>

<file path=customXml/itemProps2.xml><?xml version="1.0" encoding="utf-8"?>
<ds:datastoreItem xmlns:ds="http://schemas.openxmlformats.org/officeDocument/2006/customXml" ds:itemID="{D23AB455-D6C7-4CBA-922B-217A3B108F80}"/>
</file>

<file path=customXml/itemProps3.xml><?xml version="1.0" encoding="utf-8"?>
<ds:datastoreItem xmlns:ds="http://schemas.openxmlformats.org/officeDocument/2006/customXml" ds:itemID="{1C3BC67D-F974-48C1-8864-E83366BE597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5175</TotalTime>
  <Words>388</Words>
  <Application>Microsoft Office PowerPoint</Application>
  <PresentationFormat>Panorámica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INGLÉS I</vt:lpstr>
      <vt:lpstr>TEXTO TÉCNICO</vt:lpstr>
      <vt:lpstr>FORMAS “-ING”</vt:lpstr>
      <vt:lpstr>FORMAS “-ING”</vt:lpstr>
      <vt:lpstr>FORMAS “-ING”</vt:lpstr>
      <vt:lpstr>FORMAS “-ING”</vt:lpstr>
      <vt:lpstr>FORMAS “-ING”</vt:lpstr>
      <vt:lpstr>FORMAS “-ING”</vt:lpstr>
      <vt:lpstr>FORMAS “-ING”</vt:lpstr>
      <vt:lpstr>PRÁCTICA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70</cp:revision>
  <dcterms:created xsi:type="dcterms:W3CDTF">2020-03-27T22:25:37Z</dcterms:created>
  <dcterms:modified xsi:type="dcterms:W3CDTF">2022-04-22T14:40:17Z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0x010100C26E45A29B641E459FF137569A0F5FF9</vt:lpwstr>
  </property>
</Properties>
</file>
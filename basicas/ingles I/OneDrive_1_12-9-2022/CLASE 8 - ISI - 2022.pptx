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INGLÉS I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s-AR" dirty="0" smtClean="0"/>
          </a:p>
          <a:p>
            <a:r>
              <a:rPr lang="es-AR" dirty="0" smtClean="0"/>
              <a:t>Prof. Nidia S. </a:t>
            </a:r>
            <a:r>
              <a:rPr lang="es-AR" dirty="0" err="1" smtClean="0"/>
              <a:t>Redonder</a:t>
            </a:r>
            <a:endParaRPr lang="es-AR" dirty="0"/>
          </a:p>
          <a:p>
            <a:r>
              <a:rPr lang="es-AR" dirty="0" smtClean="0"/>
              <a:t>UTN - FRSF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84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551234"/>
            <a:ext cx="8596668" cy="907915"/>
          </a:xfrm>
        </p:spPr>
        <p:txBody>
          <a:bodyPr/>
          <a:lstStyle/>
          <a:p>
            <a:pPr algn="ctr"/>
            <a:r>
              <a:rPr lang="es-AR" altLang="es-AR" b="1" dirty="0"/>
              <a:t>LA ORACIÓN SIMPLE</a:t>
            </a:r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3640" y="1622965"/>
            <a:ext cx="9710670" cy="4279121"/>
          </a:xfrm>
        </p:spPr>
        <p:txBody>
          <a:bodyPr/>
          <a:lstStyle/>
          <a:p>
            <a:pPr marL="0" indent="0" algn="ctr">
              <a:buFont typeface="Wingdings 3" panose="05040102010807070707" pitchFamily="18" charset="2"/>
              <a:buNone/>
            </a:pPr>
            <a:r>
              <a:rPr lang="es-AR" altLang="es-AR" sz="2400" b="1" dirty="0"/>
              <a:t>SUJETO  +  VERBO  +  RESTO DE LA ORACIÓN</a:t>
            </a:r>
            <a:endParaRPr lang="es-AR" altLang="es-AR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s-AR" altLang="es-AR" sz="2200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400" i="1" u="sng" dirty="0" smtClean="0"/>
              <a:t>Information systems Engineers</a:t>
            </a:r>
            <a:r>
              <a:rPr lang="en-US" sz="2400" dirty="0"/>
              <a:t> </a:t>
            </a:r>
            <a:r>
              <a:rPr lang="en-US" sz="2400" dirty="0" smtClean="0"/>
              <a:t>  </a:t>
            </a:r>
            <a:r>
              <a:rPr lang="en-US" sz="2400" u="sng" dirty="0" smtClean="0"/>
              <a:t>possess</a:t>
            </a:r>
            <a:r>
              <a:rPr lang="en-US" sz="2400" dirty="0" smtClean="0"/>
              <a:t>   </a:t>
            </a:r>
            <a:r>
              <a:rPr lang="en-US" sz="2400" u="sng" dirty="0"/>
              <a:t>an </a:t>
            </a:r>
            <a:r>
              <a:rPr lang="en-US" sz="2400" u="sng" dirty="0" smtClean="0"/>
              <a:t>academic degree</a:t>
            </a:r>
            <a:r>
              <a:rPr lang="en-US" sz="2400" u="sng" dirty="0"/>
              <a:t> </a:t>
            </a:r>
            <a:r>
              <a:rPr lang="en-US" sz="2400" u="sng" dirty="0" smtClean="0"/>
              <a:t>in ISE</a:t>
            </a:r>
            <a:r>
              <a:rPr lang="en-US" sz="2400" dirty="0" smtClean="0"/>
              <a:t>.</a:t>
            </a:r>
            <a:endParaRPr lang="es-AR" altLang="es-AR" sz="2400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s-AR" altLang="es-AR" sz="2200" b="1" i="1" dirty="0" smtClean="0"/>
              <a:t>                     S                                   V                                R.O</a:t>
            </a:r>
            <a:r>
              <a:rPr lang="es-AR" altLang="es-AR" sz="2200" b="1" i="1" dirty="0"/>
              <a:t>.</a:t>
            </a:r>
            <a:endParaRPr lang="es-AR" altLang="es-AR" sz="2200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s-AR" altLang="es-AR" sz="2200" dirty="0"/>
              <a:t> 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s-AR" altLang="es-AR" sz="2200" b="1" dirty="0"/>
              <a:t>S</a:t>
            </a:r>
            <a:r>
              <a:rPr lang="es-AR" altLang="es-AR" sz="2200" dirty="0"/>
              <a:t>: </a:t>
            </a:r>
            <a:r>
              <a:rPr lang="es-AR" altLang="es-AR" sz="2200" dirty="0" smtClean="0"/>
              <a:t>Sujeto</a:t>
            </a:r>
            <a:endParaRPr lang="es-AR" altLang="es-AR" sz="2200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s-AR" altLang="es-AR" sz="2200" b="1" dirty="0"/>
              <a:t>V</a:t>
            </a:r>
            <a:r>
              <a:rPr lang="es-AR" altLang="es-AR" sz="2200" dirty="0"/>
              <a:t>: Verbo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s-AR" altLang="es-AR" sz="2200" b="1" dirty="0"/>
              <a:t>R.O.</a:t>
            </a:r>
            <a:r>
              <a:rPr lang="es-AR" altLang="es-AR" sz="2200" dirty="0"/>
              <a:t>: Resto de la Oración (Objeto </a:t>
            </a:r>
            <a:r>
              <a:rPr lang="es-AR" altLang="es-AR" sz="2200" dirty="0" smtClean="0"/>
              <a:t>Directo)</a:t>
            </a:r>
            <a:endParaRPr lang="es-AR" altLang="es-AR" sz="2200" dirty="0"/>
          </a:p>
        </p:txBody>
      </p:sp>
    </p:spTree>
    <p:extLst>
      <p:ext uri="{BB962C8B-B14F-4D97-AF65-F5344CB8AC3E}">
        <p14:creationId xmlns:p14="http://schemas.microsoft.com/office/powerpoint/2010/main" val="365515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330740"/>
            <a:ext cx="8596668" cy="972766"/>
          </a:xfrm>
        </p:spPr>
        <p:txBody>
          <a:bodyPr>
            <a:normAutofit/>
          </a:bodyPr>
          <a:lstStyle/>
          <a:p>
            <a:pPr algn="ctr"/>
            <a:r>
              <a:rPr lang="es-AR" sz="4000" b="1" dirty="0" smtClean="0"/>
              <a:t>LOS VERBOS</a:t>
            </a:r>
            <a:endParaRPr lang="es-AR" sz="4000" b="1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7585661"/>
              </p:ext>
            </p:extLst>
          </p:nvPr>
        </p:nvGraphicFramePr>
        <p:xfrm>
          <a:off x="486383" y="1303506"/>
          <a:ext cx="9163455" cy="5067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5749"/>
                <a:gridCol w="2279062"/>
                <a:gridCol w="2239322"/>
                <a:gridCol w="2239322"/>
              </a:tblGrid>
              <a:tr h="45098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</a:rPr>
                        <a:t>A partir de…</a:t>
                      </a:r>
                      <a:endParaRPr lang="es-AR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effectLst/>
                        </a:rPr>
                        <a:t>TIEMPO / ESTRUCTURA VERBAL</a:t>
                      </a:r>
                      <a:endParaRPr lang="es-AR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94576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</a:rPr>
                        <a:t>INFINITIVO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</a:rPr>
                        <a:t>“to </a:t>
                      </a:r>
                      <a:r>
                        <a:rPr lang="es-AR" sz="1800" dirty="0" err="1">
                          <a:effectLst/>
                        </a:rPr>
                        <a:t>study</a:t>
                      </a:r>
                      <a:r>
                        <a:rPr lang="es-AR" sz="1800" dirty="0">
                          <a:effectLst/>
                        </a:rPr>
                        <a:t>”</a:t>
                      </a:r>
                      <a:endParaRPr lang="es-AR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effectLst/>
                        </a:rPr>
                        <a:t>Presente</a:t>
                      </a:r>
                      <a:r>
                        <a:rPr lang="en-US" sz="1800" b="1" dirty="0">
                          <a:effectLst/>
                        </a:rPr>
                        <a:t> Simple</a:t>
                      </a:r>
                      <a:endParaRPr lang="es-AR" sz="1800" b="1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e.g.: I </a:t>
                      </a:r>
                      <a:r>
                        <a:rPr lang="en-US" sz="1800" dirty="0" smtClean="0">
                          <a:effectLst/>
                        </a:rPr>
                        <a:t>study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He stud</a:t>
                      </a:r>
                      <a:r>
                        <a:rPr lang="en-US" sz="1800" b="1" i="1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ies</a:t>
                      </a:r>
                      <a:endParaRPr lang="es-AR" sz="1800" b="1" i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effectLst/>
                        </a:rPr>
                        <a:t>Futuro</a:t>
                      </a:r>
                      <a:r>
                        <a:rPr lang="en-US" sz="1800" b="1" dirty="0">
                          <a:effectLst/>
                        </a:rPr>
                        <a:t> Simple</a:t>
                      </a:r>
                      <a:endParaRPr lang="es-AR" sz="1800" b="1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e.g.: I will study</a:t>
                      </a:r>
                      <a:endParaRPr lang="es-AR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 </a:t>
                      </a:r>
                      <a:r>
                        <a:rPr lang="en-US" sz="1800" b="1" dirty="0" err="1">
                          <a:effectLst/>
                        </a:rPr>
                        <a:t>Verbo</a:t>
                      </a:r>
                      <a:r>
                        <a:rPr lang="en-US" sz="1800" b="1" dirty="0">
                          <a:effectLst/>
                        </a:rPr>
                        <a:t> Modal</a:t>
                      </a:r>
                      <a:endParaRPr lang="es-AR" sz="1800" b="1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e.g.: I should study</a:t>
                      </a:r>
                      <a:endParaRPr lang="es-AR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0691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</a:rPr>
                        <a:t>PASADO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“studied”</a:t>
                      </a:r>
                      <a:endParaRPr lang="es-AR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800" b="1" dirty="0">
                          <a:effectLst/>
                        </a:rPr>
                        <a:t>Pasado Simple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 err="1">
                          <a:effectLst/>
                        </a:rPr>
                        <a:t>e.g</a:t>
                      </a:r>
                      <a:r>
                        <a:rPr lang="es-AR" sz="1800" dirty="0">
                          <a:effectLst/>
                        </a:rPr>
                        <a:t>.: I </a:t>
                      </a:r>
                      <a:r>
                        <a:rPr lang="es-AR" sz="1800" dirty="0" err="1">
                          <a:effectLst/>
                        </a:rPr>
                        <a:t>studied</a:t>
                      </a:r>
                      <a:endParaRPr lang="es-AR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</a:rPr>
                        <a:t> </a:t>
                      </a:r>
                      <a:endParaRPr lang="es-AR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</a:rPr>
                        <a:t> </a:t>
                      </a:r>
                      <a:endParaRPr lang="es-AR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51052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</a:rPr>
                        <a:t>PASADO PARTICIPIO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</a:rPr>
                        <a:t>“</a:t>
                      </a:r>
                      <a:r>
                        <a:rPr lang="es-AR" sz="1800" dirty="0" err="1">
                          <a:effectLst/>
                        </a:rPr>
                        <a:t>studied</a:t>
                      </a:r>
                      <a:r>
                        <a:rPr lang="es-AR" sz="1800" dirty="0">
                          <a:effectLst/>
                        </a:rPr>
                        <a:t>”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</a:rPr>
                        <a:t>(3° columna)</a:t>
                      </a:r>
                      <a:endParaRPr lang="es-AR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effectLst/>
                        </a:rPr>
                        <a:t>Presente</a:t>
                      </a:r>
                      <a:r>
                        <a:rPr lang="en-US" sz="1800" b="1" dirty="0">
                          <a:effectLst/>
                        </a:rPr>
                        <a:t>/</a:t>
                      </a:r>
                      <a:r>
                        <a:rPr lang="en-US" sz="1800" b="1" dirty="0" err="1">
                          <a:effectLst/>
                        </a:rPr>
                        <a:t>Pasado</a:t>
                      </a:r>
                      <a:r>
                        <a:rPr lang="en-US" sz="1800" b="1" dirty="0">
                          <a:effectLst/>
                        </a:rPr>
                        <a:t> Perfecto</a:t>
                      </a:r>
                      <a:endParaRPr lang="es-AR" sz="1800" b="1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e.g.: I have/had studied</a:t>
                      </a:r>
                      <a:endParaRPr lang="es-AR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effectLst/>
                        </a:rPr>
                        <a:t>Futuro</a:t>
                      </a:r>
                      <a:r>
                        <a:rPr lang="en-US" sz="1800" b="1" dirty="0">
                          <a:effectLst/>
                        </a:rPr>
                        <a:t> Perfecto</a:t>
                      </a:r>
                      <a:endParaRPr lang="es-AR" sz="1800" b="1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e.g.: I will have studied</a:t>
                      </a:r>
                      <a:endParaRPr lang="es-AR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VOZ PASIVA</a:t>
                      </a:r>
                      <a:endParaRPr lang="es-AR" sz="1800" b="1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e.g.: It is studied</a:t>
                      </a:r>
                      <a:endParaRPr lang="es-AR" sz="1800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       It was studied</a:t>
                      </a:r>
                      <a:endParaRPr lang="es-AR" sz="1800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       It will be studied</a:t>
                      </a:r>
                      <a:endParaRPr lang="es-AR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28582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effectLst/>
                        </a:rPr>
                        <a:t>PRESENTE PARTICIPIO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“studying”</a:t>
                      </a:r>
                      <a:endParaRPr lang="es-AR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effectLst/>
                        </a:rPr>
                        <a:t>Presente</a:t>
                      </a:r>
                      <a:r>
                        <a:rPr lang="en-US" sz="1800" b="1" dirty="0">
                          <a:effectLst/>
                        </a:rPr>
                        <a:t>/</a:t>
                      </a:r>
                      <a:r>
                        <a:rPr lang="en-US" sz="1800" b="1" dirty="0" err="1">
                          <a:effectLst/>
                        </a:rPr>
                        <a:t>Pasado</a:t>
                      </a:r>
                      <a:r>
                        <a:rPr lang="en-US" sz="1800" b="1" dirty="0">
                          <a:effectLst/>
                        </a:rPr>
                        <a:t> Continuo</a:t>
                      </a:r>
                      <a:endParaRPr lang="es-AR" sz="1800" b="1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e.g.: I am/was studying</a:t>
                      </a:r>
                      <a:endParaRPr lang="es-AR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effectLst/>
                        </a:rPr>
                        <a:t>Futuro</a:t>
                      </a:r>
                      <a:r>
                        <a:rPr lang="en-US" sz="1800" b="1" dirty="0">
                          <a:effectLst/>
                        </a:rPr>
                        <a:t> Continuo</a:t>
                      </a:r>
                      <a:endParaRPr lang="es-AR" sz="1800" b="1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e.g.: I will be studying</a:t>
                      </a:r>
                      <a:endParaRPr lang="es-AR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s-AR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849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1166"/>
          </a:xfrm>
        </p:spPr>
        <p:txBody>
          <a:bodyPr/>
          <a:lstStyle/>
          <a:p>
            <a:pPr algn="ctr"/>
            <a:r>
              <a:rPr lang="es-AR" b="1" dirty="0" smtClean="0"/>
              <a:t>EL PRESENTE SIMPLE</a:t>
            </a:r>
            <a:endParaRPr lang="es-AR" b="1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0939433"/>
              </p:ext>
            </p:extLst>
          </p:nvPr>
        </p:nvGraphicFramePr>
        <p:xfrm>
          <a:off x="677336" y="1584102"/>
          <a:ext cx="8711364" cy="49068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50892"/>
                <a:gridCol w="2177520"/>
                <a:gridCol w="2368054"/>
                <a:gridCol w="2314898"/>
              </a:tblGrid>
              <a:tr h="772112">
                <a:tc>
                  <a:txBody>
                    <a:bodyPr/>
                    <a:lstStyle/>
                    <a:p>
                      <a:pPr algn="ctr"/>
                      <a:endParaRPr lang="es-AR" sz="1600" dirty="0" smtClean="0"/>
                    </a:p>
                    <a:p>
                      <a:pPr algn="ctr"/>
                      <a:r>
                        <a:rPr lang="es-AR" sz="1600" dirty="0" smtClean="0"/>
                        <a:t>PRONOMBRE</a:t>
                      </a:r>
                    </a:p>
                    <a:p>
                      <a:pPr algn="ctr"/>
                      <a:endParaRPr lang="es-AR" sz="1600" dirty="0"/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 smtClean="0"/>
                    </a:p>
                    <a:p>
                      <a:pPr algn="ctr"/>
                      <a:r>
                        <a:rPr lang="es-AR" sz="1600" dirty="0" smtClean="0"/>
                        <a:t>AFIRMATIVO</a:t>
                      </a:r>
                      <a:endParaRPr lang="es-AR" sz="1600" dirty="0"/>
                    </a:p>
                  </a:txBody>
                  <a:tcPr marL="68816" marR="68816" marT="34408" marB="34408"/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 smtClean="0"/>
                    </a:p>
                    <a:p>
                      <a:pPr algn="ctr"/>
                      <a:r>
                        <a:rPr lang="es-AR" sz="1600" dirty="0" smtClean="0"/>
                        <a:t>NEGATIVO</a:t>
                      </a:r>
                      <a:endParaRPr lang="es-AR" sz="1600" dirty="0"/>
                    </a:p>
                  </a:txBody>
                  <a:tcPr marL="68816" marR="68816" marT="34408" marB="34408"/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 smtClean="0"/>
                    </a:p>
                    <a:p>
                      <a:pPr algn="ctr"/>
                      <a:r>
                        <a:rPr lang="es-AR" sz="1600" dirty="0" smtClean="0"/>
                        <a:t>INTERROGATIVO</a:t>
                      </a:r>
                      <a:endParaRPr lang="es-AR" sz="1600" dirty="0"/>
                    </a:p>
                  </a:txBody>
                  <a:tcPr marL="68816" marR="68816" marT="34408" marB="34408"/>
                </a:tc>
              </a:tr>
              <a:tr h="5832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I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read</a:t>
                      </a:r>
                      <a:endParaRPr lang="es-AR" sz="1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DO NOT </a:t>
                      </a:r>
                      <a:r>
                        <a:rPr lang="es-ES" sz="1800" dirty="0" err="1">
                          <a:effectLst/>
                        </a:rPr>
                        <a:t>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DO I </a:t>
                      </a:r>
                      <a:r>
                        <a:rPr lang="es-ES" sz="1800" dirty="0" err="1">
                          <a:effectLst/>
                        </a:rPr>
                        <a:t>read</a:t>
                      </a:r>
                      <a:r>
                        <a:rPr lang="es-ES" sz="1800" dirty="0">
                          <a:effectLst/>
                        </a:rPr>
                        <a:t>?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</a:tr>
              <a:tr h="5832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YOU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 err="1">
                          <a:effectLst/>
                        </a:rPr>
                        <a:t>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DO NOT </a:t>
                      </a:r>
                      <a:r>
                        <a:rPr lang="es-ES" sz="1800" dirty="0" err="1">
                          <a:effectLst/>
                        </a:rPr>
                        <a:t>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DO you read?</a:t>
                      </a:r>
                      <a:endParaRPr lang="es-AR" sz="1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</a:tr>
              <a:tr h="884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HE/SHE/IT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readS</a:t>
                      </a:r>
                      <a:endParaRPr lang="es-AR" sz="1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DOES  NOT </a:t>
                      </a:r>
                      <a:r>
                        <a:rPr lang="es-ES" sz="1800" dirty="0" err="1">
                          <a:effectLst/>
                        </a:rPr>
                        <a:t>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DOES he/she/it read?</a:t>
                      </a:r>
                      <a:endParaRPr lang="es-AR" sz="18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</a:tr>
              <a:tr h="5832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WE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read</a:t>
                      </a:r>
                      <a:endParaRPr lang="es-AR" sz="1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DO NOT 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DO we read?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</a:tr>
              <a:tr h="6754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YOU</a:t>
                      </a:r>
                      <a:endParaRPr lang="es-AR" sz="1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DO NOT 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DO you read?</a:t>
                      </a:r>
                      <a:endParaRPr lang="es-AR" sz="18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</a:tr>
              <a:tr h="8251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THEY</a:t>
                      </a:r>
                      <a:endParaRPr lang="es-AR" sz="1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read</a:t>
                      </a:r>
                      <a:endParaRPr lang="es-AR" sz="1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DO NOT 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DO they read?</a:t>
                      </a:r>
                      <a:endParaRPr lang="es-AR" sz="1800" dirty="0">
                        <a:effectLst/>
                      </a:endParaRPr>
                    </a:p>
                    <a:p>
                      <a:pPr algn="l"/>
                      <a:r>
                        <a:rPr lang="es-AR" sz="1800" dirty="0">
                          <a:effectLst/>
                        </a:rPr>
                        <a:t>    </a:t>
                      </a:r>
                      <a:endParaRPr lang="es-AR" sz="1800" dirty="0">
                        <a:solidFill>
                          <a:srgbClr val="365F9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57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4455" y="144889"/>
            <a:ext cx="8596668" cy="746973"/>
          </a:xfrm>
        </p:spPr>
        <p:txBody>
          <a:bodyPr>
            <a:normAutofit fontScale="90000"/>
          </a:bodyPr>
          <a:lstStyle/>
          <a:p>
            <a:pPr algn="ctr"/>
            <a:r>
              <a:rPr lang="es-AR" b="1" dirty="0" smtClean="0"/>
              <a:t>EL PASADO SIMPLE</a:t>
            </a:r>
            <a:br>
              <a:rPr lang="es-AR" b="1" dirty="0" smtClean="0"/>
            </a:br>
            <a:r>
              <a:rPr lang="es-AR" sz="3100" b="1" dirty="0" smtClean="0"/>
              <a:t>“TO BE”</a:t>
            </a:r>
            <a:endParaRPr lang="es-AR" sz="3100" b="1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5172953"/>
              </p:ext>
            </p:extLst>
          </p:nvPr>
        </p:nvGraphicFramePr>
        <p:xfrm>
          <a:off x="386366" y="1120462"/>
          <a:ext cx="9749306" cy="57328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6166"/>
                <a:gridCol w="1775539"/>
                <a:gridCol w="1804919"/>
                <a:gridCol w="2306341"/>
                <a:gridCol w="2306341"/>
              </a:tblGrid>
              <a:tr h="33485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b="1" dirty="0">
                          <a:effectLst/>
                        </a:rPr>
                        <a:t>Pronombre</a:t>
                      </a:r>
                      <a:endParaRPr lang="es-A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b="1" dirty="0">
                          <a:effectLst/>
                        </a:rPr>
                        <a:t>PRESENTE</a:t>
                      </a:r>
                      <a:endParaRPr lang="es-A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b="1" dirty="0">
                          <a:effectLst/>
                        </a:rPr>
                        <a:t>PASADO</a:t>
                      </a:r>
                      <a:endParaRPr lang="es-A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5524">
                <a:tc rowSpan="6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Afirmativo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I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am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was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 smtClean="0">
                          <a:effectLst/>
                        </a:rPr>
                        <a:t>an</a:t>
                      </a:r>
                      <a:r>
                        <a:rPr lang="es-AR" sz="1400" dirty="0" smtClean="0">
                          <a:effectLst/>
                        </a:rPr>
                        <a:t> </a:t>
                      </a:r>
                      <a:r>
                        <a:rPr lang="es-AR" sz="1400" dirty="0" err="1" smtClean="0">
                          <a:effectLst/>
                        </a:rPr>
                        <a:t>engineer</a:t>
                      </a:r>
                      <a:r>
                        <a:rPr lang="es-AR" sz="1400" dirty="0" smtClean="0">
                          <a:effectLst/>
                        </a:rPr>
                        <a:t>.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55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You</a:t>
                      </a:r>
                      <a:r>
                        <a:rPr lang="es-AR" sz="1400" dirty="0">
                          <a:effectLst/>
                        </a:rPr>
                        <a:t> (</a:t>
                      </a:r>
                      <a:r>
                        <a:rPr lang="es-AR" sz="1400" dirty="0" err="1">
                          <a:effectLst/>
                        </a:rPr>
                        <a:t>sing</a:t>
                      </a:r>
                      <a:r>
                        <a:rPr lang="es-AR" sz="1400" dirty="0">
                          <a:effectLst/>
                        </a:rPr>
                        <a:t>)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are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were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355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He/She/It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is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was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355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We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are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were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 smtClean="0">
                          <a:effectLst/>
                        </a:rPr>
                        <a:t>engineers</a:t>
                      </a:r>
                      <a:r>
                        <a:rPr lang="es-AR" sz="1400" dirty="0" smtClean="0">
                          <a:effectLst/>
                        </a:rPr>
                        <a:t>.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55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You (plural)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are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were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355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They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are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were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3552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552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 smtClean="0">
                          <a:effectLst/>
                        </a:rPr>
                        <a:t>Pronombre</a:t>
                      </a:r>
                      <a:endParaRPr lang="es-AR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>
                          <a:effectLst/>
                        </a:rPr>
                        <a:t>PRESENTE</a:t>
                      </a:r>
                      <a:endParaRPr lang="es-AR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>
                          <a:effectLst/>
                        </a:rPr>
                        <a:t>PASADO</a:t>
                      </a:r>
                      <a:endParaRPr lang="es-AR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5524">
                <a:tc rowSpan="6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Negativo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I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am not (I´m not)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was not (wasn´t)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AR" sz="1400" dirty="0" smtClean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 smtClean="0">
                          <a:effectLst/>
                        </a:rPr>
                        <a:t>an</a:t>
                      </a:r>
                      <a:r>
                        <a:rPr lang="es-AR" sz="1400" dirty="0" smtClean="0">
                          <a:effectLst/>
                        </a:rPr>
                        <a:t> </a:t>
                      </a:r>
                      <a:r>
                        <a:rPr lang="es-AR" sz="1400" dirty="0" err="1" smtClean="0">
                          <a:effectLst/>
                        </a:rPr>
                        <a:t>engineer</a:t>
                      </a:r>
                      <a:r>
                        <a:rPr lang="es-AR" sz="1400" dirty="0" smtClean="0">
                          <a:effectLst/>
                        </a:rPr>
                        <a:t>.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55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You (sing)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are not (aren´t)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were</a:t>
                      </a:r>
                      <a:r>
                        <a:rPr lang="es-AR" sz="1400" dirty="0">
                          <a:effectLst/>
                        </a:rPr>
                        <a:t> </a:t>
                      </a:r>
                      <a:r>
                        <a:rPr lang="es-AR" sz="1400" dirty="0" err="1">
                          <a:effectLst/>
                        </a:rPr>
                        <a:t>not</a:t>
                      </a:r>
                      <a:r>
                        <a:rPr lang="es-AR" sz="1400" dirty="0">
                          <a:effectLst/>
                        </a:rPr>
                        <a:t> (</a:t>
                      </a:r>
                      <a:r>
                        <a:rPr lang="es-AR" sz="1400" dirty="0" err="1">
                          <a:effectLst/>
                        </a:rPr>
                        <a:t>weren´t</a:t>
                      </a:r>
                      <a:r>
                        <a:rPr lang="es-AR" sz="1400" dirty="0">
                          <a:effectLst/>
                        </a:rPr>
                        <a:t>)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355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He/She/It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is not (isn´t)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was</a:t>
                      </a:r>
                      <a:r>
                        <a:rPr lang="es-AR" sz="1400" dirty="0">
                          <a:effectLst/>
                        </a:rPr>
                        <a:t> </a:t>
                      </a:r>
                      <a:r>
                        <a:rPr lang="es-AR" sz="1400" dirty="0" err="1">
                          <a:effectLst/>
                        </a:rPr>
                        <a:t>not</a:t>
                      </a:r>
                      <a:r>
                        <a:rPr lang="es-AR" sz="1400" dirty="0">
                          <a:effectLst/>
                        </a:rPr>
                        <a:t> (</a:t>
                      </a:r>
                      <a:r>
                        <a:rPr lang="es-AR" sz="1400" dirty="0" err="1">
                          <a:effectLst/>
                        </a:rPr>
                        <a:t>wasn´t</a:t>
                      </a:r>
                      <a:r>
                        <a:rPr lang="es-AR" sz="1400" dirty="0">
                          <a:effectLst/>
                        </a:rPr>
                        <a:t>)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355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We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are not (aren´t)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were not (weren´t)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smtClean="0">
                          <a:effectLst/>
                        </a:rPr>
                        <a:t> </a:t>
                      </a:r>
                      <a:r>
                        <a:rPr lang="es-AR" sz="1400" dirty="0" err="1" smtClean="0">
                          <a:effectLst/>
                        </a:rPr>
                        <a:t>engineers</a:t>
                      </a:r>
                      <a:r>
                        <a:rPr lang="es-AR" sz="1400" dirty="0" smtClean="0">
                          <a:effectLst/>
                        </a:rPr>
                        <a:t>.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55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You (plural)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are not (aren´t)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were</a:t>
                      </a:r>
                      <a:r>
                        <a:rPr lang="es-AR" sz="1400" dirty="0">
                          <a:effectLst/>
                        </a:rPr>
                        <a:t> </a:t>
                      </a:r>
                      <a:r>
                        <a:rPr lang="es-AR" sz="1400" dirty="0" err="1">
                          <a:effectLst/>
                        </a:rPr>
                        <a:t>not</a:t>
                      </a:r>
                      <a:r>
                        <a:rPr lang="es-AR" sz="1400" dirty="0">
                          <a:effectLst/>
                        </a:rPr>
                        <a:t> (</a:t>
                      </a:r>
                      <a:r>
                        <a:rPr lang="es-AR" sz="1400" dirty="0" err="1">
                          <a:effectLst/>
                        </a:rPr>
                        <a:t>weren´t</a:t>
                      </a:r>
                      <a:r>
                        <a:rPr lang="es-AR" sz="1400" dirty="0">
                          <a:effectLst/>
                        </a:rPr>
                        <a:t>)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355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They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are not (aren´t)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were</a:t>
                      </a:r>
                      <a:r>
                        <a:rPr lang="es-AR" sz="1400" dirty="0">
                          <a:effectLst/>
                        </a:rPr>
                        <a:t> </a:t>
                      </a:r>
                      <a:r>
                        <a:rPr lang="es-AR" sz="1400" dirty="0" err="1">
                          <a:effectLst/>
                        </a:rPr>
                        <a:t>not</a:t>
                      </a:r>
                      <a:r>
                        <a:rPr lang="es-AR" sz="1400" dirty="0">
                          <a:effectLst/>
                        </a:rPr>
                        <a:t> (</a:t>
                      </a:r>
                      <a:r>
                        <a:rPr lang="es-AR" sz="1400" dirty="0" err="1">
                          <a:effectLst/>
                        </a:rPr>
                        <a:t>weren´t</a:t>
                      </a:r>
                      <a:r>
                        <a:rPr lang="es-AR" sz="1400" dirty="0">
                          <a:effectLst/>
                        </a:rPr>
                        <a:t>)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3552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552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707390" algn="l"/>
                        </a:tabLst>
                      </a:pPr>
                      <a:r>
                        <a:rPr lang="es-AR" sz="1400">
                          <a:effectLst/>
                        </a:rPr>
                        <a:t>	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>
                          <a:effectLst/>
                        </a:rPr>
                        <a:t>PRESENTE</a:t>
                      </a:r>
                      <a:endParaRPr lang="es-AR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>
                          <a:effectLst/>
                        </a:rPr>
                        <a:t>PASADO</a:t>
                      </a:r>
                      <a:endParaRPr lang="es-AR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>
                          <a:effectLst/>
                        </a:rPr>
                        <a:t>Pronombre</a:t>
                      </a:r>
                      <a:endParaRPr lang="es-AR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5524">
                <a:tc rowSpan="6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Interrogativo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Am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was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I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</a:p>
                    <a:p>
                      <a:pPr marL="0" marR="0" lvl="0" indent="0" algn="just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 err="1" smtClean="0">
                          <a:effectLst/>
                        </a:rPr>
                        <a:t>an</a:t>
                      </a:r>
                      <a:r>
                        <a:rPr lang="es-AR" sz="1400" dirty="0" smtClean="0">
                          <a:effectLst/>
                        </a:rPr>
                        <a:t> </a:t>
                      </a:r>
                      <a:r>
                        <a:rPr lang="es-AR" sz="1400" dirty="0" err="1" smtClean="0">
                          <a:effectLst/>
                        </a:rPr>
                        <a:t>engineer</a:t>
                      </a:r>
                      <a:r>
                        <a:rPr lang="es-AR" sz="1400" dirty="0" smtClean="0">
                          <a:effectLst/>
                        </a:rPr>
                        <a:t>?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55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Are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were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You</a:t>
                      </a:r>
                      <a:r>
                        <a:rPr lang="es-AR" sz="1400" dirty="0">
                          <a:effectLst/>
                        </a:rPr>
                        <a:t> (</a:t>
                      </a:r>
                      <a:r>
                        <a:rPr lang="es-AR" sz="1400" dirty="0" err="1">
                          <a:effectLst/>
                        </a:rPr>
                        <a:t>sing</a:t>
                      </a:r>
                      <a:r>
                        <a:rPr lang="es-AR" sz="1400" dirty="0">
                          <a:effectLst/>
                        </a:rPr>
                        <a:t>)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355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Is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was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He/</a:t>
                      </a:r>
                      <a:r>
                        <a:rPr lang="es-AR" sz="1400" dirty="0" err="1">
                          <a:effectLst/>
                        </a:rPr>
                        <a:t>She</a:t>
                      </a:r>
                      <a:r>
                        <a:rPr lang="es-AR" sz="1400" dirty="0">
                          <a:effectLst/>
                        </a:rPr>
                        <a:t>/</a:t>
                      </a:r>
                      <a:r>
                        <a:rPr lang="es-AR" sz="1400" dirty="0" err="1">
                          <a:effectLst/>
                        </a:rPr>
                        <a:t>It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355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Are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were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We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smtClean="0">
                          <a:effectLst/>
                        </a:rPr>
                        <a:t> </a:t>
                      </a:r>
                      <a:r>
                        <a:rPr lang="es-AR" sz="1400" dirty="0" err="1" smtClean="0">
                          <a:effectLst/>
                        </a:rPr>
                        <a:t>engineers</a:t>
                      </a:r>
                      <a:r>
                        <a:rPr lang="es-AR" sz="1400" dirty="0" smtClean="0">
                          <a:effectLst/>
                        </a:rPr>
                        <a:t>?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55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Are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were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You</a:t>
                      </a:r>
                      <a:r>
                        <a:rPr lang="es-AR" sz="1400" dirty="0">
                          <a:effectLst/>
                        </a:rPr>
                        <a:t> (plural)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355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Are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were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They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40688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21973"/>
            <a:ext cx="8596668" cy="1197734"/>
          </a:xfrm>
        </p:spPr>
        <p:txBody>
          <a:bodyPr>
            <a:normAutofit fontScale="90000"/>
          </a:bodyPr>
          <a:lstStyle/>
          <a:p>
            <a:pPr algn="ctr"/>
            <a:r>
              <a:rPr lang="es-AR" b="1" dirty="0"/>
              <a:t>EL PASADO </a:t>
            </a:r>
            <a:r>
              <a:rPr lang="es-AR" b="1" dirty="0" smtClean="0"/>
              <a:t>SIMPLE</a:t>
            </a:r>
            <a:br>
              <a:rPr lang="es-AR" b="1" dirty="0" smtClean="0"/>
            </a:br>
            <a:r>
              <a:rPr lang="es-AR" b="1" dirty="0"/>
              <a:t>“</a:t>
            </a:r>
            <a:r>
              <a:rPr lang="es-AR" sz="3100" b="1" dirty="0"/>
              <a:t>THERE</a:t>
            </a:r>
            <a:r>
              <a:rPr lang="es-AR" sz="3100" dirty="0"/>
              <a:t> </a:t>
            </a:r>
            <a:r>
              <a:rPr lang="es-AR" sz="3100" b="1" dirty="0"/>
              <a:t>BE</a:t>
            </a:r>
            <a:r>
              <a:rPr lang="es-AR" b="1" dirty="0"/>
              <a:t>”</a:t>
            </a:r>
            <a:r>
              <a:rPr lang="es-AR" dirty="0"/>
              <a:t/>
            </a:r>
            <a:br>
              <a:rPr lang="es-AR" dirty="0"/>
            </a:b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1426492"/>
            <a:ext cx="8917427" cy="5296280"/>
          </a:xfrm>
        </p:spPr>
        <p:txBody>
          <a:bodyPr>
            <a:normAutofit fontScale="92500" lnSpcReduction="20000"/>
          </a:bodyPr>
          <a:lstStyle/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r>
              <a:rPr lang="es-AR" dirty="0" smtClean="0"/>
              <a:t>Traducción </a:t>
            </a:r>
            <a:r>
              <a:rPr lang="es-AR" dirty="0"/>
              <a:t>“</a:t>
            </a:r>
            <a:r>
              <a:rPr lang="es-AR" b="1" i="1" dirty="0"/>
              <a:t>hubo</a:t>
            </a:r>
            <a:r>
              <a:rPr lang="es-AR" dirty="0"/>
              <a:t>” o “</a:t>
            </a:r>
            <a:r>
              <a:rPr lang="es-AR" b="1" i="1" dirty="0"/>
              <a:t>había</a:t>
            </a:r>
            <a:r>
              <a:rPr lang="es-AR" dirty="0"/>
              <a:t>”.</a:t>
            </a:r>
          </a:p>
          <a:p>
            <a:pPr marL="0" lvl="0" indent="0">
              <a:buNone/>
            </a:pPr>
            <a:r>
              <a:rPr lang="es-AR" dirty="0" smtClean="0"/>
              <a:t>	</a:t>
            </a:r>
          </a:p>
          <a:p>
            <a:r>
              <a:rPr lang="es-AR" u="sng" dirty="0"/>
              <a:t>S</a:t>
            </a:r>
            <a:r>
              <a:rPr lang="es-AR" u="sng" dirty="0" smtClean="0"/>
              <a:t>ustantivos contables</a:t>
            </a:r>
            <a:r>
              <a:rPr lang="es-AR" dirty="0" smtClean="0"/>
              <a:t>:</a:t>
            </a:r>
            <a:endParaRPr lang="es-AR" dirty="0"/>
          </a:p>
          <a:p>
            <a:pPr marL="0" indent="0">
              <a:buNone/>
            </a:pPr>
            <a:r>
              <a:rPr lang="en-US" b="1" dirty="0" smtClean="0"/>
              <a:t>	Singular</a:t>
            </a:r>
            <a:r>
              <a:rPr lang="en-US" b="1" dirty="0"/>
              <a:t>: THERE IS/WAS</a:t>
            </a:r>
            <a:r>
              <a:rPr lang="en-US" dirty="0"/>
              <a:t> a </a:t>
            </a:r>
            <a:r>
              <a:rPr lang="en-US" dirty="0" smtClean="0"/>
              <a:t>computer in the lab.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(</a:t>
            </a:r>
            <a:r>
              <a:rPr lang="en-US" i="1" dirty="0"/>
              <a:t>Hay</a:t>
            </a:r>
            <a:r>
              <a:rPr lang="en-US" dirty="0"/>
              <a:t>/</a:t>
            </a:r>
            <a:r>
              <a:rPr lang="en-US" i="1" dirty="0" err="1"/>
              <a:t>Había</a:t>
            </a:r>
            <a:r>
              <a:rPr lang="en-US" dirty="0"/>
              <a:t> </a:t>
            </a:r>
            <a:r>
              <a:rPr lang="en-US" dirty="0" err="1" smtClean="0"/>
              <a:t>una</a:t>
            </a:r>
            <a:r>
              <a:rPr lang="en-US" dirty="0"/>
              <a:t> </a:t>
            </a:r>
            <a:r>
              <a:rPr lang="en-US" dirty="0" err="1" smtClean="0"/>
              <a:t>computadora</a:t>
            </a:r>
            <a:r>
              <a:rPr lang="en-US" dirty="0" smtClean="0"/>
              <a:t>…</a:t>
            </a:r>
            <a:endParaRPr lang="es-AR" dirty="0"/>
          </a:p>
          <a:p>
            <a:pPr marL="0" indent="0">
              <a:buNone/>
            </a:pPr>
            <a:r>
              <a:rPr lang="en-US" b="1" dirty="0" smtClean="0"/>
              <a:t>	Plural</a:t>
            </a:r>
            <a:r>
              <a:rPr lang="en-US" b="1" dirty="0"/>
              <a:t>: THERE ARE/WERE</a:t>
            </a:r>
            <a:r>
              <a:rPr lang="en-US" dirty="0"/>
              <a:t> three </a:t>
            </a:r>
            <a:r>
              <a:rPr lang="en-US" dirty="0" smtClean="0"/>
              <a:t>computers in that office.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(</a:t>
            </a:r>
            <a:r>
              <a:rPr lang="en-US" i="1" dirty="0"/>
              <a:t>Hay</a:t>
            </a:r>
            <a:r>
              <a:rPr lang="en-US" dirty="0"/>
              <a:t>/</a:t>
            </a:r>
            <a:r>
              <a:rPr lang="en-US" i="1" dirty="0" err="1"/>
              <a:t>Había</a:t>
            </a:r>
            <a:r>
              <a:rPr lang="en-US" dirty="0"/>
              <a:t> </a:t>
            </a:r>
            <a:r>
              <a:rPr lang="en-US" dirty="0" err="1"/>
              <a:t>tres</a:t>
            </a:r>
            <a:r>
              <a:rPr lang="en-US" dirty="0"/>
              <a:t> </a:t>
            </a:r>
            <a:r>
              <a:rPr lang="en-US" dirty="0" smtClean="0"/>
              <a:t>	</a:t>
            </a:r>
            <a:r>
              <a:rPr lang="en-US" dirty="0" err="1" smtClean="0"/>
              <a:t>computadoras</a:t>
            </a:r>
            <a:r>
              <a:rPr lang="en-US" dirty="0" smtClean="0"/>
              <a:t>...</a:t>
            </a:r>
          </a:p>
          <a:p>
            <a:pPr marL="0" indent="0">
              <a:buNone/>
            </a:pPr>
            <a:endParaRPr lang="es-AR" dirty="0"/>
          </a:p>
          <a:p>
            <a:r>
              <a:rPr lang="en-US" dirty="0"/>
              <a:t> </a:t>
            </a:r>
            <a:r>
              <a:rPr lang="en-US" u="sng" dirty="0" err="1" smtClean="0"/>
              <a:t>Sustantivos</a:t>
            </a:r>
            <a:r>
              <a:rPr lang="en-US" u="sng" dirty="0" smtClean="0"/>
              <a:t> no </a:t>
            </a:r>
            <a:r>
              <a:rPr lang="en-US" u="sng" dirty="0" err="1" smtClean="0"/>
              <a:t>contables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b="1" dirty="0" smtClean="0"/>
              <a:t>	THERE </a:t>
            </a:r>
            <a:r>
              <a:rPr lang="en-US" b="1" dirty="0"/>
              <a:t>IS/WAS</a:t>
            </a:r>
            <a:r>
              <a:rPr lang="en-US" dirty="0"/>
              <a:t> </a:t>
            </a:r>
            <a:r>
              <a:rPr lang="en-US" b="1" i="1" dirty="0"/>
              <a:t>some</a:t>
            </a:r>
            <a:r>
              <a:rPr lang="en-US" dirty="0"/>
              <a:t> information about that </a:t>
            </a:r>
            <a:r>
              <a:rPr lang="en-US" dirty="0" smtClean="0"/>
              <a:t>software in </a:t>
            </a:r>
            <a:r>
              <a:rPr lang="en-US" dirty="0"/>
              <a:t>this magazine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	</a:t>
            </a:r>
            <a:r>
              <a:rPr lang="es-AR" dirty="0" smtClean="0"/>
              <a:t>(</a:t>
            </a:r>
            <a:r>
              <a:rPr lang="es-AR" i="1" dirty="0"/>
              <a:t>Hay</a:t>
            </a:r>
            <a:r>
              <a:rPr lang="es-AR" dirty="0"/>
              <a:t>/</a:t>
            </a:r>
            <a:r>
              <a:rPr lang="es-AR" i="1" dirty="0"/>
              <a:t>Había</a:t>
            </a:r>
            <a:r>
              <a:rPr lang="es-AR" dirty="0"/>
              <a:t> algo de/alguna información sobre…</a:t>
            </a:r>
          </a:p>
          <a:p>
            <a:pPr marL="0" indent="0">
              <a:buNone/>
            </a:pPr>
            <a:endParaRPr lang="es-AR" dirty="0"/>
          </a:p>
          <a:p>
            <a:endParaRPr lang="es-AR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958664"/>
              </p:ext>
            </p:extLst>
          </p:nvPr>
        </p:nvGraphicFramePr>
        <p:xfrm>
          <a:off x="875764" y="1472422"/>
          <a:ext cx="8718998" cy="850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657"/>
                <a:gridCol w="2932634"/>
                <a:gridCol w="3287707"/>
              </a:tblGrid>
              <a:tr h="485167">
                <a:tc>
                  <a:txBody>
                    <a:bodyPr/>
                    <a:lstStyle/>
                    <a:p>
                      <a:r>
                        <a:rPr lang="es-AR" dirty="0" smtClean="0"/>
                        <a:t>Presente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1" dirty="0" smtClean="0"/>
                        <a:t>THERE IS (singular)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1" dirty="0" smtClean="0"/>
                        <a:t>THERE ARE </a:t>
                      </a:r>
                      <a:r>
                        <a:rPr lang="es-AR" dirty="0" smtClean="0"/>
                        <a:t>(Plural)</a:t>
                      </a:r>
                    </a:p>
                  </a:txBody>
                  <a:tcPr/>
                </a:tc>
              </a:tr>
              <a:tr h="318475">
                <a:tc>
                  <a:txBody>
                    <a:bodyPr/>
                    <a:lstStyle/>
                    <a:p>
                      <a:r>
                        <a:rPr lang="es-AR" dirty="0" smtClean="0"/>
                        <a:t>Pasado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THERE WAS 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THERE WERE 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996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00259"/>
          </a:xfrm>
        </p:spPr>
        <p:txBody>
          <a:bodyPr>
            <a:normAutofit fontScale="90000"/>
          </a:bodyPr>
          <a:lstStyle/>
          <a:p>
            <a:pPr algn="ctr"/>
            <a:r>
              <a:rPr lang="es-AR" b="1" dirty="0"/>
              <a:t>EL PASADO SIMPLE</a:t>
            </a:r>
            <a:br>
              <a:rPr lang="es-AR" b="1" dirty="0"/>
            </a:br>
            <a:r>
              <a:rPr lang="es-AR" b="1" dirty="0" smtClean="0"/>
              <a:t>Verbos regulares/irregulares</a:t>
            </a:r>
            <a:endParaRPr lang="es-AR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980934"/>
              </p:ext>
            </p:extLst>
          </p:nvPr>
        </p:nvGraphicFramePr>
        <p:xfrm>
          <a:off x="677336" y="2163651"/>
          <a:ext cx="8596667" cy="37606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5946"/>
                <a:gridCol w="1749335"/>
                <a:gridCol w="1888169"/>
                <a:gridCol w="3403217"/>
              </a:tblGrid>
              <a:tr h="4472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PRONOMBRE</a:t>
                      </a:r>
                      <a:endParaRPr lang="es-AR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Afirmativo</a:t>
                      </a:r>
                      <a:endParaRPr lang="es-AR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Negativo</a:t>
                      </a:r>
                      <a:endParaRPr lang="es-AR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Interrogativo</a:t>
                      </a:r>
                      <a:endParaRPr lang="es-AR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9550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I</a:t>
                      </a:r>
                      <a:endParaRPr lang="es-A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YOU</a:t>
                      </a:r>
                      <a:endParaRPr lang="es-AR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ES" sz="1600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 err="1" smtClean="0">
                          <a:effectLst/>
                        </a:rPr>
                        <a:t>talk</a:t>
                      </a:r>
                      <a:r>
                        <a:rPr lang="es-ES" sz="1600" b="1" dirty="0" err="1" smtClean="0">
                          <a:effectLst/>
                        </a:rPr>
                        <a:t>ed</a:t>
                      </a:r>
                      <a:endParaRPr lang="es-AR" sz="1600" b="1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AR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ES" sz="1600" b="1" dirty="0" smtClean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 smtClean="0">
                          <a:effectLst/>
                        </a:rPr>
                        <a:t>DID </a:t>
                      </a:r>
                      <a:r>
                        <a:rPr lang="es-ES" sz="1600" b="1" dirty="0">
                          <a:effectLst/>
                        </a:rPr>
                        <a:t>NOT </a:t>
                      </a:r>
                      <a:r>
                        <a:rPr lang="es-ES" sz="1600" dirty="0" err="1">
                          <a:effectLst/>
                        </a:rPr>
                        <a:t>talk</a:t>
                      </a:r>
                      <a:endParaRPr lang="es-A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AR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ES" sz="1600" b="1" dirty="0" smtClean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 smtClean="0">
                          <a:effectLst/>
                        </a:rPr>
                        <a:t>DID</a:t>
                      </a:r>
                      <a:r>
                        <a:rPr lang="es-ES" sz="1600" dirty="0" smtClean="0">
                          <a:effectLst/>
                        </a:rPr>
                        <a:t> </a:t>
                      </a:r>
                      <a:r>
                        <a:rPr lang="es-ES" sz="1600" dirty="0" err="1">
                          <a:effectLst/>
                        </a:rPr>
                        <a:t>you</a:t>
                      </a:r>
                      <a:r>
                        <a:rPr lang="es-ES" sz="1600" dirty="0">
                          <a:effectLst/>
                        </a:rPr>
                        <a:t> </a:t>
                      </a:r>
                      <a:r>
                        <a:rPr lang="es-ES" sz="1600" i="1" dirty="0" err="1">
                          <a:effectLst/>
                        </a:rPr>
                        <a:t>talk</a:t>
                      </a:r>
                      <a:r>
                        <a:rPr lang="es-ES" sz="1600" dirty="0">
                          <a:effectLst/>
                        </a:rPr>
                        <a:t>?</a:t>
                      </a:r>
                      <a:endParaRPr lang="es-A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AR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4031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</a:rPr>
                        <a:t>HE/SHE/IT</a:t>
                      </a:r>
                      <a:endParaRPr lang="es-A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WE</a:t>
                      </a:r>
                      <a:endParaRPr lang="es-A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YOU</a:t>
                      </a:r>
                      <a:endParaRPr lang="es-AR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s-AR" sz="16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ES" sz="1600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 err="1" smtClean="0">
                          <a:effectLst/>
                        </a:rPr>
                        <a:t>stud</a:t>
                      </a:r>
                      <a:r>
                        <a:rPr lang="es-ES" sz="1600" b="1" dirty="0" err="1" smtClean="0">
                          <a:effectLst/>
                        </a:rPr>
                        <a:t>ied</a:t>
                      </a:r>
                      <a:endParaRPr lang="es-AR" sz="16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A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ES" sz="1600" dirty="0" smtClean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 smtClean="0">
                          <a:effectLst/>
                        </a:rPr>
                        <a:t>DID </a:t>
                      </a:r>
                      <a:r>
                        <a:rPr lang="es-ES" sz="1600" b="1" dirty="0">
                          <a:effectLst/>
                        </a:rPr>
                        <a:t>NOT </a:t>
                      </a:r>
                      <a:r>
                        <a:rPr lang="es-ES" sz="1600" i="1" dirty="0" err="1">
                          <a:effectLst/>
                        </a:rPr>
                        <a:t>study</a:t>
                      </a:r>
                      <a:endParaRPr lang="es-AR" sz="1600" i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A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ES" sz="1600" dirty="0" smtClean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 smtClean="0">
                          <a:effectLst/>
                        </a:rPr>
                        <a:t>DID</a:t>
                      </a:r>
                      <a:r>
                        <a:rPr lang="es-ES" sz="1600" dirty="0" smtClean="0">
                          <a:effectLst/>
                        </a:rPr>
                        <a:t> </a:t>
                      </a:r>
                      <a:r>
                        <a:rPr lang="es-ES" sz="1600" dirty="0" err="1">
                          <a:effectLst/>
                        </a:rPr>
                        <a:t>you</a:t>
                      </a:r>
                      <a:r>
                        <a:rPr lang="es-ES" sz="1600" dirty="0">
                          <a:effectLst/>
                        </a:rPr>
                        <a:t> </a:t>
                      </a:r>
                      <a:r>
                        <a:rPr lang="es-ES" sz="1600" i="1" dirty="0" err="1">
                          <a:effectLst/>
                        </a:rPr>
                        <a:t>study</a:t>
                      </a:r>
                      <a:r>
                        <a:rPr lang="es-ES" sz="1600" dirty="0">
                          <a:effectLst/>
                        </a:rPr>
                        <a:t>?</a:t>
                      </a:r>
                      <a:endParaRPr lang="es-A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AR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9550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ES" sz="1600" dirty="0" smtClean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THEY</a:t>
                      </a:r>
                      <a:endParaRPr lang="es-AR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ES" sz="1600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 err="1" smtClean="0">
                          <a:effectLst/>
                        </a:rPr>
                        <a:t>spoke</a:t>
                      </a:r>
                      <a:endParaRPr lang="es-AR" sz="16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ES" sz="1600" dirty="0" smtClean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 smtClean="0">
                          <a:effectLst/>
                        </a:rPr>
                        <a:t>DID </a:t>
                      </a:r>
                      <a:r>
                        <a:rPr lang="es-ES" sz="1600" b="1" dirty="0">
                          <a:effectLst/>
                        </a:rPr>
                        <a:t>NOT</a:t>
                      </a:r>
                      <a:r>
                        <a:rPr lang="es-ES" sz="1600" dirty="0">
                          <a:effectLst/>
                        </a:rPr>
                        <a:t> </a:t>
                      </a:r>
                      <a:r>
                        <a:rPr lang="es-ES" sz="1600" i="1" dirty="0" err="1">
                          <a:effectLst/>
                        </a:rPr>
                        <a:t>speak</a:t>
                      </a:r>
                      <a:endParaRPr lang="es-AR" sz="1600" i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</a:rPr>
                        <a:t>DID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</a:rPr>
                        <a:t>you </a:t>
                      </a:r>
                      <a:r>
                        <a:rPr lang="en-US" sz="1600" i="1" dirty="0">
                          <a:effectLst/>
                        </a:rPr>
                        <a:t>speak</a:t>
                      </a:r>
                      <a:r>
                        <a:rPr lang="en-US" sz="1600" dirty="0">
                          <a:effectLst/>
                        </a:rPr>
                        <a:t>?</a:t>
                      </a:r>
                      <a:endParaRPr lang="es-A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s-AR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89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7228"/>
          </a:xfrm>
        </p:spPr>
        <p:txBody>
          <a:bodyPr/>
          <a:lstStyle/>
          <a:p>
            <a:pPr algn="ctr"/>
            <a:r>
              <a:rPr lang="es-AR" b="1" dirty="0" smtClean="0"/>
              <a:t>EL PASADO SIMPLE</a:t>
            </a:r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 lnSpcReduction="10000"/>
          </a:bodyPr>
          <a:lstStyle/>
          <a:p>
            <a:pPr lvl="0"/>
            <a:r>
              <a:rPr lang="es-AR" sz="2000" dirty="0"/>
              <a:t>Si el verbo es </a:t>
            </a:r>
            <a:r>
              <a:rPr lang="es-AR" sz="2000" b="1" dirty="0"/>
              <a:t>regular</a:t>
            </a:r>
            <a:r>
              <a:rPr lang="es-AR" sz="2000" dirty="0"/>
              <a:t> el verbo en afirmativo termina en “-</a:t>
            </a:r>
            <a:r>
              <a:rPr lang="es-AR" sz="2000" b="1" dirty="0" err="1"/>
              <a:t>ed</a:t>
            </a:r>
            <a:r>
              <a:rPr lang="es-AR" sz="2000" dirty="0"/>
              <a:t>” “(</a:t>
            </a:r>
            <a:r>
              <a:rPr lang="es-AR" sz="2000" dirty="0" err="1"/>
              <a:t>talk</a:t>
            </a:r>
            <a:r>
              <a:rPr lang="es-AR" sz="2000" dirty="0"/>
              <a:t> – </a:t>
            </a:r>
            <a:r>
              <a:rPr lang="es-AR" sz="2000" dirty="0" err="1"/>
              <a:t>talked</a:t>
            </a:r>
            <a:r>
              <a:rPr lang="es-AR" sz="2000" dirty="0"/>
              <a:t>) o “-</a:t>
            </a:r>
            <a:r>
              <a:rPr lang="es-AR" sz="2000" b="1" dirty="0" err="1"/>
              <a:t>ied</a:t>
            </a:r>
            <a:r>
              <a:rPr lang="es-AR" sz="2000" dirty="0"/>
              <a:t>” (</a:t>
            </a:r>
            <a:r>
              <a:rPr lang="es-AR" sz="2000" dirty="0" err="1"/>
              <a:t>study</a:t>
            </a:r>
            <a:r>
              <a:rPr lang="es-AR" sz="2000" dirty="0"/>
              <a:t> – </a:t>
            </a:r>
            <a:r>
              <a:rPr lang="es-AR" sz="2000" dirty="0" err="1"/>
              <a:t>studied</a:t>
            </a:r>
            <a:r>
              <a:rPr lang="es-AR" sz="2000" dirty="0" smtClean="0"/>
              <a:t>).</a:t>
            </a:r>
          </a:p>
          <a:p>
            <a:pPr lvl="0"/>
            <a:endParaRPr lang="es-AR" sz="2000" dirty="0"/>
          </a:p>
          <a:p>
            <a:pPr lvl="0"/>
            <a:r>
              <a:rPr lang="es-AR" sz="2000" dirty="0"/>
              <a:t>Si el verbo es irregular, se debe tener en cuenta un listado de Verbos Irregulares. Por ejemplo: </a:t>
            </a:r>
            <a:r>
              <a:rPr lang="es-AR" sz="2000" b="1" dirty="0" err="1" smtClean="0"/>
              <a:t>write</a:t>
            </a:r>
            <a:r>
              <a:rPr lang="es-AR" sz="2000" dirty="0"/>
              <a:t> </a:t>
            </a:r>
            <a:r>
              <a:rPr lang="es-AR" sz="2000" dirty="0" smtClean="0"/>
              <a:t>/ </a:t>
            </a:r>
            <a:r>
              <a:rPr lang="es-AR" sz="2000" b="1" dirty="0" err="1" smtClean="0"/>
              <a:t>wrote</a:t>
            </a:r>
            <a:r>
              <a:rPr lang="es-AR" sz="2000" dirty="0" smtClean="0"/>
              <a:t>; </a:t>
            </a:r>
            <a:r>
              <a:rPr lang="es-AR" sz="2000" dirty="0" err="1" smtClean="0"/>
              <a:t>speak</a:t>
            </a:r>
            <a:r>
              <a:rPr lang="es-AR" sz="2000" dirty="0" smtClean="0"/>
              <a:t> / </a:t>
            </a:r>
            <a:r>
              <a:rPr lang="es-AR" sz="2000" dirty="0" err="1" smtClean="0"/>
              <a:t>spoke</a:t>
            </a:r>
            <a:endParaRPr lang="es-AR" sz="2000" dirty="0" smtClean="0"/>
          </a:p>
          <a:p>
            <a:pPr lvl="0"/>
            <a:r>
              <a:rPr lang="es-AR" sz="2000" dirty="0" smtClean="0"/>
              <a:t> </a:t>
            </a:r>
            <a:r>
              <a:rPr lang="es-AR" sz="2000" dirty="0"/>
              <a:t>Ver </a:t>
            </a:r>
            <a:r>
              <a:rPr lang="es-AR" sz="2000" b="1" dirty="0"/>
              <a:t>Tabla de Verbos Irregulares</a:t>
            </a:r>
            <a:r>
              <a:rPr lang="es-AR" sz="2000" dirty="0" smtClean="0"/>
              <a:t>.</a:t>
            </a:r>
          </a:p>
          <a:p>
            <a:pPr lvl="0"/>
            <a:endParaRPr lang="es-AR" sz="2000" dirty="0"/>
          </a:p>
          <a:p>
            <a:pPr lvl="0"/>
            <a:r>
              <a:rPr lang="es-AR" sz="2000" dirty="0"/>
              <a:t>En el negativo e interrogativo, aparece el auxiliar </a:t>
            </a:r>
            <a:r>
              <a:rPr lang="es-AR" sz="2000" b="1" dirty="0"/>
              <a:t>DID</a:t>
            </a:r>
            <a:r>
              <a:rPr lang="es-AR" sz="2000" dirty="0"/>
              <a:t> y el verbo recupera su </a:t>
            </a:r>
            <a:r>
              <a:rPr lang="es-AR" sz="2000" b="1" dirty="0"/>
              <a:t>forma</a:t>
            </a:r>
            <a:r>
              <a:rPr lang="es-AR" sz="2000" dirty="0"/>
              <a:t> </a:t>
            </a:r>
            <a:r>
              <a:rPr lang="es-AR" sz="2000" b="1" dirty="0"/>
              <a:t>infinitiva</a:t>
            </a:r>
            <a:r>
              <a:rPr lang="es-AR" sz="2000" dirty="0"/>
              <a:t> (</a:t>
            </a:r>
            <a:r>
              <a:rPr lang="es-AR" sz="2000" dirty="0" err="1"/>
              <a:t>talk</a:t>
            </a:r>
            <a:r>
              <a:rPr lang="es-AR" sz="2000" dirty="0"/>
              <a:t>, </a:t>
            </a:r>
            <a:r>
              <a:rPr lang="es-AR" sz="2000" dirty="0" err="1"/>
              <a:t>study</a:t>
            </a:r>
            <a:r>
              <a:rPr lang="es-AR" sz="2000" dirty="0"/>
              <a:t>, </a:t>
            </a:r>
            <a:r>
              <a:rPr lang="es-AR" sz="2000" dirty="0" err="1"/>
              <a:t>write</a:t>
            </a:r>
            <a:r>
              <a:rPr lang="es-AR" sz="2000" dirty="0" smtClean="0"/>
              <a:t>).</a:t>
            </a:r>
          </a:p>
          <a:p>
            <a:pPr lvl="0"/>
            <a:endParaRPr lang="es-AR" sz="2000" dirty="0"/>
          </a:p>
          <a:p>
            <a:pPr lvl="0"/>
            <a:r>
              <a:rPr lang="es-AR" sz="2000" dirty="0"/>
              <a:t>La forma es la misma para todos los sujetos (pronombres).</a:t>
            </a:r>
          </a:p>
        </p:txBody>
      </p:sp>
    </p:spTree>
    <p:extLst>
      <p:ext uri="{BB962C8B-B14F-4D97-AF65-F5344CB8AC3E}">
        <p14:creationId xmlns:p14="http://schemas.microsoft.com/office/powerpoint/2010/main" val="280671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446468"/>
          </a:xfrm>
        </p:spPr>
        <p:txBody>
          <a:bodyPr>
            <a:normAutofit fontScale="90000"/>
          </a:bodyPr>
          <a:lstStyle/>
          <a:p>
            <a:endParaRPr lang="es-AR" dirty="0"/>
          </a:p>
        </p:txBody>
      </p:sp>
      <p:pic>
        <p:nvPicPr>
          <p:cNvPr id="10" name="Marcador de contenido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3792" y="823912"/>
            <a:ext cx="9092484" cy="5667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92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206063"/>
            <a:ext cx="8596668" cy="734095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 smtClean="0"/>
              <a:t>PRÁCTICA</a:t>
            </a:r>
            <a:br>
              <a:rPr lang="es-AR" dirty="0" smtClean="0"/>
            </a:br>
            <a:r>
              <a:rPr lang="es-AR" b="1" dirty="0" err="1" smtClean="0"/>
              <a:t>History</a:t>
            </a:r>
            <a:r>
              <a:rPr lang="es-AR" b="1" dirty="0" smtClean="0"/>
              <a:t> of </a:t>
            </a:r>
            <a:r>
              <a:rPr lang="es-AR" b="1" dirty="0" err="1" smtClean="0"/>
              <a:t>Systems</a:t>
            </a:r>
            <a:r>
              <a:rPr lang="es-AR" b="1" dirty="0" smtClean="0"/>
              <a:t> </a:t>
            </a:r>
            <a:r>
              <a:rPr lang="es-AR" b="1" dirty="0" err="1"/>
              <a:t>E</a:t>
            </a:r>
            <a:r>
              <a:rPr lang="es-AR" b="1" dirty="0" err="1" smtClean="0"/>
              <a:t>ngineering</a:t>
            </a:r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4303" y="1275008"/>
            <a:ext cx="9316672" cy="533185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The term systems engineering dates back to Bell Telephone Laboratories in the early 1940s [</a:t>
            </a:r>
            <a:r>
              <a:rPr lang="en-US" dirty="0" err="1">
                <a:solidFill>
                  <a:schemeClr val="tx1"/>
                </a:solidFill>
              </a:rPr>
              <a:t>Schlager</a:t>
            </a:r>
            <a:r>
              <a:rPr lang="en-US" dirty="0">
                <a:solidFill>
                  <a:schemeClr val="tx1"/>
                </a:solidFill>
              </a:rPr>
              <a:t>, 1956; Hall, 1962; </a:t>
            </a:r>
            <a:r>
              <a:rPr lang="en-US" dirty="0" err="1">
                <a:solidFill>
                  <a:schemeClr val="tx1"/>
                </a:solidFill>
              </a:rPr>
              <a:t>Fagen</a:t>
            </a:r>
            <a:r>
              <a:rPr lang="en-US" dirty="0">
                <a:solidFill>
                  <a:schemeClr val="tx1"/>
                </a:solidFill>
              </a:rPr>
              <a:t>, 1978]. </a:t>
            </a:r>
            <a:r>
              <a:rPr lang="en-US" dirty="0" err="1">
                <a:solidFill>
                  <a:schemeClr val="tx1"/>
                </a:solidFill>
              </a:rPr>
              <a:t>Fagen</a:t>
            </a:r>
            <a:r>
              <a:rPr lang="en-US" dirty="0">
                <a:solidFill>
                  <a:schemeClr val="tx1"/>
                </a:solidFill>
              </a:rPr>
              <a:t> [1978] traces the concepts of systems engineering within Bell Labs back to early 1900s and describes major applications of systems engineering during World War II. Hall [1962] asserts that the first attempt to teach systems engineering as we know it today came in 1950 at MIT by Mr. Gilman, Director of Systems Engineering at Bell</a:t>
            </a:r>
            <a:r>
              <a:rPr lang="en-US" dirty="0" smtClean="0">
                <a:solidFill>
                  <a:schemeClr val="tx1"/>
                </a:solidFill>
              </a:rPr>
              <a:t>.  Hall </a:t>
            </a:r>
            <a:r>
              <a:rPr lang="en-US" dirty="0">
                <a:solidFill>
                  <a:schemeClr val="tx1"/>
                </a:solidFill>
              </a:rPr>
              <a:t>[1962] defined systems engineering as a function with five phases: (1) system studies or program planning; (2) exploratory planning, which includes problem definition, selecting objectives, systems synthesis, systems analysis, selecting the best system, and communicating the results; (3) development planning, which repeats phase 2 in more detail; (4) studies during development, which includes the development of parts of the system and the integration and testing of these parts; and (5) current engineering, which is what takes place while the system is operational and being refined.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The RAND Corporation was founded in 1946 by the United States Air Force and created systems analysis , which is certainly an important part of systems engineering.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The Department of Defense entered the world of systems engineering in the late 1940s with the initial development of missiles and missile-defense systems [Goode and </a:t>
            </a:r>
            <a:r>
              <a:rPr lang="en-US" dirty="0" err="1">
                <a:solidFill>
                  <a:schemeClr val="tx1"/>
                </a:solidFill>
              </a:rPr>
              <a:t>Machol</a:t>
            </a:r>
            <a:r>
              <a:rPr lang="en-US" dirty="0">
                <a:solidFill>
                  <a:schemeClr val="tx1"/>
                </a:solidFill>
              </a:rPr>
              <a:t>, 1957].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Paul </a:t>
            </a:r>
            <a:r>
              <a:rPr lang="en-US" dirty="0" err="1">
                <a:solidFill>
                  <a:schemeClr val="tx1"/>
                </a:solidFill>
              </a:rPr>
              <a:t>Fitts</a:t>
            </a:r>
            <a:r>
              <a:rPr lang="en-US" dirty="0">
                <a:solidFill>
                  <a:schemeClr val="tx1"/>
                </a:solidFill>
              </a:rPr>
              <a:t> addressed the allocation of the systems functions to the physical elements of the system in the late 1940s and early 1950s [</a:t>
            </a:r>
            <a:r>
              <a:rPr lang="en-US" dirty="0" err="1">
                <a:solidFill>
                  <a:schemeClr val="tx1"/>
                </a:solidFill>
              </a:rPr>
              <a:t>Fitts</a:t>
            </a:r>
            <a:r>
              <a:rPr lang="en-US" dirty="0">
                <a:solidFill>
                  <a:schemeClr val="tx1"/>
                </a:solidFill>
              </a:rPr>
              <a:t>, 1951].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87074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419977" cy="1320800"/>
          </a:xfrm>
        </p:spPr>
        <p:txBody>
          <a:bodyPr/>
          <a:lstStyle/>
          <a:p>
            <a:pPr algn="ctr"/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2160589"/>
            <a:ext cx="9692351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sz="6000" dirty="0" smtClean="0"/>
              <a:t>THANKS!</a:t>
            </a:r>
          </a:p>
          <a:p>
            <a:pPr marL="0" indent="0" algn="ctr">
              <a:buNone/>
            </a:pPr>
            <a:endParaRPr lang="es-AR" sz="6000" dirty="0"/>
          </a:p>
          <a:p>
            <a:pPr marL="0" indent="0" algn="ctr">
              <a:buNone/>
            </a:pPr>
            <a:endParaRPr lang="es-AR" sz="60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870" y="3988339"/>
            <a:ext cx="1850562" cy="2283211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2699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26E45A29B641E459FF137569A0F5FF9" ma:contentTypeVersion="4" ma:contentTypeDescription="Crear nuevo documento." ma:contentTypeScope="" ma:versionID="d2cc56b9c178553dc8dae7cbf609185d">
  <xsd:schema xmlns:xsd="http://www.w3.org/2001/XMLSchema" xmlns:xs="http://www.w3.org/2001/XMLSchema" xmlns:p="http://schemas.microsoft.com/office/2006/metadata/properties" xmlns:ns2="22dc5ea4-9cdd-4970-8bc4-2ea26828404c" targetNamespace="http://schemas.microsoft.com/office/2006/metadata/properties" ma:root="true" ma:fieldsID="d0fdf1282d8307d7848beffaf71b994c" ns2:_="">
    <xsd:import namespace="22dc5ea4-9cdd-4970-8bc4-2ea2682840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dc5ea4-9cdd-4970-8bc4-2ea2682840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798AD6B-82A3-447D-B8F4-8B0D9B63FD8F}"/>
</file>

<file path=customXml/itemProps2.xml><?xml version="1.0" encoding="utf-8"?>
<ds:datastoreItem xmlns:ds="http://schemas.openxmlformats.org/officeDocument/2006/customXml" ds:itemID="{B3EB9EC8-8DDC-4E04-B104-980D32D72A9D}"/>
</file>

<file path=customXml/itemProps3.xml><?xml version="1.0" encoding="utf-8"?>
<ds:datastoreItem xmlns:ds="http://schemas.openxmlformats.org/officeDocument/2006/customXml" ds:itemID="{FA5F8367-FF57-4EC9-8C48-911D8D30734A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15499</TotalTime>
  <Words>785</Words>
  <Application>Microsoft Office PowerPoint</Application>
  <PresentationFormat>Panorámica</PresentationFormat>
  <Paragraphs>256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Trebuchet MS</vt:lpstr>
      <vt:lpstr>Wingdings 3</vt:lpstr>
      <vt:lpstr>Faceta</vt:lpstr>
      <vt:lpstr>INGLÉS I</vt:lpstr>
      <vt:lpstr>LA ORACIÓN SIMPLE</vt:lpstr>
      <vt:lpstr>LOS VERBOS</vt:lpstr>
      <vt:lpstr>EL PRESENTE SIMPLE</vt:lpstr>
      <vt:lpstr>EL PASADO SIMPLE “TO BE”</vt:lpstr>
      <vt:lpstr>EL PASADO SIMPLE “THERE BE” </vt:lpstr>
      <vt:lpstr>EL PASADO SIMPLE Verbos regulares/irregulares</vt:lpstr>
      <vt:lpstr>EL PASADO SIMPLE</vt:lpstr>
      <vt:lpstr>Presentación de PowerPoint</vt:lpstr>
      <vt:lpstr>PRÁCTICA History of Systems Engineering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INGLÉS I</dc:title>
  <dc:creator>Usuario</dc:creator>
  <cp:lastModifiedBy>Usuario</cp:lastModifiedBy>
  <cp:revision>65</cp:revision>
  <dcterms:created xsi:type="dcterms:W3CDTF">2020-03-27T22:25:37Z</dcterms:created>
  <dcterms:modified xsi:type="dcterms:W3CDTF">2022-08-17T12:34:43Z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0x010100C26E45A29B641E459FF137569A0F5FF9</vt:lpwstr>
  </property>
</Properties>
</file>
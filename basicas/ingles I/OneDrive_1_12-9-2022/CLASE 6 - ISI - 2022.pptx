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13.xml" ContentType="application/vnd.openxmlformats-officedocument.presentationml.slideLayout+xml"/>
  <Override PartName="/ppt/slideLayouts/slideLayout16.xml" ContentType="application/vnd.openxmlformats-officedocument.presentationml.slideLayout+xml"/>
  <Override PartName="/ppt/slideLayouts/slideLayout12.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1.xml" ContentType="application/vnd.openxmlformats-officedocument.theme+xml"/>
  <Override PartName="/ppt/viewProps.xml" ContentType="application/vnd.openxmlformats-officedocument.presentationml.viewProps+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72" r:id="rId3"/>
    <p:sldId id="270" r:id="rId4"/>
    <p:sldId id="274" r:id="rId5"/>
    <p:sldId id="271" r:id="rId6"/>
    <p:sldId id="275" r:id="rId7"/>
    <p:sldId id="273" r:id="rId8"/>
    <p:sldId id="276" r:id="rId9"/>
    <p:sldId id="277" r:id="rId10"/>
    <p:sldId id="278" r:id="rId11"/>
    <p:sldId id="279"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62" autoAdjust="0"/>
    <p:restoredTop sz="94660"/>
  </p:normalViewPr>
  <p:slideViewPr>
    <p:cSldViewPr snapToGrid="0">
      <p:cViewPr varScale="1">
        <p:scale>
          <a:sx n="74" d="100"/>
          <a:sy n="74" d="100"/>
        </p:scale>
        <p:origin x="49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ustomXml" Target="../customXml/item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5/11/2022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2A54C80-263E-416B-A8E0-580EDEADCBDC}" type="datetimeFigureOut">
              <a:rPr lang="en-US" dirty="0"/>
              <a:t>5/11/2022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5/11/2022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5/11/2022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5/11/2022</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AR" dirty="0" smtClean="0"/>
              <a:t>INGLÉS I</a:t>
            </a:r>
            <a:endParaRPr lang="es-AR" dirty="0"/>
          </a:p>
        </p:txBody>
      </p:sp>
      <p:sp>
        <p:nvSpPr>
          <p:cNvPr id="3" name="Subtítulo 2"/>
          <p:cNvSpPr>
            <a:spLocks noGrp="1"/>
          </p:cNvSpPr>
          <p:nvPr>
            <p:ph type="subTitle" idx="1"/>
          </p:nvPr>
        </p:nvSpPr>
        <p:spPr/>
        <p:txBody>
          <a:bodyPr>
            <a:normAutofit lnSpcReduction="10000"/>
          </a:bodyPr>
          <a:lstStyle/>
          <a:p>
            <a:endParaRPr lang="es-AR" dirty="0" smtClean="0"/>
          </a:p>
          <a:p>
            <a:r>
              <a:rPr lang="es-AR" dirty="0" smtClean="0"/>
              <a:t>Prof. Nidia S. </a:t>
            </a:r>
            <a:r>
              <a:rPr lang="es-AR" dirty="0" err="1" smtClean="0"/>
              <a:t>Redonder</a:t>
            </a:r>
            <a:endParaRPr lang="es-AR" dirty="0"/>
          </a:p>
          <a:p>
            <a:r>
              <a:rPr lang="es-AR" dirty="0" smtClean="0"/>
              <a:t>UTN - FRSF</a:t>
            </a:r>
            <a:endParaRPr lang="es-AR" dirty="0"/>
          </a:p>
        </p:txBody>
      </p:sp>
    </p:spTree>
    <p:extLst>
      <p:ext uri="{BB962C8B-B14F-4D97-AF65-F5344CB8AC3E}">
        <p14:creationId xmlns:p14="http://schemas.microsoft.com/office/powerpoint/2010/main" val="358421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1026017"/>
          </a:xfrm>
        </p:spPr>
        <p:txBody>
          <a:bodyPr>
            <a:normAutofit/>
          </a:bodyPr>
          <a:lstStyle/>
          <a:p>
            <a:pPr algn="ctr"/>
            <a:r>
              <a:rPr lang="es-AR" altLang="es-AR" b="1" dirty="0"/>
              <a:t>TEXTO TÉCNICO</a:t>
            </a:r>
            <a:endParaRPr lang="es-AR" sz="3100" b="1" dirty="0"/>
          </a:p>
        </p:txBody>
      </p:sp>
      <p:sp>
        <p:nvSpPr>
          <p:cNvPr id="3" name="Marcador de contenido 2"/>
          <p:cNvSpPr>
            <a:spLocks noGrp="1"/>
          </p:cNvSpPr>
          <p:nvPr>
            <p:ph idx="1"/>
          </p:nvPr>
        </p:nvSpPr>
        <p:spPr>
          <a:xfrm>
            <a:off x="677334" y="1635617"/>
            <a:ext cx="8596668" cy="4405745"/>
          </a:xfrm>
        </p:spPr>
        <p:txBody>
          <a:bodyPr/>
          <a:lstStyle/>
          <a:p>
            <a:pPr marL="0" indent="0" algn="ctr">
              <a:buFont typeface="Wingdings 3" panose="05040102010807070707" pitchFamily="18" charset="2"/>
              <a:buNone/>
            </a:pPr>
            <a:endParaRPr lang="es-AR" altLang="es-AR" b="1" dirty="0" smtClean="0"/>
          </a:p>
          <a:p>
            <a:pPr marL="0" indent="0" algn="ctr">
              <a:buClr>
                <a:schemeClr val="tx2">
                  <a:lumMod val="60000"/>
                  <a:lumOff val="40000"/>
                </a:schemeClr>
              </a:buClr>
              <a:buNone/>
              <a:defRPr/>
            </a:pPr>
            <a:r>
              <a:rPr lang="es-AR" sz="2400" dirty="0" smtClean="0"/>
              <a:t>     </a:t>
            </a:r>
          </a:p>
          <a:p>
            <a:pPr marL="0" indent="0" algn="ctr">
              <a:buClr>
                <a:schemeClr val="tx2">
                  <a:lumMod val="60000"/>
                  <a:lumOff val="40000"/>
                </a:schemeClr>
              </a:buClr>
              <a:buNone/>
              <a:defRPr/>
            </a:pPr>
            <a:r>
              <a:rPr lang="es-AR" sz="2400" dirty="0" smtClean="0"/>
              <a:t>   </a:t>
            </a:r>
            <a:r>
              <a:rPr lang="es-AR" sz="2800" b="1" dirty="0" smtClean="0"/>
              <a:t>CARACTERÍSTICAS</a:t>
            </a:r>
            <a:endParaRPr lang="es-AR" sz="2800" b="1" dirty="0"/>
          </a:p>
          <a:p>
            <a:pPr marL="0" indent="0">
              <a:buClr>
                <a:schemeClr val="tx2">
                  <a:lumMod val="60000"/>
                  <a:lumOff val="40000"/>
                </a:schemeClr>
              </a:buClr>
              <a:buNone/>
              <a:defRPr/>
            </a:pPr>
            <a:endParaRPr lang="es-AR" sz="2400" dirty="0"/>
          </a:p>
          <a:p>
            <a:pPr>
              <a:buClr>
                <a:schemeClr val="tx2">
                  <a:lumMod val="60000"/>
                  <a:lumOff val="40000"/>
                </a:schemeClr>
              </a:buClr>
              <a:defRPr/>
            </a:pPr>
            <a:r>
              <a:rPr lang="es-AR" sz="2400" b="1" dirty="0"/>
              <a:t>Frase Nominal o sustantiva</a:t>
            </a:r>
          </a:p>
          <a:p>
            <a:pPr>
              <a:buClr>
                <a:schemeClr val="tx2">
                  <a:lumMod val="60000"/>
                  <a:lumOff val="40000"/>
                </a:schemeClr>
              </a:buClr>
              <a:defRPr/>
            </a:pPr>
            <a:r>
              <a:rPr lang="es-AR" sz="2400" b="1" dirty="0"/>
              <a:t>Voz Pasiva</a:t>
            </a:r>
          </a:p>
          <a:p>
            <a:pPr>
              <a:buClr>
                <a:schemeClr val="tx2">
                  <a:lumMod val="60000"/>
                  <a:lumOff val="40000"/>
                </a:schemeClr>
              </a:buClr>
              <a:defRPr/>
            </a:pPr>
            <a:r>
              <a:rPr lang="es-AR" sz="2400" b="1" dirty="0"/>
              <a:t>Formas –ING / -ED</a:t>
            </a:r>
          </a:p>
          <a:p>
            <a:pPr marL="0" indent="0">
              <a:buFont typeface="Wingdings 3" panose="05040102010807070707" pitchFamily="18" charset="2"/>
              <a:buNone/>
            </a:pPr>
            <a:endParaRPr lang="es-AR" altLang="es-AR" dirty="0"/>
          </a:p>
          <a:p>
            <a:endParaRPr lang="es-AR" dirty="0"/>
          </a:p>
        </p:txBody>
      </p:sp>
      <p:sp>
        <p:nvSpPr>
          <p:cNvPr id="4" name="Flecha abajo 3"/>
          <p:cNvSpPr/>
          <p:nvPr/>
        </p:nvSpPr>
        <p:spPr>
          <a:xfrm>
            <a:off x="4739425" y="1635617"/>
            <a:ext cx="656822" cy="643944"/>
          </a:xfrm>
          <a:prstGeom prst="downArrow">
            <a:avLst>
              <a:gd name="adj1" fmla="val 50000"/>
              <a:gd name="adj2" fmla="val 4428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153338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599"/>
            <a:ext cx="8596668" cy="497983"/>
          </a:xfrm>
        </p:spPr>
        <p:txBody>
          <a:bodyPr>
            <a:normAutofit fontScale="90000"/>
          </a:bodyPr>
          <a:lstStyle/>
          <a:p>
            <a:pPr algn="ctr"/>
            <a:r>
              <a:rPr lang="es-AR" altLang="es-AR" b="1" dirty="0" smtClean="0"/>
              <a:t>FORMAS “-ED”</a:t>
            </a:r>
            <a:r>
              <a:rPr lang="es-AR" b="1" dirty="0"/>
              <a:t> (PARTICIPIO PASADO)</a:t>
            </a:r>
          </a:p>
        </p:txBody>
      </p:sp>
      <p:sp>
        <p:nvSpPr>
          <p:cNvPr id="3" name="Marcador de contenido 2"/>
          <p:cNvSpPr>
            <a:spLocks noGrp="1"/>
          </p:cNvSpPr>
          <p:nvPr>
            <p:ph idx="1"/>
          </p:nvPr>
        </p:nvSpPr>
        <p:spPr>
          <a:xfrm>
            <a:off x="677334" y="1442434"/>
            <a:ext cx="9175004" cy="5254579"/>
          </a:xfrm>
        </p:spPr>
        <p:txBody>
          <a:bodyPr>
            <a:normAutofit fontScale="85000" lnSpcReduction="20000"/>
          </a:bodyPr>
          <a:lstStyle/>
          <a:p>
            <a:pPr marL="0" indent="0">
              <a:buClr>
                <a:schemeClr val="tx2">
                  <a:lumMod val="60000"/>
                  <a:lumOff val="40000"/>
                </a:schemeClr>
              </a:buClr>
              <a:buNone/>
              <a:defRPr/>
            </a:pPr>
            <a:endParaRPr lang="es-AR" sz="2000" dirty="0" smtClean="0"/>
          </a:p>
          <a:p>
            <a:pPr marL="0" indent="0">
              <a:buNone/>
            </a:pPr>
            <a:r>
              <a:rPr lang="es-AR" sz="2200" b="1" dirty="0" smtClean="0"/>
              <a:t>      </a:t>
            </a:r>
          </a:p>
          <a:p>
            <a:pPr marL="0" indent="0">
              <a:buNone/>
            </a:pPr>
            <a:r>
              <a:rPr lang="es-AR" sz="2100" b="1" dirty="0"/>
              <a:t> </a:t>
            </a:r>
            <a:r>
              <a:rPr lang="es-AR" sz="2100" b="1" dirty="0" smtClean="0"/>
              <a:t>              </a:t>
            </a:r>
            <a:r>
              <a:rPr lang="es-AR" sz="2400" dirty="0" smtClean="0"/>
              <a:t>Lo </a:t>
            </a:r>
            <a:r>
              <a:rPr lang="es-AR" sz="2400" dirty="0"/>
              <a:t>representamos con “-ED” (VERBO REGULAR)</a:t>
            </a:r>
          </a:p>
          <a:p>
            <a:pPr marL="0" indent="0">
              <a:buNone/>
            </a:pPr>
            <a:endParaRPr lang="es-AR" sz="2200" dirty="0"/>
          </a:p>
          <a:p>
            <a:pPr marL="0" indent="0">
              <a:buNone/>
            </a:pPr>
            <a:r>
              <a:rPr lang="es-AR" sz="2200" dirty="0"/>
              <a:t>                </a:t>
            </a:r>
            <a:r>
              <a:rPr lang="es-AR" sz="2200" dirty="0" smtClean="0"/>
              <a:t>    to </a:t>
            </a:r>
            <a:r>
              <a:rPr lang="es-AR" sz="2200" dirty="0" err="1"/>
              <a:t>study</a:t>
            </a:r>
            <a:r>
              <a:rPr lang="es-AR" sz="2200" dirty="0"/>
              <a:t>   -  </a:t>
            </a:r>
            <a:r>
              <a:rPr lang="es-AR" sz="2200" dirty="0" err="1"/>
              <a:t>studied</a:t>
            </a:r>
            <a:r>
              <a:rPr lang="es-AR" sz="2200" dirty="0"/>
              <a:t>   -   </a:t>
            </a:r>
            <a:r>
              <a:rPr lang="es-AR" sz="2200" b="1" i="1" dirty="0" err="1"/>
              <a:t>studied</a:t>
            </a:r>
            <a:endParaRPr lang="es-AR" sz="2200" b="1" i="1" dirty="0"/>
          </a:p>
          <a:p>
            <a:pPr marL="0" indent="0">
              <a:buNone/>
            </a:pPr>
            <a:endParaRPr lang="es-AR" sz="2200" b="1" i="1" dirty="0"/>
          </a:p>
          <a:p>
            <a:pPr marL="0" indent="0">
              <a:buNone/>
            </a:pPr>
            <a:r>
              <a:rPr lang="es-AR" sz="2200" dirty="0"/>
              <a:t>	  </a:t>
            </a:r>
          </a:p>
          <a:p>
            <a:pPr marL="0" indent="0">
              <a:buNone/>
            </a:pPr>
            <a:r>
              <a:rPr lang="es-AR" sz="2200" dirty="0"/>
              <a:t>              </a:t>
            </a:r>
            <a:r>
              <a:rPr lang="es-AR" sz="2400" dirty="0" smtClean="0"/>
              <a:t>Si </a:t>
            </a:r>
            <a:r>
              <a:rPr lang="es-AR" sz="2400" dirty="0"/>
              <a:t>VERBO IRREGULAR: tercera columna (</a:t>
            </a:r>
            <a:r>
              <a:rPr lang="es-AR" sz="2400" dirty="0" smtClean="0"/>
              <a:t>listado de </a:t>
            </a:r>
            <a:r>
              <a:rPr lang="es-AR" sz="2400" dirty="0"/>
              <a:t>verbos irregulares)</a:t>
            </a:r>
          </a:p>
          <a:p>
            <a:pPr marL="0" indent="0">
              <a:buNone/>
            </a:pPr>
            <a:r>
              <a:rPr lang="es-AR" sz="2400" dirty="0"/>
              <a:t>                   </a:t>
            </a:r>
            <a:r>
              <a:rPr lang="es-AR" sz="2400" dirty="0" smtClean="0"/>
              <a:t>      </a:t>
            </a:r>
          </a:p>
          <a:p>
            <a:pPr marL="0" indent="0">
              <a:buNone/>
            </a:pPr>
            <a:r>
              <a:rPr lang="es-AR" sz="2200" dirty="0"/>
              <a:t> </a:t>
            </a:r>
            <a:r>
              <a:rPr lang="es-AR" sz="2200" dirty="0" smtClean="0"/>
              <a:t>                 to </a:t>
            </a:r>
            <a:r>
              <a:rPr lang="es-AR" sz="2200" dirty="0" err="1"/>
              <a:t>write</a:t>
            </a:r>
            <a:r>
              <a:rPr lang="es-AR" sz="2200" dirty="0"/>
              <a:t>   -   </a:t>
            </a:r>
            <a:r>
              <a:rPr lang="es-AR" sz="2200" dirty="0" err="1"/>
              <a:t>wrote</a:t>
            </a:r>
            <a:r>
              <a:rPr lang="es-AR" sz="2200" dirty="0"/>
              <a:t>   -   </a:t>
            </a:r>
            <a:r>
              <a:rPr lang="es-AR" sz="2200" b="1" i="1" dirty="0" err="1"/>
              <a:t>written</a:t>
            </a:r>
            <a:endParaRPr lang="es-AR" sz="2200" b="1" i="1" dirty="0"/>
          </a:p>
          <a:p>
            <a:pPr marL="0" indent="0">
              <a:buNone/>
            </a:pPr>
            <a:endParaRPr lang="es-AR" sz="2200" dirty="0"/>
          </a:p>
          <a:p>
            <a:pPr marL="0" indent="0">
              <a:buNone/>
            </a:pPr>
            <a:endParaRPr lang="es-AR" sz="2200" dirty="0"/>
          </a:p>
          <a:p>
            <a:pPr marL="0" indent="0">
              <a:buNone/>
            </a:pPr>
            <a:r>
              <a:rPr lang="es-AR" sz="2200" dirty="0"/>
              <a:t>	</a:t>
            </a:r>
            <a:r>
              <a:rPr lang="en-US" sz="2200" i="1" dirty="0"/>
              <a:t> </a:t>
            </a:r>
            <a:r>
              <a:rPr lang="en-US" sz="2200" i="1" dirty="0" smtClean="0"/>
              <a:t>       </a:t>
            </a:r>
            <a:r>
              <a:rPr lang="es-AR" sz="2200" dirty="0" smtClean="0"/>
              <a:t>Se </a:t>
            </a:r>
            <a:r>
              <a:rPr lang="es-AR" sz="2200" dirty="0"/>
              <a:t>traduce como </a:t>
            </a:r>
            <a:r>
              <a:rPr lang="es-AR" sz="2200" b="1" dirty="0"/>
              <a:t>“-</a:t>
            </a:r>
            <a:r>
              <a:rPr lang="es-AR" sz="2200" b="1" dirty="0" err="1"/>
              <a:t>ado</a:t>
            </a:r>
            <a:r>
              <a:rPr lang="es-AR" sz="2200" b="1" dirty="0"/>
              <a:t>” / “-ido” </a:t>
            </a:r>
            <a:r>
              <a:rPr lang="es-AR" sz="2200" dirty="0"/>
              <a:t>(si es posible)</a:t>
            </a:r>
          </a:p>
          <a:p>
            <a:pPr marL="0" indent="0">
              <a:buClr>
                <a:schemeClr val="tx2">
                  <a:lumMod val="60000"/>
                  <a:lumOff val="40000"/>
                </a:schemeClr>
              </a:buClr>
              <a:buNone/>
              <a:defRPr/>
            </a:pPr>
            <a:r>
              <a:rPr lang="en-US" sz="2000" i="1" dirty="0"/>
              <a:t>	</a:t>
            </a:r>
            <a:endParaRPr lang="es-AR" dirty="0" smtClean="0"/>
          </a:p>
        </p:txBody>
      </p:sp>
      <p:sp>
        <p:nvSpPr>
          <p:cNvPr id="5" name="Flecha abajo 4"/>
          <p:cNvSpPr/>
          <p:nvPr/>
        </p:nvSpPr>
        <p:spPr>
          <a:xfrm flipH="1">
            <a:off x="4275786" y="1529688"/>
            <a:ext cx="592428" cy="45784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Flecha derecha 5"/>
          <p:cNvSpPr/>
          <p:nvPr/>
        </p:nvSpPr>
        <p:spPr>
          <a:xfrm>
            <a:off x="1062476" y="2078336"/>
            <a:ext cx="450761" cy="3992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7" name="Flecha derecha 6"/>
          <p:cNvSpPr/>
          <p:nvPr/>
        </p:nvSpPr>
        <p:spPr>
          <a:xfrm>
            <a:off x="1062476" y="3870101"/>
            <a:ext cx="450761" cy="3992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9" name="Flecha derecha 8"/>
          <p:cNvSpPr/>
          <p:nvPr/>
        </p:nvSpPr>
        <p:spPr>
          <a:xfrm>
            <a:off x="1062476" y="5700498"/>
            <a:ext cx="450761" cy="3992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887594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89397"/>
            <a:ext cx="8596668" cy="656823"/>
          </a:xfrm>
        </p:spPr>
        <p:txBody>
          <a:bodyPr>
            <a:normAutofit/>
          </a:bodyPr>
          <a:lstStyle/>
          <a:p>
            <a:pPr algn="ctr"/>
            <a:r>
              <a:rPr lang="es-AR" altLang="es-AR" sz="3200" b="1" dirty="0" smtClean="0"/>
              <a:t>FORMAS “-ED”</a:t>
            </a:r>
            <a:endParaRPr lang="es-AR" sz="3200" dirty="0"/>
          </a:p>
        </p:txBody>
      </p:sp>
      <p:sp>
        <p:nvSpPr>
          <p:cNvPr id="3" name="Marcador de contenido 2"/>
          <p:cNvSpPr>
            <a:spLocks noGrp="1"/>
          </p:cNvSpPr>
          <p:nvPr>
            <p:ph idx="1"/>
          </p:nvPr>
        </p:nvSpPr>
        <p:spPr>
          <a:xfrm>
            <a:off x="677333" y="1352281"/>
            <a:ext cx="9368187" cy="5164429"/>
          </a:xfrm>
        </p:spPr>
        <p:txBody>
          <a:bodyPr>
            <a:normAutofit fontScale="62500" lnSpcReduction="20000"/>
          </a:bodyPr>
          <a:lstStyle/>
          <a:p>
            <a:pPr marL="0" indent="0">
              <a:buNone/>
            </a:pPr>
            <a:r>
              <a:rPr lang="es-AR" sz="3200" b="1" dirty="0" smtClean="0"/>
              <a:t>             </a:t>
            </a:r>
            <a:r>
              <a:rPr lang="es-AR" sz="3200" b="1" dirty="0"/>
              <a:t> </a:t>
            </a:r>
            <a:endParaRPr lang="es-AR" sz="3200" b="1" dirty="0" smtClean="0"/>
          </a:p>
          <a:p>
            <a:pPr marL="0" indent="0">
              <a:buNone/>
            </a:pPr>
            <a:r>
              <a:rPr lang="es-AR" sz="3200" b="1" dirty="0"/>
              <a:t> </a:t>
            </a:r>
            <a:r>
              <a:rPr lang="es-AR" sz="3200" b="1" dirty="0" smtClean="0"/>
              <a:t>         </a:t>
            </a:r>
            <a:r>
              <a:rPr lang="es-ES_tradnl" sz="3200" b="1" dirty="0" smtClean="0"/>
              <a:t>ADJETIVO </a:t>
            </a:r>
            <a:r>
              <a:rPr lang="es-ES_tradnl" sz="3200" b="1" dirty="0"/>
              <a:t>(-ED + SUSTANTIVO)</a:t>
            </a:r>
          </a:p>
          <a:p>
            <a:pPr marL="0" indent="0">
              <a:buNone/>
            </a:pPr>
            <a:r>
              <a:rPr lang="en-US" sz="3200" dirty="0"/>
              <a:t>      This company needs a </a:t>
            </a:r>
            <a:r>
              <a:rPr lang="en-US" sz="3200" b="1" dirty="0"/>
              <a:t>dedicated</a:t>
            </a:r>
            <a:r>
              <a:rPr lang="en-US" sz="3200" dirty="0"/>
              <a:t> </a:t>
            </a:r>
            <a:r>
              <a:rPr lang="en-US" sz="3200" dirty="0" smtClean="0"/>
              <a:t>employee </a:t>
            </a:r>
            <a:r>
              <a:rPr lang="en-US" sz="3200" dirty="0"/>
              <a:t>aware of current technologies.</a:t>
            </a:r>
            <a:endParaRPr lang="es-AR" sz="3200" dirty="0"/>
          </a:p>
          <a:p>
            <a:pPr marL="0" indent="0">
              <a:buNone/>
            </a:pPr>
            <a:r>
              <a:rPr lang="en-US" sz="3200" dirty="0"/>
              <a:t>                            (…</a:t>
            </a:r>
            <a:r>
              <a:rPr lang="en-US" sz="3200" i="1" dirty="0"/>
              <a:t>un </a:t>
            </a:r>
            <a:r>
              <a:rPr lang="en-US" sz="3200" i="1" dirty="0" err="1"/>
              <a:t>empleado</a:t>
            </a:r>
            <a:r>
              <a:rPr lang="en-US" sz="3200" i="1" dirty="0"/>
              <a:t> </a:t>
            </a:r>
            <a:r>
              <a:rPr lang="en-US" sz="3200" b="1" i="1" dirty="0" err="1"/>
              <a:t>dedicado</a:t>
            </a:r>
            <a:r>
              <a:rPr lang="en-US" sz="3200" b="1" i="1" dirty="0"/>
              <a:t>…</a:t>
            </a:r>
            <a:r>
              <a:rPr lang="en-US" sz="3200" dirty="0"/>
              <a:t>)</a:t>
            </a:r>
            <a:endParaRPr lang="es-AR" sz="3200" dirty="0"/>
          </a:p>
          <a:p>
            <a:pPr marL="0" indent="0">
              <a:buNone/>
            </a:pPr>
            <a:r>
              <a:rPr lang="en-US" sz="3200" dirty="0"/>
              <a:t>            </a:t>
            </a:r>
            <a:endParaRPr lang="en-US" sz="3200" dirty="0" smtClean="0"/>
          </a:p>
          <a:p>
            <a:pPr marL="0" indent="0">
              <a:buNone/>
            </a:pPr>
            <a:endParaRPr lang="en-US" sz="3200" dirty="0"/>
          </a:p>
          <a:p>
            <a:pPr marL="0" indent="0">
              <a:buNone/>
            </a:pPr>
            <a:r>
              <a:rPr lang="en-US" sz="3200" b="1" dirty="0"/>
              <a:t>          CLÁUSULA ADJETIVA CONTRAÍDA (SUSTANTIVO + -ED) </a:t>
            </a:r>
          </a:p>
          <a:p>
            <a:pPr marL="0" indent="0">
              <a:buNone/>
            </a:pPr>
            <a:r>
              <a:rPr lang="en-US" sz="3200" dirty="0"/>
              <a:t>          The theory</a:t>
            </a:r>
            <a:r>
              <a:rPr lang="en-US" sz="3200" b="1" dirty="0"/>
              <a:t> analyzed</a:t>
            </a:r>
            <a:r>
              <a:rPr lang="en-US" sz="3200" dirty="0"/>
              <a:t> by the researcher supports this argument.</a:t>
            </a:r>
          </a:p>
          <a:p>
            <a:pPr marL="0" indent="0">
              <a:buNone/>
            </a:pPr>
            <a:endParaRPr lang="en-US" sz="3200" dirty="0"/>
          </a:p>
          <a:p>
            <a:pPr marL="0" indent="0">
              <a:buNone/>
            </a:pPr>
            <a:r>
              <a:rPr lang="en-US" sz="3200" dirty="0"/>
              <a:t>	</a:t>
            </a:r>
            <a:r>
              <a:rPr lang="en-US" sz="2800" dirty="0"/>
              <a:t>Nota: </a:t>
            </a:r>
            <a:r>
              <a:rPr lang="es-AR" sz="2800" dirty="0"/>
              <a:t>Se produce una eliminación del sujeto y verbo TO BE conjugado.</a:t>
            </a:r>
            <a:endParaRPr lang="en-US" sz="2800" dirty="0"/>
          </a:p>
          <a:p>
            <a:pPr marL="0" indent="0">
              <a:buNone/>
            </a:pPr>
            <a:r>
              <a:rPr lang="en-US" sz="2800" dirty="0"/>
              <a:t>	The theory </a:t>
            </a:r>
            <a:r>
              <a:rPr lang="en-US" sz="2800" b="1" i="1" dirty="0"/>
              <a:t>that was </a:t>
            </a:r>
            <a:r>
              <a:rPr lang="en-US" sz="2800" i="1" dirty="0"/>
              <a:t>analyzed </a:t>
            </a:r>
            <a:r>
              <a:rPr lang="en-US" sz="2800" dirty="0"/>
              <a:t>by the researcher…</a:t>
            </a:r>
          </a:p>
          <a:p>
            <a:pPr marL="0" indent="0">
              <a:buNone/>
            </a:pPr>
            <a:endParaRPr lang="es-AR" sz="3200" dirty="0"/>
          </a:p>
          <a:p>
            <a:pPr marL="0" indent="0">
              <a:buNone/>
            </a:pPr>
            <a:r>
              <a:rPr lang="en-US" sz="3200" dirty="0"/>
              <a:t>      (</a:t>
            </a:r>
            <a:r>
              <a:rPr lang="en-US" sz="3200" i="1" dirty="0"/>
              <a:t>La </a:t>
            </a:r>
            <a:r>
              <a:rPr lang="en-US" sz="3200" i="1" dirty="0" err="1"/>
              <a:t>teoría</a:t>
            </a:r>
            <a:r>
              <a:rPr lang="en-US" sz="3200" i="1" dirty="0"/>
              <a:t> </a:t>
            </a:r>
            <a:r>
              <a:rPr lang="en-US" sz="3200" b="1" i="1" dirty="0" err="1"/>
              <a:t>analizada</a:t>
            </a:r>
            <a:r>
              <a:rPr lang="en-US" sz="3200" dirty="0"/>
              <a:t> </a:t>
            </a:r>
            <a:r>
              <a:rPr lang="en-US" sz="3200" dirty="0" err="1"/>
              <a:t>por</a:t>
            </a:r>
            <a:r>
              <a:rPr lang="en-US" sz="3200" dirty="0"/>
              <a:t> el </a:t>
            </a:r>
            <a:r>
              <a:rPr lang="en-US" sz="3200" dirty="0" err="1"/>
              <a:t>investigador</a:t>
            </a:r>
            <a:r>
              <a:rPr lang="en-US" sz="3200" dirty="0"/>
              <a:t>…)</a:t>
            </a:r>
            <a:endParaRPr lang="es-AR" dirty="0"/>
          </a:p>
        </p:txBody>
      </p:sp>
      <p:sp>
        <p:nvSpPr>
          <p:cNvPr id="4" name="Flecha derecha 3"/>
          <p:cNvSpPr/>
          <p:nvPr/>
        </p:nvSpPr>
        <p:spPr>
          <a:xfrm>
            <a:off x="953033" y="1661374"/>
            <a:ext cx="450761" cy="3992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5" name="Flecha derecha 4"/>
          <p:cNvSpPr/>
          <p:nvPr/>
        </p:nvSpPr>
        <p:spPr>
          <a:xfrm>
            <a:off x="953033" y="3535249"/>
            <a:ext cx="450761" cy="3992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1691961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25004"/>
            <a:ext cx="8596668" cy="656822"/>
          </a:xfrm>
        </p:spPr>
        <p:txBody>
          <a:bodyPr>
            <a:normAutofit/>
          </a:bodyPr>
          <a:lstStyle/>
          <a:p>
            <a:pPr algn="ctr"/>
            <a:r>
              <a:rPr lang="es-AR" altLang="es-AR" b="1" dirty="0"/>
              <a:t>FORMAS </a:t>
            </a:r>
            <a:r>
              <a:rPr lang="es-AR" altLang="es-AR" b="1" dirty="0" smtClean="0"/>
              <a:t>“-ED”</a:t>
            </a:r>
            <a:endParaRPr lang="es-AR" dirty="0"/>
          </a:p>
        </p:txBody>
      </p:sp>
      <p:sp>
        <p:nvSpPr>
          <p:cNvPr id="3" name="Marcador de contenido 2"/>
          <p:cNvSpPr>
            <a:spLocks noGrp="1"/>
          </p:cNvSpPr>
          <p:nvPr>
            <p:ph idx="1"/>
          </p:nvPr>
        </p:nvSpPr>
        <p:spPr>
          <a:xfrm>
            <a:off x="553791" y="1287889"/>
            <a:ext cx="9537998" cy="5215942"/>
          </a:xfrm>
        </p:spPr>
        <p:txBody>
          <a:bodyPr>
            <a:normAutofit fontScale="70000" lnSpcReduction="20000"/>
          </a:bodyPr>
          <a:lstStyle/>
          <a:p>
            <a:pPr marL="0" lvl="0" indent="0">
              <a:buNone/>
            </a:pPr>
            <a:r>
              <a:rPr lang="en-US" sz="2400" b="1" dirty="0" smtClean="0"/>
              <a:t>                 </a:t>
            </a:r>
            <a:r>
              <a:rPr lang="en-US" sz="2900" b="1" dirty="0" smtClean="0"/>
              <a:t>TIEMPOS </a:t>
            </a:r>
            <a:r>
              <a:rPr lang="en-US" sz="2900" b="1" dirty="0"/>
              <a:t>PERFECTOS (HAVE + -ED</a:t>
            </a:r>
            <a:r>
              <a:rPr lang="en-US" sz="2900" b="1" dirty="0" smtClean="0"/>
              <a:t>)</a:t>
            </a:r>
          </a:p>
          <a:p>
            <a:pPr marL="0" lvl="0" indent="0">
              <a:buNone/>
            </a:pPr>
            <a:endParaRPr lang="es-AR" sz="2400" dirty="0"/>
          </a:p>
          <a:p>
            <a:pPr marL="0" lvl="0" indent="0">
              <a:buNone/>
            </a:pPr>
            <a:r>
              <a:rPr lang="es-AR" sz="2400" u="sng" dirty="0" smtClean="0"/>
              <a:t>Presente </a:t>
            </a:r>
            <a:r>
              <a:rPr lang="es-AR" sz="2400" u="sng" dirty="0"/>
              <a:t>Perfecto</a:t>
            </a:r>
            <a:r>
              <a:rPr lang="es-AR" sz="2400" dirty="0"/>
              <a:t>:</a:t>
            </a:r>
          </a:p>
          <a:p>
            <a:pPr marL="0" indent="0">
              <a:buNone/>
            </a:pPr>
            <a:r>
              <a:rPr lang="en-US" sz="2400" dirty="0"/>
              <a:t>The college team </a:t>
            </a:r>
            <a:r>
              <a:rPr lang="en-US" sz="2400" b="1" dirty="0"/>
              <a:t>has</a:t>
            </a:r>
            <a:r>
              <a:rPr lang="en-US" sz="2400" dirty="0"/>
              <a:t> </a:t>
            </a:r>
            <a:r>
              <a:rPr lang="en-US" sz="2400" b="1" dirty="0"/>
              <a:t>worked</a:t>
            </a:r>
            <a:r>
              <a:rPr lang="en-US" sz="2400" dirty="0"/>
              <a:t> in this project for two years. </a:t>
            </a:r>
            <a:endParaRPr lang="es-AR" sz="2400" dirty="0"/>
          </a:p>
          <a:p>
            <a:pPr marL="0" indent="0">
              <a:buNone/>
            </a:pPr>
            <a:r>
              <a:rPr lang="en-US" sz="2400" dirty="0"/>
              <a:t>                            (</a:t>
            </a:r>
            <a:r>
              <a:rPr lang="en-US" sz="2400" i="1" dirty="0"/>
              <a:t>ha </a:t>
            </a:r>
            <a:r>
              <a:rPr lang="en-US" sz="2400" b="1" i="1" dirty="0" err="1"/>
              <a:t>trabajado</a:t>
            </a:r>
            <a:r>
              <a:rPr lang="en-US" sz="2400" dirty="0"/>
              <a:t>)</a:t>
            </a:r>
          </a:p>
          <a:p>
            <a:pPr marL="0" indent="0">
              <a:buNone/>
            </a:pPr>
            <a:r>
              <a:rPr lang="en-US" sz="2400" dirty="0"/>
              <a:t>We </a:t>
            </a:r>
            <a:r>
              <a:rPr lang="en-US" sz="2400" b="1" dirty="0"/>
              <a:t>have</a:t>
            </a:r>
            <a:r>
              <a:rPr lang="en-US" sz="2400" dirty="0"/>
              <a:t> </a:t>
            </a:r>
            <a:r>
              <a:rPr lang="en-US" sz="2400" b="1" dirty="0"/>
              <a:t>proved</a:t>
            </a:r>
            <a:r>
              <a:rPr lang="en-US" sz="2400" dirty="0"/>
              <a:t> our research hypothesis with great success. </a:t>
            </a:r>
          </a:p>
          <a:p>
            <a:pPr marL="0" indent="0">
              <a:buNone/>
            </a:pPr>
            <a:r>
              <a:rPr lang="en-US" sz="2400" dirty="0"/>
              <a:t>     </a:t>
            </a:r>
            <a:r>
              <a:rPr lang="en-US" sz="2400" dirty="0" smtClean="0"/>
              <a:t>(</a:t>
            </a:r>
            <a:r>
              <a:rPr lang="en-US" sz="2400" dirty="0" err="1"/>
              <a:t>hemos</a:t>
            </a:r>
            <a:r>
              <a:rPr lang="en-US" sz="2400" dirty="0"/>
              <a:t> </a:t>
            </a:r>
            <a:r>
              <a:rPr lang="en-US" sz="2400" b="1" i="1" dirty="0" err="1"/>
              <a:t>probado</a:t>
            </a:r>
            <a:r>
              <a:rPr lang="en-US" sz="2400" dirty="0"/>
              <a:t>)</a:t>
            </a:r>
          </a:p>
          <a:p>
            <a:pPr marL="0" indent="0">
              <a:buNone/>
            </a:pPr>
            <a:endParaRPr lang="en-US" sz="2400" dirty="0"/>
          </a:p>
          <a:p>
            <a:pPr marL="0" indent="0">
              <a:buNone/>
            </a:pPr>
            <a:r>
              <a:rPr lang="es-AR" sz="2400" u="sng" dirty="0"/>
              <a:t>Pasado Perfecto</a:t>
            </a:r>
            <a:r>
              <a:rPr lang="es-AR" sz="2400" dirty="0"/>
              <a:t>:</a:t>
            </a:r>
          </a:p>
          <a:p>
            <a:pPr marL="0" indent="0">
              <a:buNone/>
            </a:pPr>
            <a:r>
              <a:rPr lang="es-AR" sz="2400" dirty="0" err="1"/>
              <a:t>That</a:t>
            </a:r>
            <a:r>
              <a:rPr lang="es-AR" sz="2400" dirty="0"/>
              <a:t> </a:t>
            </a:r>
            <a:r>
              <a:rPr lang="es-AR" sz="2400" dirty="0" err="1"/>
              <a:t>technologist</a:t>
            </a:r>
            <a:r>
              <a:rPr lang="es-AR" sz="2400" dirty="0"/>
              <a:t> </a:t>
            </a:r>
            <a:r>
              <a:rPr lang="es-AR" sz="2400" b="1" dirty="0" err="1"/>
              <a:t>had</a:t>
            </a:r>
            <a:r>
              <a:rPr lang="es-AR" sz="2400" b="1" dirty="0"/>
              <a:t> </a:t>
            </a:r>
            <a:r>
              <a:rPr lang="es-AR" sz="2400" b="1" dirty="0" err="1"/>
              <a:t>worked</a:t>
            </a:r>
            <a:r>
              <a:rPr lang="es-AR" sz="2400" b="1" dirty="0"/>
              <a:t> </a:t>
            </a:r>
            <a:r>
              <a:rPr lang="es-AR" sz="2400" dirty="0"/>
              <a:t>in </a:t>
            </a:r>
            <a:r>
              <a:rPr lang="es-AR" sz="2400" dirty="0" err="1"/>
              <a:t>an</a:t>
            </a:r>
            <a:r>
              <a:rPr lang="es-AR" sz="2400" dirty="0"/>
              <a:t> </a:t>
            </a:r>
            <a:r>
              <a:rPr lang="es-AR" sz="2400" dirty="0" err="1"/>
              <a:t>old</a:t>
            </a:r>
            <a:r>
              <a:rPr lang="es-AR" sz="2400" dirty="0"/>
              <a:t> Company </a:t>
            </a:r>
            <a:r>
              <a:rPr lang="es-AR" sz="2400" dirty="0" err="1"/>
              <a:t>before</a:t>
            </a:r>
            <a:r>
              <a:rPr lang="es-AR" sz="2400" dirty="0"/>
              <a:t> </a:t>
            </a:r>
            <a:r>
              <a:rPr lang="es-AR" sz="2400" dirty="0" err="1"/>
              <a:t>coming</a:t>
            </a:r>
            <a:r>
              <a:rPr lang="es-AR" sz="2400" dirty="0"/>
              <a:t> </a:t>
            </a:r>
            <a:r>
              <a:rPr lang="es-AR" sz="2400" dirty="0" err="1"/>
              <a:t>here</a:t>
            </a:r>
            <a:r>
              <a:rPr lang="es-AR" sz="2400" dirty="0"/>
              <a:t>.                            		</a:t>
            </a:r>
            <a:endParaRPr lang="es-AR" sz="2400" dirty="0" smtClean="0"/>
          </a:p>
          <a:p>
            <a:pPr marL="0" indent="0">
              <a:buNone/>
            </a:pPr>
            <a:r>
              <a:rPr lang="es-AR" sz="2400" dirty="0"/>
              <a:t> </a:t>
            </a:r>
            <a:r>
              <a:rPr lang="es-AR" sz="2400" dirty="0" smtClean="0"/>
              <a:t>                         (</a:t>
            </a:r>
            <a:r>
              <a:rPr lang="es-AR" sz="2400" dirty="0"/>
              <a:t>había </a:t>
            </a:r>
            <a:r>
              <a:rPr lang="es-AR" sz="2400" b="1" dirty="0"/>
              <a:t>trabajado</a:t>
            </a:r>
            <a:r>
              <a:rPr lang="es-AR" sz="2400" dirty="0"/>
              <a:t>)</a:t>
            </a:r>
          </a:p>
          <a:p>
            <a:pPr marL="0" indent="0">
              <a:buNone/>
            </a:pPr>
            <a:endParaRPr lang="es-AR" sz="2400" dirty="0"/>
          </a:p>
          <a:p>
            <a:pPr marL="0" indent="0">
              <a:buNone/>
            </a:pPr>
            <a:r>
              <a:rPr lang="es-AR" sz="2400" u="sng" dirty="0"/>
              <a:t>Futuro Perfecto</a:t>
            </a:r>
            <a:r>
              <a:rPr lang="es-AR" sz="2400" dirty="0"/>
              <a:t>:</a:t>
            </a:r>
          </a:p>
          <a:p>
            <a:pPr marL="0" indent="0">
              <a:buNone/>
            </a:pPr>
            <a:r>
              <a:rPr lang="es-AR" sz="2400" dirty="0" err="1"/>
              <a:t>By</a:t>
            </a:r>
            <a:r>
              <a:rPr lang="es-AR" sz="2400" dirty="0"/>
              <a:t> </a:t>
            </a:r>
            <a:r>
              <a:rPr lang="es-AR" sz="2400" dirty="0" err="1"/>
              <a:t>the</a:t>
            </a:r>
            <a:r>
              <a:rPr lang="es-AR" sz="2400" dirty="0"/>
              <a:t> </a:t>
            </a:r>
            <a:r>
              <a:rPr lang="es-AR" sz="2400" dirty="0" err="1"/>
              <a:t>end</a:t>
            </a:r>
            <a:r>
              <a:rPr lang="es-AR" sz="2400" dirty="0"/>
              <a:t> of </a:t>
            </a:r>
            <a:r>
              <a:rPr lang="es-AR" sz="2400" dirty="0" err="1" smtClean="0"/>
              <a:t>this</a:t>
            </a:r>
            <a:r>
              <a:rPr lang="es-AR" sz="2400" dirty="0" smtClean="0"/>
              <a:t> </a:t>
            </a:r>
            <a:r>
              <a:rPr lang="es-AR" sz="2400" dirty="0" err="1" smtClean="0"/>
              <a:t>year</a:t>
            </a:r>
            <a:r>
              <a:rPr lang="es-AR" sz="2400" dirty="0" smtClean="0"/>
              <a:t> </a:t>
            </a:r>
            <a:r>
              <a:rPr lang="es-AR" sz="2400" dirty="0" err="1"/>
              <a:t>you</a:t>
            </a:r>
            <a:r>
              <a:rPr lang="es-AR" sz="2400" dirty="0"/>
              <a:t> </a:t>
            </a:r>
            <a:r>
              <a:rPr lang="es-AR" sz="2400" b="1" dirty="0" err="1"/>
              <a:t>will</a:t>
            </a:r>
            <a:r>
              <a:rPr lang="es-AR" sz="2400" b="1" dirty="0"/>
              <a:t> </a:t>
            </a:r>
            <a:r>
              <a:rPr lang="es-AR" sz="2400" b="1" dirty="0" err="1"/>
              <a:t>have</a:t>
            </a:r>
            <a:r>
              <a:rPr lang="es-AR" sz="2400" b="1" dirty="0"/>
              <a:t> </a:t>
            </a:r>
            <a:r>
              <a:rPr lang="es-AR" sz="2400" b="1" dirty="0" err="1"/>
              <a:t>finished</a:t>
            </a:r>
            <a:r>
              <a:rPr lang="es-AR" sz="2400" b="1" dirty="0"/>
              <a:t> </a:t>
            </a:r>
            <a:r>
              <a:rPr lang="es-AR" sz="2400" dirty="0" err="1"/>
              <a:t>this</a:t>
            </a:r>
            <a:r>
              <a:rPr lang="es-AR" sz="2400" dirty="0"/>
              <a:t> </a:t>
            </a:r>
            <a:r>
              <a:rPr lang="es-AR" sz="2400" dirty="0" err="1"/>
              <a:t>course</a:t>
            </a:r>
            <a:r>
              <a:rPr lang="es-AR" sz="2400" dirty="0"/>
              <a:t>.</a:t>
            </a:r>
          </a:p>
          <a:p>
            <a:pPr marL="0" indent="0">
              <a:buNone/>
            </a:pPr>
            <a:r>
              <a:rPr lang="es-AR" sz="2400" dirty="0"/>
              <a:t>                                                (habrán </a:t>
            </a:r>
            <a:r>
              <a:rPr lang="es-AR" sz="2400" b="1" i="1" dirty="0"/>
              <a:t>terminado/finalizado</a:t>
            </a:r>
            <a:r>
              <a:rPr lang="es-AR" sz="2400" dirty="0"/>
              <a:t>)</a:t>
            </a:r>
          </a:p>
        </p:txBody>
      </p:sp>
      <p:sp>
        <p:nvSpPr>
          <p:cNvPr id="4" name="Flecha derecha 3"/>
          <p:cNvSpPr/>
          <p:nvPr/>
        </p:nvSpPr>
        <p:spPr>
          <a:xfrm>
            <a:off x="960669" y="1249254"/>
            <a:ext cx="450761" cy="39924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623129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609600"/>
            <a:ext cx="8596668" cy="716924"/>
          </a:xfrm>
        </p:spPr>
        <p:txBody>
          <a:bodyPr/>
          <a:lstStyle/>
          <a:p>
            <a:pPr algn="ctr"/>
            <a:r>
              <a:rPr lang="es-AR" altLang="es-AR" b="1" dirty="0"/>
              <a:t>FORMAS </a:t>
            </a:r>
            <a:r>
              <a:rPr lang="es-AR" altLang="es-AR" b="1" dirty="0" smtClean="0"/>
              <a:t>“-ED”</a:t>
            </a:r>
            <a:endParaRPr lang="es-AR" dirty="0"/>
          </a:p>
        </p:txBody>
      </p:sp>
      <p:sp>
        <p:nvSpPr>
          <p:cNvPr id="3" name="Marcador de contenido 2"/>
          <p:cNvSpPr>
            <a:spLocks noGrp="1"/>
          </p:cNvSpPr>
          <p:nvPr>
            <p:ph idx="1"/>
          </p:nvPr>
        </p:nvSpPr>
        <p:spPr>
          <a:xfrm>
            <a:off x="627031" y="1429556"/>
            <a:ext cx="9122275" cy="5087154"/>
          </a:xfrm>
        </p:spPr>
        <p:txBody>
          <a:bodyPr>
            <a:normAutofit fontScale="70000" lnSpcReduction="20000"/>
          </a:bodyPr>
          <a:lstStyle/>
          <a:p>
            <a:endParaRPr lang="es-AR" sz="2000" dirty="0" smtClean="0"/>
          </a:p>
          <a:p>
            <a:pPr marL="0" lvl="0" indent="0">
              <a:buNone/>
            </a:pPr>
            <a:r>
              <a:rPr lang="en-US" sz="2000" b="1" dirty="0"/>
              <a:t> </a:t>
            </a:r>
            <a:r>
              <a:rPr lang="en-US" sz="2000" b="1" dirty="0" smtClean="0"/>
              <a:t>        </a:t>
            </a:r>
            <a:r>
              <a:rPr lang="es-ES_tradnl" sz="2800" b="1" dirty="0"/>
              <a:t>CLÁUSULAS ADVERBIALES CONTRAÍDAS</a:t>
            </a:r>
            <a:endParaRPr lang="es-AR" sz="2800" dirty="0"/>
          </a:p>
          <a:p>
            <a:pPr marL="0" indent="0">
              <a:buNone/>
            </a:pPr>
            <a:r>
              <a:rPr lang="es-AR" sz="2400" dirty="0" smtClean="0"/>
              <a:t>         Se eliminan SUJETO y </a:t>
            </a:r>
            <a:r>
              <a:rPr lang="es-AR" sz="2400" dirty="0"/>
              <a:t>verbo TO BE conjugado en voz pasiva (</a:t>
            </a:r>
            <a:r>
              <a:rPr lang="es-AR" sz="2400" dirty="0" smtClean="0"/>
              <a:t>elementos </a:t>
            </a:r>
            <a:r>
              <a:rPr lang="es-AR" sz="2400" dirty="0"/>
              <a:t>de la cláusula </a:t>
            </a:r>
            <a:r>
              <a:rPr lang="es-AR" sz="2400" dirty="0" smtClean="0"/>
              <a:t>    adverbial </a:t>
            </a:r>
            <a:r>
              <a:rPr lang="es-AR" sz="2400" dirty="0"/>
              <a:t>original.</a:t>
            </a:r>
          </a:p>
          <a:p>
            <a:pPr marL="0" indent="0">
              <a:buNone/>
            </a:pPr>
            <a:r>
              <a:rPr lang="en-US" sz="2400" dirty="0"/>
              <a:t> -    If </a:t>
            </a:r>
            <a:r>
              <a:rPr lang="en-US" sz="2400" b="1" dirty="0"/>
              <a:t>taken</a:t>
            </a:r>
            <a:r>
              <a:rPr lang="en-US" sz="2400" dirty="0"/>
              <a:t> literally, the sentence is nonsensical.</a:t>
            </a:r>
          </a:p>
          <a:p>
            <a:pPr marL="0" indent="0">
              <a:buNone/>
            </a:pPr>
            <a:r>
              <a:rPr lang="en-US" sz="2400" dirty="0"/>
              <a:t>       If it is </a:t>
            </a:r>
            <a:r>
              <a:rPr lang="en-US" sz="2400" b="1" dirty="0"/>
              <a:t>taken</a:t>
            </a:r>
            <a:r>
              <a:rPr lang="en-US" sz="2400" dirty="0"/>
              <a:t> literally,…..</a:t>
            </a:r>
            <a:endParaRPr lang="es-AR" sz="2400" dirty="0"/>
          </a:p>
          <a:p>
            <a:pPr marL="0" indent="0">
              <a:buNone/>
            </a:pPr>
            <a:r>
              <a:rPr lang="es-AR" sz="2400" dirty="0"/>
              <a:t>     (</a:t>
            </a:r>
            <a:r>
              <a:rPr lang="es-AR" sz="2400" b="1" i="1" dirty="0"/>
              <a:t>Si se toma</a:t>
            </a:r>
            <a:r>
              <a:rPr lang="es-AR" sz="2400" i="1" dirty="0"/>
              <a:t> </a:t>
            </a:r>
            <a:r>
              <a:rPr lang="es-AR" sz="2400" dirty="0"/>
              <a:t>de manera literal</a:t>
            </a:r>
            <a:r>
              <a:rPr lang="es-AR" sz="2400" i="1" dirty="0"/>
              <a:t>…</a:t>
            </a:r>
            <a:r>
              <a:rPr lang="es-AR" sz="2400" dirty="0"/>
              <a:t>/ </a:t>
            </a:r>
            <a:r>
              <a:rPr lang="en-GB" sz="2400" b="1" i="1" dirty="0" err="1"/>
              <a:t>Tomada</a:t>
            </a:r>
            <a:r>
              <a:rPr lang="en-GB" sz="2400" dirty="0"/>
              <a:t> de </a:t>
            </a:r>
            <a:r>
              <a:rPr lang="en-GB" sz="2400" dirty="0" err="1"/>
              <a:t>manera</a:t>
            </a:r>
            <a:r>
              <a:rPr lang="en-GB" sz="2400" dirty="0"/>
              <a:t> literal…)</a:t>
            </a:r>
            <a:endParaRPr lang="es-AR" sz="2400" dirty="0"/>
          </a:p>
          <a:p>
            <a:pPr marL="0" indent="0">
              <a:buNone/>
            </a:pPr>
            <a:r>
              <a:rPr lang="en-GB" sz="2400" dirty="0"/>
              <a:t> </a:t>
            </a:r>
            <a:endParaRPr lang="es-AR" sz="2400" dirty="0"/>
          </a:p>
          <a:p>
            <a:pPr>
              <a:buFontTx/>
              <a:buChar char="-"/>
            </a:pPr>
            <a:r>
              <a:rPr lang="en-US" sz="2400" dirty="0"/>
              <a:t>When </a:t>
            </a:r>
            <a:r>
              <a:rPr lang="en-US" sz="2400" b="1" dirty="0"/>
              <a:t>analyzed</a:t>
            </a:r>
            <a:r>
              <a:rPr lang="en-US" sz="2400" dirty="0"/>
              <a:t>, this is not difficult.</a:t>
            </a:r>
          </a:p>
          <a:p>
            <a:pPr marL="0" indent="0">
              <a:buNone/>
            </a:pPr>
            <a:r>
              <a:rPr lang="en-US" sz="2400" dirty="0"/>
              <a:t>      When it is </a:t>
            </a:r>
            <a:r>
              <a:rPr lang="en-US" sz="2400" b="1" dirty="0" err="1"/>
              <a:t>analized</a:t>
            </a:r>
            <a:r>
              <a:rPr lang="en-US" sz="2400" dirty="0"/>
              <a:t>, ……</a:t>
            </a:r>
            <a:endParaRPr lang="es-AR" sz="2400" dirty="0"/>
          </a:p>
          <a:p>
            <a:pPr marL="0" indent="0">
              <a:buNone/>
            </a:pPr>
            <a:r>
              <a:rPr lang="en-US" sz="2400" dirty="0"/>
              <a:t>      </a:t>
            </a:r>
            <a:r>
              <a:rPr lang="es-AR" sz="2400" dirty="0"/>
              <a:t>(Cuando </a:t>
            </a:r>
            <a:r>
              <a:rPr lang="es-AR" sz="2400" b="1" i="1" dirty="0"/>
              <a:t>se analiza</a:t>
            </a:r>
            <a:r>
              <a:rPr lang="es-AR" sz="2400" dirty="0"/>
              <a:t>…/Cuando </a:t>
            </a:r>
            <a:r>
              <a:rPr lang="es-AR" sz="2400" b="1" i="1" dirty="0"/>
              <a:t>es analizado</a:t>
            </a:r>
            <a:r>
              <a:rPr lang="es-AR" sz="2400" dirty="0"/>
              <a:t>)</a:t>
            </a:r>
          </a:p>
          <a:p>
            <a:pPr marL="0" indent="0">
              <a:buNone/>
            </a:pPr>
            <a:r>
              <a:rPr lang="es-AR" sz="2400" dirty="0"/>
              <a:t> </a:t>
            </a:r>
          </a:p>
          <a:p>
            <a:pPr>
              <a:buFontTx/>
              <a:buChar char="-"/>
            </a:pPr>
            <a:r>
              <a:rPr lang="en-US" sz="2400" dirty="0"/>
              <a:t>As previously </a:t>
            </a:r>
            <a:r>
              <a:rPr lang="en-US" sz="2400" b="1" dirty="0"/>
              <a:t>stated</a:t>
            </a:r>
            <a:r>
              <a:rPr lang="en-US" sz="2400" dirty="0"/>
              <a:t>, the hypothesis is wrong.</a:t>
            </a:r>
          </a:p>
          <a:p>
            <a:pPr marL="0" indent="0">
              <a:buNone/>
            </a:pPr>
            <a:r>
              <a:rPr lang="en-US" sz="2400" dirty="0"/>
              <a:t>       As it was previously stated, ….</a:t>
            </a:r>
            <a:endParaRPr lang="es-AR" sz="2400" dirty="0"/>
          </a:p>
          <a:p>
            <a:pPr marL="0" indent="0">
              <a:buNone/>
            </a:pPr>
            <a:r>
              <a:rPr lang="en-US" sz="2400" dirty="0"/>
              <a:t>       </a:t>
            </a:r>
            <a:r>
              <a:rPr lang="es-ES_tradnl" sz="2400" dirty="0"/>
              <a:t>(Como </a:t>
            </a:r>
            <a:r>
              <a:rPr lang="es-ES_tradnl" sz="2400" b="1" i="1" dirty="0"/>
              <a:t>se dijo</a:t>
            </a:r>
            <a:r>
              <a:rPr lang="es-ES_tradnl" sz="2400" dirty="0"/>
              <a:t> previamente, ….)</a:t>
            </a:r>
            <a:endParaRPr lang="es-AR" sz="2400" dirty="0"/>
          </a:p>
        </p:txBody>
      </p:sp>
      <p:sp>
        <p:nvSpPr>
          <p:cNvPr id="4" name="Flecha derecha 3"/>
          <p:cNvSpPr/>
          <p:nvPr/>
        </p:nvSpPr>
        <p:spPr>
          <a:xfrm>
            <a:off x="677334" y="1661374"/>
            <a:ext cx="437881" cy="4378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72279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373488"/>
            <a:ext cx="8596668" cy="785611"/>
          </a:xfrm>
        </p:spPr>
        <p:txBody>
          <a:bodyPr>
            <a:normAutofit/>
          </a:bodyPr>
          <a:lstStyle/>
          <a:p>
            <a:pPr algn="ctr"/>
            <a:r>
              <a:rPr lang="es-AR" altLang="es-AR" b="1" dirty="0" smtClean="0"/>
              <a:t>VOZ PASIVA</a:t>
            </a:r>
            <a:endParaRPr lang="es-AR" dirty="0"/>
          </a:p>
        </p:txBody>
      </p:sp>
      <p:sp>
        <p:nvSpPr>
          <p:cNvPr id="3" name="Marcador de contenido 2"/>
          <p:cNvSpPr>
            <a:spLocks noGrp="1"/>
          </p:cNvSpPr>
          <p:nvPr>
            <p:ph idx="1"/>
          </p:nvPr>
        </p:nvSpPr>
        <p:spPr>
          <a:xfrm>
            <a:off x="677334" y="1159100"/>
            <a:ext cx="8596668" cy="5331852"/>
          </a:xfrm>
        </p:spPr>
        <p:txBody>
          <a:bodyPr>
            <a:normAutofit fontScale="25000" lnSpcReduction="20000"/>
          </a:bodyPr>
          <a:lstStyle/>
          <a:p>
            <a:pPr marL="0" indent="0">
              <a:buNone/>
            </a:pPr>
            <a:endParaRPr lang="es-AR" dirty="0"/>
          </a:p>
          <a:p>
            <a:pPr marL="0" indent="0">
              <a:buNone/>
            </a:pPr>
            <a:r>
              <a:rPr lang="es-AR" dirty="0"/>
              <a:t> </a:t>
            </a:r>
            <a:r>
              <a:rPr lang="es-AR" dirty="0" smtClean="0"/>
              <a:t>                            </a:t>
            </a:r>
            <a:r>
              <a:rPr lang="es-AR" sz="8800" b="1" dirty="0"/>
              <a:t>VOZ PASIVA</a:t>
            </a:r>
          </a:p>
          <a:p>
            <a:pPr marL="0" indent="0">
              <a:buNone/>
            </a:pPr>
            <a:endParaRPr lang="es-AR" sz="7200" b="1" dirty="0"/>
          </a:p>
          <a:p>
            <a:pPr marL="0" indent="0">
              <a:buNone/>
            </a:pPr>
            <a:endParaRPr lang="es-AR" sz="2000" b="1" dirty="0"/>
          </a:p>
          <a:p>
            <a:pPr marL="0" indent="0">
              <a:buNone/>
            </a:pPr>
            <a:r>
              <a:rPr lang="es-AR" sz="2000" dirty="0"/>
              <a:t> </a:t>
            </a:r>
          </a:p>
          <a:p>
            <a:pPr marL="0" indent="0">
              <a:buNone/>
            </a:pPr>
            <a:endParaRPr lang="es-AR" sz="2000" dirty="0"/>
          </a:p>
          <a:p>
            <a:pPr marL="0" indent="0">
              <a:buNone/>
            </a:pPr>
            <a:endParaRPr lang="es-AR" sz="2000" dirty="0"/>
          </a:p>
          <a:p>
            <a:pPr marL="0" indent="0">
              <a:buNone/>
            </a:pPr>
            <a:endParaRPr lang="es-AR" sz="2000" dirty="0"/>
          </a:p>
          <a:p>
            <a:pPr marL="0" indent="0">
              <a:buNone/>
            </a:pPr>
            <a:r>
              <a:rPr lang="es-AR" sz="2000" dirty="0"/>
              <a:t>            </a:t>
            </a:r>
          </a:p>
          <a:p>
            <a:pPr marL="0" indent="0">
              <a:buNone/>
            </a:pPr>
            <a:r>
              <a:rPr lang="es-AR" sz="2000" dirty="0"/>
              <a:t>               </a:t>
            </a:r>
            <a:r>
              <a:rPr lang="es-AR" sz="2000" dirty="0" smtClean="0"/>
              <a:t>                       </a:t>
            </a:r>
            <a:r>
              <a:rPr lang="es-AR" sz="8000" b="1" dirty="0"/>
              <a:t>USO</a:t>
            </a:r>
          </a:p>
          <a:p>
            <a:pPr marL="0" indent="0">
              <a:buNone/>
            </a:pPr>
            <a:r>
              <a:rPr lang="es-AR" sz="2000" dirty="0"/>
              <a:t>             </a:t>
            </a:r>
          </a:p>
          <a:p>
            <a:pPr marL="0" indent="0">
              <a:buNone/>
            </a:pPr>
            <a:r>
              <a:rPr lang="es-AR" sz="7200" dirty="0"/>
              <a:t>   </a:t>
            </a:r>
            <a:r>
              <a:rPr lang="es-AR" sz="7200" b="1" dirty="0" smtClean="0"/>
              <a:t>   </a:t>
            </a:r>
            <a:r>
              <a:rPr lang="es-AR" sz="7200" b="1" dirty="0"/>
              <a:t>- </a:t>
            </a:r>
            <a:r>
              <a:rPr lang="es-AR" sz="7200" b="1" u="sng" dirty="0"/>
              <a:t>Voz activa</a:t>
            </a:r>
            <a:r>
              <a:rPr lang="es-AR" sz="7200" b="1" dirty="0"/>
              <a:t>:  el sujeto es el responsable de la acción.</a:t>
            </a:r>
            <a:endParaRPr lang="es-AR" sz="7200" dirty="0"/>
          </a:p>
          <a:p>
            <a:pPr marL="0" indent="0">
              <a:buNone/>
            </a:pPr>
            <a:r>
              <a:rPr lang="es-AR" sz="7200" dirty="0"/>
              <a:t> </a:t>
            </a:r>
          </a:p>
          <a:p>
            <a:pPr marL="0" indent="0">
              <a:buNone/>
            </a:pPr>
            <a:r>
              <a:rPr lang="en-US" sz="7200" dirty="0"/>
              <a:t>	Engineers </a:t>
            </a:r>
            <a:r>
              <a:rPr lang="en-US" sz="7200" b="1" dirty="0"/>
              <a:t>analyze</a:t>
            </a:r>
            <a:r>
              <a:rPr lang="en-US" sz="7200" dirty="0"/>
              <a:t> the possible causes of the disaster.</a:t>
            </a:r>
            <a:endParaRPr lang="es-AR" sz="7200" dirty="0"/>
          </a:p>
          <a:p>
            <a:pPr marL="0" indent="0">
              <a:buNone/>
            </a:pPr>
            <a:r>
              <a:rPr lang="es-AR" sz="7200" dirty="0"/>
              <a:t> </a:t>
            </a:r>
          </a:p>
          <a:p>
            <a:pPr marL="0" lvl="0" indent="0">
              <a:buNone/>
            </a:pPr>
            <a:r>
              <a:rPr lang="es-AR" sz="7200" b="1" dirty="0"/>
              <a:t>       </a:t>
            </a:r>
            <a:r>
              <a:rPr lang="es-AR" sz="7200" b="1" dirty="0" smtClean="0"/>
              <a:t>- </a:t>
            </a:r>
            <a:r>
              <a:rPr lang="es-AR" sz="7200" b="1" u="sng" dirty="0"/>
              <a:t>Voz Pasiva</a:t>
            </a:r>
            <a:r>
              <a:rPr lang="es-AR" sz="7200" b="1" dirty="0"/>
              <a:t>: el sujeto es el que recibe o está afectado por la acción</a:t>
            </a:r>
            <a:r>
              <a:rPr lang="es-AR" sz="7200" dirty="0"/>
              <a:t>.</a:t>
            </a:r>
          </a:p>
          <a:p>
            <a:pPr marL="0" indent="0">
              <a:buNone/>
            </a:pPr>
            <a:r>
              <a:rPr lang="es-AR" sz="7200" dirty="0"/>
              <a:t> </a:t>
            </a:r>
          </a:p>
          <a:p>
            <a:pPr marL="0" indent="0">
              <a:buNone/>
            </a:pPr>
            <a:r>
              <a:rPr lang="en-US" sz="7200" dirty="0"/>
              <a:t>	The causes of the disaster </a:t>
            </a:r>
            <a:r>
              <a:rPr lang="en-US" sz="7200" b="1" dirty="0"/>
              <a:t>are analyzed</a:t>
            </a:r>
            <a:r>
              <a:rPr lang="en-US" sz="7200" dirty="0"/>
              <a:t> by engineers.</a:t>
            </a:r>
            <a:endParaRPr lang="es-AR" sz="7200" dirty="0"/>
          </a:p>
          <a:p>
            <a:pPr marL="0" indent="0">
              <a:buNone/>
            </a:pPr>
            <a:r>
              <a:rPr lang="es-AR" sz="7200" b="1" i="1" dirty="0"/>
              <a:t>                                           </a:t>
            </a:r>
            <a:r>
              <a:rPr lang="es-AR" sz="7200" b="1" i="1" dirty="0" smtClean="0"/>
              <a:t> </a:t>
            </a:r>
            <a:r>
              <a:rPr lang="es-AR" sz="7200" b="1" i="1" dirty="0"/>
              <a:t>(son analizadas)</a:t>
            </a:r>
            <a:endParaRPr lang="es-AR" sz="7200" dirty="0"/>
          </a:p>
        </p:txBody>
      </p:sp>
      <p:sp>
        <p:nvSpPr>
          <p:cNvPr id="5" name="Flecha derecha 4"/>
          <p:cNvSpPr/>
          <p:nvPr/>
        </p:nvSpPr>
        <p:spPr>
          <a:xfrm>
            <a:off x="677334" y="1249252"/>
            <a:ext cx="437881" cy="4378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4" name="Rectángulo redondeado 3"/>
          <p:cNvSpPr/>
          <p:nvPr/>
        </p:nvSpPr>
        <p:spPr>
          <a:xfrm>
            <a:off x="1790164" y="1867437"/>
            <a:ext cx="7044742" cy="10174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AR" b="1" dirty="0" smtClean="0"/>
              <a:t>      </a:t>
            </a:r>
            <a:r>
              <a:rPr lang="es-AR" sz="2400" b="1" dirty="0" smtClean="0"/>
              <a:t>BE           </a:t>
            </a:r>
            <a:r>
              <a:rPr lang="es-AR" sz="2400" b="1" dirty="0"/>
              <a:t>+           PASADO PARTICIPIO</a:t>
            </a:r>
            <a:endParaRPr lang="es-AR" sz="2400" dirty="0"/>
          </a:p>
          <a:p>
            <a:r>
              <a:rPr lang="es-AR" b="1" dirty="0"/>
              <a:t>   (conjugado)          </a:t>
            </a:r>
            <a:r>
              <a:rPr lang="es-AR" b="1" dirty="0" smtClean="0"/>
              <a:t>                 </a:t>
            </a:r>
            <a:r>
              <a:rPr lang="es-AR" b="1" dirty="0"/>
              <a:t>(-</a:t>
            </a:r>
            <a:r>
              <a:rPr lang="es-AR" b="1" dirty="0" smtClean="0"/>
              <a:t>ED / </a:t>
            </a:r>
            <a:r>
              <a:rPr lang="es-AR" b="1" dirty="0"/>
              <a:t>3º columna)</a:t>
            </a:r>
            <a:endParaRPr lang="es-AR" dirty="0"/>
          </a:p>
        </p:txBody>
      </p:sp>
    </p:spTree>
    <p:extLst>
      <p:ext uri="{BB962C8B-B14F-4D97-AF65-F5344CB8AC3E}">
        <p14:creationId xmlns:p14="http://schemas.microsoft.com/office/powerpoint/2010/main" val="3167455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6" end="1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7" end="1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8" end="1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309094"/>
            <a:ext cx="8596668" cy="643944"/>
          </a:xfrm>
        </p:spPr>
        <p:txBody>
          <a:bodyPr/>
          <a:lstStyle/>
          <a:p>
            <a:pPr algn="ctr"/>
            <a:r>
              <a:rPr lang="es-AR" altLang="es-AR" b="1" dirty="0" smtClean="0"/>
              <a:t>VOZ PASIVA</a:t>
            </a:r>
            <a:endParaRPr lang="es-AR" dirty="0"/>
          </a:p>
        </p:txBody>
      </p:sp>
      <p:sp>
        <p:nvSpPr>
          <p:cNvPr id="3" name="Marcador de contenido 2"/>
          <p:cNvSpPr>
            <a:spLocks noGrp="1"/>
          </p:cNvSpPr>
          <p:nvPr>
            <p:ph idx="1"/>
          </p:nvPr>
        </p:nvSpPr>
        <p:spPr>
          <a:xfrm>
            <a:off x="677334" y="1390919"/>
            <a:ext cx="9020458" cy="5203064"/>
          </a:xfrm>
        </p:spPr>
        <p:txBody>
          <a:bodyPr>
            <a:noAutofit/>
          </a:bodyPr>
          <a:lstStyle/>
          <a:p>
            <a:pPr marL="0" lvl="0" indent="0">
              <a:buNone/>
            </a:pPr>
            <a:r>
              <a:rPr lang="en-US" sz="1600" b="1" dirty="0"/>
              <a:t> </a:t>
            </a:r>
            <a:r>
              <a:rPr lang="en-US" sz="1600" b="1" dirty="0" smtClean="0"/>
              <a:t>       </a:t>
            </a:r>
            <a:r>
              <a:rPr lang="en-US" sz="2000" b="1" dirty="0" err="1" smtClean="0"/>
              <a:t>Preposición</a:t>
            </a:r>
            <a:r>
              <a:rPr lang="en-US" sz="2000" b="1" dirty="0" smtClean="0"/>
              <a:t> </a:t>
            </a:r>
            <a:r>
              <a:rPr lang="en-US" sz="2000" b="1" dirty="0"/>
              <a:t>“by”: s</a:t>
            </a:r>
            <a:r>
              <a:rPr lang="es-AR" sz="2000" b="1" dirty="0"/>
              <a:t>e menciona el </a:t>
            </a:r>
            <a:r>
              <a:rPr lang="es-AR" sz="2000" b="1" i="1" dirty="0"/>
              <a:t>agente (</a:t>
            </a:r>
            <a:r>
              <a:rPr lang="es-AR" sz="2000" b="1" dirty="0"/>
              <a:t>actor)</a:t>
            </a:r>
            <a:r>
              <a:rPr lang="es-AR" sz="2000" dirty="0"/>
              <a:t>, si es importante.</a:t>
            </a:r>
          </a:p>
          <a:p>
            <a:pPr marL="0" indent="0">
              <a:buNone/>
            </a:pPr>
            <a:r>
              <a:rPr lang="en-US" sz="2000" dirty="0" smtClean="0"/>
              <a:t>         </a:t>
            </a:r>
          </a:p>
          <a:p>
            <a:pPr marL="0" indent="0">
              <a:buNone/>
            </a:pPr>
            <a:r>
              <a:rPr lang="en-US" sz="2000" dirty="0"/>
              <a:t> </a:t>
            </a:r>
            <a:r>
              <a:rPr lang="en-US" sz="2000" dirty="0" smtClean="0"/>
              <a:t>     Concrete </a:t>
            </a:r>
            <a:r>
              <a:rPr lang="en-US" sz="2000" b="1" dirty="0"/>
              <a:t>was invented</a:t>
            </a:r>
            <a:r>
              <a:rPr lang="en-US" sz="2000" dirty="0"/>
              <a:t> </a:t>
            </a:r>
            <a:r>
              <a:rPr lang="en-US" sz="2000" b="1" dirty="0"/>
              <a:t>by</a:t>
            </a:r>
            <a:r>
              <a:rPr lang="en-US" sz="2000" dirty="0"/>
              <a:t> the Romans in the Second Century.</a:t>
            </a:r>
            <a:endParaRPr lang="es-AR" sz="2000" dirty="0"/>
          </a:p>
          <a:p>
            <a:pPr marL="0" indent="0">
              <a:buNone/>
            </a:pPr>
            <a:r>
              <a:rPr lang="es-AR" sz="2000" i="1" dirty="0" smtClean="0"/>
              <a:t>      (</a:t>
            </a:r>
            <a:r>
              <a:rPr lang="es-AR" sz="2000" i="1" dirty="0"/>
              <a:t>El hormigón </a:t>
            </a:r>
            <a:r>
              <a:rPr lang="es-AR" sz="2000" b="1" i="1" dirty="0"/>
              <a:t>fue inventado</a:t>
            </a:r>
            <a:r>
              <a:rPr lang="es-AR" sz="2000" i="1" dirty="0"/>
              <a:t> por los Romanos en Siglo II.)</a:t>
            </a:r>
            <a:endParaRPr lang="es-AR" sz="2000" dirty="0"/>
          </a:p>
          <a:p>
            <a:pPr marL="0" indent="0">
              <a:buNone/>
            </a:pPr>
            <a:r>
              <a:rPr lang="es-AR" sz="2000" dirty="0"/>
              <a:t> </a:t>
            </a:r>
            <a:endParaRPr lang="es-AR" sz="2000" dirty="0" smtClean="0"/>
          </a:p>
          <a:p>
            <a:pPr marL="0" indent="0">
              <a:buNone/>
            </a:pPr>
            <a:endParaRPr lang="es-AR" sz="2000" dirty="0"/>
          </a:p>
          <a:p>
            <a:pPr marL="0" lvl="0" indent="0">
              <a:buNone/>
            </a:pPr>
            <a:r>
              <a:rPr lang="es-AR" sz="2000" b="1" dirty="0" smtClean="0"/>
              <a:t>       Cuando </a:t>
            </a:r>
            <a:r>
              <a:rPr lang="es-AR" sz="2000" b="1" dirty="0"/>
              <a:t>dicho </a:t>
            </a:r>
            <a:r>
              <a:rPr lang="es-AR" sz="2000" b="1" i="1" dirty="0"/>
              <a:t>actor</a:t>
            </a:r>
            <a:r>
              <a:rPr lang="es-AR" sz="2000" b="1" dirty="0"/>
              <a:t> es desconocido, obvio, carece de importancia o </a:t>
            </a:r>
            <a:r>
              <a:rPr lang="es-AR" sz="2000" b="1" dirty="0" smtClean="0"/>
              <a:t>    se </a:t>
            </a:r>
            <a:r>
              <a:rPr lang="es-AR" sz="2000" b="1" dirty="0"/>
              <a:t>desea ocultarlo, la frase precedida por “</a:t>
            </a:r>
            <a:r>
              <a:rPr lang="es-AR" sz="2000" b="1" dirty="0" err="1"/>
              <a:t>by</a:t>
            </a:r>
            <a:r>
              <a:rPr lang="es-AR" sz="2000" b="1" dirty="0"/>
              <a:t>” desaparece</a:t>
            </a:r>
            <a:r>
              <a:rPr lang="es-AR" sz="2000" dirty="0"/>
              <a:t>.  </a:t>
            </a:r>
          </a:p>
          <a:p>
            <a:pPr marL="0" indent="0">
              <a:buNone/>
            </a:pPr>
            <a:r>
              <a:rPr lang="en-US" sz="2000" dirty="0" smtClean="0"/>
              <a:t>      </a:t>
            </a:r>
          </a:p>
          <a:p>
            <a:pPr marL="0" indent="0">
              <a:buNone/>
            </a:pPr>
            <a:r>
              <a:rPr lang="en-US" sz="2000" dirty="0"/>
              <a:t> </a:t>
            </a:r>
            <a:r>
              <a:rPr lang="en-US" sz="2000" dirty="0" smtClean="0"/>
              <a:t>    The </a:t>
            </a:r>
            <a:r>
              <a:rPr lang="en-US" sz="2000" dirty="0"/>
              <a:t>causes of the disaster </a:t>
            </a:r>
            <a:r>
              <a:rPr lang="en-US" sz="2000" b="1" u="sng" dirty="0"/>
              <a:t>are analyzed</a:t>
            </a:r>
            <a:r>
              <a:rPr lang="en-US" sz="2000" dirty="0"/>
              <a:t>.</a:t>
            </a:r>
            <a:endParaRPr lang="es-AR" sz="2000" dirty="0"/>
          </a:p>
          <a:p>
            <a:pPr marL="0" indent="0">
              <a:buNone/>
            </a:pPr>
            <a:r>
              <a:rPr lang="es-AR" sz="2000" dirty="0" smtClean="0"/>
              <a:t>      (</a:t>
            </a:r>
            <a:r>
              <a:rPr lang="es-AR" sz="2000" b="1" i="1" dirty="0"/>
              <a:t>Se analizan</a:t>
            </a:r>
            <a:r>
              <a:rPr lang="es-AR" sz="2000" i="1" dirty="0"/>
              <a:t> las causas del desastre.</a:t>
            </a:r>
            <a:r>
              <a:rPr lang="es-AR" sz="2000" dirty="0"/>
              <a:t>)</a:t>
            </a:r>
          </a:p>
        </p:txBody>
      </p:sp>
      <p:sp>
        <p:nvSpPr>
          <p:cNvPr id="5" name="Flecha derecha 4"/>
          <p:cNvSpPr/>
          <p:nvPr/>
        </p:nvSpPr>
        <p:spPr>
          <a:xfrm>
            <a:off x="677334" y="1390919"/>
            <a:ext cx="437881" cy="4378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6" name="Flecha derecha 5"/>
          <p:cNvSpPr/>
          <p:nvPr/>
        </p:nvSpPr>
        <p:spPr>
          <a:xfrm>
            <a:off x="677334" y="3992451"/>
            <a:ext cx="437881" cy="4378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3545063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412124"/>
            <a:ext cx="8596668" cy="708338"/>
          </a:xfrm>
        </p:spPr>
        <p:txBody>
          <a:bodyPr>
            <a:normAutofit/>
          </a:bodyPr>
          <a:lstStyle/>
          <a:p>
            <a:pPr algn="ctr"/>
            <a:r>
              <a:rPr lang="es-AR" altLang="es-AR" sz="3200" b="1" dirty="0" smtClean="0"/>
              <a:t>PRÁCTICA</a:t>
            </a:r>
            <a:endParaRPr lang="es-AR" sz="3200" dirty="0"/>
          </a:p>
        </p:txBody>
      </p:sp>
      <p:sp>
        <p:nvSpPr>
          <p:cNvPr id="3" name="Marcador de contenido 2"/>
          <p:cNvSpPr>
            <a:spLocks noGrp="1"/>
          </p:cNvSpPr>
          <p:nvPr>
            <p:ph idx="1"/>
          </p:nvPr>
        </p:nvSpPr>
        <p:spPr>
          <a:xfrm>
            <a:off x="450761" y="1120462"/>
            <a:ext cx="9375819" cy="5370489"/>
          </a:xfrm>
        </p:spPr>
        <p:txBody>
          <a:bodyPr>
            <a:normAutofit lnSpcReduction="10000"/>
          </a:bodyPr>
          <a:lstStyle/>
          <a:p>
            <a:pPr marL="0" indent="0">
              <a:buNone/>
            </a:pPr>
            <a:r>
              <a:rPr lang="en-US" b="1" dirty="0"/>
              <a:t> </a:t>
            </a:r>
            <a:r>
              <a:rPr lang="en-US" b="1" dirty="0" smtClean="0"/>
              <a:t>         </a:t>
            </a:r>
            <a:r>
              <a:rPr lang="en-US" sz="2400" b="1" dirty="0"/>
              <a:t>Ian </a:t>
            </a:r>
            <a:r>
              <a:rPr lang="en-US" sz="2400" b="1" dirty="0" err="1"/>
              <a:t>Sommerville</a:t>
            </a:r>
            <a:r>
              <a:rPr lang="en-US" sz="2400" b="1" dirty="0"/>
              <a:t> “Software Engineering” (9th edition) </a:t>
            </a:r>
          </a:p>
          <a:p>
            <a:pPr marL="0" indent="0">
              <a:buNone/>
            </a:pPr>
            <a:r>
              <a:rPr lang="en-US" sz="2400" dirty="0"/>
              <a:t> </a:t>
            </a:r>
            <a:r>
              <a:rPr lang="en-US" sz="4300" b="1" dirty="0"/>
              <a:t>CHAPTER  1 </a:t>
            </a:r>
          </a:p>
          <a:p>
            <a:pPr marL="0" indent="0">
              <a:buNone/>
            </a:pPr>
            <a:r>
              <a:rPr lang="en-US" sz="2400" dirty="0"/>
              <a:t> </a:t>
            </a:r>
            <a:r>
              <a:rPr lang="en-US" sz="2400" b="1" dirty="0"/>
              <a:t>Objectives</a:t>
            </a:r>
          </a:p>
          <a:p>
            <a:pPr marL="0" indent="0" algn="just">
              <a:buNone/>
            </a:pPr>
            <a:r>
              <a:rPr lang="en-US" sz="2000" dirty="0"/>
              <a:t>The objectives of this chapter are to introduce software engineering and to provide a framework </a:t>
            </a:r>
            <a:r>
              <a:rPr lang="en-US" sz="2000" u="sng" dirty="0"/>
              <a:t>for understanding </a:t>
            </a:r>
            <a:r>
              <a:rPr lang="en-US" sz="2000" dirty="0"/>
              <a:t>the rest of the book. When you </a:t>
            </a:r>
            <a:r>
              <a:rPr lang="en-US" sz="2000" u="sng" dirty="0"/>
              <a:t>have read </a:t>
            </a:r>
            <a:r>
              <a:rPr lang="en-US" sz="2000" dirty="0"/>
              <a:t>this chapter you will: </a:t>
            </a:r>
          </a:p>
          <a:p>
            <a:pPr algn="just">
              <a:buFontTx/>
              <a:buChar char="-"/>
            </a:pPr>
            <a:r>
              <a:rPr lang="en-US" sz="2000" dirty="0"/>
              <a:t>understand what software engineering is and why it is important;</a:t>
            </a:r>
          </a:p>
          <a:p>
            <a:pPr algn="just">
              <a:buFontTx/>
              <a:buChar char="-"/>
            </a:pPr>
            <a:r>
              <a:rPr lang="en-US" sz="2000" dirty="0"/>
              <a:t>understand that the development of different types of software systems </a:t>
            </a:r>
            <a:r>
              <a:rPr lang="en-US" sz="2000" u="sng" dirty="0"/>
              <a:t>may require </a:t>
            </a:r>
            <a:r>
              <a:rPr lang="en-US" sz="2000" dirty="0"/>
              <a:t>different </a:t>
            </a:r>
            <a:r>
              <a:rPr lang="en-US" sz="2000" u="sng" dirty="0"/>
              <a:t>software engineering techniques</a:t>
            </a:r>
            <a:r>
              <a:rPr lang="en-US" sz="2000" dirty="0"/>
              <a:t>; </a:t>
            </a:r>
          </a:p>
          <a:p>
            <a:pPr algn="just">
              <a:buFontTx/>
              <a:buChar char="-"/>
            </a:pPr>
            <a:r>
              <a:rPr lang="en-US" sz="2000" dirty="0"/>
              <a:t>understand </a:t>
            </a:r>
            <a:r>
              <a:rPr lang="en-US" sz="2000" u="sng" dirty="0"/>
              <a:t>some ethical and professional issues that are important for software engineers</a:t>
            </a:r>
            <a:r>
              <a:rPr lang="en-US" sz="2000" dirty="0"/>
              <a:t>;</a:t>
            </a:r>
          </a:p>
          <a:p>
            <a:pPr algn="just">
              <a:buFontTx/>
              <a:buChar char="-"/>
            </a:pPr>
            <a:r>
              <a:rPr lang="en-US" sz="2000" u="sng" dirty="0"/>
              <a:t>have been introduced </a:t>
            </a:r>
            <a:r>
              <a:rPr lang="en-US" sz="2000" dirty="0"/>
              <a:t>to three systems, of different types, that </a:t>
            </a:r>
            <a:r>
              <a:rPr lang="en-US" sz="2000" u="sng" dirty="0"/>
              <a:t>will be used </a:t>
            </a:r>
            <a:r>
              <a:rPr lang="en-US" sz="2000" dirty="0"/>
              <a:t>as examples throughout the book. </a:t>
            </a:r>
            <a:endParaRPr lang="es-AR" sz="2000" dirty="0"/>
          </a:p>
        </p:txBody>
      </p:sp>
    </p:spTree>
    <p:extLst>
      <p:ext uri="{BB962C8B-B14F-4D97-AF65-F5344CB8AC3E}">
        <p14:creationId xmlns:p14="http://schemas.microsoft.com/office/powerpoint/2010/main" val="2932298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4456" y="206063"/>
            <a:ext cx="8596668" cy="643943"/>
          </a:xfrm>
        </p:spPr>
        <p:txBody>
          <a:bodyPr>
            <a:normAutofit/>
          </a:bodyPr>
          <a:lstStyle/>
          <a:p>
            <a:pPr algn="ctr"/>
            <a:r>
              <a:rPr lang="es-AR" sz="3200" b="1" dirty="0" smtClean="0"/>
              <a:t>PRÁCTICA</a:t>
            </a:r>
            <a:endParaRPr lang="es-AR" sz="3200" b="1" dirty="0"/>
          </a:p>
        </p:txBody>
      </p:sp>
      <p:sp>
        <p:nvSpPr>
          <p:cNvPr id="3" name="Marcador de contenido 2"/>
          <p:cNvSpPr>
            <a:spLocks noGrp="1"/>
          </p:cNvSpPr>
          <p:nvPr>
            <p:ph idx="1"/>
          </p:nvPr>
        </p:nvSpPr>
        <p:spPr>
          <a:xfrm>
            <a:off x="373488" y="708339"/>
            <a:ext cx="9633398" cy="5795492"/>
          </a:xfrm>
        </p:spPr>
        <p:txBody>
          <a:bodyPr>
            <a:noAutofit/>
          </a:bodyPr>
          <a:lstStyle/>
          <a:p>
            <a:pPr marL="0" indent="0">
              <a:buNone/>
            </a:pPr>
            <a:r>
              <a:rPr lang="en-US" sz="2000" b="1" dirty="0"/>
              <a:t>Introduction </a:t>
            </a:r>
          </a:p>
          <a:p>
            <a:pPr marL="0" indent="0" algn="just">
              <a:buNone/>
            </a:pPr>
            <a:r>
              <a:rPr lang="en-US" sz="1600" dirty="0" smtClean="0"/>
              <a:t> </a:t>
            </a:r>
            <a:r>
              <a:rPr lang="en-US" sz="1600" dirty="0"/>
              <a:t>We can’t run the modern world without software. National infrastructures and utilities </a:t>
            </a:r>
            <a:r>
              <a:rPr lang="en-US" sz="1600" u="sng" dirty="0"/>
              <a:t>are controlled </a:t>
            </a:r>
            <a:r>
              <a:rPr lang="en-US" sz="1600" dirty="0"/>
              <a:t>by computer-based systems and most electrical products include a computer and </a:t>
            </a:r>
            <a:r>
              <a:rPr lang="en-US" sz="1600" u="sng" dirty="0"/>
              <a:t>controlling</a:t>
            </a:r>
            <a:r>
              <a:rPr lang="en-US" sz="1600" dirty="0"/>
              <a:t> software</a:t>
            </a:r>
            <a:r>
              <a:rPr lang="en-US" sz="1600" u="sng" dirty="0"/>
              <a:t>. Industrial manufacturing and distribution </a:t>
            </a:r>
            <a:r>
              <a:rPr lang="en-US" sz="1600" dirty="0"/>
              <a:t>is completely computerized, as is the financial system. Entertainment, </a:t>
            </a:r>
            <a:r>
              <a:rPr lang="en-US" sz="1600" u="sng" dirty="0"/>
              <a:t>including</a:t>
            </a:r>
            <a:r>
              <a:rPr lang="en-US" sz="1600" dirty="0"/>
              <a:t> the music industry, computer games, and film and television, is software intensive. Therefore, software engineering is essential for </a:t>
            </a:r>
            <a:r>
              <a:rPr lang="en-US" sz="1600" u="sng" dirty="0"/>
              <a:t>the functioning of national and international societies.</a:t>
            </a:r>
            <a:r>
              <a:rPr lang="en-US" sz="1600" dirty="0"/>
              <a:t> Software systems are abstract and intangible. They are not constrained by the properties of materials, governed by physical laws, or by manufacturing processes. This simplifies software engineering, as there are no natural limits to the potential of software. However, because of the lack of physical constraints, software systems can quickly become extremely complex, difficult to understand, and expensive to change. </a:t>
            </a:r>
          </a:p>
          <a:p>
            <a:pPr marL="0" indent="0" algn="just">
              <a:buNone/>
            </a:pPr>
            <a:r>
              <a:rPr lang="en-US" sz="1600" dirty="0"/>
              <a:t> </a:t>
            </a:r>
          </a:p>
          <a:p>
            <a:pPr marL="0" indent="0" algn="just">
              <a:buNone/>
            </a:pPr>
            <a:r>
              <a:rPr lang="en-US" sz="1600" dirty="0"/>
              <a:t>There are many different types of software systems, from simple </a:t>
            </a:r>
            <a:r>
              <a:rPr lang="en-US" sz="1600" u="sng" dirty="0"/>
              <a:t>embedded</a:t>
            </a:r>
            <a:r>
              <a:rPr lang="en-US" sz="1600" dirty="0"/>
              <a:t> systems to complex, worldwide information systems. It is pointless to look for universal notations, methods, or techniques for software engineering because different types of software require different approaches. </a:t>
            </a:r>
            <a:r>
              <a:rPr lang="en-US" sz="1600" u="sng" dirty="0"/>
              <a:t>Developing</a:t>
            </a:r>
            <a:r>
              <a:rPr lang="en-US" sz="1600" dirty="0"/>
              <a:t> an organizational information system is completely different </a:t>
            </a:r>
            <a:r>
              <a:rPr lang="en-US" sz="1600" u="sng" dirty="0"/>
              <a:t>from developing </a:t>
            </a:r>
            <a:r>
              <a:rPr lang="en-US" sz="1600" dirty="0"/>
              <a:t>a controller for a scientific instrument. Neither of these systems has much in common with a graphics-intensive computer game. All of these applications need software engineering; they do not all need the same software engineering techniques. There are still many reports of software projects going wrong and ‘software failures’. Software engineering is criticized as inadequate for modern software development. However, in my view, many of these </a:t>
            </a:r>
            <a:r>
              <a:rPr lang="en-US" sz="1600" u="sng" dirty="0"/>
              <a:t>so-called</a:t>
            </a:r>
            <a:r>
              <a:rPr lang="en-US" sz="1600" dirty="0"/>
              <a:t> software failures are a consequence of two factors: </a:t>
            </a:r>
          </a:p>
        </p:txBody>
      </p:sp>
    </p:spTree>
    <p:extLst>
      <p:ext uri="{BB962C8B-B14F-4D97-AF65-F5344CB8AC3E}">
        <p14:creationId xmlns:p14="http://schemas.microsoft.com/office/powerpoint/2010/main" val="601802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4" y="373488"/>
            <a:ext cx="8596668" cy="631064"/>
          </a:xfrm>
        </p:spPr>
        <p:txBody>
          <a:bodyPr>
            <a:normAutofit fontScale="90000"/>
          </a:bodyPr>
          <a:lstStyle/>
          <a:p>
            <a:pPr algn="ctr"/>
            <a:r>
              <a:rPr lang="es-AR" b="1" dirty="0"/>
              <a:t>PRÁCTICA</a:t>
            </a:r>
            <a:endParaRPr lang="es-AR" dirty="0"/>
          </a:p>
        </p:txBody>
      </p:sp>
      <p:sp>
        <p:nvSpPr>
          <p:cNvPr id="3" name="Marcador de contenido 2"/>
          <p:cNvSpPr>
            <a:spLocks noGrp="1"/>
          </p:cNvSpPr>
          <p:nvPr>
            <p:ph idx="1"/>
          </p:nvPr>
        </p:nvSpPr>
        <p:spPr>
          <a:xfrm>
            <a:off x="677333" y="1223493"/>
            <a:ext cx="9097731" cy="5138670"/>
          </a:xfrm>
        </p:spPr>
        <p:txBody>
          <a:bodyPr>
            <a:normAutofit fontScale="92500" lnSpcReduction="10000"/>
          </a:bodyPr>
          <a:lstStyle/>
          <a:p>
            <a:pPr marL="228600" indent="-228600" algn="just">
              <a:buAutoNum type="arabicPeriod"/>
            </a:pPr>
            <a:r>
              <a:rPr lang="en-US" u="sng" dirty="0"/>
              <a:t>Increasing</a:t>
            </a:r>
            <a:r>
              <a:rPr lang="en-US" dirty="0"/>
              <a:t> demands: As new software </a:t>
            </a:r>
            <a:r>
              <a:rPr lang="en-US" u="sng" dirty="0"/>
              <a:t>engineering</a:t>
            </a:r>
            <a:r>
              <a:rPr lang="en-US" dirty="0"/>
              <a:t> techniques help us to build larger, more complex systems, the demands change. </a:t>
            </a:r>
            <a:r>
              <a:rPr lang="en-US" u="sng" dirty="0"/>
              <a:t>Systems have to be built and delivered more quickly;</a:t>
            </a:r>
            <a:r>
              <a:rPr lang="en-US" dirty="0"/>
              <a:t> </a:t>
            </a:r>
            <a:r>
              <a:rPr lang="en-US" u="sng" dirty="0"/>
              <a:t>larger, even more complex systems are required</a:t>
            </a:r>
            <a:r>
              <a:rPr lang="en-US" dirty="0"/>
              <a:t>; systems have to have new capabilities that were previously thought to be impossible. </a:t>
            </a:r>
            <a:r>
              <a:rPr lang="en-US" u="sng" dirty="0"/>
              <a:t>Existing</a:t>
            </a:r>
            <a:r>
              <a:rPr lang="en-US" dirty="0"/>
              <a:t> software engineering methods cannot cope and new software engineering techniques have to be developed to meet these new demands.</a:t>
            </a:r>
          </a:p>
          <a:p>
            <a:pPr marL="228600" indent="-228600" algn="just">
              <a:buAutoNum type="arabicPeriod"/>
            </a:pPr>
            <a:r>
              <a:rPr lang="en-US" dirty="0"/>
              <a:t> Low expectations: </a:t>
            </a:r>
            <a:r>
              <a:rPr lang="en-US" u="sng" dirty="0"/>
              <a:t>It is relatively easy to write computer programs without using software engineering methods and techniques</a:t>
            </a:r>
            <a:r>
              <a:rPr lang="en-US" dirty="0"/>
              <a:t>. </a:t>
            </a:r>
            <a:r>
              <a:rPr lang="en-US" u="sng" dirty="0"/>
              <a:t>Many companies have drifted into software development as their products and services have evolved. </a:t>
            </a:r>
            <a:r>
              <a:rPr lang="en-US" dirty="0"/>
              <a:t>They do not use software engineering methods in their everyday work. Consequently, their software is often more expensive and less reliable than it should be. </a:t>
            </a:r>
            <a:r>
              <a:rPr lang="en-US" u="sng" dirty="0"/>
              <a:t>We need better software engineering education and training to address this problem. </a:t>
            </a:r>
          </a:p>
          <a:p>
            <a:pPr marL="0" indent="0" algn="just">
              <a:buNone/>
            </a:pPr>
            <a:r>
              <a:rPr lang="en-US" dirty="0"/>
              <a:t> </a:t>
            </a:r>
          </a:p>
          <a:p>
            <a:pPr marL="0" indent="0" algn="just">
              <a:buNone/>
            </a:pPr>
            <a:r>
              <a:rPr lang="en-US" dirty="0"/>
              <a:t>Software engineers can be rightly proud of their achievements. Of course </a:t>
            </a:r>
            <a:r>
              <a:rPr lang="en-US" u="sng" dirty="0"/>
              <a:t>we still have  problems developing complex software but, without software engineering, we would not have explored space, would not have the Internet or modern telecommunications.</a:t>
            </a:r>
            <a:r>
              <a:rPr lang="en-US" dirty="0"/>
              <a:t> All forms of travel would be more dangerous and expensive. Software engineering has contributed a great deal and I am convinced that its contributions in the 21st century will be even greater.</a:t>
            </a:r>
            <a:endParaRPr lang="es-AR" dirty="0"/>
          </a:p>
        </p:txBody>
      </p:sp>
    </p:spTree>
    <p:extLst>
      <p:ext uri="{BB962C8B-B14F-4D97-AF65-F5344CB8AC3E}">
        <p14:creationId xmlns:p14="http://schemas.microsoft.com/office/powerpoint/2010/main" val="16529942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7333" y="609600"/>
            <a:ext cx="9419977" cy="1320800"/>
          </a:xfrm>
        </p:spPr>
        <p:txBody>
          <a:bodyPr/>
          <a:lstStyle/>
          <a:p>
            <a:pPr algn="ctr"/>
            <a:endParaRPr lang="es-AR" dirty="0"/>
          </a:p>
        </p:txBody>
      </p:sp>
      <p:sp>
        <p:nvSpPr>
          <p:cNvPr id="3" name="Marcador de contenido 2"/>
          <p:cNvSpPr>
            <a:spLocks noGrp="1"/>
          </p:cNvSpPr>
          <p:nvPr>
            <p:ph idx="1"/>
          </p:nvPr>
        </p:nvSpPr>
        <p:spPr>
          <a:xfrm>
            <a:off x="677333" y="2160589"/>
            <a:ext cx="9692351" cy="3880773"/>
          </a:xfrm>
        </p:spPr>
        <p:txBody>
          <a:bodyPr>
            <a:normAutofit/>
          </a:bodyPr>
          <a:lstStyle/>
          <a:p>
            <a:pPr marL="0" indent="0" algn="ctr">
              <a:buNone/>
            </a:pPr>
            <a:r>
              <a:rPr lang="es-AR" sz="6000" dirty="0" smtClean="0"/>
              <a:t>THANKS!</a:t>
            </a:r>
          </a:p>
          <a:p>
            <a:pPr marL="0" indent="0" algn="ctr">
              <a:buNone/>
            </a:pPr>
            <a:endParaRPr lang="es-AR" sz="6000" dirty="0"/>
          </a:p>
          <a:p>
            <a:pPr marL="0" indent="0" algn="ctr">
              <a:buNone/>
            </a:pPr>
            <a:endParaRPr lang="es-AR" sz="6000" dirty="0"/>
          </a:p>
        </p:txBody>
      </p:sp>
      <p:pic>
        <p:nvPicPr>
          <p:cNvPr id="6" name="Imagen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6870" y="3988339"/>
            <a:ext cx="1850562" cy="2283211"/>
          </a:xfrm>
          <a:prstGeom prst="rect">
            <a:avLst/>
          </a:prstGeom>
          <a:effectLst>
            <a:glow rad="63500">
              <a:schemeClr val="accent2">
                <a:satMod val="175000"/>
                <a:alpha val="40000"/>
              </a:schemeClr>
            </a:glow>
          </a:effectLst>
        </p:spPr>
      </p:pic>
    </p:spTree>
    <p:extLst>
      <p:ext uri="{BB962C8B-B14F-4D97-AF65-F5344CB8AC3E}">
        <p14:creationId xmlns:p14="http://schemas.microsoft.com/office/powerpoint/2010/main" val="112699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3">
                                            <p:txEl>
                                              <p:pRg st="0" end="0"/>
                                            </p:txEl>
                                          </p:spTgt>
                                        </p:tgtEl>
                                      </p:cBhvr>
                                      <p:by x="150000" y="150000"/>
                                    </p:animScale>
                                  </p:childTnLst>
                                </p:cTn>
                              </p:par>
                            </p:childTnLst>
                          </p:cTn>
                        </p:par>
                      </p:childTnLst>
                    </p:cTn>
                  </p:par>
                  <p:par>
                    <p:cTn id="7" fill="hold">
                      <p:stCondLst>
                        <p:cond delay="indefinite"/>
                      </p:stCondLst>
                      <p:childTnLst>
                        <p:par>
                          <p:cTn id="8" fill="hold">
                            <p:stCondLst>
                              <p:cond delay="0"/>
                            </p:stCondLst>
                            <p:childTnLst>
                              <p:par>
                                <p:cTn id="9" presetID="21"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heel(1)">
                                      <p:cBhvr>
                                        <p:cTn id="11"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Faceta">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C26E45A29B641E459FF137569A0F5FF9" ma:contentTypeVersion="4" ma:contentTypeDescription="Crear nuevo documento." ma:contentTypeScope="" ma:versionID="d2cc56b9c178553dc8dae7cbf609185d">
  <xsd:schema xmlns:xsd="http://www.w3.org/2001/XMLSchema" xmlns:xs="http://www.w3.org/2001/XMLSchema" xmlns:p="http://schemas.microsoft.com/office/2006/metadata/properties" xmlns:ns2="22dc5ea4-9cdd-4970-8bc4-2ea26828404c" targetNamespace="http://schemas.microsoft.com/office/2006/metadata/properties" ma:root="true" ma:fieldsID="d0fdf1282d8307d7848beffaf71b994c" ns2:_="">
    <xsd:import namespace="22dc5ea4-9cdd-4970-8bc4-2ea2682840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dc5ea4-9cdd-4970-8bc4-2ea2682840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144D4B-0792-4959-8BE8-AFDB7C5B2714}"/>
</file>

<file path=customXml/itemProps2.xml><?xml version="1.0" encoding="utf-8"?>
<ds:datastoreItem xmlns:ds="http://schemas.openxmlformats.org/officeDocument/2006/customXml" ds:itemID="{982894EA-DA6D-4E4C-B1CC-E76DBB7C8FD8}"/>
</file>

<file path=customXml/itemProps3.xml><?xml version="1.0" encoding="utf-8"?>
<ds:datastoreItem xmlns:ds="http://schemas.openxmlformats.org/officeDocument/2006/customXml" ds:itemID="{CEE8D213-F3A3-4DAF-8715-2957B42BE488}"/>
</file>

<file path=docProps/app.xml><?xml version="1.0" encoding="utf-8"?>
<Properties xmlns="http://schemas.openxmlformats.org/officeDocument/2006/extended-properties" xmlns:vt="http://schemas.openxmlformats.org/officeDocument/2006/docPropsVTypes">
  <Template>Facet</Template>
  <TotalTime>5362</TotalTime>
  <Words>929</Words>
  <Application>Microsoft Office PowerPoint</Application>
  <PresentationFormat>Panorámica</PresentationFormat>
  <Paragraphs>125</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Trebuchet MS</vt:lpstr>
      <vt:lpstr>Wingdings 3</vt:lpstr>
      <vt:lpstr>Faceta</vt:lpstr>
      <vt:lpstr>INGLÉS I</vt:lpstr>
      <vt:lpstr>TEXTO TÉCNICO</vt:lpstr>
      <vt:lpstr>FORMAS “-ED” (PARTICIPIO PASADO)</vt:lpstr>
      <vt:lpstr>FORMAS “-ED”</vt:lpstr>
      <vt:lpstr>FORMAS “-ED”</vt:lpstr>
      <vt:lpstr>FORMAS “-ED”</vt:lpstr>
      <vt:lpstr>VOZ PASIVA</vt:lpstr>
      <vt:lpstr>VOZ PASIVA</vt:lpstr>
      <vt:lpstr>PRÁCTICA</vt:lpstr>
      <vt:lpstr>PRÁCTICA</vt:lpstr>
      <vt:lpstr>PRÁCTICA</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INGLÉS I</dc:title>
  <dc:creator>Usuario</dc:creator>
  <cp:lastModifiedBy>Usuario</cp:lastModifiedBy>
  <cp:revision>76</cp:revision>
  <dcterms:created xsi:type="dcterms:W3CDTF">2020-03-27T22:25:37Z</dcterms:created>
  <dcterms:modified xsi:type="dcterms:W3CDTF">2022-05-11T16:55:40Z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0x010100C26E45A29B641E459FF137569A0F5FF9</vt:lpwstr>
  </property>
</Properties>
</file>
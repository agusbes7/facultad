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77" r:id="rId5"/>
    <p:sldId id="260" r:id="rId6"/>
    <p:sldId id="269" r:id="rId7"/>
    <p:sldId id="270" r:id="rId8"/>
    <p:sldId id="271" r:id="rId9"/>
    <p:sldId id="272" r:id="rId10"/>
    <p:sldId id="273" r:id="rId11"/>
    <p:sldId id="274" r:id="rId12"/>
    <p:sldId id="278"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2"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3/12/2022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3/12/2022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dirty="0" smtClean="0"/>
              <a:t>INGLÉS I </a:t>
            </a:r>
            <a:br>
              <a:rPr lang="es-AR" dirty="0" smtClean="0"/>
            </a:br>
            <a:r>
              <a:rPr lang="es-AR" dirty="0" smtClean="0"/>
              <a:t>Ing. </a:t>
            </a:r>
            <a:r>
              <a:rPr lang="es-AR" dirty="0"/>
              <a:t>e</a:t>
            </a:r>
            <a:r>
              <a:rPr lang="es-AR" dirty="0" smtClean="0"/>
              <a:t>n Sistemas de Información</a:t>
            </a:r>
            <a:endParaRPr lang="es-AR" dirty="0"/>
          </a:p>
        </p:txBody>
      </p:sp>
      <p:sp>
        <p:nvSpPr>
          <p:cNvPr id="3" name="Subtítulo 2"/>
          <p:cNvSpPr>
            <a:spLocks noGrp="1"/>
          </p:cNvSpPr>
          <p:nvPr>
            <p:ph type="subTitle" idx="1"/>
          </p:nvPr>
        </p:nvSpPr>
        <p:spPr/>
        <p:txBody>
          <a:bodyPr>
            <a:normAutofit lnSpcReduction="10000"/>
          </a:bodyPr>
          <a:lstStyle/>
          <a:p>
            <a:endParaRPr lang="es-AR" dirty="0" smtClean="0"/>
          </a:p>
          <a:p>
            <a:r>
              <a:rPr lang="es-AR" dirty="0" smtClean="0"/>
              <a:t>Prof. Nidia S. </a:t>
            </a:r>
            <a:r>
              <a:rPr lang="es-AR" dirty="0" err="1" smtClean="0"/>
              <a:t>Redonder</a:t>
            </a:r>
            <a:endParaRPr lang="es-AR" dirty="0"/>
          </a:p>
          <a:p>
            <a:r>
              <a:rPr lang="es-AR" dirty="0" smtClean="0"/>
              <a:t>UTN- FRSF</a:t>
            </a:r>
            <a:endParaRPr lang="es-AR" dirty="0"/>
          </a:p>
        </p:txBody>
      </p:sp>
    </p:spTree>
    <p:extLst>
      <p:ext uri="{BB962C8B-B14F-4D97-AF65-F5344CB8AC3E}">
        <p14:creationId xmlns:p14="http://schemas.microsoft.com/office/powerpoint/2010/main" val="35842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691166"/>
          </a:xfrm>
        </p:spPr>
        <p:txBody>
          <a:bodyPr/>
          <a:lstStyle/>
          <a:p>
            <a:pPr algn="ctr"/>
            <a:r>
              <a:rPr lang="es-AR" altLang="es-AR" b="1" dirty="0"/>
              <a:t>EL TEXTO EN INGLÉS</a:t>
            </a:r>
            <a:endParaRPr lang="es-AR" dirty="0"/>
          </a:p>
        </p:txBody>
      </p:sp>
      <p:sp>
        <p:nvSpPr>
          <p:cNvPr id="3" name="Marcador de contenido 2"/>
          <p:cNvSpPr>
            <a:spLocks noGrp="1"/>
          </p:cNvSpPr>
          <p:nvPr>
            <p:ph idx="1"/>
          </p:nvPr>
        </p:nvSpPr>
        <p:spPr>
          <a:xfrm>
            <a:off x="677333" y="1478605"/>
            <a:ext cx="9011415" cy="5000016"/>
          </a:xfrm>
        </p:spPr>
        <p:txBody>
          <a:bodyPr>
            <a:noAutofit/>
          </a:bodyPr>
          <a:lstStyle/>
          <a:p>
            <a:pPr>
              <a:buFont typeface="Courier New" pitchFamily="49" charset="0"/>
              <a:buChar char="o"/>
              <a:defRPr/>
            </a:pPr>
            <a:r>
              <a:rPr lang="es-AR" sz="2800" b="1" dirty="0"/>
              <a:t>PÁRRAFOS           </a:t>
            </a:r>
            <a:r>
              <a:rPr lang="es-AR" sz="2800" b="1" dirty="0" smtClean="0"/>
              <a:t> </a:t>
            </a:r>
            <a:r>
              <a:rPr lang="es-AR" sz="2800" b="1" dirty="0"/>
              <a:t>ORACIONES</a:t>
            </a:r>
          </a:p>
          <a:p>
            <a:pPr>
              <a:buFont typeface="Courier New" pitchFamily="49" charset="0"/>
              <a:buChar char="o"/>
              <a:defRPr/>
            </a:pPr>
            <a:endParaRPr lang="es-AR" sz="2800" b="1" dirty="0" smtClean="0"/>
          </a:p>
          <a:p>
            <a:pPr>
              <a:buFont typeface="Courier New" pitchFamily="49" charset="0"/>
              <a:buChar char="o"/>
              <a:defRPr/>
            </a:pPr>
            <a:r>
              <a:rPr lang="es-AR" sz="2800" b="1" dirty="0" smtClean="0"/>
              <a:t>ORACIÓN</a:t>
            </a:r>
          </a:p>
          <a:p>
            <a:r>
              <a:rPr lang="en-US" sz="2200" b="1" dirty="0"/>
              <a:t>Simple</a:t>
            </a:r>
            <a:r>
              <a:rPr lang="en-US" sz="2200" dirty="0"/>
              <a:t>:  </a:t>
            </a:r>
            <a:r>
              <a:rPr lang="en-US" sz="2400" i="1" dirty="0"/>
              <a:t>Ethernet and </a:t>
            </a:r>
            <a:r>
              <a:rPr lang="en-US" sz="2400" i="1" dirty="0" err="1"/>
              <a:t>Wifi</a:t>
            </a:r>
            <a:r>
              <a:rPr lang="en-US" sz="2400" i="1" dirty="0"/>
              <a:t> are the two most common technologies in use for local area networks</a:t>
            </a:r>
            <a:r>
              <a:rPr lang="en-US" sz="2400" dirty="0" smtClean="0"/>
              <a:t>.</a:t>
            </a:r>
            <a:endParaRPr lang="es-AR" sz="2400" dirty="0"/>
          </a:p>
          <a:p>
            <a:pPr>
              <a:defRPr/>
            </a:pPr>
            <a:r>
              <a:rPr lang="en-US" sz="2200" b="1" dirty="0" err="1" smtClean="0"/>
              <a:t>Compuesta</a:t>
            </a:r>
            <a:r>
              <a:rPr lang="en-US" sz="2200" dirty="0"/>
              <a:t>: </a:t>
            </a:r>
            <a:r>
              <a:rPr lang="en-US" sz="2200" i="1" dirty="0"/>
              <a:t> </a:t>
            </a:r>
            <a:r>
              <a:rPr lang="en-US" sz="2400" i="1" dirty="0"/>
              <a:t>LANs may be found in homes, offices or educational institutions </a:t>
            </a:r>
            <a:r>
              <a:rPr lang="en-US" sz="2400" b="1" i="1" dirty="0"/>
              <a:t>and</a:t>
            </a:r>
            <a:r>
              <a:rPr lang="en-US" sz="2400" i="1" dirty="0"/>
              <a:t> they may be wired, wireless, or a combination of the two</a:t>
            </a:r>
            <a:r>
              <a:rPr lang="en-US" sz="2400" dirty="0"/>
              <a:t>.</a:t>
            </a:r>
            <a:endParaRPr lang="es-AR" sz="2400" dirty="0"/>
          </a:p>
          <a:p>
            <a:pPr>
              <a:defRPr/>
            </a:pPr>
            <a:r>
              <a:rPr lang="en-US" sz="2200" b="1" dirty="0" err="1" smtClean="0"/>
              <a:t>Compleja</a:t>
            </a:r>
            <a:r>
              <a:rPr lang="en-US" sz="2200" dirty="0" smtClean="0"/>
              <a:t>: </a:t>
            </a:r>
            <a:r>
              <a:rPr lang="en-US" sz="2400" i="1" dirty="0"/>
              <a:t>A local area network (LAN) is a computer network </a:t>
            </a:r>
            <a:r>
              <a:rPr lang="en-US" sz="2400" b="1" i="1" dirty="0"/>
              <a:t>that</a:t>
            </a:r>
            <a:r>
              <a:rPr lang="en-US" sz="2400" i="1" dirty="0"/>
              <a:t> interconnects computers within a limited </a:t>
            </a:r>
            <a:r>
              <a:rPr lang="en-US" sz="2400" i="1" dirty="0" smtClean="0"/>
              <a:t>area</a:t>
            </a:r>
            <a:r>
              <a:rPr lang="es-AR" sz="2400" dirty="0" smtClean="0"/>
              <a:t>.</a:t>
            </a:r>
            <a:endParaRPr lang="es-AR" sz="2400" dirty="0"/>
          </a:p>
          <a:p>
            <a:pPr marL="0" indent="0">
              <a:buNone/>
            </a:pPr>
            <a:r>
              <a:rPr lang="en-US" sz="2400" dirty="0"/>
              <a:t/>
            </a:r>
            <a:br>
              <a:rPr lang="en-US" sz="2400" dirty="0"/>
            </a:br>
            <a:endParaRPr lang="es-AR" sz="2200" dirty="0"/>
          </a:p>
        </p:txBody>
      </p:sp>
      <p:sp>
        <p:nvSpPr>
          <p:cNvPr id="4" name="Flecha derecha 3"/>
          <p:cNvSpPr/>
          <p:nvPr/>
        </p:nvSpPr>
        <p:spPr>
          <a:xfrm>
            <a:off x="3155324" y="1478605"/>
            <a:ext cx="656822" cy="4517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Flecha abajo 4"/>
          <p:cNvSpPr/>
          <p:nvPr/>
        </p:nvSpPr>
        <p:spPr>
          <a:xfrm>
            <a:off x="1671219" y="1930400"/>
            <a:ext cx="490219" cy="5809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55330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51234"/>
            <a:ext cx="8596668" cy="907915"/>
          </a:xfrm>
        </p:spPr>
        <p:txBody>
          <a:bodyPr/>
          <a:lstStyle/>
          <a:p>
            <a:pPr algn="ctr"/>
            <a:r>
              <a:rPr lang="es-AR" altLang="es-AR" b="1" dirty="0"/>
              <a:t>LA ORACIÓN SIMPLE</a:t>
            </a:r>
            <a:endParaRPr lang="es-AR" b="1" dirty="0"/>
          </a:p>
        </p:txBody>
      </p:sp>
      <p:sp>
        <p:nvSpPr>
          <p:cNvPr id="3" name="Marcador de contenido 2"/>
          <p:cNvSpPr>
            <a:spLocks noGrp="1"/>
          </p:cNvSpPr>
          <p:nvPr>
            <p:ph idx="1"/>
          </p:nvPr>
        </p:nvSpPr>
        <p:spPr>
          <a:xfrm>
            <a:off x="463640" y="1622965"/>
            <a:ext cx="9800822" cy="4558894"/>
          </a:xfrm>
        </p:spPr>
        <p:txBody>
          <a:bodyPr/>
          <a:lstStyle/>
          <a:p>
            <a:pPr marL="0" indent="0" algn="ctr">
              <a:buFont typeface="Wingdings 3" panose="05040102010807070707" pitchFamily="18" charset="2"/>
              <a:buNone/>
            </a:pPr>
            <a:r>
              <a:rPr lang="es-AR" altLang="es-AR" sz="2400" b="1" dirty="0"/>
              <a:t>SUJETO  +  VERBO  +  RESTO DE LA ORACIÓN</a:t>
            </a:r>
            <a:endParaRPr lang="es-AR" altLang="es-AR" sz="2400" dirty="0"/>
          </a:p>
          <a:p>
            <a:pPr marL="0" indent="0">
              <a:buFont typeface="Wingdings 3" panose="05040102010807070707" pitchFamily="18" charset="2"/>
              <a:buNone/>
            </a:pPr>
            <a:endParaRPr lang="es-AR" altLang="es-AR" sz="2200" dirty="0"/>
          </a:p>
          <a:p>
            <a:pPr marL="0" indent="0">
              <a:buFont typeface="Wingdings 3" panose="05040102010807070707" pitchFamily="18" charset="2"/>
              <a:buNone/>
            </a:pPr>
            <a:r>
              <a:rPr lang="en-US" sz="2400" dirty="0" smtClean="0"/>
              <a:t>    </a:t>
            </a:r>
            <a:r>
              <a:rPr lang="en-US" altLang="es-AR" sz="2400" b="1" i="1" u="sng" dirty="0"/>
              <a:t>We</a:t>
            </a:r>
            <a:r>
              <a:rPr lang="en-US" altLang="es-AR" sz="2400" b="1" i="1" dirty="0"/>
              <a:t>     </a:t>
            </a:r>
            <a:r>
              <a:rPr lang="en-US" altLang="es-AR" sz="2400" b="1" i="1" u="sng" dirty="0"/>
              <a:t>measure</a:t>
            </a:r>
            <a:r>
              <a:rPr lang="en-US" altLang="es-AR" sz="2400" b="1" i="1" dirty="0"/>
              <a:t>     </a:t>
            </a:r>
            <a:r>
              <a:rPr lang="en-US" altLang="es-AR" sz="2400" b="1" i="1" u="sng" dirty="0"/>
              <a:t>the Random Access Memory     in Megabytes</a:t>
            </a:r>
            <a:r>
              <a:rPr lang="en-US" altLang="es-AR" sz="2400" b="1" i="1" dirty="0"/>
              <a:t>.</a:t>
            </a:r>
            <a:endParaRPr lang="es-AR" altLang="es-AR" sz="2400" dirty="0"/>
          </a:p>
          <a:p>
            <a:pPr marL="0" indent="0">
              <a:buFont typeface="Wingdings 3" panose="05040102010807070707" pitchFamily="18" charset="2"/>
              <a:buNone/>
            </a:pPr>
            <a:r>
              <a:rPr lang="es-AR" altLang="es-AR" sz="2400" b="1" i="1" dirty="0" smtClean="0"/>
              <a:t>     S             </a:t>
            </a:r>
            <a:r>
              <a:rPr lang="es-AR" altLang="es-AR" sz="2400" b="1" i="1" dirty="0"/>
              <a:t>V                                       R.O.</a:t>
            </a:r>
            <a:endParaRPr lang="es-AR" altLang="es-AR" sz="2400" dirty="0"/>
          </a:p>
          <a:p>
            <a:pPr marL="0" indent="0">
              <a:buFont typeface="Wingdings 3" panose="05040102010807070707" pitchFamily="18" charset="2"/>
              <a:buNone/>
            </a:pPr>
            <a:r>
              <a:rPr lang="es-AR" altLang="es-AR" sz="2400" dirty="0"/>
              <a:t> </a:t>
            </a:r>
          </a:p>
          <a:p>
            <a:pPr marL="0" indent="0">
              <a:buFont typeface="Wingdings 3" panose="05040102010807070707" pitchFamily="18" charset="2"/>
              <a:buNone/>
            </a:pPr>
            <a:r>
              <a:rPr lang="es-AR" altLang="es-AR" sz="2400" b="1" dirty="0"/>
              <a:t>S</a:t>
            </a:r>
            <a:r>
              <a:rPr lang="es-AR" altLang="es-AR" sz="2400" dirty="0"/>
              <a:t>: Sujeto</a:t>
            </a:r>
          </a:p>
          <a:p>
            <a:pPr marL="0" indent="0">
              <a:buFont typeface="Wingdings 3" panose="05040102010807070707" pitchFamily="18" charset="2"/>
              <a:buNone/>
            </a:pPr>
            <a:r>
              <a:rPr lang="es-AR" altLang="es-AR" sz="2400" b="1" dirty="0"/>
              <a:t>V</a:t>
            </a:r>
            <a:r>
              <a:rPr lang="es-AR" altLang="es-AR" sz="2400" dirty="0"/>
              <a:t>: Verbo</a:t>
            </a:r>
          </a:p>
          <a:p>
            <a:pPr marL="0" indent="0">
              <a:buFont typeface="Wingdings 3" panose="05040102010807070707" pitchFamily="18" charset="2"/>
              <a:buNone/>
            </a:pPr>
            <a:r>
              <a:rPr lang="es-AR" altLang="es-AR" sz="2400" b="1" dirty="0"/>
              <a:t>R.O.</a:t>
            </a:r>
            <a:r>
              <a:rPr lang="es-AR" altLang="es-AR" sz="2400" dirty="0"/>
              <a:t>: Resto de la Oración (Objeto Directo + Adverbio)</a:t>
            </a:r>
          </a:p>
        </p:txBody>
      </p:sp>
    </p:spTree>
    <p:extLst>
      <p:ext uri="{BB962C8B-B14F-4D97-AF65-F5344CB8AC3E}">
        <p14:creationId xmlns:p14="http://schemas.microsoft.com/office/powerpoint/2010/main" val="365515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961623"/>
          </a:xfrm>
        </p:spPr>
        <p:txBody>
          <a:bodyPr>
            <a:normAutofit fontScale="90000"/>
          </a:bodyPr>
          <a:lstStyle/>
          <a:p>
            <a:pPr algn="ctr"/>
            <a:r>
              <a:rPr lang="es-AR" altLang="es-AR" dirty="0"/>
              <a:t>PALABRAS ESTRUCTURALES Y </a:t>
            </a:r>
            <a:br>
              <a:rPr lang="es-AR" altLang="es-AR" dirty="0"/>
            </a:br>
            <a:r>
              <a:rPr lang="es-AR" altLang="es-AR" dirty="0"/>
              <a:t>PALABRAS  CONCEPTUALES</a:t>
            </a:r>
            <a:endParaRPr lang="es-AR" dirty="0"/>
          </a:p>
        </p:txBody>
      </p:sp>
      <p:sp>
        <p:nvSpPr>
          <p:cNvPr id="3" name="Marcador de contenido 2"/>
          <p:cNvSpPr>
            <a:spLocks noGrp="1"/>
          </p:cNvSpPr>
          <p:nvPr>
            <p:ph idx="1"/>
          </p:nvPr>
        </p:nvSpPr>
        <p:spPr>
          <a:xfrm>
            <a:off x="677333" y="1918952"/>
            <a:ext cx="9136367" cy="4610636"/>
          </a:xfrm>
        </p:spPr>
        <p:txBody>
          <a:bodyPr>
            <a:noAutofit/>
          </a:bodyPr>
          <a:lstStyle/>
          <a:p>
            <a:pPr>
              <a:defRPr/>
            </a:pPr>
            <a:r>
              <a:rPr lang="es-AR" sz="2200" b="1" i="1" dirty="0"/>
              <a:t>Palabras estructurales</a:t>
            </a:r>
            <a:r>
              <a:rPr lang="es-AR" sz="2200" dirty="0"/>
              <a:t>: representan el soporte de la oración. Funcionan como nexos entre las palabras conceptuales para dar coherencia al texto.</a:t>
            </a:r>
            <a:r>
              <a:rPr lang="en-US" sz="2200" dirty="0"/>
              <a:t> </a:t>
            </a:r>
          </a:p>
          <a:p>
            <a:pPr marL="0" indent="0" algn="just">
              <a:buNone/>
              <a:defRPr/>
            </a:pPr>
            <a:r>
              <a:rPr lang="en-US" sz="2200" i="1" dirty="0"/>
              <a:t>________________________________ the ___________ __________ with the _________, __________, _______ and __________ of __________ __________. </a:t>
            </a:r>
          </a:p>
          <a:p>
            <a:pPr marL="0" indent="0">
              <a:buNone/>
              <a:defRPr/>
            </a:pPr>
            <a:endParaRPr lang="es-AR" sz="2200" i="1" dirty="0"/>
          </a:p>
          <a:p>
            <a:pPr>
              <a:defRPr/>
            </a:pPr>
            <a:r>
              <a:rPr lang="es-AR" sz="2200" b="1" i="1" dirty="0"/>
              <a:t>Palabras</a:t>
            </a:r>
            <a:r>
              <a:rPr lang="es-AR" sz="2200" dirty="0"/>
              <a:t> </a:t>
            </a:r>
            <a:r>
              <a:rPr lang="es-AR" sz="2200" b="1" i="1" dirty="0"/>
              <a:t>conceptuales</a:t>
            </a:r>
            <a:r>
              <a:rPr lang="es-AR" sz="2200" dirty="0"/>
              <a:t>: expresan ideas o conceptos del mensaje.</a:t>
            </a:r>
          </a:p>
          <a:p>
            <a:pPr marL="0" indent="0" algn="just">
              <a:buNone/>
              <a:defRPr/>
            </a:pPr>
            <a:r>
              <a:rPr lang="en-US" sz="2200" i="1" dirty="0"/>
              <a:t>Information Systems Engineering is ____ discipline concerned ____ ____  design, development, testing _____  maintenance  _____  information  systems. </a:t>
            </a:r>
            <a:endParaRPr lang="es-AR" sz="2200" i="1" dirty="0"/>
          </a:p>
          <a:p>
            <a:endParaRPr lang="es-AR" sz="2000" dirty="0"/>
          </a:p>
        </p:txBody>
      </p:sp>
    </p:spTree>
    <p:extLst>
      <p:ext uri="{BB962C8B-B14F-4D97-AF65-F5344CB8AC3E}">
        <p14:creationId xmlns:p14="http://schemas.microsoft.com/office/powerpoint/2010/main" val="166300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30740"/>
            <a:ext cx="8596668" cy="739303"/>
          </a:xfrm>
        </p:spPr>
        <p:txBody>
          <a:bodyPr>
            <a:normAutofit/>
          </a:bodyPr>
          <a:lstStyle/>
          <a:p>
            <a:pPr algn="ctr"/>
            <a:r>
              <a:rPr lang="es-AR" b="1" dirty="0" smtClean="0"/>
              <a:t>CLASES DE PALABRAS</a:t>
            </a:r>
            <a:endParaRPr lang="es-AR" b="1" dirty="0"/>
          </a:p>
        </p:txBody>
      </p:sp>
      <p:sp>
        <p:nvSpPr>
          <p:cNvPr id="3" name="Marcador de contenido 2"/>
          <p:cNvSpPr>
            <a:spLocks noGrp="1"/>
          </p:cNvSpPr>
          <p:nvPr>
            <p:ph idx="1"/>
          </p:nvPr>
        </p:nvSpPr>
        <p:spPr>
          <a:xfrm>
            <a:off x="424415" y="1070043"/>
            <a:ext cx="9497798" cy="5369668"/>
          </a:xfrm>
        </p:spPr>
        <p:txBody>
          <a:bodyPr>
            <a:normAutofit lnSpcReduction="10000"/>
          </a:bodyPr>
          <a:lstStyle/>
          <a:p>
            <a:r>
              <a:rPr lang="es-AR" sz="2000" b="1" dirty="0" smtClean="0"/>
              <a:t>EL ARTÍCULO: definido e </a:t>
            </a:r>
            <a:r>
              <a:rPr lang="es-AR" sz="2000" b="1" dirty="0" err="1" smtClean="0"/>
              <a:t>indedinido</a:t>
            </a:r>
            <a:r>
              <a:rPr lang="es-AR" sz="2000" b="1" dirty="0" smtClean="0"/>
              <a:t>. “Zero” </a:t>
            </a:r>
            <a:r>
              <a:rPr lang="es-AR" sz="2000" b="1" dirty="0" err="1" smtClean="0"/>
              <a:t>article</a:t>
            </a:r>
            <a:r>
              <a:rPr lang="es-AR" sz="2000" b="1" dirty="0" smtClean="0"/>
              <a:t>.</a:t>
            </a:r>
          </a:p>
          <a:p>
            <a:r>
              <a:rPr lang="es-AR" sz="2000" b="1" dirty="0" smtClean="0"/>
              <a:t>PRONOMBRES: personales, objetivos, demostrativos, reflexivos</a:t>
            </a:r>
          </a:p>
          <a:p>
            <a:r>
              <a:rPr lang="es-AR" sz="2000" b="1" dirty="0" smtClean="0"/>
              <a:t>ADJETIVOS: calificativos, posesivos, demostrativos, cuantitativos</a:t>
            </a:r>
          </a:p>
          <a:p>
            <a:r>
              <a:rPr lang="es-AR" sz="2000" b="1" dirty="0" smtClean="0"/>
              <a:t>SUSTANTIVOS</a:t>
            </a:r>
          </a:p>
          <a:p>
            <a:r>
              <a:rPr lang="es-AR" sz="2000" b="1" dirty="0" smtClean="0"/>
              <a:t>ADVERBIOS</a:t>
            </a:r>
          </a:p>
          <a:p>
            <a:endParaRPr lang="es-AR" sz="2000" b="1" dirty="0"/>
          </a:p>
          <a:p>
            <a:r>
              <a:rPr lang="es-AR" sz="2000" b="1" dirty="0" smtClean="0"/>
              <a:t>AFIJOS: </a:t>
            </a:r>
          </a:p>
          <a:p>
            <a:pPr>
              <a:buFontTx/>
              <a:buChar char="-"/>
            </a:pPr>
            <a:r>
              <a:rPr lang="es-AR" sz="2000" b="1" dirty="0" smtClean="0"/>
              <a:t>SUFIJOS DE SUSTANTIVOS: - </a:t>
            </a:r>
            <a:r>
              <a:rPr lang="es-AR" sz="2000" b="1" dirty="0" err="1" smtClean="0"/>
              <a:t>ment</a:t>
            </a:r>
            <a:r>
              <a:rPr lang="es-AR" sz="2000" b="1" dirty="0" smtClean="0"/>
              <a:t>, -</a:t>
            </a:r>
            <a:r>
              <a:rPr lang="es-AR" sz="2000" b="1" dirty="0" err="1" smtClean="0"/>
              <a:t>tion</a:t>
            </a:r>
            <a:r>
              <a:rPr lang="es-AR" sz="2000" b="1" dirty="0" smtClean="0"/>
              <a:t>, -y, -</a:t>
            </a:r>
            <a:r>
              <a:rPr lang="es-AR" sz="2000" b="1" dirty="0" err="1" smtClean="0"/>
              <a:t>ics</a:t>
            </a:r>
            <a:r>
              <a:rPr lang="es-AR" sz="2000" b="1" dirty="0" smtClean="0"/>
              <a:t>, </a:t>
            </a:r>
            <a:r>
              <a:rPr lang="es-AR" sz="2000" b="1" dirty="0" err="1" smtClean="0"/>
              <a:t>etc</a:t>
            </a:r>
            <a:endParaRPr lang="es-AR" sz="2000" b="1" dirty="0"/>
          </a:p>
          <a:p>
            <a:pPr>
              <a:buFontTx/>
              <a:buChar char="-"/>
            </a:pPr>
            <a:r>
              <a:rPr lang="es-AR" sz="2000" b="1" dirty="0" smtClean="0"/>
              <a:t>SUFIJOS DE ADJETIVOS: - al, - </a:t>
            </a:r>
            <a:r>
              <a:rPr lang="es-AR" sz="2000" b="1" dirty="0" err="1" smtClean="0"/>
              <a:t>ous</a:t>
            </a:r>
            <a:r>
              <a:rPr lang="es-AR" sz="2000" b="1" dirty="0" smtClean="0"/>
              <a:t>, -</a:t>
            </a:r>
            <a:r>
              <a:rPr lang="es-AR" sz="2000" b="1" dirty="0" err="1" smtClean="0"/>
              <a:t>ive</a:t>
            </a:r>
            <a:r>
              <a:rPr lang="es-AR" sz="2000" b="1" dirty="0" smtClean="0"/>
              <a:t>, -</a:t>
            </a:r>
            <a:r>
              <a:rPr lang="es-AR" sz="2000" b="1" dirty="0" err="1" smtClean="0"/>
              <a:t>ic</a:t>
            </a:r>
            <a:r>
              <a:rPr lang="es-AR" sz="2000" b="1" dirty="0" smtClean="0"/>
              <a:t>, </a:t>
            </a:r>
            <a:r>
              <a:rPr lang="es-AR" sz="2000" b="1" dirty="0" err="1" smtClean="0"/>
              <a:t>etc</a:t>
            </a:r>
            <a:endParaRPr lang="es-AR" sz="2000" b="1" dirty="0" smtClean="0"/>
          </a:p>
          <a:p>
            <a:pPr>
              <a:buFontTx/>
              <a:buChar char="-"/>
            </a:pPr>
            <a:endParaRPr lang="es-AR" sz="2000" b="1" dirty="0" smtClean="0"/>
          </a:p>
          <a:p>
            <a:r>
              <a:rPr lang="es-AR" sz="2000" b="1" dirty="0" smtClean="0"/>
              <a:t>UBICACIÓN DENTRO DE LA ORACIÓN:</a:t>
            </a:r>
          </a:p>
          <a:p>
            <a:pPr marL="0" indent="0">
              <a:buNone/>
            </a:pPr>
            <a:r>
              <a:rPr lang="es-AR" sz="2000" b="1" dirty="0" smtClean="0"/>
              <a:t>Ejemplo: En el caso de los ADJETIVOS:  DELANTE DE SUSTANTIVO o DESPUES DE VERBO “BE”, “SEEM”, etc.</a:t>
            </a:r>
            <a:endParaRPr lang="es-AR" sz="2000" b="1" dirty="0"/>
          </a:p>
        </p:txBody>
      </p:sp>
    </p:spTree>
    <p:extLst>
      <p:ext uri="{BB962C8B-B14F-4D97-AF65-F5344CB8AC3E}">
        <p14:creationId xmlns:p14="http://schemas.microsoft.com/office/powerpoint/2010/main" val="204742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652530"/>
          </a:xfrm>
        </p:spPr>
        <p:txBody>
          <a:bodyPr/>
          <a:lstStyle/>
          <a:p>
            <a:pPr algn="ctr"/>
            <a:r>
              <a:rPr lang="es-AR" dirty="0" smtClean="0"/>
              <a:t>EL ARTÍCULO</a:t>
            </a:r>
            <a:endParaRPr lang="es-AR" dirty="0"/>
          </a:p>
        </p:txBody>
      </p:sp>
      <p:sp>
        <p:nvSpPr>
          <p:cNvPr id="3" name="Marcador de contenido 2"/>
          <p:cNvSpPr>
            <a:spLocks noGrp="1"/>
          </p:cNvSpPr>
          <p:nvPr>
            <p:ph idx="1"/>
          </p:nvPr>
        </p:nvSpPr>
        <p:spPr>
          <a:xfrm>
            <a:off x="677334" y="1635617"/>
            <a:ext cx="9239398" cy="4636394"/>
          </a:xfrm>
        </p:spPr>
        <p:txBody>
          <a:bodyPr>
            <a:normAutofit lnSpcReduction="10000"/>
          </a:bodyPr>
          <a:lstStyle/>
          <a:p>
            <a:r>
              <a:rPr lang="es-AR" sz="2400" dirty="0"/>
              <a:t>Definidos: THE (el, la, los, las)</a:t>
            </a:r>
          </a:p>
          <a:p>
            <a:pPr>
              <a:buFontTx/>
              <a:buChar char="-"/>
            </a:pPr>
            <a:r>
              <a:rPr lang="en-US" sz="2400" b="1" i="1" dirty="0" smtClean="0"/>
              <a:t>The</a:t>
            </a:r>
            <a:r>
              <a:rPr lang="en-US" sz="2400" dirty="0" smtClean="0"/>
              <a:t> </a:t>
            </a:r>
            <a:r>
              <a:rPr lang="en-US" sz="2400" i="1" dirty="0"/>
              <a:t>new programmer at the office is very hard-working</a:t>
            </a:r>
            <a:r>
              <a:rPr lang="en-US" sz="2400" dirty="0"/>
              <a:t>. </a:t>
            </a:r>
            <a:endParaRPr lang="en-US" sz="2400" dirty="0" smtClean="0"/>
          </a:p>
          <a:p>
            <a:pPr>
              <a:buFontTx/>
              <a:buChar char="-"/>
            </a:pPr>
            <a:endParaRPr lang="es-AR" sz="2400" dirty="0"/>
          </a:p>
          <a:p>
            <a:r>
              <a:rPr lang="es-AR" sz="2400" dirty="0"/>
              <a:t>Indefinidos: A / AN (un, una)</a:t>
            </a:r>
          </a:p>
          <a:p>
            <a:pPr marL="0" indent="0">
              <a:buNone/>
            </a:pPr>
            <a:r>
              <a:rPr lang="en-US" sz="2400" b="1" i="1" dirty="0" smtClean="0"/>
              <a:t>- A</a:t>
            </a:r>
            <a:r>
              <a:rPr lang="en-US" sz="2400" dirty="0" smtClean="0"/>
              <a:t> </a:t>
            </a:r>
            <a:r>
              <a:rPr lang="en-US" sz="2400" i="1" dirty="0"/>
              <a:t>network is a group of two or more computer systems linked together.</a:t>
            </a:r>
            <a:endParaRPr lang="es-AR" sz="2400" i="1" dirty="0"/>
          </a:p>
          <a:p>
            <a:pPr>
              <a:buFontTx/>
              <a:buChar char="-"/>
            </a:pPr>
            <a:endParaRPr lang="es-AR" sz="2400" i="1" dirty="0"/>
          </a:p>
          <a:p>
            <a:r>
              <a:rPr lang="es-AR" sz="2400" dirty="0"/>
              <a:t>“Zero” </a:t>
            </a:r>
            <a:r>
              <a:rPr lang="es-AR" sz="2400" dirty="0" err="1"/>
              <a:t>article</a:t>
            </a:r>
            <a:r>
              <a:rPr lang="es-AR" sz="2400" dirty="0"/>
              <a:t> (no aparece en Inglés): --- (el, la, los, las)</a:t>
            </a:r>
          </a:p>
          <a:p>
            <a:pPr marL="0" indent="0">
              <a:buNone/>
            </a:pPr>
            <a:r>
              <a:rPr lang="es-AR" sz="2400" dirty="0"/>
              <a:t>- </a:t>
            </a:r>
            <a:r>
              <a:rPr lang="en-US" sz="2400" b="1" i="1" dirty="0" smtClean="0"/>
              <a:t>Notebook </a:t>
            </a:r>
            <a:r>
              <a:rPr lang="en-US" sz="2400" b="1" i="1" dirty="0"/>
              <a:t>PCs </a:t>
            </a:r>
            <a:r>
              <a:rPr lang="en-US" sz="2400" i="1" dirty="0"/>
              <a:t>have terrific video capabilities, and most can produce excellent audio, too.</a:t>
            </a:r>
            <a:endParaRPr lang="es-AR" sz="2400" i="1" dirty="0"/>
          </a:p>
        </p:txBody>
      </p:sp>
    </p:spTree>
    <p:extLst>
      <p:ext uri="{BB962C8B-B14F-4D97-AF65-F5344CB8AC3E}">
        <p14:creationId xmlns:p14="http://schemas.microsoft.com/office/powerpoint/2010/main" val="24468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04045"/>
          </a:xfrm>
        </p:spPr>
        <p:txBody>
          <a:bodyPr/>
          <a:lstStyle/>
          <a:p>
            <a:pPr algn="ctr"/>
            <a:r>
              <a:rPr lang="es-AR" dirty="0" smtClean="0"/>
              <a:t>PRONOMBRES</a:t>
            </a:r>
            <a:endParaRPr lang="es-AR" dirty="0"/>
          </a:p>
        </p:txBody>
      </p:sp>
      <p:sp>
        <p:nvSpPr>
          <p:cNvPr id="3" name="Marcador de contenido 2"/>
          <p:cNvSpPr>
            <a:spLocks noGrp="1"/>
          </p:cNvSpPr>
          <p:nvPr>
            <p:ph idx="1"/>
          </p:nvPr>
        </p:nvSpPr>
        <p:spPr>
          <a:xfrm>
            <a:off x="677334" y="1545465"/>
            <a:ext cx="8596668" cy="4881093"/>
          </a:xfrm>
        </p:spPr>
        <p:txBody>
          <a:bodyPr>
            <a:normAutofit/>
          </a:bodyPr>
          <a:lstStyle/>
          <a:p>
            <a:r>
              <a:rPr lang="en-US" b="1" dirty="0" err="1"/>
              <a:t>Personales</a:t>
            </a:r>
            <a:r>
              <a:rPr lang="en-US" dirty="0"/>
              <a:t>: I, you (singular), he, she, it, we, you (plural), they. </a:t>
            </a:r>
          </a:p>
          <a:p>
            <a:pPr marL="0" indent="0">
              <a:buNone/>
            </a:pPr>
            <a:r>
              <a:rPr lang="en-US" b="1" i="1" dirty="0"/>
              <a:t>      He</a:t>
            </a:r>
            <a:r>
              <a:rPr lang="en-US" i="1" dirty="0"/>
              <a:t> is </a:t>
            </a:r>
            <a:r>
              <a:rPr lang="en-US" i="1" dirty="0" smtClean="0"/>
              <a:t>an engineer.</a:t>
            </a:r>
            <a:endParaRPr lang="en-US" dirty="0"/>
          </a:p>
          <a:p>
            <a:r>
              <a:rPr lang="en-US" b="1" dirty="0" err="1"/>
              <a:t>Objetivos</a:t>
            </a:r>
            <a:r>
              <a:rPr lang="en-US" dirty="0"/>
              <a:t>: me, you, him, her, it, us, you, them. </a:t>
            </a:r>
          </a:p>
          <a:p>
            <a:pPr marL="0" indent="0">
              <a:buNone/>
            </a:pPr>
            <a:r>
              <a:rPr lang="en-US" b="1" i="1" dirty="0"/>
              <a:t>     </a:t>
            </a:r>
            <a:r>
              <a:rPr lang="en-US" i="1" dirty="0"/>
              <a:t>Technology helps </a:t>
            </a:r>
            <a:r>
              <a:rPr lang="en-US" b="1" i="1" dirty="0"/>
              <a:t>us</a:t>
            </a:r>
            <a:r>
              <a:rPr lang="en-US" i="1" dirty="0"/>
              <a:t> in our daily lives.</a:t>
            </a:r>
          </a:p>
          <a:p>
            <a:r>
              <a:rPr lang="en-US" b="1" dirty="0" err="1"/>
              <a:t>Posesivos</a:t>
            </a:r>
            <a:r>
              <a:rPr lang="en-US" dirty="0"/>
              <a:t>: mine, yours, his, hers, its, ours, yours, theirs.</a:t>
            </a:r>
          </a:p>
          <a:p>
            <a:pPr marL="0" indent="0">
              <a:buNone/>
            </a:pPr>
            <a:r>
              <a:rPr lang="en-US" dirty="0"/>
              <a:t> </a:t>
            </a:r>
            <a:r>
              <a:rPr lang="en-US" b="1" i="1" dirty="0"/>
              <a:t>     </a:t>
            </a:r>
            <a:r>
              <a:rPr lang="en-US" i="1" dirty="0"/>
              <a:t>Your computer is new. </a:t>
            </a:r>
            <a:r>
              <a:rPr lang="en-US" b="1" i="1" dirty="0"/>
              <a:t>Mine</a:t>
            </a:r>
            <a:r>
              <a:rPr lang="en-US" i="1" dirty="0"/>
              <a:t> is old</a:t>
            </a:r>
            <a:r>
              <a:rPr lang="en-US" dirty="0"/>
              <a:t>.</a:t>
            </a:r>
          </a:p>
          <a:p>
            <a:r>
              <a:rPr lang="en-US" b="1" dirty="0" err="1"/>
              <a:t>Reflexivos</a:t>
            </a:r>
            <a:r>
              <a:rPr lang="en-US" dirty="0"/>
              <a:t>: myself, yourself, herself, himself, itself, ourselves, yourselves, themselves.</a:t>
            </a:r>
          </a:p>
          <a:p>
            <a:pPr marL="0" indent="0">
              <a:buNone/>
            </a:pPr>
            <a:r>
              <a:rPr lang="en-US" b="1" i="1" dirty="0"/>
              <a:t>      </a:t>
            </a:r>
            <a:r>
              <a:rPr lang="en-US" i="1" dirty="0"/>
              <a:t>I  </a:t>
            </a:r>
            <a:r>
              <a:rPr lang="en-US" i="1" dirty="0" smtClean="0"/>
              <a:t>prepared this document </a:t>
            </a:r>
            <a:r>
              <a:rPr lang="en-US" b="1" i="1" dirty="0" smtClean="0"/>
              <a:t>myself</a:t>
            </a:r>
            <a:r>
              <a:rPr lang="en-US" dirty="0"/>
              <a:t>.</a:t>
            </a:r>
          </a:p>
          <a:p>
            <a:r>
              <a:rPr lang="en-US" b="1" dirty="0" err="1"/>
              <a:t>Indefinidos</a:t>
            </a:r>
            <a:r>
              <a:rPr lang="en-US" dirty="0"/>
              <a:t>: Everyone/everybody, no one/nobody, someone/somebody, anyone/anybody. </a:t>
            </a:r>
          </a:p>
          <a:p>
            <a:pPr marL="0" indent="0">
              <a:buNone/>
            </a:pPr>
            <a:r>
              <a:rPr lang="en-US" b="1" i="1" dirty="0"/>
              <a:t>     </a:t>
            </a:r>
            <a:r>
              <a:rPr lang="en-US" i="1" dirty="0"/>
              <a:t>We  must ensure</a:t>
            </a:r>
            <a:r>
              <a:rPr lang="en-US" dirty="0"/>
              <a:t> </a:t>
            </a:r>
            <a:r>
              <a:rPr lang="en-US" b="1" i="1" dirty="0"/>
              <a:t>everyone</a:t>
            </a:r>
            <a:r>
              <a:rPr lang="en-US" dirty="0"/>
              <a:t> </a:t>
            </a:r>
            <a:r>
              <a:rPr lang="en-US" i="1" dirty="0"/>
              <a:t>has access and understanding of </a:t>
            </a:r>
            <a:r>
              <a:rPr lang="en-US" i="1" dirty="0" smtClean="0"/>
              <a:t>technology.</a:t>
            </a:r>
            <a:endParaRPr lang="es-AR" dirty="0"/>
          </a:p>
        </p:txBody>
      </p:sp>
    </p:spTree>
    <p:extLst>
      <p:ext uri="{BB962C8B-B14F-4D97-AF65-F5344CB8AC3E}">
        <p14:creationId xmlns:p14="http://schemas.microsoft.com/office/powerpoint/2010/main" val="175688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04045"/>
          </a:xfrm>
        </p:spPr>
        <p:txBody>
          <a:bodyPr/>
          <a:lstStyle/>
          <a:p>
            <a:pPr algn="ctr"/>
            <a:r>
              <a:rPr lang="es-AR" dirty="0" smtClean="0"/>
              <a:t>EL SUSTANTIVO</a:t>
            </a:r>
            <a:endParaRPr lang="es-AR" dirty="0"/>
          </a:p>
        </p:txBody>
      </p:sp>
      <p:sp>
        <p:nvSpPr>
          <p:cNvPr id="3" name="Marcador de contenido 2"/>
          <p:cNvSpPr>
            <a:spLocks noGrp="1"/>
          </p:cNvSpPr>
          <p:nvPr>
            <p:ph idx="1"/>
          </p:nvPr>
        </p:nvSpPr>
        <p:spPr>
          <a:xfrm>
            <a:off x="677334" y="1519707"/>
            <a:ext cx="8596668" cy="4855335"/>
          </a:xfrm>
        </p:spPr>
        <p:txBody>
          <a:bodyPr>
            <a:normAutofit/>
          </a:bodyPr>
          <a:lstStyle/>
          <a:p>
            <a:r>
              <a:rPr lang="es-AR" b="1" dirty="0"/>
              <a:t>PLURAL DE SUSTANTIVOS</a:t>
            </a:r>
          </a:p>
          <a:p>
            <a:pPr>
              <a:buFontTx/>
              <a:buChar char="-"/>
            </a:pPr>
            <a:r>
              <a:rPr lang="es-AR" b="1" dirty="0"/>
              <a:t>Agregan simplemente la letra</a:t>
            </a:r>
            <a:r>
              <a:rPr lang="es-AR" dirty="0"/>
              <a:t> </a:t>
            </a:r>
            <a:r>
              <a:rPr lang="es-AR" b="1" dirty="0"/>
              <a:t>“s”</a:t>
            </a:r>
            <a:r>
              <a:rPr lang="es-AR" dirty="0"/>
              <a:t>: </a:t>
            </a:r>
            <a:r>
              <a:rPr lang="es-AR" i="1" dirty="0" err="1"/>
              <a:t>computer-computers</a:t>
            </a:r>
            <a:endParaRPr lang="es-AR" i="1" dirty="0"/>
          </a:p>
          <a:p>
            <a:pPr>
              <a:buFontTx/>
              <a:buChar char="-"/>
            </a:pPr>
            <a:r>
              <a:rPr lang="es-AR" b="1" dirty="0"/>
              <a:t>Si terminan en</a:t>
            </a:r>
            <a:r>
              <a:rPr lang="es-AR" dirty="0"/>
              <a:t> </a:t>
            </a:r>
            <a:r>
              <a:rPr lang="es-AR" b="1" i="1" dirty="0"/>
              <a:t>–ch, x, s, </a:t>
            </a:r>
            <a:r>
              <a:rPr lang="es-AR" b="1" dirty="0"/>
              <a:t>o suenan como </a:t>
            </a:r>
            <a:r>
              <a:rPr lang="es-AR" b="1" i="1" dirty="0"/>
              <a:t>s</a:t>
            </a:r>
            <a:r>
              <a:rPr lang="es-AR" b="1" dirty="0"/>
              <a:t> al final, agregan</a:t>
            </a:r>
          </a:p>
          <a:p>
            <a:pPr marL="0" indent="0">
              <a:buNone/>
            </a:pPr>
            <a:r>
              <a:rPr lang="es-AR" b="1" dirty="0"/>
              <a:t> “ –es”:</a:t>
            </a:r>
          </a:p>
          <a:p>
            <a:pPr marL="0" indent="0">
              <a:buNone/>
            </a:pPr>
            <a:r>
              <a:rPr lang="es-AR" i="1" dirty="0"/>
              <a:t>     </a:t>
            </a:r>
            <a:r>
              <a:rPr lang="es-AR" i="1" dirty="0" err="1"/>
              <a:t>switch</a:t>
            </a:r>
            <a:r>
              <a:rPr lang="es-AR" i="1" dirty="0"/>
              <a:t> - </a:t>
            </a:r>
            <a:r>
              <a:rPr lang="es-AR" i="1" dirty="0" err="1"/>
              <a:t>switches</a:t>
            </a:r>
            <a:r>
              <a:rPr lang="es-AR" i="1" dirty="0"/>
              <a:t>; fax - faxes; gas - gases</a:t>
            </a:r>
          </a:p>
          <a:p>
            <a:pPr>
              <a:buFontTx/>
              <a:buChar char="-"/>
            </a:pPr>
            <a:r>
              <a:rPr lang="es-AR" b="1" dirty="0"/>
              <a:t>Sustantivos irregulares</a:t>
            </a:r>
            <a:r>
              <a:rPr lang="es-AR" dirty="0"/>
              <a:t>: </a:t>
            </a:r>
          </a:p>
          <a:p>
            <a:pPr marL="0" indent="0">
              <a:buNone/>
            </a:pPr>
            <a:r>
              <a:rPr lang="es-AR" i="1" dirty="0"/>
              <a:t>      mouse - </a:t>
            </a:r>
            <a:r>
              <a:rPr lang="es-AR" i="1" dirty="0" err="1"/>
              <a:t>mice</a:t>
            </a:r>
            <a:r>
              <a:rPr lang="es-AR" i="1" dirty="0"/>
              <a:t>; </a:t>
            </a:r>
            <a:r>
              <a:rPr lang="es-AR" i="1" dirty="0" err="1"/>
              <a:t>man</a:t>
            </a:r>
            <a:r>
              <a:rPr lang="es-AR" i="1" dirty="0"/>
              <a:t> - </a:t>
            </a:r>
            <a:r>
              <a:rPr lang="es-AR" i="1" dirty="0" err="1"/>
              <a:t>men</a:t>
            </a:r>
            <a:r>
              <a:rPr lang="es-AR" i="1" dirty="0"/>
              <a:t>, </a:t>
            </a:r>
            <a:r>
              <a:rPr lang="es-AR" i="1" dirty="0" err="1"/>
              <a:t>child</a:t>
            </a:r>
            <a:r>
              <a:rPr lang="es-AR" i="1" dirty="0"/>
              <a:t> - </a:t>
            </a:r>
            <a:r>
              <a:rPr lang="es-AR" i="1" dirty="0" err="1"/>
              <a:t>children</a:t>
            </a:r>
            <a:r>
              <a:rPr lang="es-AR" i="1" dirty="0"/>
              <a:t>; </a:t>
            </a:r>
            <a:r>
              <a:rPr lang="es-AR" i="1" dirty="0" err="1"/>
              <a:t>person</a:t>
            </a:r>
            <a:r>
              <a:rPr lang="es-AR" i="1" dirty="0"/>
              <a:t> - </a:t>
            </a:r>
            <a:r>
              <a:rPr lang="es-AR" i="1" dirty="0" err="1"/>
              <a:t>people</a:t>
            </a:r>
            <a:endParaRPr lang="es-AR" i="1" dirty="0"/>
          </a:p>
          <a:p>
            <a:pPr>
              <a:buFontTx/>
              <a:buChar char="-"/>
            </a:pPr>
            <a:r>
              <a:rPr lang="es-AR" b="1" dirty="0"/>
              <a:t>Ciertos sustantivos mantienen su forma Latina o Griega</a:t>
            </a:r>
            <a:r>
              <a:rPr lang="es-AR" dirty="0"/>
              <a:t>:</a:t>
            </a:r>
          </a:p>
          <a:p>
            <a:pPr marL="0" indent="0">
              <a:buNone/>
            </a:pPr>
            <a:r>
              <a:rPr lang="es-AR" i="1" dirty="0"/>
              <a:t>      </a:t>
            </a:r>
            <a:r>
              <a:rPr lang="es-AR" i="1" dirty="0" err="1"/>
              <a:t>nucleus</a:t>
            </a:r>
            <a:r>
              <a:rPr lang="es-AR" i="1" dirty="0"/>
              <a:t> - </a:t>
            </a:r>
            <a:r>
              <a:rPr lang="es-AR" i="1" dirty="0" err="1"/>
              <a:t>nuclei</a:t>
            </a:r>
            <a:r>
              <a:rPr lang="es-AR" i="1" dirty="0"/>
              <a:t>; syllabus - </a:t>
            </a:r>
            <a:r>
              <a:rPr lang="es-AR" i="1" dirty="0" err="1"/>
              <a:t>syllabi</a:t>
            </a:r>
            <a:r>
              <a:rPr lang="es-AR" i="1" dirty="0"/>
              <a:t>; </a:t>
            </a:r>
            <a:r>
              <a:rPr lang="es-AR" i="1" dirty="0" err="1"/>
              <a:t>thesis</a:t>
            </a:r>
            <a:r>
              <a:rPr lang="es-AR" i="1" dirty="0"/>
              <a:t> - </a:t>
            </a:r>
            <a:r>
              <a:rPr lang="es-AR" i="1" dirty="0" err="1"/>
              <a:t>theses</a:t>
            </a:r>
            <a:r>
              <a:rPr lang="es-AR" i="1" dirty="0"/>
              <a:t>; </a:t>
            </a:r>
          </a:p>
          <a:p>
            <a:pPr marL="0" indent="0">
              <a:buNone/>
            </a:pPr>
            <a:r>
              <a:rPr lang="es-AR" i="1" dirty="0"/>
              <a:t>   </a:t>
            </a:r>
            <a:r>
              <a:rPr lang="es-AR" i="1" dirty="0" err="1"/>
              <a:t>phenomenon-phenomena</a:t>
            </a:r>
            <a:r>
              <a:rPr lang="es-AR" i="1" dirty="0"/>
              <a:t>;  </a:t>
            </a:r>
            <a:r>
              <a:rPr lang="es-AR" i="1" dirty="0" err="1"/>
              <a:t>appendix-appendices</a:t>
            </a:r>
            <a:r>
              <a:rPr lang="es-AR" i="1" dirty="0"/>
              <a:t> (</a:t>
            </a:r>
            <a:r>
              <a:rPr lang="es-AR" i="1" dirty="0" err="1"/>
              <a:t>appendixes</a:t>
            </a:r>
            <a:r>
              <a:rPr lang="es-AR" i="1" dirty="0"/>
              <a:t>)</a:t>
            </a:r>
          </a:p>
          <a:p>
            <a:pPr>
              <a:buFontTx/>
              <a:buChar char="-"/>
            </a:pPr>
            <a:r>
              <a:rPr lang="es-AR" b="1" dirty="0"/>
              <a:t>Otros son iguales en singular y plural</a:t>
            </a:r>
            <a:r>
              <a:rPr lang="es-AR" dirty="0"/>
              <a:t>:</a:t>
            </a:r>
          </a:p>
          <a:p>
            <a:pPr marL="0" indent="0">
              <a:buNone/>
            </a:pPr>
            <a:r>
              <a:rPr lang="es-AR" i="1" dirty="0"/>
              <a:t>    </a:t>
            </a:r>
            <a:r>
              <a:rPr lang="es-AR" i="1" dirty="0" err="1"/>
              <a:t>news</a:t>
            </a:r>
            <a:r>
              <a:rPr lang="es-AR" i="1" dirty="0"/>
              <a:t> - </a:t>
            </a:r>
            <a:r>
              <a:rPr lang="es-AR" i="1" dirty="0" err="1"/>
              <a:t>news</a:t>
            </a:r>
            <a:r>
              <a:rPr lang="es-AR" i="1" dirty="0"/>
              <a:t>; series - series; </a:t>
            </a:r>
            <a:r>
              <a:rPr lang="es-AR" i="1" dirty="0" err="1"/>
              <a:t>means</a:t>
            </a:r>
            <a:r>
              <a:rPr lang="es-AR" i="1" dirty="0"/>
              <a:t> - </a:t>
            </a:r>
            <a:r>
              <a:rPr lang="es-AR" i="1" dirty="0" err="1"/>
              <a:t>means</a:t>
            </a:r>
            <a:endParaRPr lang="es-AR" i="1" dirty="0"/>
          </a:p>
          <a:p>
            <a:endParaRPr lang="es-AR" dirty="0"/>
          </a:p>
        </p:txBody>
      </p:sp>
    </p:spTree>
    <p:extLst>
      <p:ext uri="{BB962C8B-B14F-4D97-AF65-F5344CB8AC3E}">
        <p14:creationId xmlns:p14="http://schemas.microsoft.com/office/powerpoint/2010/main" val="39114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29803"/>
          </a:xfrm>
        </p:spPr>
        <p:txBody>
          <a:bodyPr/>
          <a:lstStyle/>
          <a:p>
            <a:pPr algn="ctr"/>
            <a:r>
              <a:rPr lang="es-AR" dirty="0" smtClean="0"/>
              <a:t>EL SUSTANTIVO (SUFIJOS)</a:t>
            </a:r>
            <a:endParaRPr lang="es-AR" dirty="0"/>
          </a:p>
        </p:txBody>
      </p:sp>
      <p:sp>
        <p:nvSpPr>
          <p:cNvPr id="3" name="Marcador de contenido 2"/>
          <p:cNvSpPr>
            <a:spLocks noGrp="1"/>
          </p:cNvSpPr>
          <p:nvPr>
            <p:ph idx="1"/>
          </p:nvPr>
        </p:nvSpPr>
        <p:spPr>
          <a:xfrm>
            <a:off x="677334" y="1725769"/>
            <a:ext cx="8596668" cy="4752304"/>
          </a:xfrm>
        </p:spPr>
        <p:txBody>
          <a:bodyPr>
            <a:normAutofit lnSpcReduction="10000"/>
          </a:bodyPr>
          <a:lstStyle/>
          <a:p>
            <a:pPr>
              <a:buFont typeface="Wingdings" panose="05000000000000000000" pitchFamily="2" charset="2"/>
              <a:buChar char="Ø"/>
            </a:pPr>
            <a:r>
              <a:rPr lang="es-AR" b="1" dirty="0" smtClean="0"/>
              <a:t>Derivados </a:t>
            </a:r>
            <a:r>
              <a:rPr lang="es-AR" b="1" dirty="0"/>
              <a:t>de verbos</a:t>
            </a:r>
          </a:p>
          <a:p>
            <a:pPr marL="0" indent="0">
              <a:buNone/>
            </a:pPr>
            <a:r>
              <a:rPr lang="es-AR" dirty="0"/>
              <a:t>“-</a:t>
            </a:r>
            <a:r>
              <a:rPr lang="es-AR" b="1" i="1" dirty="0" err="1"/>
              <a:t>ment</a:t>
            </a:r>
            <a:r>
              <a:rPr lang="es-AR" dirty="0"/>
              <a:t>”: </a:t>
            </a:r>
            <a:r>
              <a:rPr lang="es-AR" dirty="0" err="1"/>
              <a:t>improve-improvement</a:t>
            </a:r>
            <a:r>
              <a:rPr lang="es-AR" dirty="0"/>
              <a:t>; </a:t>
            </a:r>
            <a:r>
              <a:rPr lang="es-AR" dirty="0" err="1"/>
              <a:t>manage-management</a:t>
            </a:r>
            <a:endParaRPr lang="es-AR" dirty="0"/>
          </a:p>
          <a:p>
            <a:pPr marL="0" indent="0">
              <a:buNone/>
            </a:pPr>
            <a:r>
              <a:rPr lang="es-AR" dirty="0"/>
              <a:t>“-</a:t>
            </a:r>
            <a:r>
              <a:rPr lang="es-AR" b="1" i="1" dirty="0" err="1"/>
              <a:t>tion</a:t>
            </a:r>
            <a:r>
              <a:rPr lang="es-AR" dirty="0"/>
              <a:t>”: </a:t>
            </a:r>
            <a:r>
              <a:rPr lang="es-AR" dirty="0" err="1"/>
              <a:t>elect-election</a:t>
            </a:r>
            <a:r>
              <a:rPr lang="es-AR" dirty="0"/>
              <a:t>;  </a:t>
            </a:r>
            <a:r>
              <a:rPr lang="es-AR" dirty="0" err="1"/>
              <a:t>discuss-discussion</a:t>
            </a:r>
            <a:endParaRPr lang="es-AR" dirty="0"/>
          </a:p>
          <a:p>
            <a:pPr marL="0" indent="0">
              <a:buNone/>
            </a:pPr>
            <a:r>
              <a:rPr lang="es-AR" dirty="0"/>
              <a:t>“-</a:t>
            </a:r>
            <a:r>
              <a:rPr lang="es-AR" b="1" i="1" dirty="0" err="1"/>
              <a:t>ation</a:t>
            </a:r>
            <a:r>
              <a:rPr lang="es-AR" dirty="0"/>
              <a:t>”: </a:t>
            </a:r>
            <a:r>
              <a:rPr lang="es-AR" dirty="0" err="1"/>
              <a:t>inform-information</a:t>
            </a:r>
            <a:r>
              <a:rPr lang="es-AR" dirty="0"/>
              <a:t>, </a:t>
            </a:r>
            <a:r>
              <a:rPr lang="es-AR" dirty="0" err="1"/>
              <a:t>organize-organization</a:t>
            </a:r>
            <a:endParaRPr lang="es-AR" dirty="0"/>
          </a:p>
          <a:p>
            <a:pPr marL="0" indent="0">
              <a:buNone/>
            </a:pPr>
            <a:r>
              <a:rPr lang="es-AR" dirty="0"/>
              <a:t>“-</a:t>
            </a:r>
            <a:r>
              <a:rPr lang="es-AR" b="1" i="1" dirty="0" err="1"/>
              <a:t>ing</a:t>
            </a:r>
            <a:r>
              <a:rPr lang="es-AR" dirty="0"/>
              <a:t>”: </a:t>
            </a:r>
            <a:r>
              <a:rPr lang="es-AR" dirty="0" err="1"/>
              <a:t>jog</a:t>
            </a:r>
            <a:r>
              <a:rPr lang="es-AR" dirty="0"/>
              <a:t>-jogging; </a:t>
            </a:r>
            <a:r>
              <a:rPr lang="es-AR" dirty="0" err="1"/>
              <a:t>spell-spelling</a:t>
            </a:r>
            <a:endParaRPr lang="es-AR" dirty="0"/>
          </a:p>
          <a:p>
            <a:r>
              <a:rPr lang="es-AR" b="1" dirty="0"/>
              <a:t>Derivados de adjetivos</a:t>
            </a:r>
          </a:p>
          <a:p>
            <a:pPr marL="0" indent="0">
              <a:buNone/>
            </a:pPr>
            <a:r>
              <a:rPr lang="es-AR" dirty="0"/>
              <a:t>“-</a:t>
            </a:r>
            <a:r>
              <a:rPr lang="es-AR" b="1" i="1" dirty="0" err="1"/>
              <a:t>ness</a:t>
            </a:r>
            <a:r>
              <a:rPr lang="es-AR" dirty="0"/>
              <a:t>”: </a:t>
            </a:r>
            <a:r>
              <a:rPr lang="es-AR" dirty="0" err="1"/>
              <a:t>weak-weakness</a:t>
            </a:r>
            <a:r>
              <a:rPr lang="es-AR" dirty="0"/>
              <a:t>; </a:t>
            </a:r>
            <a:r>
              <a:rPr lang="es-AR" dirty="0" err="1"/>
              <a:t>happy-happiness</a:t>
            </a:r>
            <a:endParaRPr lang="es-AR" dirty="0"/>
          </a:p>
          <a:p>
            <a:pPr marL="0" indent="0">
              <a:buNone/>
            </a:pPr>
            <a:r>
              <a:rPr lang="es-AR" dirty="0"/>
              <a:t>“-</a:t>
            </a:r>
            <a:r>
              <a:rPr lang="es-AR" b="1" i="1" dirty="0" err="1"/>
              <a:t>ity</a:t>
            </a:r>
            <a:r>
              <a:rPr lang="es-AR" dirty="0"/>
              <a:t>”: </a:t>
            </a:r>
            <a:r>
              <a:rPr lang="es-AR" dirty="0" err="1"/>
              <a:t>stupid-stupidity</a:t>
            </a:r>
            <a:r>
              <a:rPr lang="es-AR" dirty="0"/>
              <a:t>; similar-</a:t>
            </a:r>
            <a:r>
              <a:rPr lang="es-AR" dirty="0" err="1"/>
              <a:t>similarity</a:t>
            </a:r>
            <a:endParaRPr lang="es-AR" dirty="0"/>
          </a:p>
          <a:p>
            <a:pPr>
              <a:buFont typeface="Wingdings" panose="05000000000000000000" pitchFamily="2" charset="2"/>
              <a:buChar char="Ø"/>
            </a:pPr>
            <a:r>
              <a:rPr lang="es-AR" b="1" dirty="0"/>
              <a:t>Describen gente y sus ocupaciones</a:t>
            </a:r>
          </a:p>
          <a:p>
            <a:pPr marL="0" indent="0">
              <a:buNone/>
            </a:pPr>
            <a:r>
              <a:rPr lang="es-AR" dirty="0"/>
              <a:t>“-</a:t>
            </a:r>
            <a:r>
              <a:rPr lang="es-AR" b="1" i="1" dirty="0" err="1"/>
              <a:t>er</a:t>
            </a:r>
            <a:r>
              <a:rPr lang="es-AR" dirty="0"/>
              <a:t>”: </a:t>
            </a:r>
            <a:r>
              <a:rPr lang="es-AR" dirty="0" err="1"/>
              <a:t>dancer</a:t>
            </a:r>
            <a:r>
              <a:rPr lang="es-AR" dirty="0"/>
              <a:t>; manager; driver; </a:t>
            </a:r>
            <a:r>
              <a:rPr lang="es-AR" dirty="0" err="1"/>
              <a:t>employer</a:t>
            </a:r>
            <a:endParaRPr lang="es-AR" dirty="0"/>
          </a:p>
          <a:p>
            <a:pPr marL="0" indent="0">
              <a:buNone/>
            </a:pPr>
            <a:r>
              <a:rPr lang="es-AR" dirty="0"/>
              <a:t>“-</a:t>
            </a:r>
            <a:r>
              <a:rPr lang="es-AR" b="1" i="1" dirty="0" err="1"/>
              <a:t>or</a:t>
            </a:r>
            <a:r>
              <a:rPr lang="es-AR" dirty="0"/>
              <a:t>”: director; </a:t>
            </a:r>
            <a:r>
              <a:rPr lang="es-AR" dirty="0" err="1"/>
              <a:t>operator</a:t>
            </a:r>
            <a:endParaRPr lang="es-AR" dirty="0"/>
          </a:p>
          <a:p>
            <a:pPr marL="0" indent="0">
              <a:buNone/>
            </a:pPr>
            <a:r>
              <a:rPr lang="es-AR" dirty="0"/>
              <a:t>“-</a:t>
            </a:r>
            <a:r>
              <a:rPr lang="es-AR" b="1" i="1" dirty="0" err="1"/>
              <a:t>ist</a:t>
            </a:r>
            <a:r>
              <a:rPr lang="es-AR" dirty="0"/>
              <a:t>”: </a:t>
            </a:r>
            <a:r>
              <a:rPr lang="es-AR" dirty="0" err="1"/>
              <a:t>journalist</a:t>
            </a:r>
            <a:r>
              <a:rPr lang="es-AR" dirty="0"/>
              <a:t>; </a:t>
            </a:r>
            <a:r>
              <a:rPr lang="es-AR" dirty="0" err="1"/>
              <a:t>economist</a:t>
            </a:r>
            <a:endParaRPr lang="es-AR" dirty="0"/>
          </a:p>
        </p:txBody>
      </p:sp>
    </p:spTree>
    <p:extLst>
      <p:ext uri="{BB962C8B-B14F-4D97-AF65-F5344CB8AC3E}">
        <p14:creationId xmlns:p14="http://schemas.microsoft.com/office/powerpoint/2010/main" val="114299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21972"/>
            <a:ext cx="8596668" cy="978794"/>
          </a:xfrm>
        </p:spPr>
        <p:txBody>
          <a:bodyPr>
            <a:normAutofit fontScale="90000"/>
          </a:bodyPr>
          <a:lstStyle/>
          <a:p>
            <a:pPr algn="ctr"/>
            <a:r>
              <a:rPr lang="es-AR" dirty="0" smtClean="0"/>
              <a:t>EL ADJETIVO</a:t>
            </a:r>
            <a:r>
              <a:rPr lang="es-AR" dirty="0"/>
              <a:t/>
            </a:r>
            <a:br>
              <a:rPr lang="es-AR" dirty="0"/>
            </a:br>
            <a:r>
              <a:rPr lang="es-AR" dirty="0" smtClean="0"/>
              <a:t>Características</a:t>
            </a:r>
            <a:endParaRPr lang="es-AR" dirty="0"/>
          </a:p>
        </p:txBody>
      </p:sp>
      <p:sp>
        <p:nvSpPr>
          <p:cNvPr id="3" name="Marcador de contenido 2"/>
          <p:cNvSpPr>
            <a:spLocks noGrp="1"/>
          </p:cNvSpPr>
          <p:nvPr>
            <p:ph idx="1"/>
          </p:nvPr>
        </p:nvSpPr>
        <p:spPr>
          <a:xfrm>
            <a:off x="412125" y="1390918"/>
            <a:ext cx="9659154" cy="5138671"/>
          </a:xfrm>
        </p:spPr>
        <p:txBody>
          <a:bodyPr>
            <a:normAutofit fontScale="92500" lnSpcReduction="10000"/>
          </a:bodyPr>
          <a:lstStyle/>
          <a:p>
            <a:pPr marL="0" lvl="0" indent="0" defTabSz="914400" eaLnBrk="0" fontAlgn="base" hangingPunct="0">
              <a:spcBef>
                <a:spcPct val="0"/>
              </a:spcBef>
              <a:spcAft>
                <a:spcPct val="0"/>
              </a:spcAft>
              <a:buClrTx/>
              <a:buSzTx/>
              <a:buNone/>
            </a:pPr>
            <a:r>
              <a:rPr lang="es-AR" altLang="es-AR" b="1"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endParaRPr lang="es-AR" altLang="es-AR"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en </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ingl</a:t>
            </a:r>
            <a:r>
              <a:rPr lang="es-AR" altLang="es-AR" sz="2000" dirty="0" smtClean="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s </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se ubican DELANTE del Sustantivo que modifican</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ase" hangingPunct="0">
              <a:spcBef>
                <a:spcPct val="0"/>
              </a:spcBef>
              <a:spcAft>
                <a:spcPct val="0"/>
              </a:spcAft>
              <a:buClrTx/>
              <a:buSzTx/>
              <a:buNone/>
            </a:pP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new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computer</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new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experiment</a:t>
            </a:r>
            <a:endPar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algn="just"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se ubican DESPU</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  de algunos verbos: </a:t>
            </a:r>
            <a:r>
              <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rPr>
              <a:t>be</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become</a:t>
            </a:r>
            <a:r>
              <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seem</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algn="just" defTabSz="914400" eaLnBrk="0" fontAlgn="base" hangingPunct="0">
              <a:spcBef>
                <a:spcPct val="0"/>
              </a:spcBef>
              <a:spcAft>
                <a:spcPct val="0"/>
              </a:spcAft>
              <a:buClrTx/>
              <a:buSzTx/>
              <a:buNone/>
            </a:pP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T</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hat</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computer</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seems</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rather</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old</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endPar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en Ingl</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 NO TIENEN PLURAL (son iguales en Singular y Plural). </a:t>
            </a:r>
            <a:r>
              <a:rPr lang="es-AR" altLang="es-AR" sz="2000" b="1" dirty="0">
                <a:solidFill>
                  <a:schemeClr val="tx1"/>
                </a:solidFill>
                <a:latin typeface="Arial" panose="020B0604020202020204" pitchFamily="34" charset="0"/>
                <a:ea typeface="Times New Roman" panose="02020603050405020304" pitchFamily="18" charset="0"/>
                <a:cs typeface="Arial" panose="020B0604020202020204" pitchFamily="34" charset="0"/>
              </a:rPr>
              <a:t>Nota</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Si la palabra termina con </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NO ES ADJETIVO</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marL="0" lvl="0" indent="0" defTabSz="914400" eaLnBrk="0" fontAlgn="base" hangingPunct="0">
              <a:spcBef>
                <a:spcPct val="0"/>
              </a:spcBef>
              <a:spcAft>
                <a:spcPct val="0"/>
              </a:spcAft>
              <a:buClrTx/>
              <a:buSzTx/>
              <a:buNone/>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new</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computer</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 </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new</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computers</a:t>
            </a:r>
            <a:endPar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ase" hangingPunct="0">
              <a:spcBef>
                <a:spcPct val="0"/>
              </a:spcBef>
              <a:spcAft>
                <a:spcPct val="0"/>
              </a:spcAft>
              <a:buClrTx/>
              <a:buSzTx/>
              <a:buNone/>
            </a:pPr>
            <a:endPar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defTabSz="914400" eaLnBrk="0" fontAlgn="base" hangingPunct="0">
              <a:spcBef>
                <a:spcPct val="0"/>
              </a:spcBef>
              <a:spcAft>
                <a:spcPct val="0"/>
              </a:spcAft>
              <a:buClrTx/>
              <a:buSzTx/>
              <a:buFont typeface="Wingdings" panose="05000000000000000000" pitchFamily="2" charset="2"/>
              <a:buChar char="Ø"/>
            </a:pP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Los </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adjetivos en Ingl</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é</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s NO TIENEN </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GÉNERO (son iguales en femenino/masculino)</a:t>
            </a:r>
          </a:p>
          <a:p>
            <a:pPr marL="457200" lvl="1" indent="0" defTabSz="914400" eaLnBrk="0" fontAlgn="base" hangingPunct="0">
              <a:spcBef>
                <a:spcPct val="0"/>
              </a:spcBef>
              <a:spcAft>
                <a:spcPct val="0"/>
              </a:spcAft>
              <a:buClrTx/>
              <a:buSzTx/>
              <a:buNone/>
            </a:pPr>
            <a:r>
              <a:rPr lang="es-AR" altLang="es-AR"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100" i="1" dirty="0">
                <a:solidFill>
                  <a:schemeClr val="tx1"/>
                </a:solidFill>
                <a:latin typeface="Arial" panose="020B0604020202020204" pitchFamily="34" charset="0"/>
                <a:ea typeface="Times New Roman" panose="02020603050405020304" pitchFamily="18" charset="0"/>
                <a:cs typeface="Arial" panose="020B0604020202020204" pitchFamily="34" charset="0"/>
              </a:rPr>
              <a:t>visual</a:t>
            </a:r>
            <a:r>
              <a:rPr lang="es-AR" altLang="es-AR" sz="21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100" dirty="0" err="1">
                <a:solidFill>
                  <a:schemeClr val="tx1"/>
                </a:solidFill>
                <a:latin typeface="Arial" panose="020B0604020202020204" pitchFamily="34" charset="0"/>
                <a:ea typeface="Times New Roman" panose="02020603050405020304" pitchFamily="18" charset="0"/>
                <a:cs typeface="Arial" panose="020B0604020202020204" pitchFamily="34" charset="0"/>
              </a:rPr>
              <a:t>process</a:t>
            </a:r>
            <a:r>
              <a:rPr lang="es-AR" altLang="es-AR" sz="2100" dirty="0">
                <a:solidFill>
                  <a:schemeClr val="tx1"/>
                </a:solidFill>
                <a:latin typeface="Arial" panose="020B0604020202020204" pitchFamily="34" charset="0"/>
                <a:ea typeface="Times New Roman" panose="02020603050405020304" pitchFamily="18" charset="0"/>
                <a:cs typeface="Arial" panose="020B0604020202020204" pitchFamily="34" charset="0"/>
              </a:rPr>
              <a:t> – </a:t>
            </a:r>
            <a:r>
              <a:rPr lang="es-AR" altLang="es-AR" sz="2100" i="1" dirty="0">
                <a:solidFill>
                  <a:schemeClr val="tx1"/>
                </a:solidFill>
                <a:latin typeface="Arial" panose="020B0604020202020204" pitchFamily="34" charset="0"/>
                <a:ea typeface="Times New Roman" panose="02020603050405020304" pitchFamily="18" charset="0"/>
                <a:cs typeface="Arial" panose="020B0604020202020204" pitchFamily="34" charset="0"/>
              </a:rPr>
              <a:t>visual</a:t>
            </a:r>
            <a:r>
              <a:rPr lang="es-AR" altLang="es-AR" sz="2100" dirty="0">
                <a:solidFill>
                  <a:schemeClr val="tx1"/>
                </a:solidFill>
                <a:latin typeface="Arial" panose="020B0604020202020204" pitchFamily="34" charset="0"/>
                <a:ea typeface="Times New Roman" panose="02020603050405020304" pitchFamily="18" charset="0"/>
                <a:cs typeface="Arial" panose="020B0604020202020204" pitchFamily="34" charset="0"/>
              </a:rPr>
              <a:t> response</a:t>
            </a:r>
          </a:p>
          <a:p>
            <a:pPr marL="0" lvl="0" indent="0" defTabSz="914400" eaLnBrk="0" fontAlgn="base" hangingPunct="0">
              <a:spcBef>
                <a:spcPct val="0"/>
              </a:spcBef>
              <a:spcAft>
                <a:spcPct val="0"/>
              </a:spcAft>
              <a:buClrTx/>
              <a:buSzTx/>
              <a:buNone/>
            </a:pP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endParaRPr lang="es-AR" altLang="es-AR" sz="2000" dirty="0">
              <a:solidFill>
                <a:schemeClr val="tx1"/>
              </a:solidFill>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Sufijos comunes: </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able</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ic</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a:t>
            </a:r>
            <a:r>
              <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rPr>
              <a:t>al</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ous</a:t>
            </a:r>
            <a:r>
              <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ive</a:t>
            </a:r>
            <a:r>
              <a:rPr lang="es-AR" altLang="es-AR" sz="2000" smtClean="0">
                <a:solidFill>
                  <a:schemeClr val="tx1"/>
                </a:solidFill>
                <a:latin typeface="Arial" panose="020B0604020202020204" pitchFamily="34" charset="0"/>
                <a:ea typeface="Times New Roman" panose="02020603050405020304" pitchFamily="18" charset="0"/>
                <a:cs typeface="Arial" panose="020B0604020202020204" pitchFamily="34" charset="0"/>
              </a:rPr>
              <a:t>.</a:t>
            </a:r>
            <a:endParaRPr lang="es-AR" altLang="es-AR" sz="2000" dirty="0" smtClean="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ase" hangingPunct="0">
              <a:spcBef>
                <a:spcPct val="0"/>
              </a:spcBef>
              <a:spcAft>
                <a:spcPct val="0"/>
              </a:spcAft>
              <a:buClrTx/>
              <a:buSzTx/>
              <a:buNone/>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capable</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organic</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mechanical</a:t>
            </a:r>
            <a:r>
              <a:rPr lang="es-AR" altLang="es-AR" sz="2000" i="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 </a:t>
            </a:r>
            <a:r>
              <a:rPr lang="es-AR" altLang="es-AR" sz="2000" i="1" dirty="0" err="1" smtClean="0">
                <a:solidFill>
                  <a:schemeClr val="tx1"/>
                </a:solidFill>
                <a:latin typeface="Arial" panose="020B0604020202020204" pitchFamily="34" charset="0"/>
                <a:ea typeface="Times New Roman" panose="02020603050405020304" pitchFamily="18" charset="0"/>
                <a:cs typeface="Arial" panose="020B0604020202020204" pitchFamily="34" charset="0"/>
              </a:rPr>
              <a:t>famous</a:t>
            </a:r>
            <a:endParaRPr lang="es-AR" altLang="es-AR" sz="2000" i="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0" lvl="0" indent="0" defTabSz="914400" eaLnBrk="0" fontAlgn="base" hangingPunct="0">
              <a:spcBef>
                <a:spcPct val="0"/>
              </a:spcBef>
              <a:spcAft>
                <a:spcPct val="0"/>
              </a:spcAft>
              <a:buClrTx/>
              <a:buSzTx/>
              <a:buNone/>
            </a:pPr>
            <a:endParaRPr lang="es-AR" altLang="es-AR" sz="2000" dirty="0">
              <a:solidFill>
                <a:schemeClr val="tx1"/>
              </a:solidFill>
            </a:endParaRPr>
          </a:p>
          <a:p>
            <a:pPr lvl="0" defTabSz="914400" eaLnBrk="0" fontAlgn="base" hangingPunct="0">
              <a:spcBef>
                <a:spcPct val="0"/>
              </a:spcBef>
              <a:spcAft>
                <a:spcPct val="0"/>
              </a:spcAft>
              <a:buClrTx/>
              <a:buSzTx/>
              <a:buFont typeface="Wingdings" panose="05000000000000000000" pitchFamily="2" charset="2"/>
              <a:buChar char="Ø"/>
            </a:pP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Los adjetivos pueden terminar en </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ed</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o </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a:t>
            </a:r>
            <a:r>
              <a:rPr lang="es-AR" altLang="es-AR" sz="2000" i="1" dirty="0" err="1">
                <a:solidFill>
                  <a:schemeClr val="tx1"/>
                </a:solidFill>
                <a:latin typeface="Arial" panose="020B0604020202020204" pitchFamily="34" charset="0"/>
                <a:ea typeface="Times New Roman" panose="02020603050405020304" pitchFamily="18" charset="0"/>
                <a:cs typeface="Arial" panose="020B0604020202020204" pitchFamily="34" charset="0"/>
              </a:rPr>
              <a:t>ing</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y no hay que confundirlos con verbos conjugados en pasado o presente (de all</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í</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 la importancia de reconocer su ubicaci</a:t>
            </a:r>
            <a:r>
              <a:rPr lang="es-AR" altLang="es-AR" sz="2000" dirty="0">
                <a:solidFill>
                  <a:schemeClr val="tx1"/>
                </a:solidFill>
                <a:latin typeface="Calibri" panose="020F0502020204030204" pitchFamily="34" charset="0"/>
                <a:ea typeface="Times New Roman" panose="02020603050405020304" pitchFamily="18" charset="0"/>
                <a:cs typeface="Arial" panose="020B0604020202020204" pitchFamily="34" charset="0"/>
              </a:rPr>
              <a:t>ó</a:t>
            </a:r>
            <a:r>
              <a:rPr lang="es-AR" altLang="es-AR" sz="2000" dirty="0">
                <a:solidFill>
                  <a:schemeClr val="tx1"/>
                </a:solidFill>
                <a:latin typeface="Arial" panose="020B0604020202020204" pitchFamily="34" charset="0"/>
                <a:ea typeface="Times New Roman" panose="02020603050405020304" pitchFamily="18" charset="0"/>
                <a:cs typeface="Arial" panose="020B0604020202020204" pitchFamily="34" charset="0"/>
              </a:rPr>
              <a:t>n).</a:t>
            </a:r>
            <a:endParaRPr lang="es-AR" sz="2000" dirty="0"/>
          </a:p>
        </p:txBody>
      </p:sp>
    </p:spTree>
    <p:extLst>
      <p:ext uri="{BB962C8B-B14F-4D97-AF65-F5344CB8AC3E}">
        <p14:creationId xmlns:p14="http://schemas.microsoft.com/office/powerpoint/2010/main" val="360924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244699"/>
            <a:ext cx="8596668" cy="785611"/>
          </a:xfrm>
        </p:spPr>
        <p:txBody>
          <a:bodyPr/>
          <a:lstStyle/>
          <a:p>
            <a:pPr algn="ctr"/>
            <a:r>
              <a:rPr lang="es-AR" b="1" dirty="0" smtClean="0"/>
              <a:t>PRÁCTICA</a:t>
            </a:r>
            <a:endParaRPr lang="es-AR" b="1" dirty="0"/>
          </a:p>
        </p:txBody>
      </p:sp>
      <p:sp>
        <p:nvSpPr>
          <p:cNvPr id="3" name="Marcador de contenido 2"/>
          <p:cNvSpPr>
            <a:spLocks noGrp="1"/>
          </p:cNvSpPr>
          <p:nvPr>
            <p:ph idx="1"/>
          </p:nvPr>
        </p:nvSpPr>
        <p:spPr>
          <a:xfrm>
            <a:off x="677334" y="1236373"/>
            <a:ext cx="9226520" cy="5267458"/>
          </a:xfrm>
        </p:spPr>
        <p:txBody>
          <a:bodyPr>
            <a:normAutofit lnSpcReduction="10000"/>
          </a:bodyPr>
          <a:lstStyle/>
          <a:p>
            <a:pPr marL="0" indent="0" algn="just">
              <a:buNone/>
            </a:pPr>
            <a:r>
              <a:rPr lang="en-US" sz="2400" b="1" dirty="0"/>
              <a:t>Information technology</a:t>
            </a:r>
            <a:r>
              <a:rPr lang="en-US" sz="2400" dirty="0"/>
              <a:t> (</a:t>
            </a:r>
            <a:r>
              <a:rPr lang="en-US" sz="2400" b="1" dirty="0"/>
              <a:t>IT</a:t>
            </a:r>
            <a:r>
              <a:rPr lang="en-US" sz="2400" dirty="0"/>
              <a:t>) is the application of computers to store, retrieve, transmit and manipulate data or information, often in the context of a business or other enterprise. </a:t>
            </a:r>
            <a:r>
              <a:rPr lang="en-US" sz="2400" b="1" dirty="0"/>
              <a:t>IT</a:t>
            </a:r>
            <a:r>
              <a:rPr lang="en-US" sz="2400" dirty="0"/>
              <a:t> is considered to be a subset of information and communications technology (ICT). In 2012, </a:t>
            </a:r>
            <a:r>
              <a:rPr lang="en-US" sz="2400" dirty="0" err="1"/>
              <a:t>Zuppo</a:t>
            </a:r>
            <a:r>
              <a:rPr lang="en-US" sz="2400" dirty="0"/>
              <a:t> proposed an ICT hierarchy where each hierarchy level "contain[s] some degree of commonality in that they are related to technologies that facilitate the transfer of information and various types of electronically mediated communications".</a:t>
            </a:r>
          </a:p>
          <a:p>
            <a:pPr marL="0" indent="0" algn="just">
              <a:buNone/>
            </a:pPr>
            <a:r>
              <a:rPr lang="en-US" sz="2400" dirty="0"/>
              <a:t>The term is commonly used as a synonym for computers and computer networks, but it also encompasses other information distribution technologies such as television and telephones. Several industries are associated with information technology, including computer hardware, software, electronics, semiconductors, internet, telecom equipment, and e-commerce.</a:t>
            </a:r>
          </a:p>
          <a:p>
            <a:endParaRPr lang="es-AR" dirty="0"/>
          </a:p>
        </p:txBody>
      </p:sp>
    </p:spTree>
    <p:extLst>
      <p:ext uri="{BB962C8B-B14F-4D97-AF65-F5344CB8AC3E}">
        <p14:creationId xmlns:p14="http://schemas.microsoft.com/office/powerpoint/2010/main" val="40795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a:xfrm>
            <a:off x="677333" y="940158"/>
            <a:ext cx="9278035" cy="5447763"/>
          </a:xfrm>
        </p:spPr>
        <p:txBody>
          <a:bodyPr>
            <a:normAutofit lnSpcReduction="10000"/>
          </a:bodyPr>
          <a:lstStyle/>
          <a:p>
            <a:pPr marL="0" indent="0" algn="just">
              <a:buNone/>
            </a:pPr>
            <a:r>
              <a:rPr lang="en-US" sz="2400" dirty="0"/>
              <a:t>Humans have been storing, retrieving, manipulating, and communicating information since the Sumerians in Mesopotamia developed writing in about 3000 BC, but the term </a:t>
            </a:r>
            <a:r>
              <a:rPr lang="en-US" sz="2400" i="1" dirty="0"/>
              <a:t>information technology</a:t>
            </a:r>
            <a:r>
              <a:rPr lang="en-US" sz="2400" dirty="0"/>
              <a:t> in its modern sense first appeared in a 1958 article published in the </a:t>
            </a:r>
            <a:r>
              <a:rPr lang="en-US" sz="2400" i="1" dirty="0"/>
              <a:t>Harvard Business</a:t>
            </a:r>
            <a:r>
              <a:rPr lang="en-US" sz="2400" dirty="0"/>
              <a:t> </a:t>
            </a:r>
            <a:r>
              <a:rPr lang="en-US" sz="2400" i="1" dirty="0"/>
              <a:t>Review</a:t>
            </a:r>
            <a:r>
              <a:rPr lang="en-US" sz="2400" dirty="0"/>
              <a:t>. Their definition consists of three categories: techniques for processing, the application of statistical and mathematical methods to decision-making, and the simulation of higher-order thinking through computer programs.</a:t>
            </a:r>
          </a:p>
          <a:p>
            <a:pPr marL="0" indent="0" algn="just">
              <a:buNone/>
            </a:pPr>
            <a:r>
              <a:rPr lang="en-US" sz="2400" dirty="0"/>
              <a:t>Based on the storage and processing technologies employed, it is possible to distinguish four distinct phases of IT development: pre-mechanical (3000 BC – 1450 AD), mechanical (1450–1840), electromechanical (1840–1940), and electronic (1940–present).</a:t>
            </a:r>
            <a:r>
              <a:rPr lang="en-US" sz="2400" baseline="30000" dirty="0"/>
              <a:t> </a:t>
            </a:r>
            <a:r>
              <a:rPr lang="en-US" sz="2400" dirty="0"/>
              <a:t>This article focuses on the most recent period (electronic), which began in about 1940.</a:t>
            </a:r>
          </a:p>
          <a:p>
            <a:endParaRPr lang="es-AR" dirty="0"/>
          </a:p>
        </p:txBody>
      </p:sp>
    </p:spTree>
    <p:extLst>
      <p:ext uri="{BB962C8B-B14F-4D97-AF65-F5344CB8AC3E}">
        <p14:creationId xmlns:p14="http://schemas.microsoft.com/office/powerpoint/2010/main" val="27305081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3" y="609600"/>
            <a:ext cx="9419977" cy="1320800"/>
          </a:xfrm>
        </p:spPr>
        <p:txBody>
          <a:bodyPr/>
          <a:lstStyle/>
          <a:p>
            <a:pPr algn="ctr"/>
            <a:endParaRPr lang="es-AR" dirty="0"/>
          </a:p>
        </p:txBody>
      </p:sp>
      <p:sp>
        <p:nvSpPr>
          <p:cNvPr id="3" name="Marcador de contenido 2"/>
          <p:cNvSpPr>
            <a:spLocks noGrp="1"/>
          </p:cNvSpPr>
          <p:nvPr>
            <p:ph idx="1"/>
          </p:nvPr>
        </p:nvSpPr>
        <p:spPr>
          <a:xfrm>
            <a:off x="677333" y="2160589"/>
            <a:ext cx="9692351" cy="3880773"/>
          </a:xfrm>
        </p:spPr>
        <p:txBody>
          <a:bodyPr>
            <a:normAutofit/>
          </a:bodyPr>
          <a:lstStyle/>
          <a:p>
            <a:pPr marL="0" indent="0" algn="ctr">
              <a:buNone/>
            </a:pPr>
            <a:r>
              <a:rPr lang="es-AR" sz="6000" dirty="0" smtClean="0"/>
              <a:t>THANKS!</a:t>
            </a:r>
          </a:p>
          <a:p>
            <a:pPr marL="0" indent="0" algn="ctr">
              <a:buNone/>
            </a:pPr>
            <a:endParaRPr lang="es-AR" sz="6000" dirty="0"/>
          </a:p>
          <a:p>
            <a:pPr marL="0" indent="0" algn="ctr">
              <a:buNone/>
            </a:pPr>
            <a:endParaRPr lang="es-AR" sz="6000"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870" y="3988339"/>
            <a:ext cx="1850562" cy="2283211"/>
          </a:xfrm>
          <a:prstGeom prst="rect">
            <a:avLst/>
          </a:prstGeom>
          <a:effectLst>
            <a:glow rad="63500">
              <a:schemeClr val="accent2">
                <a:satMod val="175000"/>
                <a:alpha val="40000"/>
              </a:schemeClr>
            </a:glow>
          </a:effectLst>
        </p:spPr>
      </p:pic>
    </p:spTree>
    <p:extLst>
      <p:ext uri="{BB962C8B-B14F-4D97-AF65-F5344CB8AC3E}">
        <p14:creationId xmlns:p14="http://schemas.microsoft.com/office/powerpoint/2010/main" val="112699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26E45A29B641E459FF137569A0F5FF9" ma:contentTypeVersion="2" ma:contentTypeDescription="Crear nuevo documento." ma:contentTypeScope="" ma:versionID="35cbdd2d8262ed34aeea796cb709b62b">
  <xsd:schema xmlns:xsd="http://www.w3.org/2001/XMLSchema" xmlns:xs="http://www.w3.org/2001/XMLSchema" xmlns:p="http://schemas.microsoft.com/office/2006/metadata/properties" xmlns:ns2="22dc5ea4-9cdd-4970-8bc4-2ea26828404c" targetNamespace="http://schemas.microsoft.com/office/2006/metadata/properties" ma:root="true" ma:fieldsID="77acbf78e5c2a000089bb72ad738689e" ns2:_="">
    <xsd:import namespace="22dc5ea4-9cdd-4970-8bc4-2ea26828404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dc5ea4-9cdd-4970-8bc4-2ea2682840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C19F665-724D-4C5C-8201-38B9FC6B7152}"/>
</file>

<file path=customXml/itemProps2.xml><?xml version="1.0" encoding="utf-8"?>
<ds:datastoreItem xmlns:ds="http://schemas.openxmlformats.org/officeDocument/2006/customXml" ds:itemID="{94589341-7467-43C6-9BA9-4D2F7CE99CD2}"/>
</file>

<file path=customXml/itemProps3.xml><?xml version="1.0" encoding="utf-8"?>
<ds:datastoreItem xmlns:ds="http://schemas.openxmlformats.org/officeDocument/2006/customXml" ds:itemID="{ECF79A79-7688-453E-B231-E440FA34BDB2}"/>
</file>

<file path=docProps/app.xml><?xml version="1.0" encoding="utf-8"?>
<Properties xmlns="http://schemas.openxmlformats.org/officeDocument/2006/extended-properties" xmlns:vt="http://schemas.openxmlformats.org/officeDocument/2006/docPropsVTypes">
  <Template>Facet</Template>
  <TotalTime>12005</TotalTime>
  <Words>650</Words>
  <Application>Microsoft Office PowerPoint</Application>
  <PresentationFormat>Panorámica</PresentationFormat>
  <Paragraphs>110</Paragraphs>
  <Slides>13</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Arial</vt:lpstr>
      <vt:lpstr>Calibri</vt:lpstr>
      <vt:lpstr>Courier New</vt:lpstr>
      <vt:lpstr>Times New Roman</vt:lpstr>
      <vt:lpstr>Trebuchet MS</vt:lpstr>
      <vt:lpstr>Wingdings</vt:lpstr>
      <vt:lpstr>Wingdings 3</vt:lpstr>
      <vt:lpstr>Faceta</vt:lpstr>
      <vt:lpstr>INGLÉS I  Ing. en Sistemas de Información</vt:lpstr>
      <vt:lpstr>EL TEXTO EN INGLÉS</vt:lpstr>
      <vt:lpstr>LA ORACIÓN SIMPLE</vt:lpstr>
      <vt:lpstr>PALABRAS ESTRUCTURALES Y  PALABRAS  CONCEPTUALES</vt:lpstr>
      <vt:lpstr>CLASES DE PALABRAS</vt:lpstr>
      <vt:lpstr>EL ARTÍCULO</vt:lpstr>
      <vt:lpstr>PRONOMBRES</vt:lpstr>
      <vt:lpstr>EL SUSTANTIVO</vt:lpstr>
      <vt:lpstr>EL SUSTANTIVO (SUFIJOS)</vt:lpstr>
      <vt:lpstr>EL ADJETIVO Características</vt:lpstr>
      <vt:lpstr>PRÁCTICA</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INGLÉS I</dc:title>
  <dc:creator>Usuario</dc:creator>
  <cp:lastModifiedBy>Usuario</cp:lastModifiedBy>
  <cp:revision>67</cp:revision>
  <dcterms:created xsi:type="dcterms:W3CDTF">2020-03-27T22:25:37Z</dcterms:created>
  <dcterms:modified xsi:type="dcterms:W3CDTF">2022-03-12T15:23:22Z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0x010100C26E45A29B641E459FF137569A0F5FF9</vt:lpwstr>
  </property>
</Properties>
</file>
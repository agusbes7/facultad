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4" r:id="rId4"/>
    <p:sldId id="267" r:id="rId5"/>
    <p:sldId id="269" r:id="rId6"/>
    <p:sldId id="270" r:id="rId7"/>
    <p:sldId id="271" r:id="rId8"/>
    <p:sldId id="272" r:id="rId9"/>
    <p:sldId id="27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INGLÉS I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s-AR" dirty="0" smtClean="0"/>
          </a:p>
          <a:p>
            <a:r>
              <a:rPr lang="es-AR" dirty="0" smtClean="0"/>
              <a:t>Prof. Nidia S. </a:t>
            </a:r>
            <a:r>
              <a:rPr lang="es-AR" dirty="0" err="1" smtClean="0"/>
              <a:t>Redonder</a:t>
            </a:r>
            <a:endParaRPr lang="es-AR" dirty="0"/>
          </a:p>
          <a:p>
            <a:r>
              <a:rPr lang="es-AR" dirty="0" smtClean="0"/>
              <a:t>UTN - FRSF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551234"/>
            <a:ext cx="8596668" cy="907915"/>
          </a:xfrm>
        </p:spPr>
        <p:txBody>
          <a:bodyPr/>
          <a:lstStyle/>
          <a:p>
            <a:pPr algn="ctr"/>
            <a:r>
              <a:rPr lang="es-AR" altLang="es-AR" b="1" dirty="0"/>
              <a:t>LA ORACIÓN SIMPLE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7693" y="1622965"/>
            <a:ext cx="8596668" cy="4279121"/>
          </a:xfrm>
        </p:spPr>
        <p:txBody>
          <a:bodyPr/>
          <a:lstStyle/>
          <a:p>
            <a:pPr marL="0" indent="0" algn="ctr">
              <a:buFont typeface="Wingdings 3" panose="05040102010807070707" pitchFamily="18" charset="2"/>
              <a:buNone/>
            </a:pPr>
            <a:r>
              <a:rPr lang="es-AR" altLang="es-AR" sz="2400" b="1" dirty="0"/>
              <a:t>SUJETO  +  VERBO  +  RESTO DE LA ORACIÓN</a:t>
            </a:r>
            <a:endParaRPr lang="es-AR" altLang="es-AR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s-AR" altLang="es-AR" sz="2200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s-AR" sz="2200" b="1" i="1" u="sng" dirty="0"/>
              <a:t>We</a:t>
            </a:r>
            <a:r>
              <a:rPr lang="en-US" altLang="es-AR" sz="2200" b="1" i="1" dirty="0"/>
              <a:t>     </a:t>
            </a:r>
            <a:r>
              <a:rPr lang="en-US" altLang="es-AR" sz="2200" b="1" i="1" u="sng" dirty="0"/>
              <a:t>measure</a:t>
            </a:r>
            <a:r>
              <a:rPr lang="en-US" altLang="es-AR" sz="2200" b="1" i="1" dirty="0"/>
              <a:t>     </a:t>
            </a:r>
            <a:r>
              <a:rPr lang="en-US" altLang="es-AR" sz="2200" b="1" i="1" u="sng" dirty="0"/>
              <a:t>the Random Access Memory     in Megabytes</a:t>
            </a:r>
            <a:r>
              <a:rPr lang="en-US" altLang="es-AR" sz="2200" b="1" i="1" dirty="0"/>
              <a:t>.</a:t>
            </a:r>
            <a:endParaRPr lang="es-AR" altLang="es-AR" sz="2200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i="1" dirty="0"/>
              <a:t>S             V                                       R.O.</a:t>
            </a:r>
            <a:endParaRPr lang="es-AR" altLang="es-AR" sz="2200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dirty="0"/>
              <a:t> 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dirty="0"/>
              <a:t>S</a:t>
            </a:r>
            <a:r>
              <a:rPr lang="es-AR" altLang="es-AR" sz="2200" dirty="0"/>
              <a:t>: Sujeto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dirty="0"/>
              <a:t>V</a:t>
            </a:r>
            <a:r>
              <a:rPr lang="es-AR" altLang="es-AR" sz="2200" dirty="0"/>
              <a:t>: Verbo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sz="2200" b="1" dirty="0"/>
              <a:t>R.O.</a:t>
            </a:r>
            <a:r>
              <a:rPr lang="es-AR" altLang="es-AR" sz="2200" dirty="0"/>
              <a:t>: Resto de la Oración (Objeto Directo + Adverbio)</a:t>
            </a:r>
          </a:p>
        </p:txBody>
      </p:sp>
    </p:spTree>
    <p:extLst>
      <p:ext uri="{BB962C8B-B14F-4D97-AF65-F5344CB8AC3E}">
        <p14:creationId xmlns:p14="http://schemas.microsoft.com/office/powerpoint/2010/main" val="365515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91831"/>
            <a:ext cx="8596668" cy="1011675"/>
          </a:xfrm>
        </p:spPr>
        <p:txBody>
          <a:bodyPr>
            <a:normAutofit/>
          </a:bodyPr>
          <a:lstStyle/>
          <a:p>
            <a:pPr algn="ctr"/>
            <a:r>
              <a:rPr lang="es-AR" b="1" dirty="0" smtClean="0"/>
              <a:t>LOS VERBOS EN PRESENTE</a:t>
            </a:r>
            <a:r>
              <a:rPr lang="es-AR" b="1" dirty="0"/>
              <a:t/>
            </a:r>
            <a:br>
              <a:rPr lang="es-AR" b="1" dirty="0"/>
            </a:br>
            <a:r>
              <a:rPr lang="es-AR" sz="2400" b="1" dirty="0" smtClean="0"/>
              <a:t>(VOZ ACTIVA)</a:t>
            </a:r>
            <a:endParaRPr lang="es-AR" sz="24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517514"/>
            <a:ext cx="8972504" cy="5340485"/>
          </a:xfrm>
        </p:spPr>
        <p:txBody>
          <a:bodyPr>
            <a:normAutofit/>
          </a:bodyPr>
          <a:lstStyle/>
          <a:p>
            <a:r>
              <a:rPr lang="es-AR" b="1" dirty="0" smtClean="0"/>
              <a:t>TO BE : AM, IS, ARE</a:t>
            </a:r>
          </a:p>
          <a:p>
            <a:pPr>
              <a:buFontTx/>
              <a:buChar char="-"/>
            </a:pPr>
            <a:r>
              <a:rPr lang="es-AR" dirty="0" smtClean="0"/>
              <a:t>I </a:t>
            </a:r>
            <a:r>
              <a:rPr lang="es-AR" b="1" i="1" dirty="0" smtClean="0"/>
              <a:t>am</a:t>
            </a:r>
            <a:r>
              <a:rPr lang="es-AR" dirty="0" smtClean="0"/>
              <a:t> a </a:t>
            </a:r>
            <a:r>
              <a:rPr lang="es-AR" dirty="0" err="1" smtClean="0"/>
              <a:t>systems</a:t>
            </a:r>
            <a:r>
              <a:rPr lang="es-AR" dirty="0" smtClean="0"/>
              <a:t> </a:t>
            </a:r>
            <a:r>
              <a:rPr lang="es-AR" dirty="0" err="1" smtClean="0"/>
              <a:t>engineer</a:t>
            </a:r>
            <a:r>
              <a:rPr lang="es-AR" dirty="0" smtClean="0"/>
              <a:t>.</a:t>
            </a:r>
          </a:p>
          <a:p>
            <a:pPr>
              <a:buFontTx/>
              <a:buChar char="-"/>
            </a:pPr>
            <a:r>
              <a:rPr lang="es-AR" dirty="0" err="1" smtClean="0"/>
              <a:t>She</a:t>
            </a:r>
            <a:r>
              <a:rPr lang="es-AR" dirty="0" smtClean="0"/>
              <a:t> </a:t>
            </a:r>
            <a:r>
              <a:rPr lang="es-AR" b="1" i="1" dirty="0" err="1" smtClean="0"/>
              <a:t>is</a:t>
            </a:r>
            <a:r>
              <a:rPr lang="es-AR" dirty="0" smtClean="0"/>
              <a:t> a civil </a:t>
            </a:r>
            <a:r>
              <a:rPr lang="es-AR" dirty="0" err="1" smtClean="0"/>
              <a:t>engineer</a:t>
            </a:r>
            <a:r>
              <a:rPr lang="es-AR" dirty="0" smtClean="0"/>
              <a:t>.</a:t>
            </a:r>
          </a:p>
          <a:p>
            <a:pPr>
              <a:buFontTx/>
              <a:buChar char="-"/>
            </a:pPr>
            <a:r>
              <a:rPr lang="es-AR" dirty="0" err="1" smtClean="0"/>
              <a:t>They</a:t>
            </a:r>
            <a:r>
              <a:rPr lang="es-AR" dirty="0" smtClean="0"/>
              <a:t> </a:t>
            </a:r>
            <a:r>
              <a:rPr lang="es-AR" b="1" i="1" dirty="0" smtClean="0"/>
              <a:t>are</a:t>
            </a:r>
            <a:r>
              <a:rPr lang="es-AR" dirty="0" smtClean="0"/>
              <a:t> </a:t>
            </a:r>
            <a:r>
              <a:rPr lang="es-AR" dirty="0" err="1" smtClean="0"/>
              <a:t>electrical</a:t>
            </a:r>
            <a:r>
              <a:rPr lang="es-AR" dirty="0" smtClean="0"/>
              <a:t> </a:t>
            </a:r>
            <a:r>
              <a:rPr lang="es-AR" dirty="0" err="1" smtClean="0"/>
              <a:t>engineers</a:t>
            </a:r>
            <a:r>
              <a:rPr lang="es-AR" dirty="0" smtClean="0"/>
              <a:t>.</a:t>
            </a:r>
          </a:p>
          <a:p>
            <a:endParaRPr lang="es-AR" dirty="0" smtClean="0"/>
          </a:p>
          <a:p>
            <a:r>
              <a:rPr lang="es-AR" b="1" dirty="0" smtClean="0"/>
              <a:t>THERE BE: THERE IS, THERE ARE</a:t>
            </a:r>
          </a:p>
          <a:p>
            <a:pPr>
              <a:buFontTx/>
              <a:buChar char="-"/>
            </a:pPr>
            <a:r>
              <a:rPr lang="es-AR" dirty="0" err="1" smtClean="0"/>
              <a:t>There</a:t>
            </a:r>
            <a:r>
              <a:rPr lang="es-AR" dirty="0" smtClean="0"/>
              <a:t> </a:t>
            </a:r>
            <a:r>
              <a:rPr lang="es-AR" b="1" i="1" dirty="0" err="1" smtClean="0"/>
              <a:t>is</a:t>
            </a:r>
            <a:r>
              <a:rPr lang="es-AR" dirty="0" smtClean="0"/>
              <a:t> a </a:t>
            </a:r>
            <a:r>
              <a:rPr lang="es-AR" dirty="0" err="1" smtClean="0"/>
              <a:t>computer</a:t>
            </a:r>
            <a:r>
              <a:rPr lang="es-AR" dirty="0" smtClean="0"/>
              <a:t> in </a:t>
            </a:r>
            <a:r>
              <a:rPr lang="es-AR" dirty="0" err="1" smtClean="0"/>
              <a:t>my</a:t>
            </a:r>
            <a:r>
              <a:rPr lang="es-AR" dirty="0" smtClean="0"/>
              <a:t> </a:t>
            </a:r>
            <a:r>
              <a:rPr lang="es-AR" dirty="0" err="1" smtClean="0"/>
              <a:t>room</a:t>
            </a:r>
            <a:r>
              <a:rPr lang="es-AR" dirty="0" smtClean="0"/>
              <a:t>.  (</a:t>
            </a:r>
            <a:r>
              <a:rPr lang="es-AR" dirty="0" err="1" smtClean="0"/>
              <a:t>Sust</a:t>
            </a:r>
            <a:r>
              <a:rPr lang="es-AR" dirty="0" smtClean="0"/>
              <a:t>. Contables- singular)</a:t>
            </a:r>
          </a:p>
          <a:p>
            <a:pPr>
              <a:buFontTx/>
              <a:buChar char="-"/>
            </a:pPr>
            <a:r>
              <a:rPr lang="es-AR" dirty="0" err="1" smtClean="0"/>
              <a:t>There</a:t>
            </a:r>
            <a:r>
              <a:rPr lang="es-AR" dirty="0" smtClean="0"/>
              <a:t> </a:t>
            </a:r>
            <a:r>
              <a:rPr lang="es-AR" b="1" i="1" dirty="0" smtClean="0"/>
              <a:t>are</a:t>
            </a:r>
            <a:r>
              <a:rPr lang="es-AR" dirty="0" smtClean="0"/>
              <a:t> </a:t>
            </a:r>
            <a:r>
              <a:rPr lang="es-AR" dirty="0" err="1" smtClean="0"/>
              <a:t>twenty</a:t>
            </a:r>
            <a:r>
              <a:rPr lang="es-AR" dirty="0" smtClean="0"/>
              <a:t> </a:t>
            </a:r>
            <a:r>
              <a:rPr lang="es-AR" dirty="0" err="1" smtClean="0"/>
              <a:t>computers</a:t>
            </a:r>
            <a:r>
              <a:rPr lang="es-AR" dirty="0" smtClean="0"/>
              <a:t> in </a:t>
            </a:r>
            <a:r>
              <a:rPr lang="es-AR" dirty="0" err="1" smtClean="0"/>
              <a:t>this</a:t>
            </a:r>
            <a:r>
              <a:rPr lang="es-AR" dirty="0" smtClean="0"/>
              <a:t> </a:t>
            </a:r>
            <a:r>
              <a:rPr lang="es-AR" dirty="0" err="1" smtClean="0"/>
              <a:t>classroom</a:t>
            </a:r>
            <a:r>
              <a:rPr lang="es-AR" dirty="0" smtClean="0"/>
              <a:t>. (</a:t>
            </a:r>
            <a:r>
              <a:rPr lang="es-AR" dirty="0" err="1" smtClean="0"/>
              <a:t>Sust</a:t>
            </a:r>
            <a:r>
              <a:rPr lang="es-AR" dirty="0" smtClean="0"/>
              <a:t>. Contables- plural)</a:t>
            </a:r>
          </a:p>
          <a:p>
            <a:pPr>
              <a:buFontTx/>
              <a:buChar char="-"/>
            </a:pPr>
            <a:r>
              <a:rPr lang="es-AR" dirty="0" err="1" smtClean="0"/>
              <a:t>There</a:t>
            </a:r>
            <a:r>
              <a:rPr lang="es-AR" dirty="0" smtClean="0"/>
              <a:t> </a:t>
            </a:r>
            <a:r>
              <a:rPr lang="es-AR" b="1" i="1" dirty="0" err="1" smtClean="0"/>
              <a:t>is</a:t>
            </a:r>
            <a:r>
              <a:rPr lang="es-AR" dirty="0" smtClean="0"/>
              <a:t> </a:t>
            </a:r>
            <a:r>
              <a:rPr lang="es-AR" dirty="0" err="1" smtClean="0"/>
              <a:t>some</a:t>
            </a:r>
            <a:r>
              <a:rPr lang="es-AR" dirty="0" smtClean="0"/>
              <a:t> </a:t>
            </a:r>
            <a:r>
              <a:rPr lang="es-AR" dirty="0" err="1" smtClean="0"/>
              <a:t>information</a:t>
            </a:r>
            <a:r>
              <a:rPr lang="es-AR" dirty="0" smtClean="0"/>
              <a:t> </a:t>
            </a:r>
            <a:r>
              <a:rPr lang="es-AR" dirty="0" err="1" smtClean="0"/>
              <a:t>about</a:t>
            </a:r>
            <a:r>
              <a:rPr lang="es-AR" dirty="0" smtClean="0"/>
              <a:t> </a:t>
            </a:r>
            <a:r>
              <a:rPr lang="es-AR" dirty="0" err="1" smtClean="0"/>
              <a:t>that</a:t>
            </a:r>
            <a:r>
              <a:rPr lang="es-AR" dirty="0" smtClean="0"/>
              <a:t> </a:t>
            </a:r>
            <a:r>
              <a:rPr lang="es-AR" dirty="0" err="1" smtClean="0"/>
              <a:t>application</a:t>
            </a:r>
            <a:r>
              <a:rPr lang="es-AR" dirty="0" smtClean="0"/>
              <a:t>. (</a:t>
            </a:r>
            <a:r>
              <a:rPr lang="es-AR" dirty="0" err="1" smtClean="0"/>
              <a:t>Sust</a:t>
            </a:r>
            <a:r>
              <a:rPr lang="es-AR" dirty="0" smtClean="0"/>
              <a:t>. No Contables)</a:t>
            </a:r>
          </a:p>
          <a:p>
            <a:pPr>
              <a:buFontTx/>
              <a:buChar char="-"/>
            </a:pPr>
            <a:endParaRPr lang="es-AR" dirty="0"/>
          </a:p>
          <a:p>
            <a:r>
              <a:rPr lang="es-AR" b="1" dirty="0" smtClean="0"/>
              <a:t>TO HAVE: HAVE / HAS</a:t>
            </a:r>
          </a:p>
          <a:p>
            <a:pPr>
              <a:buFontTx/>
              <a:buChar char="-"/>
            </a:pPr>
            <a:r>
              <a:rPr lang="es-AR" dirty="0" err="1" smtClean="0"/>
              <a:t>We</a:t>
            </a:r>
            <a:r>
              <a:rPr lang="es-AR" dirty="0" smtClean="0"/>
              <a:t> </a:t>
            </a:r>
            <a:r>
              <a:rPr lang="es-AR" b="1" i="1" dirty="0" err="1" smtClean="0"/>
              <a:t>have</a:t>
            </a:r>
            <a:r>
              <a:rPr lang="es-AR" dirty="0" smtClean="0"/>
              <a:t> a </a:t>
            </a:r>
            <a:r>
              <a:rPr lang="es-AR" dirty="0" err="1" smtClean="0"/>
              <a:t>lot</a:t>
            </a:r>
            <a:r>
              <a:rPr lang="es-AR" dirty="0" smtClean="0"/>
              <a:t> of </a:t>
            </a:r>
            <a:r>
              <a:rPr lang="es-AR" dirty="0" err="1" smtClean="0"/>
              <a:t>student</a:t>
            </a:r>
            <a:r>
              <a:rPr lang="es-AR" dirty="0" smtClean="0"/>
              <a:t> at UTN-FRSF.</a:t>
            </a:r>
          </a:p>
          <a:p>
            <a:pPr>
              <a:buFontTx/>
              <a:buChar char="-"/>
            </a:pPr>
            <a:r>
              <a:rPr lang="es-AR" dirty="0" err="1" smtClean="0"/>
              <a:t>This</a:t>
            </a:r>
            <a:r>
              <a:rPr lang="es-AR" dirty="0" smtClean="0"/>
              <a:t> file </a:t>
            </a:r>
            <a:r>
              <a:rPr lang="es-AR" b="1" i="1" dirty="0" smtClean="0"/>
              <a:t>has</a:t>
            </a:r>
            <a:r>
              <a:rPr lang="es-AR" dirty="0" smtClean="0"/>
              <a:t> a </a:t>
            </a:r>
            <a:r>
              <a:rPr lang="es-AR" dirty="0" err="1" smtClean="0"/>
              <a:t>lot</a:t>
            </a:r>
            <a:r>
              <a:rPr lang="es-AR" dirty="0" smtClean="0"/>
              <a:t> of </a:t>
            </a:r>
            <a:r>
              <a:rPr lang="es-AR" dirty="0" err="1" smtClean="0"/>
              <a:t>information</a:t>
            </a:r>
            <a:r>
              <a:rPr lang="es-AR" dirty="0" smtClean="0"/>
              <a:t> </a:t>
            </a:r>
            <a:r>
              <a:rPr lang="es-AR" dirty="0" err="1" smtClean="0"/>
              <a:t>about</a:t>
            </a:r>
            <a:r>
              <a:rPr lang="es-AR" dirty="0" smtClean="0"/>
              <a:t> </a:t>
            </a:r>
            <a:r>
              <a:rPr lang="es-AR" dirty="0" err="1" smtClean="0"/>
              <a:t>that</a:t>
            </a:r>
            <a:r>
              <a:rPr lang="es-AR" dirty="0" smtClean="0"/>
              <a:t> software.</a:t>
            </a:r>
          </a:p>
          <a:p>
            <a:pPr marL="0" indent="0">
              <a:buNone/>
            </a:pPr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0677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1166"/>
          </a:xfrm>
        </p:spPr>
        <p:txBody>
          <a:bodyPr/>
          <a:lstStyle/>
          <a:p>
            <a:pPr algn="ctr"/>
            <a:r>
              <a:rPr lang="es-AR" b="1" dirty="0" smtClean="0"/>
              <a:t>EL PRESENTE SIMPLE</a:t>
            </a:r>
            <a:endParaRPr lang="es-AR" b="1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602215"/>
              </p:ext>
            </p:extLst>
          </p:nvPr>
        </p:nvGraphicFramePr>
        <p:xfrm>
          <a:off x="677336" y="1584102"/>
          <a:ext cx="8711364" cy="49068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0892"/>
                <a:gridCol w="2177520"/>
                <a:gridCol w="2368054"/>
                <a:gridCol w="2314898"/>
              </a:tblGrid>
              <a:tr h="772112"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PRONOMBRE</a:t>
                      </a:r>
                    </a:p>
                    <a:p>
                      <a:pPr algn="ctr"/>
                      <a:endParaRPr lang="es-AR" sz="1600" dirty="0"/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AFIRMATIVO</a:t>
                      </a:r>
                      <a:endParaRPr lang="es-AR" sz="1600" dirty="0"/>
                    </a:p>
                  </a:txBody>
                  <a:tcPr marL="68816" marR="68816" marT="34408" marB="34408"/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NEGATIVO</a:t>
                      </a:r>
                      <a:endParaRPr lang="es-AR" sz="1600" dirty="0"/>
                    </a:p>
                  </a:txBody>
                  <a:tcPr marL="68816" marR="68816" marT="34408" marB="34408"/>
                </a:tc>
                <a:tc>
                  <a:txBody>
                    <a:bodyPr/>
                    <a:lstStyle/>
                    <a:p>
                      <a:pPr algn="ctr"/>
                      <a:endParaRPr lang="es-AR" sz="1600" dirty="0" smtClean="0"/>
                    </a:p>
                    <a:p>
                      <a:pPr algn="ctr"/>
                      <a:r>
                        <a:rPr lang="es-AR" sz="1600" dirty="0" smtClean="0"/>
                        <a:t>INTERROGATIVO</a:t>
                      </a:r>
                      <a:endParaRPr lang="es-AR" sz="1600" dirty="0"/>
                    </a:p>
                  </a:txBody>
                  <a:tcPr marL="68816" marR="68816" marT="34408" marB="34408"/>
                </a:tc>
              </a:tr>
              <a:tr h="583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I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read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 NOT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 I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r>
                        <a:rPr lang="es-ES" sz="1800" dirty="0">
                          <a:effectLst/>
                        </a:rPr>
                        <a:t>?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583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YOU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 NOT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DO you read?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8844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HE/SHE/IT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readS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DOES  NOT </a:t>
                      </a:r>
                      <a:r>
                        <a:rPr lang="es-ES" sz="1800" dirty="0" err="1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DOES he/she/it read?</a:t>
                      </a:r>
                      <a:endParaRPr lang="es-AR" sz="18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583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WE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read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NOT 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we read?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6754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YOU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NOT 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you read?</a:t>
                      </a:r>
                      <a:endParaRPr lang="es-AR" sz="18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  <a:tr h="825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THEY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read</a:t>
                      </a:r>
                      <a:endParaRPr lang="es-AR" sz="1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NOT read</a:t>
                      </a: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DO they read?</a:t>
                      </a:r>
                      <a:endParaRPr lang="es-AR" sz="1800" dirty="0">
                        <a:effectLst/>
                      </a:endParaRPr>
                    </a:p>
                    <a:p>
                      <a:pPr algn="l"/>
                      <a:r>
                        <a:rPr lang="es-AR" sz="1800" dirty="0">
                          <a:effectLst/>
                        </a:rPr>
                        <a:t>  PASADO SIMPLE   </a:t>
                      </a:r>
                      <a:endParaRPr lang="es-AR" sz="1800" dirty="0">
                        <a:solidFill>
                          <a:srgbClr val="365F9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12" marR="5161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57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986"/>
          </a:xfrm>
        </p:spPr>
        <p:txBody>
          <a:bodyPr/>
          <a:lstStyle/>
          <a:p>
            <a:pPr algn="ctr"/>
            <a:r>
              <a:rPr lang="es-AR" b="1" dirty="0" smtClean="0"/>
              <a:t>VOZ PASIVA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3697" y="1532586"/>
            <a:ext cx="8930305" cy="51000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AR" dirty="0" smtClean="0"/>
          </a:p>
          <a:p>
            <a:pPr marL="0" indent="0" algn="ctr">
              <a:buNone/>
            </a:pPr>
            <a:endParaRPr lang="es-AR" sz="2800" dirty="0"/>
          </a:p>
          <a:p>
            <a:pPr marL="0" indent="0" algn="ctr">
              <a:buNone/>
            </a:pPr>
            <a:endParaRPr lang="es-AR" sz="2800" dirty="0" smtClean="0"/>
          </a:p>
          <a:p>
            <a:pPr marL="0" indent="0" algn="ctr">
              <a:buNone/>
            </a:pPr>
            <a:endParaRPr lang="es-AR" sz="2800" dirty="0"/>
          </a:p>
          <a:p>
            <a:pPr marL="0" indent="0">
              <a:buNone/>
            </a:pPr>
            <a:r>
              <a:rPr lang="es-AR" sz="2000" dirty="0" smtClean="0"/>
              <a:t>Ejemplo:</a:t>
            </a:r>
          </a:p>
          <a:p>
            <a:pPr marL="0" indent="0" algn="just">
              <a:buNone/>
            </a:pPr>
            <a:r>
              <a:rPr lang="en-US" sz="2400" dirty="0"/>
              <a:t>Over 90 percent of all laptop computers </a:t>
            </a:r>
            <a:r>
              <a:rPr lang="en-US" sz="2400" b="1" i="1" dirty="0"/>
              <a:t>are manufactured </a:t>
            </a:r>
            <a:r>
              <a:rPr lang="en-US" sz="2400" dirty="0"/>
              <a:t>by Taiwan </a:t>
            </a:r>
            <a:r>
              <a:rPr lang="en-US" sz="2400"/>
              <a:t>based </a:t>
            </a:r>
            <a:r>
              <a:rPr lang="en-US" sz="2400" smtClean="0"/>
              <a:t>companies. </a:t>
            </a:r>
            <a:r>
              <a:rPr lang="en-US" sz="2400" dirty="0" smtClean="0"/>
              <a:t>Quanta </a:t>
            </a:r>
            <a:r>
              <a:rPr lang="en-US" sz="2400" dirty="0"/>
              <a:t>Computer is the world's largest ODM manufacturer of laptop computers with 50 million units produced per </a:t>
            </a:r>
            <a:r>
              <a:rPr lang="en-US" sz="2400" dirty="0" smtClean="0"/>
              <a:t>year.</a:t>
            </a:r>
          </a:p>
          <a:p>
            <a:pPr marL="0" indent="0" algn="just">
              <a:buNone/>
            </a:pPr>
            <a:r>
              <a:rPr lang="en-US" sz="2000" dirty="0" smtClean="0"/>
              <a:t>ODM: Original Design Manufacturer</a:t>
            </a:r>
          </a:p>
          <a:p>
            <a:pPr marL="0" indent="0" algn="just">
              <a:buNone/>
            </a:pPr>
            <a:r>
              <a:rPr lang="en-US" sz="2000" dirty="0" smtClean="0"/>
              <a:t>OEM: Original Equipment Manufacturer</a:t>
            </a:r>
            <a:endParaRPr lang="es-AR" sz="2200" dirty="0"/>
          </a:p>
        </p:txBody>
      </p:sp>
      <p:sp>
        <p:nvSpPr>
          <p:cNvPr id="6" name="Rectángulo 5"/>
          <p:cNvSpPr/>
          <p:nvPr/>
        </p:nvSpPr>
        <p:spPr>
          <a:xfrm>
            <a:off x="677334" y="1805189"/>
            <a:ext cx="8814397" cy="1300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 smtClean="0"/>
          </a:p>
          <a:p>
            <a:pPr algn="ctr"/>
            <a:r>
              <a:rPr lang="es-AR" dirty="0" smtClean="0"/>
              <a:t>           </a:t>
            </a:r>
            <a:r>
              <a:rPr lang="es-AR" sz="3200" dirty="0" smtClean="0"/>
              <a:t>BE          </a:t>
            </a:r>
            <a:r>
              <a:rPr lang="es-AR" sz="3200" dirty="0"/>
              <a:t>+         PASADO </a:t>
            </a:r>
            <a:r>
              <a:rPr lang="es-AR" sz="3200" dirty="0" smtClean="0"/>
              <a:t>PARTICIPIO</a:t>
            </a:r>
          </a:p>
          <a:p>
            <a:pPr algn="ctr"/>
            <a:r>
              <a:rPr lang="es-AR" sz="2800" dirty="0" smtClean="0"/>
              <a:t>(conjugado)                (-</a:t>
            </a:r>
            <a:r>
              <a:rPr lang="es-AR" sz="2800" dirty="0" err="1" smtClean="0"/>
              <a:t>ed</a:t>
            </a:r>
            <a:r>
              <a:rPr lang="es-AR" sz="2800" dirty="0" smtClean="0"/>
              <a:t> / 3º columna)</a:t>
            </a:r>
          </a:p>
          <a:p>
            <a:pPr algn="ctr"/>
            <a:endParaRPr lang="es-A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74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63132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743347"/>
              </p:ext>
            </p:extLst>
          </p:nvPr>
        </p:nvGraphicFramePr>
        <p:xfrm>
          <a:off x="677335" y="437883"/>
          <a:ext cx="8878791" cy="617891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866870"/>
                <a:gridCol w="2366089"/>
                <a:gridCol w="2367081"/>
                <a:gridCol w="2278751"/>
              </a:tblGrid>
              <a:tr h="3188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effectLst/>
                        </a:rPr>
                        <a:t>TIEMPO VERBAL</a:t>
                      </a:r>
                      <a:endParaRPr lang="es-A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effectLst/>
                        </a:rPr>
                        <a:t>VOZ ACTIVA</a:t>
                      </a:r>
                      <a:endParaRPr lang="es-A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effectLst/>
                        </a:rPr>
                        <a:t>VOZ PASIVA</a:t>
                      </a:r>
                      <a:endParaRPr lang="es-A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effectLst/>
                        </a:rPr>
                        <a:t>TRADUCCIÓN</a:t>
                      </a:r>
                      <a:endParaRPr lang="es-A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978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PRESENTE SIMPLE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study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studies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is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      } </a:t>
                      </a:r>
                      <a:r>
                        <a:rPr lang="es-AR" sz="1400" dirty="0" err="1">
                          <a:effectLst/>
                        </a:rPr>
                        <a:t>studied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are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es estudiada/son estudiadas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se estudia/se estudian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305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40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smtClean="0">
                          <a:effectLst/>
                        </a:rPr>
                        <a:t>PRESENTE CONTINUO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am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is</a:t>
                      </a:r>
                      <a:r>
                        <a:rPr lang="es-AR" sz="1400" dirty="0">
                          <a:effectLst/>
                        </a:rPr>
                        <a:t>     } </a:t>
                      </a:r>
                      <a:r>
                        <a:rPr lang="es-AR" sz="1400" dirty="0" err="1">
                          <a:effectLst/>
                        </a:rPr>
                        <a:t>studying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are 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am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is     } being studied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are 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está siendo estudiada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se está estudiando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978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PASADO SIMPLE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studied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Was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        } </a:t>
                      </a:r>
                      <a:r>
                        <a:rPr lang="es-AR" sz="1400" dirty="0" err="1">
                          <a:effectLst/>
                        </a:rPr>
                        <a:t>studied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Fue estudiada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Se estudió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978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smtClean="0">
                          <a:effectLst/>
                        </a:rPr>
                        <a:t>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smtClean="0">
                          <a:effectLst/>
                        </a:rPr>
                        <a:t>PASADO </a:t>
                      </a:r>
                      <a:r>
                        <a:rPr lang="es-AR" sz="1400" dirty="0">
                          <a:effectLst/>
                        </a:rPr>
                        <a:t>CONTINUO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was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        } </a:t>
                      </a:r>
                      <a:r>
                        <a:rPr lang="es-AR" sz="1400">
                          <a:effectLst/>
                        </a:rPr>
                        <a:t>studying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was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        } </a:t>
                      </a:r>
                      <a:r>
                        <a:rPr lang="es-AR" sz="1400" dirty="0" err="1">
                          <a:effectLst/>
                        </a:rPr>
                        <a:t>being</a:t>
                      </a:r>
                      <a:r>
                        <a:rPr lang="en-US" sz="1400" dirty="0">
                          <a:effectLst/>
                        </a:rPr>
                        <a:t> studied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were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Estaba siendo estudiada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se estaba estudiando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305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400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smtClean="0">
                          <a:effectLst/>
                        </a:rPr>
                        <a:t>PRESENTE PERFECTO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have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        } </a:t>
                      </a:r>
                      <a:r>
                        <a:rPr lang="es-AR" sz="1400" dirty="0" err="1">
                          <a:effectLst/>
                        </a:rPr>
                        <a:t>studied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has 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have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         } </a:t>
                      </a:r>
                      <a:r>
                        <a:rPr lang="es-AR" sz="1400" dirty="0" err="1">
                          <a:effectLst/>
                        </a:rPr>
                        <a:t>been</a:t>
                      </a:r>
                      <a:r>
                        <a:rPr lang="en-US" sz="1400" dirty="0">
                          <a:effectLst/>
                        </a:rPr>
                        <a:t> studied</a:t>
                      </a:r>
                      <a:endParaRPr lang="es-AR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has 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ha sido estudiada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se ha estudiado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978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PASADO PERFECTO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had studied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 err="1">
                          <a:effectLst/>
                        </a:rPr>
                        <a:t>had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r>
                        <a:rPr lang="es-AR" sz="1400" dirty="0" err="1">
                          <a:effectLst/>
                        </a:rPr>
                        <a:t>been</a:t>
                      </a:r>
                      <a:r>
                        <a:rPr lang="es-AR" sz="1400" dirty="0">
                          <a:effectLst/>
                        </a:rPr>
                        <a:t> </a:t>
                      </a:r>
                      <a:r>
                        <a:rPr lang="es-AR" sz="1400" dirty="0" err="1">
                          <a:effectLst/>
                        </a:rPr>
                        <a:t>studied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había sido estudiada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se había estudiado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52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FUTURO SIMPLE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will study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effectLst/>
                        </a:rPr>
                        <a:t>will be studied</a:t>
                      </a:r>
                      <a:endParaRPr lang="es-A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será estudiada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se estudiará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effectLst/>
                        </a:rPr>
                        <a:t> </a:t>
                      </a:r>
                      <a:endParaRPr lang="es-A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59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POSIBLES TRADUCCIONES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8034" y="1596982"/>
            <a:ext cx="9537998" cy="4726546"/>
          </a:xfrm>
        </p:spPr>
        <p:txBody>
          <a:bodyPr>
            <a:normAutofit lnSpcReduction="10000"/>
          </a:bodyPr>
          <a:lstStyle/>
          <a:p>
            <a:r>
              <a:rPr lang="es-AR" sz="2400" b="1" dirty="0" smtClean="0"/>
              <a:t> </a:t>
            </a:r>
            <a:r>
              <a:rPr lang="es-AR" sz="2000" dirty="0"/>
              <a:t>C</a:t>
            </a:r>
            <a:r>
              <a:rPr lang="es-AR" sz="2000" dirty="0" smtClean="0"/>
              <a:t>uando </a:t>
            </a:r>
            <a:r>
              <a:rPr lang="es-AR" sz="2000" dirty="0"/>
              <a:t>aparece el responsable de la acción:</a:t>
            </a:r>
            <a:r>
              <a:rPr lang="es-AR" sz="2000" b="1" dirty="0" smtClean="0"/>
              <a:t> </a:t>
            </a:r>
          </a:p>
          <a:p>
            <a:pPr marL="0" indent="0">
              <a:buNone/>
            </a:pPr>
            <a:r>
              <a:rPr lang="es-AR" sz="2400" b="1" dirty="0" smtClean="0"/>
              <a:t>                      BE </a:t>
            </a:r>
            <a:r>
              <a:rPr lang="es-AR" sz="2400" b="1" dirty="0"/>
              <a:t>(conjugado) + -ADO/-IDO </a:t>
            </a:r>
            <a:endParaRPr lang="es-AR" sz="2400" b="1" dirty="0" smtClean="0"/>
          </a:p>
          <a:p>
            <a:pPr marL="0" indent="0">
              <a:buNone/>
            </a:pPr>
            <a:r>
              <a:rPr lang="es-AR" sz="2000" dirty="0" smtClean="0"/>
              <a:t>	</a:t>
            </a:r>
            <a:r>
              <a:rPr lang="en-US" sz="2000" dirty="0"/>
              <a:t>Electricity</a:t>
            </a:r>
            <a:r>
              <a:rPr lang="en-US" sz="2000" b="1" dirty="0"/>
              <a:t> was invented</a:t>
            </a:r>
            <a:r>
              <a:rPr lang="en-US" sz="2000" dirty="0"/>
              <a:t> when Thomas Edison discovered the very first light </a:t>
            </a:r>
            <a:r>
              <a:rPr lang="en-US" sz="2000" dirty="0" smtClean="0"/>
              <a:t>bulb</a:t>
            </a:r>
            <a:r>
              <a:rPr lang="es-AR" sz="2000" dirty="0" smtClean="0"/>
              <a:t>. </a:t>
            </a:r>
          </a:p>
          <a:p>
            <a:pPr marL="0" indent="0">
              <a:buNone/>
            </a:pPr>
            <a:r>
              <a:rPr lang="es-AR" sz="2000" dirty="0" smtClean="0"/>
              <a:t>	</a:t>
            </a:r>
            <a:r>
              <a:rPr lang="es-AR" sz="2000" i="1" dirty="0" smtClean="0"/>
              <a:t>La electricidad </a:t>
            </a:r>
            <a:r>
              <a:rPr lang="es-AR" sz="2000" b="1" i="1" u="sng" dirty="0" smtClean="0"/>
              <a:t>fue </a:t>
            </a:r>
            <a:r>
              <a:rPr lang="es-AR" sz="2000" b="1" i="1" u="sng" dirty="0"/>
              <a:t>inventada </a:t>
            </a:r>
            <a:r>
              <a:rPr lang="es-AR" sz="2000" i="1" dirty="0" smtClean="0"/>
              <a:t> cuando </a:t>
            </a:r>
            <a:r>
              <a:rPr lang="es-AR" sz="2000" i="1" dirty="0"/>
              <a:t>T</a:t>
            </a:r>
            <a:r>
              <a:rPr lang="es-AR" sz="2000" i="1" dirty="0" smtClean="0"/>
              <a:t>homas Edison descubrió la primera bombilla (de luz)</a:t>
            </a:r>
            <a:r>
              <a:rPr lang="es-AR" sz="2000" dirty="0" smtClean="0"/>
              <a:t>.</a:t>
            </a:r>
          </a:p>
          <a:p>
            <a:pPr marL="0" indent="0">
              <a:buNone/>
            </a:pPr>
            <a:endParaRPr lang="es-AR" sz="2000" dirty="0"/>
          </a:p>
          <a:p>
            <a:r>
              <a:rPr lang="es-AR" sz="2000" dirty="0" smtClean="0"/>
              <a:t>Cuando </a:t>
            </a:r>
            <a:r>
              <a:rPr lang="es-AR" sz="2000" dirty="0"/>
              <a:t>no aparece el responsable de la acción, se prefiere una estructura </a:t>
            </a:r>
            <a:r>
              <a:rPr lang="es-AR" sz="2000" dirty="0" smtClean="0"/>
              <a:t>impersonal con “se”:</a:t>
            </a:r>
          </a:p>
          <a:p>
            <a:pPr marL="0" indent="0">
              <a:buNone/>
            </a:pPr>
            <a:r>
              <a:rPr lang="es-AR" sz="2000" dirty="0" smtClean="0"/>
              <a:t>                         “</a:t>
            </a:r>
            <a:r>
              <a:rPr lang="es-AR" sz="2400" b="1" dirty="0" smtClean="0"/>
              <a:t>SE” </a:t>
            </a:r>
            <a:r>
              <a:rPr lang="es-AR" sz="2400" b="1" dirty="0"/>
              <a:t>+ VERBO CONJUGADO </a:t>
            </a:r>
            <a:endParaRPr lang="es-AR" sz="2400" b="1" dirty="0" smtClean="0"/>
          </a:p>
          <a:p>
            <a:pPr marL="0" indent="0">
              <a:buNone/>
            </a:pPr>
            <a:r>
              <a:rPr lang="es-AR" sz="2000" dirty="0"/>
              <a:t>	</a:t>
            </a:r>
            <a:r>
              <a:rPr lang="es-AR" sz="2000" dirty="0" err="1" smtClean="0"/>
              <a:t>Different</a:t>
            </a:r>
            <a:r>
              <a:rPr lang="es-AR" sz="2000" dirty="0" smtClean="0"/>
              <a:t> </a:t>
            </a:r>
            <a:r>
              <a:rPr lang="es-AR" sz="2000" dirty="0" err="1"/>
              <a:t>alternatives</a:t>
            </a:r>
            <a:r>
              <a:rPr lang="es-AR" sz="2000" dirty="0"/>
              <a:t> </a:t>
            </a:r>
            <a:r>
              <a:rPr lang="es-AR" sz="2000" b="1" dirty="0"/>
              <a:t>are </a:t>
            </a:r>
            <a:r>
              <a:rPr lang="es-AR" sz="2000" b="1" dirty="0" err="1"/>
              <a:t>considered</a:t>
            </a:r>
            <a:r>
              <a:rPr lang="es-AR" sz="2000" dirty="0" smtClean="0"/>
              <a:t>.</a:t>
            </a:r>
          </a:p>
          <a:p>
            <a:pPr marL="0" indent="0">
              <a:buNone/>
            </a:pPr>
            <a:r>
              <a:rPr lang="es-AR" sz="2000" dirty="0"/>
              <a:t>	</a:t>
            </a:r>
            <a:r>
              <a:rPr lang="es-AR" sz="2000" b="1" i="1" u="sng" dirty="0" smtClean="0"/>
              <a:t>Se </a:t>
            </a:r>
            <a:r>
              <a:rPr lang="es-AR" sz="2000" b="1" i="1" u="sng" dirty="0"/>
              <a:t>consideran </a:t>
            </a:r>
            <a:r>
              <a:rPr lang="es-AR" sz="2000" i="1" dirty="0"/>
              <a:t>diferentes alternativas</a:t>
            </a:r>
            <a:r>
              <a:rPr lang="es-A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31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76518"/>
            <a:ext cx="8596668" cy="772733"/>
          </a:xfrm>
        </p:spPr>
        <p:txBody>
          <a:bodyPr>
            <a:normAutofit/>
          </a:bodyPr>
          <a:lstStyle/>
          <a:p>
            <a:pPr algn="ctr"/>
            <a:r>
              <a:rPr lang="es-AR" b="1" dirty="0" smtClean="0"/>
              <a:t>CASOS ESPECIALES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9245" y="1390918"/>
            <a:ext cx="9504609" cy="5009882"/>
          </a:xfrm>
        </p:spPr>
        <p:txBody>
          <a:bodyPr>
            <a:normAutofit fontScale="70000" lnSpcReduction="20000"/>
          </a:bodyPr>
          <a:lstStyle/>
          <a:p>
            <a:endParaRPr lang="es-AR" sz="2000" dirty="0" smtClean="0"/>
          </a:p>
          <a:p>
            <a:r>
              <a:rPr lang="es-ES" sz="2600" b="1" dirty="0"/>
              <a:t>POSIBILIDAD </a:t>
            </a:r>
            <a:r>
              <a:rPr lang="es-ES" sz="2600" b="1" dirty="0" smtClean="0"/>
              <a:t>DE</a:t>
            </a:r>
            <a:r>
              <a:rPr lang="es-ES" sz="2600" b="1" dirty="0"/>
              <a:t> DOS </a:t>
            </a:r>
            <a:r>
              <a:rPr lang="es-ES" sz="2600" b="1" dirty="0" smtClean="0"/>
              <a:t>SUJETOS: </a:t>
            </a:r>
          </a:p>
          <a:p>
            <a:pPr marL="0" indent="0">
              <a:buNone/>
            </a:pPr>
            <a:r>
              <a:rPr lang="es-ES" sz="2600" b="1" dirty="0" smtClean="0"/>
              <a:t>Ejemplo: </a:t>
            </a:r>
            <a:r>
              <a:rPr lang="es-ES" sz="2600" b="1" dirty="0" err="1" smtClean="0"/>
              <a:t>We</a:t>
            </a:r>
            <a:r>
              <a:rPr lang="es-ES" sz="2600" b="1" dirty="0" smtClean="0"/>
              <a:t> </a:t>
            </a:r>
            <a:r>
              <a:rPr lang="es-ES" sz="2600" b="1" dirty="0" err="1" smtClean="0"/>
              <a:t>must</a:t>
            </a:r>
            <a:r>
              <a:rPr lang="es-ES" sz="2600" b="1" dirty="0" smtClean="0"/>
              <a:t> </a:t>
            </a:r>
            <a:r>
              <a:rPr lang="es-ES" sz="2600" b="1" dirty="0" err="1" smtClean="0"/>
              <a:t>give</a:t>
            </a:r>
            <a:r>
              <a:rPr lang="es-ES" sz="2600" b="1" dirty="0" smtClean="0"/>
              <a:t> </a:t>
            </a:r>
            <a:r>
              <a:rPr lang="es-ES" sz="2600" b="1" dirty="0" err="1" smtClean="0"/>
              <a:t>users</a:t>
            </a:r>
            <a:r>
              <a:rPr lang="es-ES" sz="2600" b="1" dirty="0" smtClean="0"/>
              <a:t> </a:t>
            </a:r>
            <a:r>
              <a:rPr lang="es-ES" sz="2600" b="1" dirty="0" err="1" smtClean="0"/>
              <a:t>clear</a:t>
            </a:r>
            <a:r>
              <a:rPr lang="es-ES" sz="2600" b="1" dirty="0" smtClean="0"/>
              <a:t> </a:t>
            </a:r>
            <a:r>
              <a:rPr lang="es-ES" sz="2600" b="1" dirty="0" err="1" smtClean="0"/>
              <a:t>instructions</a:t>
            </a:r>
            <a:r>
              <a:rPr lang="es-ES" sz="2600" b="1" dirty="0" smtClean="0"/>
              <a:t>. (VA)</a:t>
            </a:r>
          </a:p>
          <a:p>
            <a:pPr marL="0" lvl="0" indent="0">
              <a:buNone/>
            </a:pPr>
            <a:r>
              <a:rPr lang="en-US" sz="2000" dirty="0" smtClean="0"/>
              <a:t>     </a:t>
            </a:r>
            <a:r>
              <a:rPr lang="en-US" sz="2400" dirty="0" smtClean="0"/>
              <a:t>- Users </a:t>
            </a:r>
            <a:r>
              <a:rPr lang="en-US" sz="2400" b="1" dirty="0"/>
              <a:t>must be given</a:t>
            </a:r>
            <a:r>
              <a:rPr lang="en-US" sz="2400" dirty="0"/>
              <a:t> clear instructions</a:t>
            </a:r>
            <a:r>
              <a:rPr lang="en-US" sz="2400" dirty="0" smtClean="0"/>
              <a:t>.</a:t>
            </a:r>
          </a:p>
          <a:p>
            <a:pPr marL="0" lv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- Clear instructions </a:t>
            </a:r>
            <a:r>
              <a:rPr lang="en-US" sz="2400" b="1" dirty="0" smtClean="0"/>
              <a:t>must be given </a:t>
            </a:r>
            <a:r>
              <a:rPr lang="en-US" sz="2400" dirty="0" smtClean="0"/>
              <a:t>to the users.</a:t>
            </a:r>
          </a:p>
          <a:p>
            <a:pPr marL="0" lvl="0" indent="0">
              <a:buNone/>
            </a:pPr>
            <a:r>
              <a:rPr lang="en-US" sz="2400" i="1" dirty="0" smtClean="0"/>
              <a:t>     a)  A </a:t>
            </a:r>
            <a:r>
              <a:rPr lang="en-US" sz="2400" i="1" dirty="0" err="1" smtClean="0"/>
              <a:t>los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usuarios</a:t>
            </a:r>
            <a:r>
              <a:rPr lang="en-US" sz="2400" i="1" dirty="0" smtClean="0"/>
              <a:t> </a:t>
            </a:r>
            <a:r>
              <a:rPr lang="en-US" sz="2400" i="1" u="sng" dirty="0" smtClean="0"/>
              <a:t>se les </a:t>
            </a:r>
            <a:r>
              <a:rPr lang="en-US" sz="2400" i="1" u="sng" dirty="0" err="1" smtClean="0"/>
              <a:t>deben</a:t>
            </a:r>
            <a:r>
              <a:rPr lang="en-US" sz="2400" i="1" u="sng" dirty="0" smtClean="0"/>
              <a:t> </a:t>
            </a:r>
            <a:r>
              <a:rPr lang="en-US" sz="2400" i="1" u="sng" dirty="0" err="1" smtClean="0"/>
              <a:t>dar</a:t>
            </a:r>
            <a:r>
              <a:rPr lang="en-US" sz="2400" i="1" u="sng" dirty="0" smtClean="0"/>
              <a:t> </a:t>
            </a:r>
            <a:r>
              <a:rPr lang="en-US" sz="2400" i="1" dirty="0" err="1" smtClean="0"/>
              <a:t>instrucciones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claras</a:t>
            </a:r>
            <a:r>
              <a:rPr lang="en-US" sz="2400" b="1" dirty="0" smtClean="0"/>
              <a:t>.</a:t>
            </a:r>
          </a:p>
          <a:p>
            <a:pPr marL="0" lv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b)  </a:t>
            </a:r>
            <a:r>
              <a:rPr lang="en-US" sz="2400" i="1" dirty="0" err="1" smtClean="0"/>
              <a:t>Instrucciones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claras</a:t>
            </a:r>
            <a:r>
              <a:rPr lang="en-US" sz="2400" i="1" dirty="0" smtClean="0"/>
              <a:t> </a:t>
            </a:r>
            <a:r>
              <a:rPr lang="en-US" sz="2400" i="1" u="sng" dirty="0" err="1" smtClean="0"/>
              <a:t>deben</a:t>
            </a:r>
            <a:r>
              <a:rPr lang="en-US" sz="2400" i="1" u="sng" dirty="0" smtClean="0"/>
              <a:t> </a:t>
            </a:r>
            <a:r>
              <a:rPr lang="en-US" sz="2400" i="1" u="sng" dirty="0" err="1" smtClean="0"/>
              <a:t>ser</a:t>
            </a:r>
            <a:r>
              <a:rPr lang="en-US" sz="2400" i="1" u="sng" dirty="0" smtClean="0"/>
              <a:t> </a:t>
            </a:r>
            <a:r>
              <a:rPr lang="en-US" sz="2400" i="1" u="sng" dirty="0" err="1" smtClean="0"/>
              <a:t>dadas</a:t>
            </a:r>
            <a:r>
              <a:rPr lang="en-US" sz="2400" i="1" u="sng" dirty="0" smtClean="0"/>
              <a:t>/se </a:t>
            </a:r>
            <a:r>
              <a:rPr lang="en-US" sz="2400" i="1" u="sng" dirty="0" err="1" smtClean="0"/>
              <a:t>deben</a:t>
            </a:r>
            <a:r>
              <a:rPr lang="en-US" sz="2400" i="1" u="sng" dirty="0" smtClean="0"/>
              <a:t> </a:t>
            </a:r>
            <a:r>
              <a:rPr lang="en-US" sz="2400" i="1" u="sng" dirty="0" err="1" smtClean="0"/>
              <a:t>dar</a:t>
            </a:r>
            <a:r>
              <a:rPr lang="en-US" sz="2400" i="1" u="sng" dirty="0" smtClean="0"/>
              <a:t> </a:t>
            </a:r>
            <a:r>
              <a:rPr lang="en-US" sz="2400" i="1" dirty="0" smtClean="0"/>
              <a:t>a </a:t>
            </a:r>
            <a:r>
              <a:rPr lang="en-US" sz="2400" i="1" dirty="0" err="1" smtClean="0"/>
              <a:t>los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usuarios</a:t>
            </a:r>
            <a:r>
              <a:rPr lang="en-US" sz="2400" i="1" dirty="0" smtClean="0"/>
              <a:t>.</a:t>
            </a:r>
          </a:p>
          <a:p>
            <a:pPr marL="0" indent="0">
              <a:buNone/>
            </a:pPr>
            <a:endParaRPr lang="es-AR" sz="2000" b="1" dirty="0"/>
          </a:p>
          <a:p>
            <a:r>
              <a:rPr lang="es-ES" sz="2600" b="1" dirty="0"/>
              <a:t>VOZ PASIVA + </a:t>
            </a:r>
            <a:r>
              <a:rPr lang="es-ES" sz="2600" b="1" dirty="0" smtClean="0"/>
              <a:t>VI (VERBO EN INFINITIVO)</a:t>
            </a:r>
            <a:endParaRPr lang="es-AR" sz="2600" b="1" dirty="0"/>
          </a:p>
          <a:p>
            <a:pPr marL="0" indent="0">
              <a:buNone/>
            </a:pPr>
            <a:r>
              <a:rPr lang="es-AR" sz="2000" dirty="0" smtClean="0"/>
              <a:t>-  </a:t>
            </a:r>
            <a:r>
              <a:rPr lang="es-AR" sz="2600" dirty="0" err="1"/>
              <a:t>It</a:t>
            </a:r>
            <a:r>
              <a:rPr lang="es-AR" sz="2600" dirty="0"/>
              <a:t> </a:t>
            </a:r>
            <a:r>
              <a:rPr lang="es-AR" sz="2600" b="1" dirty="0" err="1"/>
              <a:t>is</a:t>
            </a:r>
            <a:r>
              <a:rPr lang="es-AR" sz="2600" b="1" dirty="0"/>
              <a:t> </a:t>
            </a:r>
            <a:r>
              <a:rPr lang="es-AR" sz="2600" b="1" dirty="0" err="1"/>
              <a:t>assumed</a:t>
            </a:r>
            <a:r>
              <a:rPr lang="es-AR" sz="2600" b="1" dirty="0"/>
              <a:t> </a:t>
            </a:r>
            <a:r>
              <a:rPr lang="es-AR" sz="2600" dirty="0"/>
              <a:t>to be </a:t>
            </a:r>
            <a:r>
              <a:rPr lang="es-AR" sz="2600" dirty="0" err="1"/>
              <a:t>symbolic</a:t>
            </a:r>
            <a:r>
              <a:rPr lang="es-AR" sz="2600" dirty="0" smtClean="0"/>
              <a:t>.</a:t>
            </a:r>
          </a:p>
          <a:p>
            <a:pPr marL="0" indent="0">
              <a:buNone/>
            </a:pPr>
            <a:r>
              <a:rPr lang="es-AR" sz="2600" dirty="0" smtClean="0"/>
              <a:t>   </a:t>
            </a:r>
            <a:r>
              <a:rPr lang="es-AR" sz="2600" i="1" u="sng" dirty="0" smtClean="0"/>
              <a:t>Se </a:t>
            </a:r>
            <a:r>
              <a:rPr lang="es-AR" sz="2600" i="1" u="sng" dirty="0"/>
              <a:t>supone que es </a:t>
            </a:r>
            <a:r>
              <a:rPr lang="es-AR" sz="2600" i="1" dirty="0"/>
              <a:t>simbólico</a:t>
            </a:r>
            <a:r>
              <a:rPr lang="es-AR" sz="2600" dirty="0"/>
              <a:t>. </a:t>
            </a:r>
            <a:endParaRPr lang="es-AR" sz="2600" dirty="0" smtClean="0"/>
          </a:p>
          <a:p>
            <a:pPr marL="0" indent="0">
              <a:buNone/>
            </a:pPr>
            <a:endParaRPr lang="es-AR" sz="2600" dirty="0"/>
          </a:p>
          <a:p>
            <a:pPr marL="0" indent="0">
              <a:buNone/>
            </a:pPr>
            <a:r>
              <a:rPr lang="es-AR" sz="2600" dirty="0" smtClean="0"/>
              <a:t>- </a:t>
            </a:r>
            <a:r>
              <a:rPr lang="es-AR" sz="2600" dirty="0" err="1" smtClean="0"/>
              <a:t>The</a:t>
            </a:r>
            <a:r>
              <a:rPr lang="es-AR" sz="2600" dirty="0" smtClean="0"/>
              <a:t> </a:t>
            </a:r>
            <a:r>
              <a:rPr lang="es-AR" sz="2600" dirty="0" err="1" smtClean="0"/>
              <a:t>signal</a:t>
            </a:r>
            <a:r>
              <a:rPr lang="es-AR" sz="2600" dirty="0" smtClean="0"/>
              <a:t> </a:t>
            </a:r>
            <a:r>
              <a:rPr lang="es-AR" sz="2600" b="1" dirty="0" err="1" smtClean="0"/>
              <a:t>is</a:t>
            </a:r>
            <a:r>
              <a:rPr lang="es-AR" sz="2600" b="1" dirty="0" smtClean="0"/>
              <a:t> </a:t>
            </a:r>
            <a:r>
              <a:rPr lang="es-AR" sz="2600" b="1" dirty="0" err="1"/>
              <a:t>said</a:t>
            </a:r>
            <a:r>
              <a:rPr lang="es-AR" sz="2600" b="1" dirty="0"/>
              <a:t> to be </a:t>
            </a:r>
            <a:r>
              <a:rPr lang="es-AR" sz="2600" dirty="0" err="1" smtClean="0"/>
              <a:t>electric</a:t>
            </a:r>
            <a:r>
              <a:rPr lang="es-AR" sz="2600" dirty="0" smtClean="0"/>
              <a:t>.</a:t>
            </a:r>
          </a:p>
          <a:p>
            <a:pPr marL="0" indent="0">
              <a:buNone/>
            </a:pPr>
            <a:r>
              <a:rPr lang="es-AR" sz="2600" i="1" dirty="0" smtClean="0"/>
              <a:t>   </a:t>
            </a:r>
            <a:r>
              <a:rPr lang="es-AR" sz="2600" i="1" u="sng" dirty="0" smtClean="0"/>
              <a:t>Se </a:t>
            </a:r>
            <a:r>
              <a:rPr lang="es-AR" sz="2600" i="1" u="sng" dirty="0"/>
              <a:t>dice que</a:t>
            </a:r>
            <a:r>
              <a:rPr lang="es-AR" sz="2600" i="1" dirty="0"/>
              <a:t> </a:t>
            </a:r>
            <a:r>
              <a:rPr lang="es-AR" sz="2600" i="1" dirty="0" smtClean="0"/>
              <a:t> la señal </a:t>
            </a:r>
            <a:r>
              <a:rPr lang="es-AR" sz="2600" i="1" u="sng" dirty="0" smtClean="0"/>
              <a:t>es</a:t>
            </a:r>
            <a:r>
              <a:rPr lang="es-AR" sz="2600" i="1" dirty="0" smtClean="0"/>
              <a:t> eléctrica.</a:t>
            </a:r>
            <a:endParaRPr lang="es-AR" sz="2600" i="1" dirty="0"/>
          </a:p>
        </p:txBody>
      </p:sp>
    </p:spTree>
    <p:extLst>
      <p:ext uri="{BB962C8B-B14F-4D97-AF65-F5344CB8AC3E}">
        <p14:creationId xmlns:p14="http://schemas.microsoft.com/office/powerpoint/2010/main" val="59739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34851"/>
            <a:ext cx="8596668" cy="373487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 smtClean="0"/>
              <a:t>CASOS ESPECIALES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7029" y="1159099"/>
            <a:ext cx="9509856" cy="5357610"/>
          </a:xfrm>
        </p:spPr>
        <p:txBody>
          <a:bodyPr/>
          <a:lstStyle/>
          <a:p>
            <a:r>
              <a:rPr lang="es-ES" b="1" dirty="0"/>
              <a:t>VERBO </a:t>
            </a:r>
            <a:r>
              <a:rPr lang="es-ES" b="1" dirty="0" smtClean="0"/>
              <a:t>CONJUGADO  </a:t>
            </a:r>
            <a:r>
              <a:rPr lang="es-AR" b="1" dirty="0" smtClean="0"/>
              <a:t> </a:t>
            </a:r>
            <a:r>
              <a:rPr lang="es-ES" b="1" dirty="0" smtClean="0"/>
              <a:t>+   OBJETO </a:t>
            </a:r>
            <a:r>
              <a:rPr lang="es-AR" b="1" dirty="0" smtClean="0"/>
              <a:t> </a:t>
            </a:r>
            <a:r>
              <a:rPr lang="es-ES" b="1" dirty="0" smtClean="0"/>
              <a:t>+</a:t>
            </a:r>
            <a:r>
              <a:rPr lang="es-AR" dirty="0"/>
              <a:t> </a:t>
            </a:r>
            <a:r>
              <a:rPr lang="es-AR" dirty="0" smtClean="0"/>
              <a:t>  </a:t>
            </a:r>
            <a:r>
              <a:rPr lang="es-ES" b="1" dirty="0" smtClean="0"/>
              <a:t>VERBO EN INFINITIVO</a:t>
            </a:r>
          </a:p>
          <a:p>
            <a:pPr marL="0" indent="0">
              <a:buNone/>
            </a:pPr>
            <a:r>
              <a:rPr lang="en-US" dirty="0" smtClean="0"/>
              <a:t>- Differences </a:t>
            </a:r>
            <a:r>
              <a:rPr lang="en-US" dirty="0"/>
              <a:t>in solution concentration </a:t>
            </a:r>
            <a:r>
              <a:rPr lang="en-US" b="1" i="1" dirty="0"/>
              <a:t>make</a:t>
            </a:r>
            <a:r>
              <a:rPr lang="en-US" dirty="0"/>
              <a:t> electrical potential differences </a:t>
            </a:r>
            <a:r>
              <a:rPr lang="en-US" b="1" i="1" dirty="0"/>
              <a:t>to be produced</a:t>
            </a:r>
            <a:r>
              <a:rPr lang="en-US" i="1" dirty="0" smtClean="0"/>
              <a:t>.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err="1" smtClean="0"/>
              <a:t>Diferencias</a:t>
            </a:r>
            <a:r>
              <a:rPr lang="en-US" i="1" dirty="0" smtClean="0"/>
              <a:t> </a:t>
            </a:r>
            <a:r>
              <a:rPr lang="en-US" i="1" dirty="0" err="1" smtClean="0"/>
              <a:t>en</a:t>
            </a:r>
            <a:r>
              <a:rPr lang="en-US" i="1" dirty="0" smtClean="0"/>
              <a:t> la </a:t>
            </a:r>
            <a:r>
              <a:rPr lang="en-US" i="1" dirty="0" err="1" smtClean="0"/>
              <a:t>concentración</a:t>
            </a:r>
            <a:r>
              <a:rPr lang="en-US" i="1" dirty="0" smtClean="0"/>
              <a:t> de la </a:t>
            </a:r>
            <a:r>
              <a:rPr lang="en-US" i="1" dirty="0" err="1" smtClean="0"/>
              <a:t>solución</a:t>
            </a:r>
            <a:r>
              <a:rPr lang="en-US" i="1" dirty="0" smtClean="0"/>
              <a:t> </a:t>
            </a:r>
            <a:r>
              <a:rPr lang="en-US" b="1" i="1" u="sng" dirty="0" err="1" smtClean="0"/>
              <a:t>hacen</a:t>
            </a:r>
            <a:r>
              <a:rPr lang="en-US" b="1" i="1" u="sng" dirty="0" smtClean="0"/>
              <a:t> que se </a:t>
            </a:r>
            <a:r>
              <a:rPr lang="en-US" b="1" i="1" u="sng" dirty="0" err="1" smtClean="0"/>
              <a:t>produzcan</a:t>
            </a:r>
            <a:r>
              <a:rPr lang="en-US" i="1" u="sng" dirty="0" smtClean="0"/>
              <a:t>  </a:t>
            </a:r>
            <a:r>
              <a:rPr lang="en-US" i="1" dirty="0" err="1" smtClean="0"/>
              <a:t>diferencias</a:t>
            </a:r>
            <a:r>
              <a:rPr lang="en-US" i="1" dirty="0" smtClean="0"/>
              <a:t> de </a:t>
            </a:r>
            <a:r>
              <a:rPr lang="en-US" i="1" dirty="0" err="1" smtClean="0"/>
              <a:t>potencial</a:t>
            </a: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r>
              <a:rPr lang="es-ES" b="1" dirty="0"/>
              <a:t>VERBO </a:t>
            </a:r>
            <a:r>
              <a:rPr lang="es-ES" b="1" dirty="0" smtClean="0"/>
              <a:t>CONJUGADO</a:t>
            </a:r>
            <a:r>
              <a:rPr lang="es-AR" b="1" dirty="0"/>
              <a:t> </a:t>
            </a:r>
            <a:r>
              <a:rPr lang="es-AR" b="1" dirty="0" smtClean="0"/>
              <a:t> </a:t>
            </a:r>
            <a:r>
              <a:rPr lang="es-ES" b="1" dirty="0" smtClean="0"/>
              <a:t>+  “FOR”  +  OBJETO   +</a:t>
            </a:r>
            <a:r>
              <a:rPr lang="es-AR" dirty="0"/>
              <a:t> </a:t>
            </a:r>
            <a:r>
              <a:rPr lang="es-AR" dirty="0" smtClean="0"/>
              <a:t>  </a:t>
            </a:r>
            <a:r>
              <a:rPr lang="es-ES" b="1" dirty="0" smtClean="0"/>
              <a:t>VERBO </a:t>
            </a:r>
            <a:r>
              <a:rPr lang="es-ES" b="1" dirty="0"/>
              <a:t>EN INFINITIVO</a:t>
            </a:r>
            <a:endParaRPr lang="es-AR" dirty="0"/>
          </a:p>
          <a:p>
            <a:pPr marL="0" indent="0">
              <a:buNone/>
            </a:pPr>
            <a:r>
              <a:rPr lang="en-US" b="1" dirty="0" smtClean="0"/>
              <a:t>-   For</a:t>
            </a:r>
            <a:r>
              <a:rPr lang="en-US" dirty="0" smtClean="0"/>
              <a:t> </a:t>
            </a:r>
            <a:r>
              <a:rPr lang="en-US" dirty="0"/>
              <a:t>mathematical models </a:t>
            </a:r>
            <a:r>
              <a:rPr lang="en-US" b="1" dirty="0"/>
              <a:t>to be</a:t>
            </a:r>
            <a:r>
              <a:rPr lang="en-US" dirty="0"/>
              <a:t> properly </a:t>
            </a:r>
            <a:r>
              <a:rPr lang="en-US" b="1" dirty="0"/>
              <a:t>applied</a:t>
            </a:r>
            <a:r>
              <a:rPr lang="en-US" dirty="0"/>
              <a:t>, control points </a:t>
            </a:r>
            <a:r>
              <a:rPr lang="en-US" b="1" dirty="0"/>
              <a:t>must be distributed</a:t>
            </a:r>
            <a:r>
              <a:rPr lang="en-US" dirty="0"/>
              <a:t> at random in a limited area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i="1" dirty="0" smtClean="0"/>
              <a:t>Para </a:t>
            </a:r>
            <a:r>
              <a:rPr lang="en-US" i="1" dirty="0" err="1" smtClean="0"/>
              <a:t>aplicar</a:t>
            </a:r>
            <a:r>
              <a:rPr lang="en-US" i="1" dirty="0" smtClean="0"/>
              <a:t> </a:t>
            </a:r>
            <a:r>
              <a:rPr lang="en-US" i="1" dirty="0" err="1" smtClean="0"/>
              <a:t>modelos</a:t>
            </a:r>
            <a:r>
              <a:rPr lang="en-US" i="1" dirty="0" smtClean="0"/>
              <a:t> </a:t>
            </a:r>
            <a:r>
              <a:rPr lang="en-US" i="1" dirty="0" err="1" smtClean="0"/>
              <a:t>matemáticos</a:t>
            </a:r>
            <a:r>
              <a:rPr lang="en-US" i="1" dirty="0" smtClean="0"/>
              <a:t> de </a:t>
            </a:r>
            <a:r>
              <a:rPr lang="en-US" i="1" dirty="0" err="1" smtClean="0"/>
              <a:t>manera</a:t>
            </a:r>
            <a:r>
              <a:rPr lang="en-US" i="1" dirty="0" smtClean="0"/>
              <a:t> </a:t>
            </a:r>
            <a:r>
              <a:rPr lang="en-US" i="1" dirty="0" err="1" smtClean="0"/>
              <a:t>apropiada</a:t>
            </a:r>
            <a:r>
              <a:rPr lang="en-US" i="1" dirty="0" smtClean="0"/>
              <a:t>, se </a:t>
            </a:r>
            <a:r>
              <a:rPr lang="en-US" i="1" dirty="0" err="1" smtClean="0"/>
              <a:t>deben</a:t>
            </a:r>
            <a:r>
              <a:rPr lang="en-US" i="1" dirty="0" smtClean="0"/>
              <a:t> </a:t>
            </a:r>
            <a:r>
              <a:rPr lang="en-US" i="1" dirty="0" err="1" smtClean="0"/>
              <a:t>distribuir</a:t>
            </a:r>
            <a:r>
              <a:rPr lang="en-US" i="1" dirty="0" smtClean="0"/>
              <a:t> </a:t>
            </a:r>
            <a:r>
              <a:rPr lang="en-US" i="1" dirty="0" err="1" smtClean="0"/>
              <a:t>puntos</a:t>
            </a:r>
            <a:r>
              <a:rPr lang="en-US" i="1" dirty="0" smtClean="0"/>
              <a:t> de control al azar </a:t>
            </a:r>
            <a:r>
              <a:rPr lang="en-US" i="1" dirty="0" err="1" smtClean="0"/>
              <a:t>dentro</a:t>
            </a:r>
            <a:r>
              <a:rPr lang="en-US" i="1" dirty="0" smtClean="0"/>
              <a:t> de un </a:t>
            </a:r>
            <a:r>
              <a:rPr lang="en-US" i="1" dirty="0" err="1" smtClean="0"/>
              <a:t>área</a:t>
            </a:r>
            <a:r>
              <a:rPr lang="en-US" i="1" dirty="0" smtClean="0"/>
              <a:t> </a:t>
            </a:r>
            <a:r>
              <a:rPr lang="en-US" i="1" dirty="0" err="1" smtClean="0"/>
              <a:t>limitada</a:t>
            </a:r>
            <a:r>
              <a:rPr lang="en-US" dirty="0" smtClean="0"/>
              <a:t>.</a:t>
            </a:r>
            <a:endParaRPr lang="es-AR" dirty="0"/>
          </a:p>
          <a:p>
            <a:pPr marL="0" indent="0">
              <a:buNone/>
            </a:pPr>
            <a:r>
              <a:rPr lang="en-US" dirty="0" smtClean="0"/>
              <a:t>- Under </a:t>
            </a:r>
            <a:r>
              <a:rPr lang="en-US" dirty="0"/>
              <a:t>most practical conditions, it </a:t>
            </a:r>
            <a:r>
              <a:rPr lang="en-US" b="1" dirty="0"/>
              <a:t>takes</a:t>
            </a:r>
            <a:r>
              <a:rPr lang="en-US" dirty="0"/>
              <a:t> an average of five minutes </a:t>
            </a:r>
            <a:r>
              <a:rPr lang="en-US" b="1" dirty="0"/>
              <a:t>for</a:t>
            </a:r>
            <a:r>
              <a:rPr lang="en-US" dirty="0"/>
              <a:t> the </a:t>
            </a:r>
            <a:r>
              <a:rPr lang="en-US" dirty="0" smtClean="0"/>
              <a:t>results </a:t>
            </a:r>
            <a:r>
              <a:rPr lang="en-US" b="1" dirty="0"/>
              <a:t>to be evidenced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s-AR" i="1" dirty="0" smtClean="0"/>
              <a:t>Bajo la mayoría de las condiciones prácticas, lleva un promedio de diez minutos para que se evidencien los resultados</a:t>
            </a:r>
            <a:r>
              <a:rPr lang="es-AR" dirty="0" smtClean="0"/>
              <a:t>.</a:t>
            </a:r>
            <a:endParaRPr lang="es-AR" dirty="0"/>
          </a:p>
          <a:p>
            <a:pPr marL="0" indent="0">
              <a:buNone/>
            </a:pP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315622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19977" cy="1320800"/>
          </a:xfrm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96923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6000" dirty="0" smtClean="0"/>
              <a:t>THANKS!</a:t>
            </a:r>
          </a:p>
          <a:p>
            <a:pPr marL="0" indent="0" algn="ctr">
              <a:buNone/>
            </a:pPr>
            <a:endParaRPr lang="es-AR" sz="6000" dirty="0"/>
          </a:p>
          <a:p>
            <a:pPr marL="0" indent="0" algn="ctr">
              <a:buNone/>
            </a:pPr>
            <a:endParaRPr lang="es-AR" sz="6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70" y="3988339"/>
            <a:ext cx="1850562" cy="22832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69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6E45A29B641E459FF137569A0F5FF9" ma:contentTypeVersion="4" ma:contentTypeDescription="Crear nuevo documento." ma:contentTypeScope="" ma:versionID="d2cc56b9c178553dc8dae7cbf609185d">
  <xsd:schema xmlns:xsd="http://www.w3.org/2001/XMLSchema" xmlns:xs="http://www.w3.org/2001/XMLSchema" xmlns:p="http://schemas.microsoft.com/office/2006/metadata/properties" xmlns:ns2="22dc5ea4-9cdd-4970-8bc4-2ea26828404c" targetNamespace="http://schemas.microsoft.com/office/2006/metadata/properties" ma:root="true" ma:fieldsID="d0fdf1282d8307d7848beffaf71b994c" ns2:_="">
    <xsd:import namespace="22dc5ea4-9cdd-4970-8bc4-2ea2682840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c5ea4-9cdd-4970-8bc4-2ea268284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2D510A-9BAB-42A4-B5C2-43147E170FA7}"/>
</file>

<file path=customXml/itemProps2.xml><?xml version="1.0" encoding="utf-8"?>
<ds:datastoreItem xmlns:ds="http://schemas.openxmlformats.org/officeDocument/2006/customXml" ds:itemID="{45365630-5559-4E00-A6B0-A27ED0B3DD5A}"/>
</file>

<file path=customXml/itemProps3.xml><?xml version="1.0" encoding="utf-8"?>
<ds:datastoreItem xmlns:ds="http://schemas.openxmlformats.org/officeDocument/2006/customXml" ds:itemID="{5C0E29A7-C581-45A4-80E9-D6B25ECF5259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4498</TotalTime>
  <Words>624</Words>
  <Application>Microsoft Office PowerPoint</Application>
  <PresentationFormat>Panorámica</PresentationFormat>
  <Paragraphs>184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Faceta</vt:lpstr>
      <vt:lpstr>INGLÉS I</vt:lpstr>
      <vt:lpstr>LA ORACIÓN SIMPLE</vt:lpstr>
      <vt:lpstr>LOS VERBOS EN PRESENTE (VOZ ACTIVA)</vt:lpstr>
      <vt:lpstr>EL PRESENTE SIMPLE</vt:lpstr>
      <vt:lpstr>VOZ PASIVA</vt:lpstr>
      <vt:lpstr>Presentación de PowerPoint</vt:lpstr>
      <vt:lpstr>POSIBLES TRADUCCIONES</vt:lpstr>
      <vt:lpstr>CASOS ESPECIALES</vt:lpstr>
      <vt:lpstr>CASOS ESPECIALES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INGLÉS I</dc:title>
  <dc:creator>Usuario</dc:creator>
  <cp:lastModifiedBy>Usuario</cp:lastModifiedBy>
  <cp:revision>49</cp:revision>
  <dcterms:created xsi:type="dcterms:W3CDTF">2020-03-27T22:25:37Z</dcterms:created>
  <dcterms:modified xsi:type="dcterms:W3CDTF">2022-04-07T15:00:14Z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0x010100C26E45A29B641E459FF137569A0F5FF9</vt:lpwstr>
  </property>
</Properties>
</file>
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10.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13.xml" ContentType="application/vnd.openxmlformats-officedocument.presentationml.slideLayout+xml"/>
  <Override PartName="/ppt/slideLayouts/slideLayout16.xml" ContentType="application/vnd.openxmlformats-officedocument.presentationml.slideLayout+xml"/>
  <Override PartName="/ppt/slideLayouts/slideLayout12.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1" r:id="rId4"/>
    <p:sldId id="262" r:id="rId5"/>
    <p:sldId id="263" r:id="rId6"/>
    <p:sldId id="268" r:id="rId7"/>
    <p:sldId id="266" r:id="rId8"/>
    <p:sldId id="264" r:id="rId9"/>
    <p:sldId id="269"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62" autoAdjust="0"/>
    <p:restoredTop sz="94660"/>
  </p:normalViewPr>
  <p:slideViewPr>
    <p:cSldViewPr snapToGrid="0">
      <p:cViewPr varScale="1">
        <p:scale>
          <a:sx n="74" d="100"/>
          <a:sy n="74" d="100"/>
        </p:scale>
        <p:origin x="49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3/12/2022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42A54C80-263E-416B-A8E0-580EDEADCBDC}" type="datetimeFigureOut">
              <a:rPr lang="en-US" dirty="0"/>
              <a:t>3/12/2022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3/12/2022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3/12/2022</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www.blackwell-synergy.com/doi/full/10.1111/j.1365-2575.2006.00217.x?prevSearch=" TargetMode="External"/><Relationship Id="rId2" Type="http://schemas.openxmlformats.org/officeDocument/2006/relationships/hyperlink" Target="http://en.wikipedia.org/wiki/Data_Processor"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AR" dirty="0" smtClean="0"/>
              <a:t>INGLÉS I</a:t>
            </a:r>
            <a:endParaRPr lang="es-AR" dirty="0"/>
          </a:p>
        </p:txBody>
      </p:sp>
      <p:sp>
        <p:nvSpPr>
          <p:cNvPr id="3" name="Subtítulo 2"/>
          <p:cNvSpPr>
            <a:spLocks noGrp="1"/>
          </p:cNvSpPr>
          <p:nvPr>
            <p:ph type="subTitle" idx="1"/>
          </p:nvPr>
        </p:nvSpPr>
        <p:spPr/>
        <p:txBody>
          <a:bodyPr>
            <a:normAutofit lnSpcReduction="10000"/>
          </a:bodyPr>
          <a:lstStyle/>
          <a:p>
            <a:endParaRPr lang="es-AR" dirty="0" smtClean="0"/>
          </a:p>
          <a:p>
            <a:r>
              <a:rPr lang="es-AR" dirty="0" smtClean="0"/>
              <a:t>Prof. Nidia S. </a:t>
            </a:r>
            <a:r>
              <a:rPr lang="es-AR" dirty="0" err="1" smtClean="0"/>
              <a:t>Redonder</a:t>
            </a:r>
            <a:endParaRPr lang="es-AR" dirty="0"/>
          </a:p>
          <a:p>
            <a:r>
              <a:rPr lang="es-AR" dirty="0" smtClean="0"/>
              <a:t>UTN - FRSF</a:t>
            </a:r>
            <a:endParaRPr lang="es-AR" dirty="0"/>
          </a:p>
        </p:txBody>
      </p:sp>
    </p:spTree>
    <p:extLst>
      <p:ext uri="{BB962C8B-B14F-4D97-AF65-F5344CB8AC3E}">
        <p14:creationId xmlns:p14="http://schemas.microsoft.com/office/powerpoint/2010/main" val="358421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691166"/>
          </a:xfrm>
        </p:spPr>
        <p:txBody>
          <a:bodyPr/>
          <a:lstStyle/>
          <a:p>
            <a:pPr algn="ctr"/>
            <a:r>
              <a:rPr lang="es-AR" altLang="es-AR" b="1" dirty="0"/>
              <a:t>EL TEXTO EN INGLÉS</a:t>
            </a:r>
            <a:endParaRPr lang="es-AR" dirty="0"/>
          </a:p>
        </p:txBody>
      </p:sp>
      <p:sp>
        <p:nvSpPr>
          <p:cNvPr id="3" name="Marcador de contenido 2"/>
          <p:cNvSpPr>
            <a:spLocks noGrp="1"/>
          </p:cNvSpPr>
          <p:nvPr>
            <p:ph idx="1"/>
          </p:nvPr>
        </p:nvSpPr>
        <p:spPr>
          <a:xfrm>
            <a:off x="677333" y="1478605"/>
            <a:ext cx="9011415" cy="5000016"/>
          </a:xfrm>
        </p:spPr>
        <p:txBody>
          <a:bodyPr>
            <a:noAutofit/>
          </a:bodyPr>
          <a:lstStyle/>
          <a:p>
            <a:pPr>
              <a:buFont typeface="Courier New" pitchFamily="49" charset="0"/>
              <a:buChar char="o"/>
              <a:defRPr/>
            </a:pPr>
            <a:r>
              <a:rPr lang="es-AR" sz="2800" b="1" dirty="0"/>
              <a:t>PÁRRAFOS           </a:t>
            </a:r>
            <a:r>
              <a:rPr lang="es-AR" sz="2800" b="1" dirty="0" smtClean="0"/>
              <a:t> </a:t>
            </a:r>
            <a:r>
              <a:rPr lang="es-AR" sz="2800" b="1" dirty="0"/>
              <a:t>ORACIONES</a:t>
            </a:r>
          </a:p>
          <a:p>
            <a:pPr>
              <a:buFont typeface="Courier New" pitchFamily="49" charset="0"/>
              <a:buChar char="o"/>
              <a:defRPr/>
            </a:pPr>
            <a:endParaRPr lang="es-AR" sz="2800" b="1" dirty="0" smtClean="0"/>
          </a:p>
          <a:p>
            <a:pPr>
              <a:buFont typeface="Courier New" pitchFamily="49" charset="0"/>
              <a:buChar char="o"/>
              <a:defRPr/>
            </a:pPr>
            <a:r>
              <a:rPr lang="es-AR" sz="2800" b="1" dirty="0" smtClean="0"/>
              <a:t>ORACIÓN</a:t>
            </a:r>
          </a:p>
          <a:p>
            <a:r>
              <a:rPr lang="en-US" sz="2200" b="1" dirty="0"/>
              <a:t>Simple</a:t>
            </a:r>
            <a:r>
              <a:rPr lang="en-US" sz="2200" dirty="0"/>
              <a:t>:  </a:t>
            </a:r>
            <a:r>
              <a:rPr lang="en-US" sz="2200" b="1" i="1" u="sng" dirty="0" smtClean="0"/>
              <a:t>Electrical </a:t>
            </a:r>
            <a:r>
              <a:rPr lang="en-US" sz="2200" b="1" i="1" u="sng" dirty="0"/>
              <a:t>engineers</a:t>
            </a:r>
            <a:r>
              <a:rPr lang="en-US" sz="2200" i="1" dirty="0"/>
              <a:t> design, construct, supervise, operate and maintain </a:t>
            </a:r>
            <a:r>
              <a:rPr lang="en-US" sz="2200" i="1" dirty="0" smtClean="0"/>
              <a:t>small and large</a:t>
            </a:r>
            <a:r>
              <a:rPr lang="en-US" sz="2200" i="1" dirty="0"/>
              <a:t> </a:t>
            </a:r>
            <a:r>
              <a:rPr lang="en-US" sz="2200" b="1" i="1" dirty="0" smtClean="0"/>
              <a:t>electrical</a:t>
            </a:r>
            <a:r>
              <a:rPr lang="en-US" sz="2200" i="1" dirty="0"/>
              <a:t> projects.</a:t>
            </a:r>
            <a:endParaRPr lang="en-US" sz="2200" dirty="0"/>
          </a:p>
          <a:p>
            <a:r>
              <a:rPr lang="en-US" sz="2200" b="1" dirty="0" err="1"/>
              <a:t>Compuesta</a:t>
            </a:r>
            <a:r>
              <a:rPr lang="en-US" sz="2200" dirty="0"/>
              <a:t>: </a:t>
            </a:r>
            <a:r>
              <a:rPr lang="en-US" sz="2200" i="1" dirty="0"/>
              <a:t> </a:t>
            </a:r>
            <a:r>
              <a:rPr lang="en-US" sz="2200" b="1" i="1" dirty="0" smtClean="0"/>
              <a:t>Information Systems </a:t>
            </a:r>
            <a:r>
              <a:rPr lang="en-US" sz="2200" b="1" i="1" dirty="0"/>
              <a:t>engineers</a:t>
            </a:r>
            <a:r>
              <a:rPr lang="en-US" sz="2200" i="1" dirty="0"/>
              <a:t> play an extremely </a:t>
            </a:r>
            <a:r>
              <a:rPr lang="en-US" sz="2200" b="1" i="1" dirty="0"/>
              <a:t>important</a:t>
            </a:r>
            <a:r>
              <a:rPr lang="en-US" sz="2200" i="1" dirty="0"/>
              <a:t> role in the society </a:t>
            </a:r>
            <a:r>
              <a:rPr lang="en-US" sz="2200" i="1" u="sng" dirty="0" smtClean="0"/>
              <a:t>AND</a:t>
            </a:r>
            <a:r>
              <a:rPr lang="en-US" sz="2200" i="1" dirty="0" smtClean="0"/>
              <a:t> </a:t>
            </a:r>
            <a:r>
              <a:rPr lang="en-US" sz="2200" i="1" dirty="0"/>
              <a:t>they are responsible for </a:t>
            </a:r>
            <a:r>
              <a:rPr lang="en-US" sz="2200" i="1" dirty="0" smtClean="0"/>
              <a:t>information management in different areas.</a:t>
            </a:r>
            <a:endParaRPr lang="en-US" sz="2200" dirty="0"/>
          </a:p>
          <a:p>
            <a:r>
              <a:rPr lang="en-US" sz="2200" b="1" dirty="0" err="1"/>
              <a:t>Compleja</a:t>
            </a:r>
            <a:r>
              <a:rPr lang="en-US" sz="2200" dirty="0" smtClean="0"/>
              <a:t>: </a:t>
            </a:r>
            <a:r>
              <a:rPr lang="en-US" sz="2200" i="1" dirty="0" smtClean="0"/>
              <a:t>A</a:t>
            </a:r>
            <a:r>
              <a:rPr lang="en-US" sz="2200" i="1" dirty="0"/>
              <a:t> </a:t>
            </a:r>
            <a:r>
              <a:rPr lang="en-US" sz="2200" b="1" i="1" dirty="0" smtClean="0"/>
              <a:t>civil </a:t>
            </a:r>
            <a:r>
              <a:rPr lang="en-US" sz="2200" b="1" i="1" dirty="0"/>
              <a:t>engineer is</a:t>
            </a:r>
            <a:r>
              <a:rPr lang="en-US" sz="2200" i="1" dirty="0"/>
              <a:t> </a:t>
            </a:r>
            <a:r>
              <a:rPr lang="en-US" sz="2200" i="1" u="sng" dirty="0"/>
              <a:t>a person who practices </a:t>
            </a:r>
            <a:r>
              <a:rPr lang="en-US" sz="2200" b="1" i="1" u="sng" dirty="0"/>
              <a:t>civil engineering</a:t>
            </a:r>
            <a:r>
              <a:rPr lang="en-US" sz="2200" i="1" u="sng" dirty="0"/>
              <a:t> – the application of planning, designing, constructing, maintaining, and operating infrastructures ...</a:t>
            </a:r>
            <a:endParaRPr lang="en-US" sz="2200" u="sng" dirty="0"/>
          </a:p>
          <a:p>
            <a:pPr marL="0" indent="0">
              <a:buNone/>
            </a:pPr>
            <a:r>
              <a:rPr lang="en-US" sz="2400" dirty="0"/>
              <a:t/>
            </a:r>
            <a:br>
              <a:rPr lang="en-US" sz="2400" dirty="0"/>
            </a:br>
            <a:endParaRPr lang="es-AR" sz="2200" dirty="0"/>
          </a:p>
        </p:txBody>
      </p:sp>
      <p:sp>
        <p:nvSpPr>
          <p:cNvPr id="4" name="Flecha derecha 3"/>
          <p:cNvSpPr/>
          <p:nvPr/>
        </p:nvSpPr>
        <p:spPr>
          <a:xfrm>
            <a:off x="3155324" y="1478605"/>
            <a:ext cx="656822" cy="45179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5" name="Flecha abajo 4"/>
          <p:cNvSpPr/>
          <p:nvPr/>
        </p:nvSpPr>
        <p:spPr>
          <a:xfrm>
            <a:off x="1671219" y="1930400"/>
            <a:ext cx="490219" cy="58098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553301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0761" y="558085"/>
            <a:ext cx="8596668" cy="869004"/>
          </a:xfrm>
        </p:spPr>
        <p:txBody>
          <a:bodyPr/>
          <a:lstStyle/>
          <a:p>
            <a:pPr algn="ctr"/>
            <a:r>
              <a:rPr lang="es-AR" b="1" dirty="0" smtClean="0"/>
              <a:t>LA FRASE NOMINAL</a:t>
            </a:r>
            <a:endParaRPr lang="es-AR" b="1" dirty="0"/>
          </a:p>
        </p:txBody>
      </p:sp>
      <p:sp>
        <p:nvSpPr>
          <p:cNvPr id="3" name="Marcador de contenido 2"/>
          <p:cNvSpPr>
            <a:spLocks noGrp="1"/>
          </p:cNvSpPr>
          <p:nvPr>
            <p:ph idx="1"/>
          </p:nvPr>
        </p:nvSpPr>
        <p:spPr>
          <a:xfrm>
            <a:off x="437883" y="1429555"/>
            <a:ext cx="9298545" cy="4700790"/>
          </a:xfrm>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endParaRPr lang="es-ES" sz="1600" dirty="0"/>
          </a:p>
          <a:p>
            <a:pPr marL="0" indent="0">
              <a:buNone/>
            </a:pPr>
            <a:endParaRPr lang="en-US" sz="2000" dirty="0"/>
          </a:p>
          <a:p>
            <a:endParaRPr lang="es-ES_tradnl" sz="2000" dirty="0" smtClean="0"/>
          </a:p>
          <a:p>
            <a:endParaRPr lang="es-ES_tradnl" sz="2000" dirty="0"/>
          </a:p>
          <a:p>
            <a:endParaRPr lang="es-ES_tradnl" sz="2400" dirty="0" smtClean="0"/>
          </a:p>
          <a:p>
            <a:r>
              <a:rPr lang="es-ES_tradnl" sz="2400" dirty="0" smtClean="0"/>
              <a:t>Determinador</a:t>
            </a:r>
            <a:r>
              <a:rPr lang="es-ES_tradnl" sz="2400" dirty="0"/>
              <a:t>: artículo (THE, A/AN), adjetivo demostrativo (THIS, THAT, THESE, THOSE), adjetivo posesivo (MY, YOUR, HIS, HER, ITS, OUR, YOUR, THEIR)</a:t>
            </a:r>
            <a:endParaRPr lang="es-AR" sz="2400" dirty="0"/>
          </a:p>
          <a:p>
            <a:r>
              <a:rPr lang="es-ES_tradnl" sz="2400" dirty="0"/>
              <a:t>Pre-modificador: adjetivo, sustantivo, ‘s, “-</a:t>
            </a:r>
            <a:r>
              <a:rPr lang="es-ES_tradnl" sz="2400" dirty="0" err="1"/>
              <a:t>ing</a:t>
            </a:r>
            <a:r>
              <a:rPr lang="es-ES_tradnl" sz="2400" dirty="0"/>
              <a:t>”, “-</a:t>
            </a:r>
            <a:r>
              <a:rPr lang="es-ES_tradnl" sz="2400" dirty="0" err="1"/>
              <a:t>ed</a:t>
            </a:r>
            <a:r>
              <a:rPr lang="es-ES_tradnl" sz="2400" dirty="0"/>
              <a:t>”</a:t>
            </a:r>
            <a:endParaRPr lang="es-AR" sz="2400" dirty="0"/>
          </a:p>
          <a:p>
            <a:r>
              <a:rPr lang="en-US" sz="2400" dirty="0"/>
              <a:t>Post-</a:t>
            </a:r>
            <a:r>
              <a:rPr lang="en-US" sz="2400" dirty="0" err="1"/>
              <a:t>modificador</a:t>
            </a:r>
            <a:r>
              <a:rPr lang="en-US" sz="2400" dirty="0"/>
              <a:t>: OF + ……., “-</a:t>
            </a:r>
            <a:r>
              <a:rPr lang="en-US" sz="2400" dirty="0" err="1"/>
              <a:t>ed</a:t>
            </a:r>
            <a:r>
              <a:rPr lang="en-US" sz="2400" dirty="0"/>
              <a:t>”, “-</a:t>
            </a:r>
            <a:r>
              <a:rPr lang="en-US" sz="2400" dirty="0" err="1"/>
              <a:t>ing</a:t>
            </a:r>
            <a:r>
              <a:rPr lang="en-US" sz="2400" dirty="0"/>
              <a:t>”, that, which</a:t>
            </a:r>
            <a:endParaRPr lang="es-AR" sz="2400" dirty="0"/>
          </a:p>
          <a:p>
            <a:pPr marL="0" indent="0">
              <a:buNone/>
            </a:pPr>
            <a:endParaRPr lang="en-US" sz="2000" dirty="0"/>
          </a:p>
        </p:txBody>
      </p:sp>
      <p:sp>
        <p:nvSpPr>
          <p:cNvPr id="4" name="Rectángulo 3"/>
          <p:cNvSpPr/>
          <p:nvPr/>
        </p:nvSpPr>
        <p:spPr>
          <a:xfrm>
            <a:off x="677334" y="2062264"/>
            <a:ext cx="8793804"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solidFill>
                  <a:schemeClr val="bg1"/>
                </a:solidFill>
              </a:rPr>
              <a:t>(DETERMINADOR) + (PRE-MODIF. )+ </a:t>
            </a:r>
            <a:r>
              <a:rPr lang="es-ES" sz="3200" b="1" dirty="0">
                <a:solidFill>
                  <a:schemeClr val="bg1"/>
                </a:solidFill>
              </a:rPr>
              <a:t>SUSTANTIVO</a:t>
            </a:r>
            <a:r>
              <a:rPr lang="es-ES" dirty="0">
                <a:solidFill>
                  <a:schemeClr val="bg1"/>
                </a:solidFill>
              </a:rPr>
              <a:t> + (POST-MODIFICADOR)</a:t>
            </a:r>
            <a:endParaRPr lang="en-US" dirty="0">
              <a:solidFill>
                <a:schemeClr val="bg1"/>
              </a:solidFill>
            </a:endParaRPr>
          </a:p>
        </p:txBody>
      </p:sp>
    </p:spTree>
    <p:extLst>
      <p:ext uri="{BB962C8B-B14F-4D97-AF65-F5344CB8AC3E}">
        <p14:creationId xmlns:p14="http://schemas.microsoft.com/office/powerpoint/2010/main" val="2781640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2272"/>
          </a:xfrm>
        </p:spPr>
        <p:txBody>
          <a:bodyPr/>
          <a:lstStyle/>
          <a:p>
            <a:pPr algn="ctr"/>
            <a:r>
              <a:rPr lang="es-AR" dirty="0"/>
              <a:t>LA FRASE NOMINAL: ejemplos</a:t>
            </a:r>
          </a:p>
        </p:txBody>
      </p:sp>
      <p:sp>
        <p:nvSpPr>
          <p:cNvPr id="3" name="Marcador de contenido 2"/>
          <p:cNvSpPr>
            <a:spLocks noGrp="1"/>
          </p:cNvSpPr>
          <p:nvPr>
            <p:ph idx="1"/>
          </p:nvPr>
        </p:nvSpPr>
        <p:spPr>
          <a:xfrm>
            <a:off x="677334" y="1731522"/>
            <a:ext cx="8596668" cy="4902741"/>
          </a:xfrm>
        </p:spPr>
        <p:txBody>
          <a:bodyPr>
            <a:normAutofit fontScale="92500" lnSpcReduction="20000"/>
          </a:bodyPr>
          <a:lstStyle/>
          <a:p>
            <a:r>
              <a:rPr lang="es-ES" dirty="0"/>
              <a:t>a </a:t>
            </a:r>
            <a:r>
              <a:rPr lang="es-ES" dirty="0" err="1"/>
              <a:t>big</a:t>
            </a:r>
            <a:r>
              <a:rPr lang="es-ES" dirty="0"/>
              <a:t> </a:t>
            </a:r>
            <a:r>
              <a:rPr lang="es-ES" dirty="0" err="1"/>
              <a:t>international</a:t>
            </a:r>
            <a:r>
              <a:rPr lang="es-ES" dirty="0"/>
              <a:t> </a:t>
            </a:r>
            <a:r>
              <a:rPr lang="es-ES" b="1" dirty="0" err="1"/>
              <a:t>company</a:t>
            </a:r>
            <a:r>
              <a:rPr lang="es-ES" dirty="0"/>
              <a:t> (artículo + </a:t>
            </a:r>
            <a:r>
              <a:rPr lang="es-ES" dirty="0" err="1"/>
              <a:t>adj</a:t>
            </a:r>
            <a:r>
              <a:rPr lang="es-ES" dirty="0"/>
              <a:t>. + </a:t>
            </a:r>
            <a:r>
              <a:rPr lang="es-ES" dirty="0" err="1"/>
              <a:t>adj</a:t>
            </a:r>
            <a:r>
              <a:rPr lang="es-ES" dirty="0"/>
              <a:t>. + SUSTANTIVO):</a:t>
            </a:r>
          </a:p>
          <a:p>
            <a:pPr marL="0" indent="0">
              <a:buNone/>
            </a:pPr>
            <a:r>
              <a:rPr lang="es-ES" dirty="0"/>
              <a:t>	 una gran </a:t>
            </a:r>
            <a:r>
              <a:rPr lang="es-ES" i="1" dirty="0"/>
              <a:t>compañía</a:t>
            </a:r>
            <a:r>
              <a:rPr lang="es-ES" dirty="0"/>
              <a:t> internacional</a:t>
            </a:r>
            <a:endParaRPr lang="es-AR" dirty="0"/>
          </a:p>
          <a:p>
            <a:pPr marL="0" indent="0">
              <a:buNone/>
            </a:pPr>
            <a:r>
              <a:rPr lang="es-ES" dirty="0"/>
              <a:t> </a:t>
            </a:r>
            <a:r>
              <a:rPr lang="es-AR" dirty="0"/>
              <a:t> </a:t>
            </a:r>
          </a:p>
          <a:p>
            <a:r>
              <a:rPr lang="en-US" dirty="0"/>
              <a:t>every Company´s </a:t>
            </a:r>
            <a:r>
              <a:rPr lang="en-US" b="1" dirty="0"/>
              <a:t>organization</a:t>
            </a:r>
            <a:r>
              <a:rPr lang="en-US" dirty="0"/>
              <a:t> (adj. </a:t>
            </a:r>
            <a:r>
              <a:rPr lang="es-ES" dirty="0"/>
              <a:t>+ </a:t>
            </a:r>
            <a:r>
              <a:rPr lang="es-ES" dirty="0" err="1"/>
              <a:t>sust</a:t>
            </a:r>
            <a:r>
              <a:rPr lang="es-ES" dirty="0"/>
              <a:t>. + genitivo (´s) + SUSTANTIVO): </a:t>
            </a:r>
          </a:p>
          <a:p>
            <a:pPr marL="0" indent="0">
              <a:buNone/>
            </a:pPr>
            <a:r>
              <a:rPr lang="es-ES" dirty="0"/>
              <a:t>	cada organización DE la compañía </a:t>
            </a:r>
            <a:endParaRPr lang="es-AR" dirty="0"/>
          </a:p>
          <a:p>
            <a:pPr marL="0" indent="0">
              <a:buNone/>
            </a:pPr>
            <a:r>
              <a:rPr lang="es-ES" dirty="0"/>
              <a:t> </a:t>
            </a:r>
            <a:r>
              <a:rPr lang="es-ES" b="1" i="1" dirty="0"/>
              <a:t> </a:t>
            </a:r>
            <a:endParaRPr lang="es-AR" dirty="0"/>
          </a:p>
          <a:p>
            <a:r>
              <a:rPr lang="en-US" dirty="0"/>
              <a:t>some industry </a:t>
            </a:r>
            <a:r>
              <a:rPr lang="en-US" b="1" dirty="0"/>
              <a:t>information</a:t>
            </a:r>
            <a:r>
              <a:rPr lang="en-US" dirty="0"/>
              <a:t> (adj. + </a:t>
            </a:r>
            <a:r>
              <a:rPr lang="en-US" dirty="0" err="1"/>
              <a:t>sust</a:t>
            </a:r>
            <a:r>
              <a:rPr lang="en-US" dirty="0"/>
              <a:t>. </a:t>
            </a:r>
            <a:r>
              <a:rPr lang="es-ES" dirty="0"/>
              <a:t>+ SUSTANTIVO):</a:t>
            </a:r>
          </a:p>
          <a:p>
            <a:pPr marL="0" indent="0">
              <a:buNone/>
            </a:pPr>
            <a:r>
              <a:rPr lang="es-ES" dirty="0"/>
              <a:t>	 alguna </a:t>
            </a:r>
            <a:r>
              <a:rPr lang="es-ES" b="1" dirty="0"/>
              <a:t>información</a:t>
            </a:r>
            <a:r>
              <a:rPr lang="es-ES" dirty="0"/>
              <a:t> </a:t>
            </a:r>
            <a:r>
              <a:rPr lang="es-ES" b="1" dirty="0"/>
              <a:t>DE</a:t>
            </a:r>
            <a:r>
              <a:rPr lang="es-ES" dirty="0"/>
              <a:t> la industria/alguna </a:t>
            </a:r>
            <a:r>
              <a:rPr lang="es-ES" b="1" dirty="0"/>
              <a:t>información</a:t>
            </a:r>
            <a:r>
              <a:rPr lang="es-ES" dirty="0"/>
              <a:t> industrial </a:t>
            </a:r>
            <a:endParaRPr lang="es-AR" dirty="0"/>
          </a:p>
          <a:p>
            <a:pPr marL="0" indent="0">
              <a:buNone/>
            </a:pPr>
            <a:r>
              <a:rPr lang="es-ES" dirty="0"/>
              <a:t> </a:t>
            </a:r>
            <a:endParaRPr lang="es-AR" dirty="0"/>
          </a:p>
          <a:p>
            <a:r>
              <a:rPr lang="es-ES" dirty="0"/>
              <a:t>new </a:t>
            </a:r>
            <a:r>
              <a:rPr lang="es-ES" dirty="0" err="1"/>
              <a:t>working</a:t>
            </a:r>
            <a:r>
              <a:rPr lang="es-ES" dirty="0"/>
              <a:t> </a:t>
            </a:r>
            <a:r>
              <a:rPr lang="es-ES" b="1" dirty="0" err="1"/>
              <a:t>conditions</a:t>
            </a:r>
            <a:r>
              <a:rPr lang="es-ES" dirty="0"/>
              <a:t> (</a:t>
            </a:r>
            <a:r>
              <a:rPr lang="es-ES" dirty="0" err="1"/>
              <a:t>adj</a:t>
            </a:r>
            <a:r>
              <a:rPr lang="es-ES" dirty="0"/>
              <a:t>. + “-</a:t>
            </a:r>
            <a:r>
              <a:rPr lang="es-ES" dirty="0" err="1"/>
              <a:t>ing</a:t>
            </a:r>
            <a:r>
              <a:rPr lang="es-ES" dirty="0"/>
              <a:t>” + SUSTANTIVO):</a:t>
            </a:r>
          </a:p>
          <a:p>
            <a:pPr marL="0" indent="0">
              <a:buNone/>
            </a:pPr>
            <a:r>
              <a:rPr lang="es-ES" dirty="0"/>
              <a:t>	 nuevas </a:t>
            </a:r>
            <a:r>
              <a:rPr lang="es-ES" b="1" dirty="0"/>
              <a:t>condiciones</a:t>
            </a:r>
            <a:r>
              <a:rPr lang="es-ES" dirty="0"/>
              <a:t> de trabajo/laborales</a:t>
            </a:r>
            <a:endParaRPr lang="es-AR" dirty="0"/>
          </a:p>
          <a:p>
            <a:pPr marL="0" indent="0">
              <a:buNone/>
            </a:pPr>
            <a:r>
              <a:rPr lang="es-ES" dirty="0"/>
              <a:t>  </a:t>
            </a:r>
            <a:endParaRPr lang="es-AR" dirty="0"/>
          </a:p>
          <a:p>
            <a:r>
              <a:rPr lang="es-ES" dirty="0" err="1"/>
              <a:t>controlled</a:t>
            </a:r>
            <a:r>
              <a:rPr lang="es-ES" dirty="0"/>
              <a:t> </a:t>
            </a:r>
            <a:r>
              <a:rPr lang="es-ES" b="1" dirty="0" err="1"/>
              <a:t>systems</a:t>
            </a:r>
            <a:r>
              <a:rPr lang="es-ES" dirty="0"/>
              <a:t> (“-</a:t>
            </a:r>
            <a:r>
              <a:rPr lang="es-ES" dirty="0" err="1"/>
              <a:t>ed</a:t>
            </a:r>
            <a:r>
              <a:rPr lang="es-ES" dirty="0"/>
              <a:t>” + SUSTANTIVO): </a:t>
            </a:r>
          </a:p>
          <a:p>
            <a:pPr marL="0" indent="0">
              <a:buNone/>
            </a:pPr>
            <a:r>
              <a:rPr lang="es-ES" b="1" dirty="0"/>
              <a:t>	sistemas</a:t>
            </a:r>
            <a:r>
              <a:rPr lang="es-ES" dirty="0"/>
              <a:t> controlados </a:t>
            </a:r>
            <a:endParaRPr lang="es-AR" dirty="0"/>
          </a:p>
        </p:txBody>
      </p:sp>
    </p:spTree>
    <p:extLst>
      <p:ext uri="{BB962C8B-B14F-4D97-AF65-F5344CB8AC3E}">
        <p14:creationId xmlns:p14="http://schemas.microsoft.com/office/powerpoint/2010/main" val="4168434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599"/>
            <a:ext cx="8596668" cy="732817"/>
          </a:xfrm>
        </p:spPr>
        <p:txBody>
          <a:bodyPr>
            <a:normAutofit/>
          </a:bodyPr>
          <a:lstStyle/>
          <a:p>
            <a:pPr algn="ctr"/>
            <a:r>
              <a:rPr lang="es-AR" dirty="0" smtClean="0"/>
              <a:t>LA FRASE NOMINAL</a:t>
            </a:r>
            <a:endParaRPr lang="es-AR" dirty="0"/>
          </a:p>
        </p:txBody>
      </p:sp>
      <p:sp>
        <p:nvSpPr>
          <p:cNvPr id="3" name="Marcador de contenido 2"/>
          <p:cNvSpPr>
            <a:spLocks noGrp="1"/>
          </p:cNvSpPr>
          <p:nvPr>
            <p:ph idx="1"/>
          </p:nvPr>
        </p:nvSpPr>
        <p:spPr>
          <a:xfrm>
            <a:off x="677333" y="1342417"/>
            <a:ext cx="9123489" cy="4698945"/>
          </a:xfrm>
        </p:spPr>
        <p:txBody>
          <a:bodyPr>
            <a:normAutofit/>
          </a:bodyPr>
          <a:lstStyle/>
          <a:p>
            <a:endParaRPr lang="es-AR" dirty="0"/>
          </a:p>
          <a:p>
            <a:pPr marL="0" indent="0">
              <a:buNone/>
            </a:pPr>
            <a:r>
              <a:rPr lang="en-US" sz="2400" u="sng" dirty="0" err="1"/>
              <a:t>Ejemplos</a:t>
            </a:r>
            <a:r>
              <a:rPr lang="en-US" sz="2400" u="sng" dirty="0"/>
              <a:t> con </a:t>
            </a:r>
            <a:r>
              <a:rPr lang="en-US" sz="2400" u="sng" dirty="0" err="1"/>
              <a:t>Pos-modificadores</a:t>
            </a:r>
            <a:r>
              <a:rPr lang="en-US" sz="2400" dirty="0"/>
              <a:t>:</a:t>
            </a:r>
          </a:p>
          <a:p>
            <a:pPr marL="0" indent="0">
              <a:buNone/>
            </a:pPr>
            <a:endParaRPr lang="es-AR" sz="2400" dirty="0"/>
          </a:p>
          <a:p>
            <a:r>
              <a:rPr lang="en-US" sz="2400" dirty="0"/>
              <a:t>……. +  “OF”:  A Brief History </a:t>
            </a:r>
            <a:r>
              <a:rPr lang="en-US" sz="2400" b="1" dirty="0"/>
              <a:t>OF</a:t>
            </a:r>
            <a:r>
              <a:rPr lang="en-US" sz="2400" dirty="0"/>
              <a:t> </a:t>
            </a:r>
            <a:r>
              <a:rPr lang="en-US" sz="2400" dirty="0" smtClean="0"/>
              <a:t>Civil Engineering</a:t>
            </a:r>
            <a:endParaRPr lang="es-AR" sz="2400" dirty="0"/>
          </a:p>
          <a:p>
            <a:pPr marL="0" indent="0">
              <a:buNone/>
            </a:pPr>
            <a:r>
              <a:rPr lang="en-US" sz="2400" dirty="0"/>
              <a:t>                         </a:t>
            </a:r>
            <a:r>
              <a:rPr lang="en-US" sz="2400" dirty="0" smtClean="0"/>
              <a:t>Theoretical </a:t>
            </a:r>
            <a:r>
              <a:rPr lang="en-US" sz="2400" dirty="0"/>
              <a:t>Analysis </a:t>
            </a:r>
            <a:r>
              <a:rPr lang="en-US" sz="2400" b="1" dirty="0"/>
              <a:t>OF</a:t>
            </a:r>
            <a:r>
              <a:rPr lang="en-US" sz="2400" dirty="0"/>
              <a:t> Information Systems.</a:t>
            </a:r>
            <a:endParaRPr lang="es-AR" sz="2400" dirty="0"/>
          </a:p>
          <a:p>
            <a:r>
              <a:rPr lang="en-US" sz="2400" dirty="0"/>
              <a:t>……. </a:t>
            </a:r>
            <a:r>
              <a:rPr lang="en-GB" sz="2400" dirty="0"/>
              <a:t>+  “-</a:t>
            </a:r>
            <a:r>
              <a:rPr lang="en-GB" sz="2400" dirty="0" err="1"/>
              <a:t>ed</a:t>
            </a:r>
            <a:r>
              <a:rPr lang="en-GB" sz="2400" dirty="0"/>
              <a:t>”:   ideas suggest</a:t>
            </a:r>
            <a:r>
              <a:rPr lang="en-GB" sz="2400" b="1" i="1" dirty="0"/>
              <a:t>ed</a:t>
            </a:r>
            <a:r>
              <a:rPr lang="en-GB" sz="2400" dirty="0"/>
              <a:t> (“</a:t>
            </a:r>
            <a:r>
              <a:rPr lang="en-GB" sz="2400" i="1" dirty="0"/>
              <a:t>ideas </a:t>
            </a:r>
            <a:r>
              <a:rPr lang="en-GB" sz="2400" i="1" dirty="0" err="1"/>
              <a:t>sugeridas</a:t>
            </a:r>
            <a:r>
              <a:rPr lang="en-GB" sz="2400" dirty="0"/>
              <a:t>”)</a:t>
            </a:r>
            <a:endParaRPr lang="es-AR" sz="2400" dirty="0"/>
          </a:p>
          <a:p>
            <a:r>
              <a:rPr lang="en-US" sz="2400" dirty="0"/>
              <a:t>……. +  “-</a:t>
            </a:r>
            <a:r>
              <a:rPr lang="en-US" sz="2400" dirty="0" err="1"/>
              <a:t>ing</a:t>
            </a:r>
            <a:r>
              <a:rPr lang="en-US" sz="2400" dirty="0"/>
              <a:t>”:   systems us</a:t>
            </a:r>
            <a:r>
              <a:rPr lang="en-US" sz="2400" b="1" i="1" dirty="0"/>
              <a:t>ing</a:t>
            </a:r>
            <a:r>
              <a:rPr lang="en-US" sz="2400" dirty="0"/>
              <a:t> (</a:t>
            </a:r>
            <a:r>
              <a:rPr lang="en-US" sz="2400" i="1" dirty="0"/>
              <a:t>........ que </a:t>
            </a:r>
            <a:r>
              <a:rPr lang="en-US" sz="2400" i="1" dirty="0" err="1"/>
              <a:t>usan</a:t>
            </a:r>
            <a:r>
              <a:rPr lang="en-US" sz="2400" dirty="0"/>
              <a:t>)</a:t>
            </a:r>
            <a:endParaRPr lang="es-AR" sz="2400" dirty="0"/>
          </a:p>
          <a:p>
            <a:r>
              <a:rPr lang="en-US" sz="2400" dirty="0"/>
              <a:t>……. +  “that” / “which”:   systems </a:t>
            </a:r>
            <a:r>
              <a:rPr lang="en-US" sz="2400" b="1" i="1" dirty="0"/>
              <a:t>that/which</a:t>
            </a:r>
            <a:r>
              <a:rPr lang="en-US" sz="2400" dirty="0"/>
              <a:t> use (</a:t>
            </a:r>
            <a:r>
              <a:rPr lang="en-US" sz="2400" i="1" dirty="0"/>
              <a:t>..... que </a:t>
            </a:r>
            <a:r>
              <a:rPr lang="en-US" sz="2400" i="1" dirty="0" err="1"/>
              <a:t>usan</a:t>
            </a:r>
            <a:r>
              <a:rPr lang="en-US" sz="2400" dirty="0"/>
              <a:t>)</a:t>
            </a:r>
            <a:endParaRPr lang="es-AR" sz="2400" dirty="0"/>
          </a:p>
          <a:p>
            <a:endParaRPr lang="es-AR" dirty="0"/>
          </a:p>
        </p:txBody>
      </p:sp>
    </p:spTree>
    <p:extLst>
      <p:ext uri="{BB962C8B-B14F-4D97-AF65-F5344CB8AC3E}">
        <p14:creationId xmlns:p14="http://schemas.microsoft.com/office/powerpoint/2010/main" val="2764916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257578"/>
            <a:ext cx="8596668" cy="579549"/>
          </a:xfrm>
        </p:spPr>
        <p:txBody>
          <a:bodyPr>
            <a:normAutofit fontScale="90000"/>
          </a:bodyPr>
          <a:lstStyle/>
          <a:p>
            <a:pPr algn="ctr"/>
            <a:r>
              <a:rPr lang="es-AR" b="1" dirty="0" smtClean="0"/>
              <a:t>PRÁCTICA</a:t>
            </a:r>
            <a:endParaRPr lang="es-AR" b="1" dirty="0"/>
          </a:p>
        </p:txBody>
      </p:sp>
      <p:sp>
        <p:nvSpPr>
          <p:cNvPr id="3" name="Marcador de contenido 2"/>
          <p:cNvSpPr>
            <a:spLocks noGrp="1"/>
          </p:cNvSpPr>
          <p:nvPr>
            <p:ph idx="1"/>
          </p:nvPr>
        </p:nvSpPr>
        <p:spPr>
          <a:xfrm>
            <a:off x="360607" y="953037"/>
            <a:ext cx="10419010" cy="5904962"/>
          </a:xfrm>
        </p:spPr>
        <p:txBody>
          <a:bodyPr>
            <a:normAutofit fontScale="55000" lnSpcReduction="20000"/>
          </a:bodyPr>
          <a:lstStyle/>
          <a:p>
            <a:pPr marL="0" indent="0">
              <a:buNone/>
            </a:pPr>
            <a:r>
              <a:rPr lang="en-US" sz="2000" dirty="0" smtClean="0"/>
              <a:t>-</a:t>
            </a:r>
            <a:r>
              <a:rPr lang="en-US" sz="3300" dirty="0" smtClean="0"/>
              <a:t>Information </a:t>
            </a:r>
            <a:r>
              <a:rPr lang="en-US" sz="3300" dirty="0"/>
              <a:t>technology</a:t>
            </a:r>
            <a:endParaRPr lang="es-AR" sz="3300" dirty="0"/>
          </a:p>
          <a:p>
            <a:pPr marL="0" indent="0">
              <a:buNone/>
            </a:pPr>
            <a:r>
              <a:rPr lang="en-US" sz="3300" dirty="0"/>
              <a:t>Information systems research</a:t>
            </a:r>
            <a:endParaRPr lang="es-AR" sz="3300" dirty="0"/>
          </a:p>
          <a:p>
            <a:pPr marL="0" indent="0">
              <a:buNone/>
            </a:pPr>
            <a:r>
              <a:rPr lang="en-US" sz="3300" dirty="0"/>
              <a:t>Information systems research approaches</a:t>
            </a:r>
            <a:endParaRPr lang="es-AR" sz="3300" dirty="0"/>
          </a:p>
          <a:p>
            <a:pPr marL="0" indent="0">
              <a:buNone/>
            </a:pPr>
            <a:r>
              <a:rPr lang="en-US" sz="3300" dirty="0">
                <a:hlinkClick r:id="rId2" tooltip="Data Processor"/>
              </a:rPr>
              <a:t>Data Processing System</a:t>
            </a:r>
            <a:endParaRPr lang="es-AR" sz="3300" dirty="0"/>
          </a:p>
          <a:p>
            <a:pPr marL="0" indent="0">
              <a:buNone/>
            </a:pPr>
            <a:r>
              <a:rPr lang="en-US" sz="3300" dirty="0"/>
              <a:t>Types of information systems</a:t>
            </a:r>
            <a:endParaRPr lang="es-AR" sz="3300" dirty="0"/>
          </a:p>
          <a:p>
            <a:pPr marL="0" indent="0">
              <a:buNone/>
            </a:pPr>
            <a:r>
              <a:rPr lang="en-US" sz="3300" dirty="0"/>
              <a:t>Requirements specification for the new system</a:t>
            </a:r>
            <a:endParaRPr lang="es-AR" sz="3300" dirty="0"/>
          </a:p>
          <a:p>
            <a:pPr marL="0" indent="0">
              <a:buNone/>
            </a:pPr>
            <a:r>
              <a:rPr lang="en-US" sz="3300" dirty="0"/>
              <a:t>Systems engineering management</a:t>
            </a:r>
            <a:endParaRPr lang="es-AR" sz="3300" dirty="0"/>
          </a:p>
          <a:p>
            <a:pPr marL="0" indent="0">
              <a:buNone/>
            </a:pPr>
            <a:r>
              <a:rPr lang="en-US" sz="3300" dirty="0"/>
              <a:t>Systems engineering process</a:t>
            </a:r>
            <a:endParaRPr lang="es-AR" sz="3300" dirty="0"/>
          </a:p>
          <a:p>
            <a:pPr marL="0" indent="0">
              <a:buNone/>
            </a:pPr>
            <a:r>
              <a:rPr lang="en-US" sz="3300" dirty="0"/>
              <a:t>Chief information security officer</a:t>
            </a:r>
            <a:endParaRPr lang="es-AR" sz="3300" dirty="0"/>
          </a:p>
          <a:p>
            <a:pPr marL="0" indent="0">
              <a:buNone/>
            </a:pPr>
            <a:r>
              <a:rPr lang="en-US" sz="3300" dirty="0"/>
              <a:t>Users Requirements Document (URD)</a:t>
            </a:r>
            <a:endParaRPr lang="es-AR" sz="3300" dirty="0"/>
          </a:p>
          <a:p>
            <a:pPr marL="0" indent="0">
              <a:buNone/>
            </a:pPr>
            <a:r>
              <a:rPr lang="en-US" sz="3300" dirty="0"/>
              <a:t>McGraw-Hill Concise Encyclopedia of Engineering.</a:t>
            </a:r>
            <a:endParaRPr lang="es-AR" sz="3300" dirty="0"/>
          </a:p>
          <a:p>
            <a:pPr marL="0" indent="0">
              <a:buNone/>
            </a:pPr>
            <a:r>
              <a:rPr lang="en-US" sz="3300" dirty="0"/>
              <a:t>Computer Science and Information Systems Analysis</a:t>
            </a:r>
            <a:endParaRPr lang="es-AR" sz="3300" dirty="0"/>
          </a:p>
          <a:p>
            <a:pPr marL="0" indent="0">
              <a:buNone/>
            </a:pPr>
            <a:r>
              <a:rPr lang="en-US" sz="3300" dirty="0"/>
              <a:t>Information systems development methodology</a:t>
            </a:r>
            <a:endParaRPr lang="es-AR" sz="3300" dirty="0"/>
          </a:p>
          <a:p>
            <a:pPr marL="0" indent="0">
              <a:buNone/>
            </a:pPr>
            <a:r>
              <a:rPr lang="en-US" sz="3300" dirty="0"/>
              <a:t>Model Curriculum and Guidelines for Undergraduate Degree Programs in Information Systems </a:t>
            </a:r>
            <a:endParaRPr lang="es-AR" sz="3300" dirty="0"/>
          </a:p>
          <a:p>
            <a:pPr marL="0" indent="0">
              <a:buNone/>
            </a:pPr>
            <a:r>
              <a:rPr lang="en-US" sz="3300" dirty="0">
                <a:hlinkClick r:id="rId3"/>
              </a:rPr>
              <a:t>Technical and management perceptions of enterprise information systems importance, implementation and benefits</a:t>
            </a:r>
            <a:r>
              <a:rPr lang="en-US" sz="3300" dirty="0"/>
              <a:t/>
            </a:r>
            <a:br>
              <a:rPr lang="en-US" sz="3300" dirty="0"/>
            </a:br>
            <a:endParaRPr lang="es-AR" sz="3300" dirty="0"/>
          </a:p>
          <a:p>
            <a:pPr marL="0" indent="0" algn="just">
              <a:buNone/>
            </a:pPr>
            <a:endParaRPr lang="en-US" sz="3300" dirty="0" smtClean="0"/>
          </a:p>
        </p:txBody>
      </p:sp>
    </p:spTree>
    <p:extLst>
      <p:ext uri="{BB962C8B-B14F-4D97-AF65-F5344CB8AC3E}">
        <p14:creationId xmlns:p14="http://schemas.microsoft.com/office/powerpoint/2010/main" val="4286538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5" y="330740"/>
            <a:ext cx="8596668" cy="972766"/>
          </a:xfrm>
        </p:spPr>
        <p:txBody>
          <a:bodyPr>
            <a:normAutofit/>
          </a:bodyPr>
          <a:lstStyle/>
          <a:p>
            <a:pPr algn="ctr"/>
            <a:r>
              <a:rPr lang="es-AR" sz="4000" b="1" dirty="0" smtClean="0"/>
              <a:t>LOS VERBOS</a:t>
            </a:r>
            <a:endParaRPr lang="es-AR" sz="4000" b="1"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4147585661"/>
              </p:ext>
            </p:extLst>
          </p:nvPr>
        </p:nvGraphicFramePr>
        <p:xfrm>
          <a:off x="486383" y="1303506"/>
          <a:ext cx="9163455" cy="5067472"/>
        </p:xfrm>
        <a:graphic>
          <a:graphicData uri="http://schemas.openxmlformats.org/drawingml/2006/table">
            <a:tbl>
              <a:tblPr firstRow="1" firstCol="1" bandRow="1">
                <a:tableStyleId>{5C22544A-7EE6-4342-B048-85BDC9FD1C3A}</a:tableStyleId>
              </a:tblPr>
              <a:tblGrid>
                <a:gridCol w="2405749"/>
                <a:gridCol w="2279062"/>
                <a:gridCol w="2239322"/>
                <a:gridCol w="2239322"/>
              </a:tblGrid>
              <a:tr h="450984">
                <a:tc>
                  <a:txBody>
                    <a:bodyPr/>
                    <a:lstStyle/>
                    <a:p>
                      <a:pPr algn="just">
                        <a:lnSpc>
                          <a:spcPct val="115000"/>
                        </a:lnSpc>
                        <a:spcAft>
                          <a:spcPts val="0"/>
                        </a:spcAft>
                      </a:pPr>
                      <a:r>
                        <a:rPr lang="es-AR" sz="1800" dirty="0">
                          <a:effectLst/>
                        </a:rPr>
                        <a:t>A partir de…</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gridSpan="3">
                  <a:txBody>
                    <a:bodyPr/>
                    <a:lstStyle/>
                    <a:p>
                      <a:pPr algn="ctr">
                        <a:lnSpc>
                          <a:spcPct val="115000"/>
                        </a:lnSpc>
                        <a:spcAft>
                          <a:spcPts val="0"/>
                        </a:spcAft>
                      </a:pPr>
                      <a:r>
                        <a:rPr lang="es-AR" sz="1800">
                          <a:effectLst/>
                        </a:rPr>
                        <a:t>TIEMPO / ESTRUCTURA VERBAL</a:t>
                      </a:r>
                      <a:endParaRPr lang="es-AR"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s-AR"/>
                    </a:p>
                  </a:txBody>
                  <a:tcPr/>
                </a:tc>
                <a:tc hMerge="1">
                  <a:txBody>
                    <a:bodyPr/>
                    <a:lstStyle/>
                    <a:p>
                      <a:endParaRPr lang="es-AR"/>
                    </a:p>
                  </a:txBody>
                  <a:tcPr/>
                </a:tc>
              </a:tr>
              <a:tr h="945763">
                <a:tc>
                  <a:txBody>
                    <a:bodyPr/>
                    <a:lstStyle/>
                    <a:p>
                      <a:pPr algn="just">
                        <a:lnSpc>
                          <a:spcPct val="115000"/>
                        </a:lnSpc>
                        <a:spcAft>
                          <a:spcPts val="0"/>
                        </a:spcAft>
                      </a:pPr>
                      <a:r>
                        <a:rPr lang="es-AR" sz="1800" dirty="0">
                          <a:effectLst/>
                        </a:rPr>
                        <a:t>INFINITIVO</a:t>
                      </a:r>
                    </a:p>
                    <a:p>
                      <a:pPr algn="just">
                        <a:lnSpc>
                          <a:spcPct val="115000"/>
                        </a:lnSpc>
                        <a:spcAft>
                          <a:spcPts val="0"/>
                        </a:spcAft>
                      </a:pPr>
                      <a:r>
                        <a:rPr lang="es-AR" sz="1800" dirty="0">
                          <a:effectLst/>
                        </a:rPr>
                        <a:t>“to </a:t>
                      </a:r>
                      <a:r>
                        <a:rPr lang="es-AR" sz="1800" dirty="0" err="1">
                          <a:effectLst/>
                        </a:rPr>
                        <a:t>study</a:t>
                      </a:r>
                      <a:r>
                        <a:rPr lang="es-AR" sz="1800" dirty="0">
                          <a:effectLst/>
                        </a:rPr>
                        <a:t>”</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b="1" dirty="0" err="1">
                          <a:effectLst/>
                        </a:rPr>
                        <a:t>Presente</a:t>
                      </a:r>
                      <a:r>
                        <a:rPr lang="en-US" sz="1800" b="1" dirty="0">
                          <a:effectLst/>
                        </a:rPr>
                        <a:t> Simple</a:t>
                      </a:r>
                      <a:endParaRPr lang="es-AR" sz="1800" b="1" dirty="0">
                        <a:effectLst/>
                      </a:endParaRPr>
                    </a:p>
                    <a:p>
                      <a:pPr algn="just">
                        <a:lnSpc>
                          <a:spcPct val="115000"/>
                        </a:lnSpc>
                        <a:spcAft>
                          <a:spcPts val="0"/>
                        </a:spcAft>
                      </a:pPr>
                      <a:r>
                        <a:rPr lang="en-US" sz="1800" dirty="0">
                          <a:effectLst/>
                        </a:rPr>
                        <a:t>e.g.: I </a:t>
                      </a:r>
                      <a:r>
                        <a:rPr lang="en-US" sz="1800" dirty="0" smtClean="0">
                          <a:effectLst/>
                        </a:rPr>
                        <a:t>study</a:t>
                      </a:r>
                    </a:p>
                    <a:p>
                      <a:pPr algn="just">
                        <a:lnSpc>
                          <a:spcPct val="115000"/>
                        </a:lnSpc>
                        <a:spcAft>
                          <a:spcPts val="0"/>
                        </a:spcAft>
                      </a:pPr>
                      <a:r>
                        <a:rPr lang="en-US" sz="1800" dirty="0" smtClean="0">
                          <a:effectLst/>
                          <a:latin typeface="Calibri" panose="020F0502020204030204" pitchFamily="34" charset="0"/>
                          <a:ea typeface="Times New Roman" panose="02020603050405020304" pitchFamily="18" charset="0"/>
                          <a:cs typeface="Times New Roman" panose="02020603050405020304" pitchFamily="18" charset="0"/>
                        </a:rPr>
                        <a:t>          He stud</a:t>
                      </a:r>
                      <a:r>
                        <a:rPr lang="en-US" sz="1800" b="1" i="1" dirty="0" smtClean="0">
                          <a:effectLst/>
                          <a:latin typeface="Calibri" panose="020F0502020204030204" pitchFamily="34" charset="0"/>
                          <a:ea typeface="Times New Roman" panose="02020603050405020304" pitchFamily="18" charset="0"/>
                          <a:cs typeface="Times New Roman" panose="02020603050405020304" pitchFamily="18" charset="0"/>
                        </a:rPr>
                        <a:t>ies</a:t>
                      </a:r>
                      <a:endParaRPr lang="es-AR" sz="1800" b="1" i="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b="1" dirty="0" err="1">
                          <a:effectLst/>
                        </a:rPr>
                        <a:t>Futuro</a:t>
                      </a:r>
                      <a:r>
                        <a:rPr lang="en-US" sz="1800" b="1" dirty="0">
                          <a:effectLst/>
                        </a:rPr>
                        <a:t> Simple</a:t>
                      </a:r>
                      <a:endParaRPr lang="es-AR" sz="1800" b="1" dirty="0">
                        <a:effectLst/>
                      </a:endParaRPr>
                    </a:p>
                    <a:p>
                      <a:pPr algn="just">
                        <a:lnSpc>
                          <a:spcPct val="115000"/>
                        </a:lnSpc>
                        <a:spcAft>
                          <a:spcPts val="0"/>
                        </a:spcAft>
                      </a:pPr>
                      <a:r>
                        <a:rPr lang="en-US" sz="1800" dirty="0">
                          <a:effectLst/>
                        </a:rPr>
                        <a:t>e.g.: I will study</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dirty="0">
                          <a:effectLst/>
                        </a:rPr>
                        <a:t>Con </a:t>
                      </a:r>
                      <a:r>
                        <a:rPr lang="en-US" sz="1800" b="1" dirty="0" err="1">
                          <a:effectLst/>
                        </a:rPr>
                        <a:t>Verbo</a:t>
                      </a:r>
                      <a:r>
                        <a:rPr lang="en-US" sz="1800" b="1" dirty="0">
                          <a:effectLst/>
                        </a:rPr>
                        <a:t> Modal</a:t>
                      </a:r>
                      <a:endParaRPr lang="es-AR" sz="1800" b="1" dirty="0">
                        <a:effectLst/>
                      </a:endParaRPr>
                    </a:p>
                    <a:p>
                      <a:pPr algn="just">
                        <a:lnSpc>
                          <a:spcPct val="115000"/>
                        </a:lnSpc>
                        <a:spcAft>
                          <a:spcPts val="0"/>
                        </a:spcAft>
                      </a:pPr>
                      <a:r>
                        <a:rPr lang="en-US" sz="1800" dirty="0">
                          <a:effectLst/>
                        </a:rPr>
                        <a:t>e.g.: I should study</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r>
              <a:tr h="806916">
                <a:tc>
                  <a:txBody>
                    <a:bodyPr/>
                    <a:lstStyle/>
                    <a:p>
                      <a:pPr algn="just">
                        <a:lnSpc>
                          <a:spcPct val="115000"/>
                        </a:lnSpc>
                        <a:spcAft>
                          <a:spcPts val="0"/>
                        </a:spcAft>
                      </a:pPr>
                      <a:r>
                        <a:rPr lang="es-AR" sz="1800" dirty="0">
                          <a:effectLst/>
                        </a:rPr>
                        <a:t>PASADO</a:t>
                      </a:r>
                    </a:p>
                    <a:p>
                      <a:pPr algn="just">
                        <a:lnSpc>
                          <a:spcPct val="115000"/>
                        </a:lnSpc>
                        <a:spcAft>
                          <a:spcPts val="0"/>
                        </a:spcAft>
                      </a:pPr>
                      <a:r>
                        <a:rPr lang="en-US" sz="1800" dirty="0">
                          <a:effectLst/>
                        </a:rPr>
                        <a:t>“studied”</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15000"/>
                        </a:lnSpc>
                        <a:spcAft>
                          <a:spcPts val="0"/>
                        </a:spcAft>
                      </a:pPr>
                      <a:r>
                        <a:rPr lang="es-AR" sz="1800" b="1" dirty="0">
                          <a:effectLst/>
                        </a:rPr>
                        <a:t>Pasado Simple</a:t>
                      </a:r>
                    </a:p>
                    <a:p>
                      <a:pPr algn="just">
                        <a:lnSpc>
                          <a:spcPct val="115000"/>
                        </a:lnSpc>
                        <a:spcAft>
                          <a:spcPts val="0"/>
                        </a:spcAft>
                      </a:pPr>
                      <a:r>
                        <a:rPr lang="es-AR" sz="1800" dirty="0" err="1">
                          <a:effectLst/>
                        </a:rPr>
                        <a:t>e.g</a:t>
                      </a:r>
                      <a:r>
                        <a:rPr lang="es-AR" sz="1800" dirty="0">
                          <a:effectLst/>
                        </a:rPr>
                        <a:t>.: I </a:t>
                      </a:r>
                      <a:r>
                        <a:rPr lang="es-AR" sz="1800" dirty="0" err="1">
                          <a:effectLst/>
                        </a:rPr>
                        <a:t>studied</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15000"/>
                        </a:lnSpc>
                        <a:spcAft>
                          <a:spcPts val="0"/>
                        </a:spcAft>
                      </a:pPr>
                      <a:r>
                        <a:rPr lang="es-AR" sz="1800" dirty="0">
                          <a:effectLst/>
                        </a:rPr>
                        <a:t> </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15000"/>
                        </a:lnSpc>
                        <a:spcAft>
                          <a:spcPts val="0"/>
                        </a:spcAft>
                      </a:pPr>
                      <a:r>
                        <a:rPr lang="es-AR" sz="1800" dirty="0">
                          <a:effectLst/>
                        </a:rPr>
                        <a:t> </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r>
              <a:tr h="1510525">
                <a:tc>
                  <a:txBody>
                    <a:bodyPr/>
                    <a:lstStyle/>
                    <a:p>
                      <a:pPr algn="just">
                        <a:lnSpc>
                          <a:spcPct val="115000"/>
                        </a:lnSpc>
                        <a:spcAft>
                          <a:spcPts val="0"/>
                        </a:spcAft>
                      </a:pPr>
                      <a:r>
                        <a:rPr lang="es-AR" sz="1800" dirty="0">
                          <a:effectLst/>
                        </a:rPr>
                        <a:t>PASADO PARTICIPIO</a:t>
                      </a:r>
                    </a:p>
                    <a:p>
                      <a:pPr algn="just">
                        <a:lnSpc>
                          <a:spcPct val="115000"/>
                        </a:lnSpc>
                        <a:spcAft>
                          <a:spcPts val="0"/>
                        </a:spcAft>
                      </a:pPr>
                      <a:r>
                        <a:rPr lang="es-AR" sz="1800" dirty="0">
                          <a:effectLst/>
                        </a:rPr>
                        <a:t>“</a:t>
                      </a:r>
                      <a:r>
                        <a:rPr lang="es-AR" sz="1800" dirty="0" err="1">
                          <a:effectLst/>
                        </a:rPr>
                        <a:t>studied</a:t>
                      </a:r>
                      <a:r>
                        <a:rPr lang="es-AR" sz="1800" dirty="0">
                          <a:effectLst/>
                        </a:rPr>
                        <a:t>”</a:t>
                      </a:r>
                    </a:p>
                    <a:p>
                      <a:pPr algn="just">
                        <a:lnSpc>
                          <a:spcPct val="115000"/>
                        </a:lnSpc>
                        <a:spcAft>
                          <a:spcPts val="0"/>
                        </a:spcAft>
                      </a:pPr>
                      <a:r>
                        <a:rPr lang="es-AR" sz="1800" dirty="0">
                          <a:effectLst/>
                        </a:rPr>
                        <a:t>(3° columna)</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b="1" dirty="0" err="1">
                          <a:effectLst/>
                        </a:rPr>
                        <a:t>Presente</a:t>
                      </a:r>
                      <a:r>
                        <a:rPr lang="en-US" sz="1800" b="1" dirty="0">
                          <a:effectLst/>
                        </a:rPr>
                        <a:t>/</a:t>
                      </a:r>
                      <a:r>
                        <a:rPr lang="en-US" sz="1800" b="1" dirty="0" err="1">
                          <a:effectLst/>
                        </a:rPr>
                        <a:t>Pasado</a:t>
                      </a:r>
                      <a:r>
                        <a:rPr lang="en-US" sz="1800" b="1" dirty="0">
                          <a:effectLst/>
                        </a:rPr>
                        <a:t> Perfecto</a:t>
                      </a:r>
                      <a:endParaRPr lang="es-AR" sz="1800" b="1" dirty="0">
                        <a:effectLst/>
                      </a:endParaRPr>
                    </a:p>
                    <a:p>
                      <a:pPr algn="l">
                        <a:lnSpc>
                          <a:spcPct val="115000"/>
                        </a:lnSpc>
                        <a:spcAft>
                          <a:spcPts val="0"/>
                        </a:spcAft>
                      </a:pPr>
                      <a:r>
                        <a:rPr lang="en-US" sz="1800" dirty="0">
                          <a:effectLst/>
                        </a:rPr>
                        <a:t>e.g.: I have/had studied</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b="1" dirty="0" err="1">
                          <a:effectLst/>
                        </a:rPr>
                        <a:t>Futuro</a:t>
                      </a:r>
                      <a:r>
                        <a:rPr lang="en-US" sz="1800" b="1" dirty="0">
                          <a:effectLst/>
                        </a:rPr>
                        <a:t> Perfecto</a:t>
                      </a:r>
                      <a:endParaRPr lang="es-AR" sz="1800" b="1" dirty="0">
                        <a:effectLst/>
                      </a:endParaRPr>
                    </a:p>
                    <a:p>
                      <a:pPr algn="just">
                        <a:lnSpc>
                          <a:spcPct val="115000"/>
                        </a:lnSpc>
                        <a:spcAft>
                          <a:spcPts val="0"/>
                        </a:spcAft>
                      </a:pPr>
                      <a:r>
                        <a:rPr lang="en-US" sz="1800" dirty="0">
                          <a:effectLst/>
                        </a:rPr>
                        <a:t>e.g.: I will have studied</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b="1" dirty="0">
                          <a:effectLst/>
                        </a:rPr>
                        <a:t>VOZ PASIVA</a:t>
                      </a:r>
                      <a:endParaRPr lang="es-AR" sz="1800" b="1" dirty="0">
                        <a:effectLst/>
                      </a:endParaRPr>
                    </a:p>
                    <a:p>
                      <a:pPr algn="just">
                        <a:lnSpc>
                          <a:spcPct val="115000"/>
                        </a:lnSpc>
                        <a:spcAft>
                          <a:spcPts val="0"/>
                        </a:spcAft>
                      </a:pPr>
                      <a:r>
                        <a:rPr lang="en-US" sz="1800" dirty="0">
                          <a:effectLst/>
                        </a:rPr>
                        <a:t>e.g.: It is studied</a:t>
                      </a:r>
                      <a:endParaRPr lang="es-AR" sz="1800" dirty="0">
                        <a:effectLst/>
                      </a:endParaRPr>
                    </a:p>
                    <a:p>
                      <a:pPr algn="just">
                        <a:lnSpc>
                          <a:spcPct val="115000"/>
                        </a:lnSpc>
                        <a:spcAft>
                          <a:spcPts val="0"/>
                        </a:spcAft>
                      </a:pPr>
                      <a:r>
                        <a:rPr lang="en-US" sz="1800" dirty="0">
                          <a:effectLst/>
                        </a:rPr>
                        <a:t>        It was studied</a:t>
                      </a:r>
                      <a:endParaRPr lang="es-AR" sz="1800" dirty="0">
                        <a:effectLst/>
                      </a:endParaRPr>
                    </a:p>
                    <a:p>
                      <a:pPr algn="just">
                        <a:lnSpc>
                          <a:spcPct val="115000"/>
                        </a:lnSpc>
                        <a:spcAft>
                          <a:spcPts val="0"/>
                        </a:spcAft>
                      </a:pPr>
                      <a:r>
                        <a:rPr lang="en-US" sz="1800" dirty="0">
                          <a:effectLst/>
                        </a:rPr>
                        <a:t>        It will be studied</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r>
              <a:tr h="1285828">
                <a:tc>
                  <a:txBody>
                    <a:bodyPr/>
                    <a:lstStyle/>
                    <a:p>
                      <a:pPr algn="just">
                        <a:lnSpc>
                          <a:spcPct val="115000"/>
                        </a:lnSpc>
                        <a:spcAft>
                          <a:spcPts val="0"/>
                        </a:spcAft>
                      </a:pPr>
                      <a:r>
                        <a:rPr lang="es-AR" sz="1800">
                          <a:effectLst/>
                        </a:rPr>
                        <a:t>PRESENTE PARTICIPIO</a:t>
                      </a:r>
                    </a:p>
                    <a:p>
                      <a:pPr algn="just">
                        <a:lnSpc>
                          <a:spcPct val="115000"/>
                        </a:lnSpc>
                        <a:spcAft>
                          <a:spcPts val="0"/>
                        </a:spcAft>
                      </a:pPr>
                      <a:r>
                        <a:rPr lang="en-US" sz="1800">
                          <a:effectLst/>
                        </a:rPr>
                        <a:t>“studying”</a:t>
                      </a:r>
                      <a:endParaRPr lang="es-AR"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b="1" dirty="0" err="1">
                          <a:effectLst/>
                        </a:rPr>
                        <a:t>Presente</a:t>
                      </a:r>
                      <a:r>
                        <a:rPr lang="en-US" sz="1800" b="1" dirty="0">
                          <a:effectLst/>
                        </a:rPr>
                        <a:t>/</a:t>
                      </a:r>
                      <a:r>
                        <a:rPr lang="en-US" sz="1800" b="1" dirty="0" err="1">
                          <a:effectLst/>
                        </a:rPr>
                        <a:t>Pasado</a:t>
                      </a:r>
                      <a:r>
                        <a:rPr lang="en-US" sz="1800" b="1" dirty="0">
                          <a:effectLst/>
                        </a:rPr>
                        <a:t> Continuo</a:t>
                      </a:r>
                      <a:endParaRPr lang="es-AR" sz="1800" b="1" dirty="0">
                        <a:effectLst/>
                      </a:endParaRPr>
                    </a:p>
                    <a:p>
                      <a:pPr algn="l">
                        <a:lnSpc>
                          <a:spcPct val="115000"/>
                        </a:lnSpc>
                        <a:spcAft>
                          <a:spcPts val="0"/>
                        </a:spcAft>
                      </a:pPr>
                      <a:r>
                        <a:rPr lang="en-US" sz="1800" dirty="0">
                          <a:effectLst/>
                        </a:rPr>
                        <a:t>e.g.: I am/was studying</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b="1" dirty="0" err="1">
                          <a:effectLst/>
                        </a:rPr>
                        <a:t>Futuro</a:t>
                      </a:r>
                      <a:r>
                        <a:rPr lang="en-US" sz="1800" b="1" dirty="0">
                          <a:effectLst/>
                        </a:rPr>
                        <a:t> Continuo</a:t>
                      </a:r>
                      <a:endParaRPr lang="es-AR" sz="1800" b="1" dirty="0">
                        <a:effectLst/>
                      </a:endParaRPr>
                    </a:p>
                    <a:p>
                      <a:pPr algn="just">
                        <a:lnSpc>
                          <a:spcPct val="115000"/>
                        </a:lnSpc>
                        <a:spcAft>
                          <a:spcPts val="0"/>
                        </a:spcAft>
                      </a:pPr>
                      <a:r>
                        <a:rPr lang="en-US" sz="1800" dirty="0">
                          <a:effectLst/>
                        </a:rPr>
                        <a:t>e.g.: I will be studying</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dirty="0">
                          <a:effectLst/>
                        </a:rPr>
                        <a:t> </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30288490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291831"/>
            <a:ext cx="8596668" cy="1011675"/>
          </a:xfrm>
        </p:spPr>
        <p:txBody>
          <a:bodyPr>
            <a:normAutofit/>
          </a:bodyPr>
          <a:lstStyle/>
          <a:p>
            <a:pPr algn="ctr"/>
            <a:r>
              <a:rPr lang="es-AR" b="1" dirty="0" smtClean="0"/>
              <a:t>LOS VERBOS EN PRESENTE</a:t>
            </a:r>
            <a:r>
              <a:rPr lang="es-AR" b="1" dirty="0"/>
              <a:t/>
            </a:r>
            <a:br>
              <a:rPr lang="es-AR" b="1" dirty="0"/>
            </a:br>
            <a:r>
              <a:rPr lang="es-AR" sz="2400" b="1" dirty="0" smtClean="0"/>
              <a:t>(VOZ ACTIVA)</a:t>
            </a:r>
            <a:endParaRPr lang="es-AR" sz="2400" b="1" dirty="0"/>
          </a:p>
        </p:txBody>
      </p:sp>
      <p:sp>
        <p:nvSpPr>
          <p:cNvPr id="3" name="Marcador de contenido 2"/>
          <p:cNvSpPr>
            <a:spLocks noGrp="1"/>
          </p:cNvSpPr>
          <p:nvPr>
            <p:ph idx="1"/>
          </p:nvPr>
        </p:nvSpPr>
        <p:spPr>
          <a:xfrm>
            <a:off x="677334" y="1517514"/>
            <a:ext cx="8972504" cy="5340485"/>
          </a:xfrm>
        </p:spPr>
        <p:txBody>
          <a:bodyPr>
            <a:normAutofit/>
          </a:bodyPr>
          <a:lstStyle/>
          <a:p>
            <a:r>
              <a:rPr lang="es-AR" b="1" dirty="0" smtClean="0"/>
              <a:t>TO BE : AM, IS, ARE</a:t>
            </a:r>
          </a:p>
          <a:p>
            <a:pPr>
              <a:buFontTx/>
              <a:buChar char="-"/>
            </a:pPr>
            <a:r>
              <a:rPr lang="es-AR" dirty="0" smtClean="0"/>
              <a:t>I </a:t>
            </a:r>
            <a:r>
              <a:rPr lang="es-AR" b="1" i="1" dirty="0" smtClean="0"/>
              <a:t>am</a:t>
            </a:r>
            <a:r>
              <a:rPr lang="es-AR" dirty="0" smtClean="0"/>
              <a:t> </a:t>
            </a:r>
            <a:r>
              <a:rPr lang="es-AR" dirty="0" err="1" smtClean="0"/>
              <a:t>an</a:t>
            </a:r>
            <a:r>
              <a:rPr lang="es-AR" dirty="0" smtClean="0"/>
              <a:t> </a:t>
            </a:r>
            <a:r>
              <a:rPr lang="es-AR" dirty="0" err="1" smtClean="0"/>
              <a:t>electrical</a:t>
            </a:r>
            <a:r>
              <a:rPr lang="es-AR" dirty="0" smtClean="0"/>
              <a:t> </a:t>
            </a:r>
            <a:r>
              <a:rPr lang="es-AR" dirty="0" err="1" smtClean="0"/>
              <a:t>engineer</a:t>
            </a:r>
            <a:r>
              <a:rPr lang="es-AR" dirty="0" smtClean="0"/>
              <a:t>.</a:t>
            </a:r>
          </a:p>
          <a:p>
            <a:pPr>
              <a:buFontTx/>
              <a:buChar char="-"/>
            </a:pPr>
            <a:r>
              <a:rPr lang="es-AR" dirty="0" err="1" smtClean="0"/>
              <a:t>She</a:t>
            </a:r>
            <a:r>
              <a:rPr lang="es-AR" dirty="0" smtClean="0"/>
              <a:t> </a:t>
            </a:r>
            <a:r>
              <a:rPr lang="es-AR" b="1" i="1" dirty="0" err="1" smtClean="0"/>
              <a:t>is</a:t>
            </a:r>
            <a:r>
              <a:rPr lang="es-AR" dirty="0" smtClean="0"/>
              <a:t> a civil </a:t>
            </a:r>
            <a:r>
              <a:rPr lang="es-AR" dirty="0" err="1" smtClean="0"/>
              <a:t>engineer</a:t>
            </a:r>
            <a:r>
              <a:rPr lang="es-AR" dirty="0" smtClean="0"/>
              <a:t>.</a:t>
            </a:r>
          </a:p>
          <a:p>
            <a:pPr>
              <a:buFontTx/>
              <a:buChar char="-"/>
            </a:pPr>
            <a:r>
              <a:rPr lang="es-AR" dirty="0" err="1" smtClean="0"/>
              <a:t>They</a:t>
            </a:r>
            <a:r>
              <a:rPr lang="es-AR" dirty="0" smtClean="0"/>
              <a:t> </a:t>
            </a:r>
            <a:r>
              <a:rPr lang="es-AR" b="1" i="1" dirty="0" smtClean="0"/>
              <a:t>are</a:t>
            </a:r>
            <a:r>
              <a:rPr lang="es-AR" dirty="0" smtClean="0"/>
              <a:t> </a:t>
            </a:r>
            <a:r>
              <a:rPr lang="es-AR" dirty="0" err="1" smtClean="0"/>
              <a:t>systems</a:t>
            </a:r>
            <a:r>
              <a:rPr lang="es-AR" dirty="0" smtClean="0"/>
              <a:t> </a:t>
            </a:r>
            <a:r>
              <a:rPr lang="es-AR" dirty="0" err="1" smtClean="0"/>
              <a:t>engineers</a:t>
            </a:r>
            <a:r>
              <a:rPr lang="es-AR" dirty="0" smtClean="0"/>
              <a:t>.</a:t>
            </a:r>
          </a:p>
          <a:p>
            <a:endParaRPr lang="es-AR" dirty="0" smtClean="0"/>
          </a:p>
          <a:p>
            <a:r>
              <a:rPr lang="es-AR" b="1" dirty="0" smtClean="0"/>
              <a:t>THERE BE: THERE IS, THERE ARE</a:t>
            </a:r>
          </a:p>
          <a:p>
            <a:pPr>
              <a:buFontTx/>
              <a:buChar char="-"/>
            </a:pPr>
            <a:r>
              <a:rPr lang="es-AR" dirty="0" err="1" smtClean="0"/>
              <a:t>There</a:t>
            </a:r>
            <a:r>
              <a:rPr lang="es-AR" dirty="0" smtClean="0"/>
              <a:t> </a:t>
            </a:r>
            <a:r>
              <a:rPr lang="es-AR" b="1" i="1" dirty="0" err="1" smtClean="0"/>
              <a:t>is</a:t>
            </a:r>
            <a:r>
              <a:rPr lang="es-AR" dirty="0" smtClean="0"/>
              <a:t> a </a:t>
            </a:r>
            <a:r>
              <a:rPr lang="es-AR" dirty="0" err="1" smtClean="0"/>
              <a:t>lamp</a:t>
            </a:r>
            <a:r>
              <a:rPr lang="es-AR" dirty="0" smtClean="0"/>
              <a:t> in </a:t>
            </a:r>
            <a:r>
              <a:rPr lang="es-AR" dirty="0" err="1" smtClean="0"/>
              <a:t>my</a:t>
            </a:r>
            <a:r>
              <a:rPr lang="es-AR" dirty="0" smtClean="0"/>
              <a:t> </a:t>
            </a:r>
            <a:r>
              <a:rPr lang="es-AR" dirty="0" err="1" smtClean="0"/>
              <a:t>room</a:t>
            </a:r>
            <a:r>
              <a:rPr lang="es-AR" dirty="0" smtClean="0"/>
              <a:t>.  (</a:t>
            </a:r>
            <a:r>
              <a:rPr lang="es-AR" dirty="0" err="1" smtClean="0"/>
              <a:t>Sust</a:t>
            </a:r>
            <a:r>
              <a:rPr lang="es-AR" dirty="0" smtClean="0"/>
              <a:t>. Contables- singular)</a:t>
            </a:r>
          </a:p>
          <a:p>
            <a:pPr>
              <a:buFontTx/>
              <a:buChar char="-"/>
            </a:pPr>
            <a:r>
              <a:rPr lang="es-AR" dirty="0" err="1" smtClean="0"/>
              <a:t>There</a:t>
            </a:r>
            <a:r>
              <a:rPr lang="es-AR" dirty="0" smtClean="0"/>
              <a:t> </a:t>
            </a:r>
            <a:r>
              <a:rPr lang="es-AR" b="1" i="1" dirty="0" smtClean="0"/>
              <a:t>are</a:t>
            </a:r>
            <a:r>
              <a:rPr lang="es-AR" dirty="0" smtClean="0"/>
              <a:t> </a:t>
            </a:r>
            <a:r>
              <a:rPr lang="es-AR" dirty="0" err="1" smtClean="0"/>
              <a:t>twenty</a:t>
            </a:r>
            <a:r>
              <a:rPr lang="es-AR" dirty="0" smtClean="0"/>
              <a:t> </a:t>
            </a:r>
            <a:r>
              <a:rPr lang="es-AR" dirty="0" err="1" smtClean="0"/>
              <a:t>lamps</a:t>
            </a:r>
            <a:r>
              <a:rPr lang="es-AR" dirty="0" smtClean="0"/>
              <a:t> in </a:t>
            </a:r>
            <a:r>
              <a:rPr lang="es-AR" dirty="0" err="1" smtClean="0"/>
              <a:t>this</a:t>
            </a:r>
            <a:r>
              <a:rPr lang="es-AR" dirty="0" smtClean="0"/>
              <a:t> </a:t>
            </a:r>
            <a:r>
              <a:rPr lang="es-AR" dirty="0" err="1" smtClean="0"/>
              <a:t>classroom</a:t>
            </a:r>
            <a:r>
              <a:rPr lang="es-AR" dirty="0" smtClean="0"/>
              <a:t>. (</a:t>
            </a:r>
            <a:r>
              <a:rPr lang="es-AR" dirty="0" err="1" smtClean="0"/>
              <a:t>Sust</a:t>
            </a:r>
            <a:r>
              <a:rPr lang="es-AR" dirty="0" smtClean="0"/>
              <a:t>. Contables- plural)</a:t>
            </a:r>
          </a:p>
          <a:p>
            <a:pPr>
              <a:buFontTx/>
              <a:buChar char="-"/>
            </a:pPr>
            <a:r>
              <a:rPr lang="es-AR" dirty="0" err="1" smtClean="0"/>
              <a:t>There</a:t>
            </a:r>
            <a:r>
              <a:rPr lang="es-AR" dirty="0" smtClean="0"/>
              <a:t> </a:t>
            </a:r>
            <a:r>
              <a:rPr lang="es-AR" b="1" i="1" dirty="0" err="1" smtClean="0"/>
              <a:t>is</a:t>
            </a:r>
            <a:r>
              <a:rPr lang="es-AR" dirty="0" smtClean="0"/>
              <a:t> </a:t>
            </a:r>
            <a:r>
              <a:rPr lang="es-AR" dirty="0" err="1" smtClean="0"/>
              <a:t>some</a:t>
            </a:r>
            <a:r>
              <a:rPr lang="es-AR" dirty="0" smtClean="0"/>
              <a:t> </a:t>
            </a:r>
            <a:r>
              <a:rPr lang="es-AR" dirty="0" err="1" smtClean="0"/>
              <a:t>information</a:t>
            </a:r>
            <a:r>
              <a:rPr lang="es-AR" dirty="0" smtClean="0"/>
              <a:t> </a:t>
            </a:r>
            <a:r>
              <a:rPr lang="es-AR" dirty="0" err="1" smtClean="0"/>
              <a:t>about</a:t>
            </a:r>
            <a:r>
              <a:rPr lang="es-AR" dirty="0" smtClean="0"/>
              <a:t> </a:t>
            </a:r>
            <a:r>
              <a:rPr lang="es-AR" dirty="0" err="1" smtClean="0"/>
              <a:t>this</a:t>
            </a:r>
            <a:r>
              <a:rPr lang="es-AR" dirty="0" smtClean="0"/>
              <a:t> </a:t>
            </a:r>
            <a:r>
              <a:rPr lang="es-AR" dirty="0" err="1" smtClean="0"/>
              <a:t>application</a:t>
            </a:r>
            <a:r>
              <a:rPr lang="es-AR" dirty="0" smtClean="0"/>
              <a:t>. (</a:t>
            </a:r>
            <a:r>
              <a:rPr lang="es-AR" dirty="0" err="1" smtClean="0"/>
              <a:t>Sust</a:t>
            </a:r>
            <a:r>
              <a:rPr lang="es-AR" dirty="0" smtClean="0"/>
              <a:t>. no contables)</a:t>
            </a:r>
          </a:p>
          <a:p>
            <a:pPr>
              <a:buFontTx/>
              <a:buChar char="-"/>
            </a:pPr>
            <a:endParaRPr lang="es-AR" dirty="0"/>
          </a:p>
          <a:p>
            <a:r>
              <a:rPr lang="es-AR" b="1" dirty="0" smtClean="0"/>
              <a:t>TO HAVE: HAVE / HAS</a:t>
            </a:r>
          </a:p>
          <a:p>
            <a:pPr>
              <a:buFontTx/>
              <a:buChar char="-"/>
            </a:pPr>
            <a:r>
              <a:rPr lang="es-AR" dirty="0" err="1" smtClean="0"/>
              <a:t>We</a:t>
            </a:r>
            <a:r>
              <a:rPr lang="es-AR" dirty="0" smtClean="0"/>
              <a:t> </a:t>
            </a:r>
            <a:r>
              <a:rPr lang="es-AR" b="1" i="1" dirty="0" err="1" smtClean="0"/>
              <a:t>have</a:t>
            </a:r>
            <a:r>
              <a:rPr lang="es-AR" dirty="0" smtClean="0"/>
              <a:t> a </a:t>
            </a:r>
            <a:r>
              <a:rPr lang="es-AR" dirty="0" err="1" smtClean="0"/>
              <a:t>lot</a:t>
            </a:r>
            <a:r>
              <a:rPr lang="es-AR" dirty="0" smtClean="0"/>
              <a:t> of </a:t>
            </a:r>
            <a:r>
              <a:rPr lang="es-AR" dirty="0" err="1" smtClean="0"/>
              <a:t>students</a:t>
            </a:r>
            <a:r>
              <a:rPr lang="es-AR" dirty="0" smtClean="0"/>
              <a:t> at UTN-FRSF.</a:t>
            </a:r>
          </a:p>
          <a:p>
            <a:pPr>
              <a:buFontTx/>
              <a:buChar char="-"/>
            </a:pPr>
            <a:r>
              <a:rPr lang="es-AR" dirty="0" err="1" smtClean="0"/>
              <a:t>This</a:t>
            </a:r>
            <a:r>
              <a:rPr lang="es-AR" dirty="0" smtClean="0"/>
              <a:t> file </a:t>
            </a:r>
            <a:r>
              <a:rPr lang="es-AR" b="1" i="1" dirty="0" smtClean="0"/>
              <a:t>has</a:t>
            </a:r>
            <a:r>
              <a:rPr lang="es-AR" dirty="0" smtClean="0"/>
              <a:t> a </a:t>
            </a:r>
            <a:r>
              <a:rPr lang="es-AR" dirty="0" err="1" smtClean="0"/>
              <a:t>lot</a:t>
            </a:r>
            <a:r>
              <a:rPr lang="es-AR" dirty="0" smtClean="0"/>
              <a:t> of </a:t>
            </a:r>
            <a:r>
              <a:rPr lang="es-AR" dirty="0" err="1" smtClean="0"/>
              <a:t>information</a:t>
            </a:r>
            <a:r>
              <a:rPr lang="es-AR" dirty="0" smtClean="0"/>
              <a:t> </a:t>
            </a:r>
            <a:r>
              <a:rPr lang="es-AR" dirty="0" err="1" smtClean="0"/>
              <a:t>about</a:t>
            </a:r>
            <a:r>
              <a:rPr lang="es-AR" dirty="0" smtClean="0"/>
              <a:t> </a:t>
            </a:r>
            <a:r>
              <a:rPr lang="es-AR" dirty="0" err="1" smtClean="0"/>
              <a:t>that</a:t>
            </a:r>
            <a:r>
              <a:rPr lang="es-AR" dirty="0" smtClean="0"/>
              <a:t> </a:t>
            </a:r>
            <a:r>
              <a:rPr lang="es-AR" dirty="0" err="1" smtClean="0"/>
              <a:t>application</a:t>
            </a:r>
            <a:r>
              <a:rPr lang="es-AR" dirty="0" smtClean="0"/>
              <a:t>.</a:t>
            </a:r>
          </a:p>
          <a:p>
            <a:pPr marL="0" indent="0">
              <a:buNone/>
            </a:pPr>
            <a:endParaRPr lang="es-AR" dirty="0" smtClean="0"/>
          </a:p>
          <a:p>
            <a:endParaRPr lang="es-AR" dirty="0"/>
          </a:p>
        </p:txBody>
      </p:sp>
    </p:spTree>
    <p:extLst>
      <p:ext uri="{BB962C8B-B14F-4D97-AF65-F5344CB8AC3E}">
        <p14:creationId xmlns:p14="http://schemas.microsoft.com/office/powerpoint/2010/main" val="2406774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257577"/>
            <a:ext cx="8596668" cy="682582"/>
          </a:xfrm>
        </p:spPr>
        <p:txBody>
          <a:bodyPr/>
          <a:lstStyle/>
          <a:p>
            <a:pPr algn="ctr"/>
            <a:r>
              <a:rPr lang="es-AR" b="1" dirty="0" smtClean="0"/>
              <a:t>PRÁCTICA</a:t>
            </a:r>
            <a:endParaRPr lang="es-AR" b="1" dirty="0"/>
          </a:p>
        </p:txBody>
      </p:sp>
      <p:sp>
        <p:nvSpPr>
          <p:cNvPr id="3" name="Marcador de contenido 2"/>
          <p:cNvSpPr>
            <a:spLocks noGrp="1"/>
          </p:cNvSpPr>
          <p:nvPr>
            <p:ph idx="1"/>
          </p:nvPr>
        </p:nvSpPr>
        <p:spPr>
          <a:xfrm>
            <a:off x="528034" y="1094704"/>
            <a:ext cx="9530366" cy="5499279"/>
          </a:xfrm>
        </p:spPr>
        <p:txBody>
          <a:bodyPr>
            <a:normAutofit fontScale="70000" lnSpcReduction="20000"/>
          </a:bodyPr>
          <a:lstStyle/>
          <a:p>
            <a:pPr marL="0" indent="0" algn="just">
              <a:buNone/>
            </a:pPr>
            <a:r>
              <a:rPr lang="en-US" sz="2400" b="1" u="sng" dirty="0"/>
              <a:t>Systems engineering</a:t>
            </a:r>
            <a:r>
              <a:rPr lang="en-US" sz="2400" dirty="0"/>
              <a:t> is </a:t>
            </a:r>
            <a:r>
              <a:rPr lang="en-US" sz="2400" u="sng" dirty="0"/>
              <a:t>an interdisciplinary</a:t>
            </a:r>
            <a:r>
              <a:rPr lang="en-US" sz="2400" u="sng" dirty="0">
                <a:solidFill>
                  <a:schemeClr val="tx1"/>
                </a:solidFill>
              </a:rPr>
              <a:t> </a:t>
            </a:r>
            <a:r>
              <a:rPr lang="en-US" sz="2400" u="sng" dirty="0"/>
              <a:t>field</a:t>
            </a:r>
            <a:r>
              <a:rPr lang="en-US" sz="2400" u="sng" dirty="0">
                <a:solidFill>
                  <a:schemeClr val="tx1"/>
                </a:solidFill>
              </a:rPr>
              <a:t> of engineering and engineering management </a:t>
            </a:r>
            <a:r>
              <a:rPr lang="en-US" sz="2400" i="1" dirty="0">
                <a:solidFill>
                  <a:schemeClr val="tx1"/>
                </a:solidFill>
              </a:rPr>
              <a:t>that focuses on how to design, integrate, and manage complex systems over their life cycles</a:t>
            </a:r>
            <a:r>
              <a:rPr lang="en-US" sz="2400" dirty="0">
                <a:solidFill>
                  <a:schemeClr val="tx1"/>
                </a:solidFill>
              </a:rPr>
              <a:t>. At its core, systems engineering utilizes </a:t>
            </a:r>
            <a:r>
              <a:rPr lang="en-US" sz="2400" u="sng" dirty="0">
                <a:solidFill>
                  <a:schemeClr val="tx1"/>
                </a:solidFill>
              </a:rPr>
              <a:t>systems thinking principles </a:t>
            </a:r>
            <a:r>
              <a:rPr lang="en-US" sz="2400" dirty="0">
                <a:solidFill>
                  <a:schemeClr val="tx1"/>
                </a:solidFill>
              </a:rPr>
              <a:t>to organize this body of knowledge. </a:t>
            </a:r>
            <a:r>
              <a:rPr lang="en-US" sz="2400" u="sng" dirty="0">
                <a:solidFill>
                  <a:schemeClr val="tx1"/>
                </a:solidFill>
              </a:rPr>
              <a:t>The individual outcome of such efforts</a:t>
            </a:r>
            <a:r>
              <a:rPr lang="en-US" sz="2400" dirty="0">
                <a:solidFill>
                  <a:schemeClr val="tx1"/>
                </a:solidFill>
              </a:rPr>
              <a:t>, </a:t>
            </a:r>
            <a:r>
              <a:rPr lang="en-US" sz="2400" u="sng" dirty="0">
                <a:solidFill>
                  <a:schemeClr val="tx1"/>
                </a:solidFill>
              </a:rPr>
              <a:t>an engineered system</a:t>
            </a:r>
            <a:r>
              <a:rPr lang="en-US" sz="2400" dirty="0">
                <a:solidFill>
                  <a:schemeClr val="tx1"/>
                </a:solidFill>
              </a:rPr>
              <a:t>, can be defined as </a:t>
            </a:r>
            <a:r>
              <a:rPr lang="en-US" sz="2400" u="sng" dirty="0">
                <a:solidFill>
                  <a:schemeClr val="tx1"/>
                </a:solidFill>
              </a:rPr>
              <a:t>a combination of components </a:t>
            </a:r>
            <a:r>
              <a:rPr lang="en-US" sz="2400" dirty="0">
                <a:solidFill>
                  <a:schemeClr val="tx1"/>
                </a:solidFill>
              </a:rPr>
              <a:t>that work in synergy to collectively perform </a:t>
            </a:r>
            <a:r>
              <a:rPr lang="en-US" sz="2400" u="sng" dirty="0">
                <a:solidFill>
                  <a:schemeClr val="tx1"/>
                </a:solidFill>
              </a:rPr>
              <a:t>a useful function</a:t>
            </a:r>
            <a:r>
              <a:rPr lang="en-US" sz="2400" dirty="0">
                <a:solidFill>
                  <a:schemeClr val="tx1"/>
                </a:solidFill>
              </a:rPr>
              <a:t>.</a:t>
            </a:r>
          </a:p>
          <a:p>
            <a:pPr marL="0" indent="0" algn="just">
              <a:buNone/>
            </a:pPr>
            <a:r>
              <a:rPr lang="en-US" sz="2400" dirty="0">
                <a:solidFill>
                  <a:schemeClr val="tx1"/>
                </a:solidFill>
              </a:rPr>
              <a:t>Issues such as requirements engineering, reliability, logistics, coordination of different teams, testing and evaluation, maintainability and many other disciplines necessary for successful system design, development, implementation, and ultimate decommission become more difficult when dealing with large or complex projects. Systems engineering deals with work-processes, optimization methods, and risk management tools in such projects. It overlaps technical and human-centered disciplines such as industrial engineering, process systems engineering, mechanical engineering, manufacturing engineering, control engineering, software engineering, electrical engineering, cybernetics, aerospace engineering, organizational studies, civil engineering and project management. Systems engineering ensures that all likely aspects of a project or system are considered, and integrated into a whole.</a:t>
            </a:r>
          </a:p>
          <a:p>
            <a:pPr marL="0" indent="0" algn="just">
              <a:buNone/>
            </a:pPr>
            <a:r>
              <a:rPr lang="en-US" sz="2400" dirty="0">
                <a:solidFill>
                  <a:schemeClr val="tx1"/>
                </a:solidFill>
              </a:rPr>
              <a:t>The systems engineering process is a discovery process that is quite unlike a manufacturing process. A manufacturing process is focused on repetitive activities that achieve high quality outputs with minimum cost and time. The systems engineering process must begin by discovering the real problems that need to be resolved, and identifying the most probable or highest impact failures that can occur – systems engineering involves finding solutions to these problems.</a:t>
            </a:r>
          </a:p>
        </p:txBody>
      </p:sp>
    </p:spTree>
    <p:extLst>
      <p:ext uri="{BB962C8B-B14F-4D97-AF65-F5344CB8AC3E}">
        <p14:creationId xmlns:p14="http://schemas.microsoft.com/office/powerpoint/2010/main" val="4016179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3" y="609600"/>
            <a:ext cx="9419977" cy="1320800"/>
          </a:xfrm>
        </p:spPr>
        <p:txBody>
          <a:bodyPr/>
          <a:lstStyle/>
          <a:p>
            <a:pPr algn="ctr"/>
            <a:endParaRPr lang="es-AR" dirty="0"/>
          </a:p>
        </p:txBody>
      </p:sp>
      <p:sp>
        <p:nvSpPr>
          <p:cNvPr id="3" name="Marcador de contenido 2"/>
          <p:cNvSpPr>
            <a:spLocks noGrp="1"/>
          </p:cNvSpPr>
          <p:nvPr>
            <p:ph idx="1"/>
          </p:nvPr>
        </p:nvSpPr>
        <p:spPr>
          <a:xfrm>
            <a:off x="677333" y="2160589"/>
            <a:ext cx="9692351" cy="3880773"/>
          </a:xfrm>
        </p:spPr>
        <p:txBody>
          <a:bodyPr>
            <a:normAutofit/>
          </a:bodyPr>
          <a:lstStyle/>
          <a:p>
            <a:pPr marL="0" indent="0" algn="ctr">
              <a:buNone/>
            </a:pPr>
            <a:r>
              <a:rPr lang="es-AR" sz="6000" dirty="0" smtClean="0"/>
              <a:t>THANKS!</a:t>
            </a:r>
          </a:p>
          <a:p>
            <a:pPr marL="0" indent="0" algn="ctr">
              <a:buNone/>
            </a:pPr>
            <a:endParaRPr lang="es-AR" sz="6000" dirty="0"/>
          </a:p>
          <a:p>
            <a:pPr marL="0" indent="0" algn="ctr">
              <a:buNone/>
            </a:pPr>
            <a:endParaRPr lang="es-AR" sz="6000" dirty="0"/>
          </a:p>
        </p:txBody>
      </p:sp>
      <p:pic>
        <p:nvPicPr>
          <p:cNvPr id="6" name="Imagen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6870" y="3988339"/>
            <a:ext cx="1850562" cy="2283211"/>
          </a:xfrm>
          <a:prstGeom prst="rect">
            <a:avLst/>
          </a:prstGeom>
          <a:effectLst>
            <a:glow rad="63500">
              <a:schemeClr val="accent2">
                <a:satMod val="175000"/>
                <a:alpha val="40000"/>
              </a:schemeClr>
            </a:glow>
          </a:effectLst>
        </p:spPr>
      </p:pic>
    </p:spTree>
    <p:extLst>
      <p:ext uri="{BB962C8B-B14F-4D97-AF65-F5344CB8AC3E}">
        <p14:creationId xmlns:p14="http://schemas.microsoft.com/office/powerpoint/2010/main" val="1126998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3">
                                            <p:txEl>
                                              <p:pRg st="0" end="0"/>
                                            </p:txEl>
                                          </p:spTgt>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heel(1)">
                                      <p:cBhvr>
                                        <p:cTn id="11"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Faceta">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26E45A29B641E459FF137569A0F5FF9" ma:contentTypeVersion="2" ma:contentTypeDescription="Crear nuevo documento." ma:contentTypeScope="" ma:versionID="35cbdd2d8262ed34aeea796cb709b62b">
  <xsd:schema xmlns:xsd="http://www.w3.org/2001/XMLSchema" xmlns:xs="http://www.w3.org/2001/XMLSchema" xmlns:p="http://schemas.microsoft.com/office/2006/metadata/properties" xmlns:ns2="22dc5ea4-9cdd-4970-8bc4-2ea26828404c" targetNamespace="http://schemas.microsoft.com/office/2006/metadata/properties" ma:root="true" ma:fieldsID="77acbf78e5c2a000089bb72ad738689e" ns2:_="">
    <xsd:import namespace="22dc5ea4-9cdd-4970-8bc4-2ea26828404c"/>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dc5ea4-9cdd-4970-8bc4-2ea26828404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27ADD36-11D8-4086-8DDB-E92FAB8E7DBB}"/>
</file>

<file path=customXml/itemProps2.xml><?xml version="1.0" encoding="utf-8"?>
<ds:datastoreItem xmlns:ds="http://schemas.openxmlformats.org/officeDocument/2006/customXml" ds:itemID="{CEFD063D-CC54-45F0-8A65-DD97684BD7AF}"/>
</file>

<file path=customXml/itemProps3.xml><?xml version="1.0" encoding="utf-8"?>
<ds:datastoreItem xmlns:ds="http://schemas.openxmlformats.org/officeDocument/2006/customXml" ds:itemID="{10E14BCA-347B-4660-B3F3-91F83B2D0D1D}"/>
</file>

<file path=docProps/app.xml><?xml version="1.0" encoding="utf-8"?>
<Properties xmlns="http://schemas.openxmlformats.org/officeDocument/2006/extended-properties" xmlns:vt="http://schemas.openxmlformats.org/officeDocument/2006/docPropsVTypes">
  <Template>Facet</Template>
  <TotalTime>11163</TotalTime>
  <Words>486</Words>
  <Application>Microsoft Office PowerPoint</Application>
  <PresentationFormat>Panorámica</PresentationFormat>
  <Paragraphs>117</Paragraphs>
  <Slides>10</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10</vt:i4>
      </vt:variant>
    </vt:vector>
  </HeadingPairs>
  <TitlesOfParts>
    <vt:vector size="17" baseType="lpstr">
      <vt:lpstr>Arial</vt:lpstr>
      <vt:lpstr>Calibri</vt:lpstr>
      <vt:lpstr>Courier New</vt:lpstr>
      <vt:lpstr>Times New Roman</vt:lpstr>
      <vt:lpstr>Trebuchet MS</vt:lpstr>
      <vt:lpstr>Wingdings 3</vt:lpstr>
      <vt:lpstr>Faceta</vt:lpstr>
      <vt:lpstr>INGLÉS I</vt:lpstr>
      <vt:lpstr>EL TEXTO EN INGLÉS</vt:lpstr>
      <vt:lpstr>LA FRASE NOMINAL</vt:lpstr>
      <vt:lpstr>LA FRASE NOMINAL: ejemplos</vt:lpstr>
      <vt:lpstr>LA FRASE NOMINAL</vt:lpstr>
      <vt:lpstr>PRÁCTICA</vt:lpstr>
      <vt:lpstr>LOS VERBOS</vt:lpstr>
      <vt:lpstr>LOS VERBOS EN PRESENTE (VOZ ACTIVA)</vt:lpstr>
      <vt:lpstr>PRÁCTICA</vt:lpstr>
      <vt:lpstr>Presentación de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INGLÉS I</dc:title>
  <dc:creator>Usuario</dc:creator>
  <cp:lastModifiedBy>Usuario</cp:lastModifiedBy>
  <cp:revision>51</cp:revision>
  <dcterms:created xsi:type="dcterms:W3CDTF">2020-03-27T22:25:37Z</dcterms:created>
  <dcterms:modified xsi:type="dcterms:W3CDTF">2022-03-12T15:39:01Z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0x010100C26E45A29B641E459FF137569A0F5FF9</vt:lpwstr>
  </property>
</Properties>
</file>
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9" r:id="rId4"/>
    <p:sldId id="270" r:id="rId5"/>
    <p:sldId id="275" r:id="rId6"/>
    <p:sldId id="271" r:id="rId7"/>
    <p:sldId id="272" r:id="rId8"/>
    <p:sldId id="273" r:id="rId9"/>
    <p:sldId id="27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95340-4BE6-4894-A688-34F7A76CA03E}" type="datetimeFigureOut">
              <a:rPr lang="es-AR" smtClean="0"/>
              <a:t>1/9/2022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7C5B1-55CA-4B16-89CC-489E737D1A4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634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1F781-A72F-40F2-A968-DEF888180348}" type="slidenum">
              <a:rPr lang="es-AR" smtClean="0"/>
              <a:pPr/>
              <a:t>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8888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Usuario\Documents\NIDIA\UTN\POWERS%202021\POWERS%202021\Fundamentals%20Of%20Electric%20Circuits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51234"/>
            <a:ext cx="8596668" cy="907915"/>
          </a:xfrm>
        </p:spPr>
        <p:txBody>
          <a:bodyPr/>
          <a:lstStyle/>
          <a:p>
            <a:pPr algn="ctr"/>
            <a:r>
              <a:rPr lang="es-AR" dirty="0"/>
              <a:t>TEXTO EN INGLÉS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7692" y="1622965"/>
            <a:ext cx="9450707" cy="47649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400" dirty="0" smtClean="0"/>
              <a:t>                </a:t>
            </a:r>
            <a:r>
              <a:rPr lang="es-AR" sz="3200" b="1" dirty="0" smtClean="0"/>
              <a:t>ORACIÓN</a:t>
            </a:r>
            <a:endParaRPr lang="es-AR" sz="3200" b="1" dirty="0"/>
          </a:p>
          <a:p>
            <a:pPr marL="0" indent="0">
              <a:buNone/>
            </a:pPr>
            <a:endParaRPr lang="es-AR" sz="2000" b="1" dirty="0" smtClean="0"/>
          </a:p>
          <a:p>
            <a:pPr marL="0" indent="0">
              <a:buNone/>
            </a:pPr>
            <a:endParaRPr lang="es-AR" sz="2000" b="1" dirty="0"/>
          </a:p>
          <a:p>
            <a:r>
              <a:rPr lang="es-AR" sz="2400" dirty="0"/>
              <a:t>SIMPLE: </a:t>
            </a:r>
            <a:r>
              <a:rPr lang="es-AR" sz="2400" dirty="0" smtClean="0"/>
              <a:t>     </a:t>
            </a:r>
            <a:r>
              <a:rPr lang="es-AR" sz="2400" b="1" dirty="0" smtClean="0">
                <a:solidFill>
                  <a:schemeClr val="tx2"/>
                </a:solidFill>
              </a:rPr>
              <a:t>SUJETO  </a:t>
            </a:r>
            <a:r>
              <a:rPr lang="es-AR" sz="2400" b="1" dirty="0">
                <a:solidFill>
                  <a:schemeClr val="tx2"/>
                </a:solidFill>
              </a:rPr>
              <a:t>+ VERBO   + </a:t>
            </a:r>
            <a:r>
              <a:rPr lang="es-AR" sz="2400" b="1" dirty="0" smtClean="0">
                <a:solidFill>
                  <a:schemeClr val="tx2"/>
                </a:solidFill>
              </a:rPr>
              <a:t>    R</a:t>
            </a:r>
            <a:r>
              <a:rPr lang="es-AR" sz="2400" b="1" dirty="0">
                <a:solidFill>
                  <a:schemeClr val="tx2"/>
                </a:solidFill>
              </a:rPr>
              <a:t>. O</a:t>
            </a:r>
            <a:r>
              <a:rPr lang="es-AR" sz="2400" b="1" dirty="0" smtClean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s-AR" sz="2400" b="1" dirty="0">
              <a:solidFill>
                <a:schemeClr val="tx2"/>
              </a:solidFill>
            </a:endParaRPr>
          </a:p>
          <a:p>
            <a:r>
              <a:rPr lang="es-AR" sz="2400" dirty="0"/>
              <a:t>COMPUESTA: </a:t>
            </a:r>
            <a:r>
              <a:rPr lang="es-AR" sz="2400" dirty="0" smtClean="0"/>
              <a:t>    </a:t>
            </a:r>
            <a:r>
              <a:rPr lang="es-AR" sz="2400" dirty="0" smtClean="0">
                <a:solidFill>
                  <a:schemeClr val="tx2"/>
                </a:solidFill>
              </a:rPr>
              <a:t>s1 </a:t>
            </a:r>
            <a:r>
              <a:rPr lang="es-AR" sz="2400" dirty="0">
                <a:solidFill>
                  <a:schemeClr val="tx2"/>
                </a:solidFill>
              </a:rPr>
              <a:t>+ v1 +  </a:t>
            </a:r>
            <a:r>
              <a:rPr lang="es-AR" sz="2400" b="1" dirty="0">
                <a:solidFill>
                  <a:schemeClr val="tx2"/>
                </a:solidFill>
              </a:rPr>
              <a:t>COORDINANTE</a:t>
            </a:r>
            <a:r>
              <a:rPr lang="es-AR" sz="2400" dirty="0">
                <a:solidFill>
                  <a:schemeClr val="tx2"/>
                </a:solidFill>
              </a:rPr>
              <a:t> + s2 +</a:t>
            </a:r>
            <a:r>
              <a:rPr lang="es-AR" sz="2400" dirty="0" smtClean="0">
                <a:solidFill>
                  <a:schemeClr val="tx2"/>
                </a:solidFill>
              </a:rPr>
              <a:t>v2</a:t>
            </a:r>
          </a:p>
          <a:p>
            <a:pPr marL="0" indent="0">
              <a:buNone/>
            </a:pPr>
            <a:endParaRPr lang="es-AR" sz="2400" dirty="0">
              <a:solidFill>
                <a:schemeClr val="tx2"/>
              </a:solidFill>
            </a:endParaRPr>
          </a:p>
          <a:p>
            <a:r>
              <a:rPr lang="es-AR" sz="2400" dirty="0"/>
              <a:t>COMPLEJA</a:t>
            </a:r>
            <a:r>
              <a:rPr lang="es-AR" sz="2400" dirty="0" smtClean="0"/>
              <a:t>:     </a:t>
            </a:r>
            <a:r>
              <a:rPr lang="es-AR" sz="2400" dirty="0">
                <a:solidFill>
                  <a:schemeClr val="tx2"/>
                </a:solidFill>
              </a:rPr>
              <a:t>s1 +v1+</a:t>
            </a:r>
          </a:p>
          <a:p>
            <a:pPr marL="0" indent="0">
              <a:buNone/>
            </a:pPr>
            <a:r>
              <a:rPr lang="es-AR" sz="2400" dirty="0">
                <a:solidFill>
                  <a:schemeClr val="tx2"/>
                </a:solidFill>
              </a:rPr>
              <a:t>                                     </a:t>
            </a:r>
            <a:r>
              <a:rPr lang="es-AR" sz="2400" dirty="0" smtClean="0">
                <a:solidFill>
                  <a:schemeClr val="tx2"/>
                </a:solidFill>
              </a:rPr>
              <a:t>   </a:t>
            </a:r>
            <a:r>
              <a:rPr lang="es-AR" sz="2400" b="1" dirty="0" smtClean="0">
                <a:solidFill>
                  <a:schemeClr val="tx2"/>
                </a:solidFill>
              </a:rPr>
              <a:t>SUBORDINANTE </a:t>
            </a:r>
            <a:r>
              <a:rPr lang="es-AR" sz="2400" b="1" dirty="0">
                <a:solidFill>
                  <a:schemeClr val="tx2"/>
                </a:solidFill>
              </a:rPr>
              <a:t>+</a:t>
            </a:r>
          </a:p>
          <a:p>
            <a:pPr marL="0" indent="0">
              <a:buNone/>
            </a:pPr>
            <a:r>
              <a:rPr lang="es-AR" sz="2400" dirty="0">
                <a:solidFill>
                  <a:schemeClr val="tx2"/>
                </a:solidFill>
              </a:rPr>
              <a:t>                                                                  </a:t>
            </a:r>
            <a:r>
              <a:rPr lang="es-AR" sz="2400" dirty="0" smtClean="0">
                <a:solidFill>
                  <a:schemeClr val="tx2"/>
                </a:solidFill>
              </a:rPr>
              <a:t>    </a:t>
            </a:r>
            <a:r>
              <a:rPr lang="es-AR" sz="2400" dirty="0">
                <a:solidFill>
                  <a:schemeClr val="tx2"/>
                </a:solidFill>
              </a:rPr>
              <a:t>s2 +v2</a:t>
            </a:r>
          </a:p>
        </p:txBody>
      </p:sp>
      <p:sp>
        <p:nvSpPr>
          <p:cNvPr id="4" name="Flecha abajo 3"/>
          <p:cNvSpPr/>
          <p:nvPr/>
        </p:nvSpPr>
        <p:spPr>
          <a:xfrm>
            <a:off x="2665927" y="2395471"/>
            <a:ext cx="643943" cy="5280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515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pPr algn="ctr"/>
            <a:r>
              <a:rPr lang="es-AR" b="1" dirty="0"/>
              <a:t>ORACIÓN COMPUESTA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184856"/>
            <a:ext cx="8930305" cy="530609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endParaRPr lang="es-AR" sz="2800" dirty="0" smtClean="0"/>
          </a:p>
          <a:p>
            <a:r>
              <a:rPr lang="es-AR" sz="3200" b="1" dirty="0"/>
              <a:t>CONJUNCIÓN: Une PALABRAS, FRASES u ORACIONES </a:t>
            </a:r>
            <a:r>
              <a:rPr lang="es-AR" sz="2000" dirty="0"/>
              <a:t>    	</a:t>
            </a:r>
          </a:p>
          <a:p>
            <a:r>
              <a:rPr lang="es-AR" sz="3200" b="1" dirty="0"/>
              <a:t>TIPOS</a:t>
            </a:r>
            <a:endParaRPr lang="es-AR" sz="3200" dirty="0"/>
          </a:p>
          <a:p>
            <a:pPr marL="0" indent="0">
              <a:buNone/>
            </a:pPr>
            <a:r>
              <a:rPr lang="es-AR" sz="3200" b="1" dirty="0"/>
              <a:t>	</a:t>
            </a:r>
            <a:r>
              <a:rPr lang="es-AR" sz="2800" b="1" dirty="0"/>
              <a:t>CORRELATIVAS: </a:t>
            </a:r>
            <a:r>
              <a:rPr lang="en-US" sz="2800" b="1" dirty="0"/>
              <a:t> either…or; neither…nor; both... and; </a:t>
            </a:r>
          </a:p>
          <a:p>
            <a:pPr marL="0" indent="0">
              <a:buNone/>
            </a:pPr>
            <a:r>
              <a:rPr lang="en-US" sz="2800" b="1" dirty="0"/>
              <a:t> 	not only... but also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i="1" dirty="0"/>
              <a:t>The program is </a:t>
            </a:r>
            <a:r>
              <a:rPr lang="en-US" sz="2800" b="1" i="1" dirty="0"/>
              <a:t>both</a:t>
            </a:r>
            <a:r>
              <a:rPr lang="en-US" sz="2800" i="1" dirty="0"/>
              <a:t> difficult </a:t>
            </a:r>
            <a:r>
              <a:rPr lang="en-US" sz="2800" b="1" i="1" dirty="0"/>
              <a:t>and</a:t>
            </a:r>
            <a:r>
              <a:rPr lang="en-US" sz="2800" i="1" dirty="0"/>
              <a:t> expensive.</a:t>
            </a:r>
            <a:endParaRPr lang="es-AR" sz="2800" i="1" dirty="0"/>
          </a:p>
          <a:p>
            <a:pPr marL="0" indent="0">
              <a:buNone/>
            </a:pPr>
            <a:r>
              <a:rPr lang="es-AR" sz="2800" dirty="0"/>
              <a:t>	</a:t>
            </a:r>
          </a:p>
          <a:p>
            <a:pPr marL="0" indent="0">
              <a:buNone/>
            </a:pPr>
            <a:r>
              <a:rPr lang="es-AR" sz="2800" b="1" dirty="0"/>
              <a:t>	COORDINANTES (ORACIÓN COMPUESTA): and; </a:t>
            </a:r>
            <a:r>
              <a:rPr lang="es-AR" sz="2800" b="1" dirty="0" err="1"/>
              <a:t>but</a:t>
            </a:r>
            <a:r>
              <a:rPr lang="es-AR" sz="2800" b="1" dirty="0"/>
              <a:t>; so; </a:t>
            </a:r>
            <a:r>
              <a:rPr lang="es-AR" sz="2800" b="1" dirty="0" err="1"/>
              <a:t>therefore</a:t>
            </a:r>
            <a:r>
              <a:rPr lang="es-AR" sz="2800" b="1" dirty="0"/>
              <a:t>; </a:t>
            </a:r>
            <a:r>
              <a:rPr lang="es-AR" sz="2800" b="1" dirty="0" err="1"/>
              <a:t>yet</a:t>
            </a:r>
            <a:r>
              <a:rPr lang="es-AR" sz="2800" b="1" dirty="0"/>
              <a:t>; </a:t>
            </a:r>
            <a:r>
              <a:rPr lang="es-AR" sz="2800" b="1" dirty="0" err="1"/>
              <a:t>for</a:t>
            </a:r>
            <a:r>
              <a:rPr lang="es-AR" sz="2800" b="1" dirty="0"/>
              <a:t>; </a:t>
            </a:r>
            <a:r>
              <a:rPr lang="es-AR" sz="2800" b="1" dirty="0" err="1"/>
              <a:t>However</a:t>
            </a:r>
            <a:r>
              <a:rPr lang="es-AR" sz="2800" b="1" dirty="0"/>
              <a:t>; </a:t>
            </a:r>
            <a:r>
              <a:rPr lang="es-AR" sz="2800" b="1" dirty="0" err="1"/>
              <a:t>Then</a:t>
            </a:r>
            <a:r>
              <a:rPr lang="es-AR" sz="2800" b="1" dirty="0"/>
              <a:t>.</a:t>
            </a:r>
            <a:r>
              <a:rPr lang="es-AR" sz="2800" dirty="0"/>
              <a:t> </a:t>
            </a:r>
          </a:p>
          <a:p>
            <a:pPr marL="0" indent="0">
              <a:buNone/>
            </a:pPr>
            <a:r>
              <a:rPr lang="en-US" sz="2800" i="1" dirty="0"/>
              <a:t>	Technology contributes to society economic development </a:t>
            </a:r>
            <a:r>
              <a:rPr lang="en-US" sz="2800" b="1" i="1" dirty="0"/>
              <a:t>AND</a:t>
            </a:r>
            <a:r>
              <a:rPr lang="en-US" sz="2800" i="1" dirty="0"/>
              <a:t> (it) plays an important role in education. </a:t>
            </a:r>
          </a:p>
          <a:p>
            <a:pPr marL="0" indent="0">
              <a:buNone/>
            </a:pPr>
            <a:endParaRPr lang="es-AR" sz="2800" i="1" dirty="0"/>
          </a:p>
          <a:p>
            <a:pPr marL="0" lvl="0" indent="0">
              <a:buNone/>
            </a:pPr>
            <a:r>
              <a:rPr lang="en-US" sz="2800" i="1" dirty="0"/>
              <a:t> 	</a:t>
            </a:r>
            <a:r>
              <a:rPr lang="en-US" sz="2800" b="1" dirty="0"/>
              <a:t>SUBORDINANTES (ORACIÓN COMPLEJA): that; although, though; because; since; as; as if; as though; so that; when; if; unless; whether... </a:t>
            </a:r>
          </a:p>
          <a:p>
            <a:pPr marL="0" lvl="0" indent="0">
              <a:buNone/>
            </a:pPr>
            <a:r>
              <a:rPr lang="en-US" sz="2400" i="1" dirty="0"/>
              <a:t>	</a:t>
            </a:r>
            <a:r>
              <a:rPr lang="en-US" sz="2800" i="1" dirty="0"/>
              <a:t>She passed the exam </a:t>
            </a:r>
            <a:r>
              <a:rPr lang="en-US" sz="2800" b="1" i="1" dirty="0"/>
              <a:t>although</a:t>
            </a:r>
            <a:r>
              <a:rPr lang="en-US" sz="2800" i="1" dirty="0"/>
              <a:t> she had not studied.</a:t>
            </a:r>
            <a:endParaRPr lang="es-AR" sz="2300" dirty="0"/>
          </a:p>
        </p:txBody>
      </p:sp>
    </p:spTree>
    <p:extLst>
      <p:ext uri="{BB962C8B-B14F-4D97-AF65-F5344CB8AC3E}">
        <p14:creationId xmlns:p14="http://schemas.microsoft.com/office/powerpoint/2010/main" val="369774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63132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280809"/>
              </p:ext>
            </p:extLst>
          </p:nvPr>
        </p:nvGraphicFramePr>
        <p:xfrm>
          <a:off x="819529" y="412123"/>
          <a:ext cx="8646443" cy="603417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87322"/>
                <a:gridCol w="4559121"/>
              </a:tblGrid>
              <a:tr h="1030310">
                <a:tc>
                  <a:txBody>
                    <a:bodyPr/>
                    <a:lstStyle/>
                    <a:p>
                      <a:r>
                        <a:rPr lang="es-AR" sz="1600" b="0" dirty="0" smtClean="0"/>
                        <a:t>ACCORDINGLY (por consiguiente)</a:t>
                      </a:r>
                    </a:p>
                    <a:p>
                      <a:r>
                        <a:rPr lang="es-AR" sz="1600" b="0" dirty="0" smtClean="0"/>
                        <a:t>AFTER THAT (después que)</a:t>
                      </a:r>
                    </a:p>
                    <a:p>
                      <a:r>
                        <a:rPr lang="es-AR" sz="1600" b="0" dirty="0" smtClean="0"/>
                        <a:t>AND (Y)</a:t>
                      </a:r>
                      <a:endParaRPr lang="es-AR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0" dirty="0" smtClean="0"/>
                        <a:t>ON THE CONTRARY (por el contrario) </a:t>
                      </a:r>
                    </a:p>
                    <a:p>
                      <a:r>
                        <a:rPr lang="es-AR" sz="1600" b="0" dirty="0" smtClean="0"/>
                        <a:t>ON THE ONE HAND (por un lado) </a:t>
                      </a:r>
                    </a:p>
                    <a:p>
                      <a:r>
                        <a:rPr lang="es-AR" sz="1600" b="0" dirty="0" smtClean="0"/>
                        <a:t>ON THE OTHER HAND (por el otro lado) </a:t>
                      </a:r>
                    </a:p>
                  </a:txBody>
                  <a:tcPr/>
                </a:tc>
              </a:tr>
              <a:tr h="879281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AS (cuando – como)</a:t>
                      </a:r>
                    </a:p>
                    <a:p>
                      <a:r>
                        <a:rPr lang="es-AR" sz="1600" dirty="0" smtClean="0"/>
                        <a:t>AS WELL AS (como también)</a:t>
                      </a:r>
                    </a:p>
                    <a:p>
                      <a:r>
                        <a:rPr lang="es-AR" sz="1600" dirty="0" smtClean="0"/>
                        <a:t>AS SOON AS (tan pronto como)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OTHERWISE (de lo contrario)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SINCE (desde – puesto que) </a:t>
                      </a:r>
                    </a:p>
                  </a:txBody>
                  <a:tcPr/>
                </a:tc>
              </a:tr>
              <a:tr h="1139809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BESIDES (además)</a:t>
                      </a:r>
                    </a:p>
                    <a:p>
                      <a:r>
                        <a:rPr lang="es-AR" sz="1600" dirty="0" smtClean="0"/>
                        <a:t>BEFORE THAT (antes que) </a:t>
                      </a:r>
                    </a:p>
                    <a:p>
                      <a:r>
                        <a:rPr lang="es-AR" sz="1600" dirty="0" smtClean="0"/>
                        <a:t>BUT (pero)</a:t>
                      </a:r>
                    </a:p>
                    <a:p>
                      <a:r>
                        <a:rPr lang="es-AR" sz="1600" dirty="0" smtClean="0"/>
                        <a:t>CONSEQUENTLY (consecuentemente)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SO THEN (entonces) </a:t>
                      </a:r>
                    </a:p>
                    <a:p>
                      <a:r>
                        <a:rPr lang="es-AR" sz="1600" dirty="0" smtClean="0"/>
                        <a:t>THAT IS (eso es)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THEN (luego - entonces) </a:t>
                      </a:r>
                    </a:p>
                  </a:txBody>
                  <a:tcPr/>
                </a:tc>
              </a:tr>
              <a:tr h="1176340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FOR (por – puesto que)</a:t>
                      </a:r>
                    </a:p>
                    <a:p>
                      <a:r>
                        <a:rPr lang="es-AR" sz="1600" dirty="0" smtClean="0"/>
                        <a:t>FOR EXAMPLE (por ejemplo)</a:t>
                      </a:r>
                    </a:p>
                    <a:p>
                      <a:r>
                        <a:rPr lang="es-AR" sz="1600" dirty="0" smtClean="0"/>
                        <a:t>FOR THAT REASON (por esa razón) FURTHERMORE (además)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THEREFORE (por lo tanto)</a:t>
                      </a:r>
                    </a:p>
                    <a:p>
                      <a:r>
                        <a:rPr lang="es-AR" sz="1600" dirty="0" smtClean="0"/>
                        <a:t>THOUGH /ALTHOUGH (aunque)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UNLESS (a menos que)</a:t>
                      </a:r>
                    </a:p>
                  </a:txBody>
                  <a:tcPr/>
                </a:tc>
              </a:tr>
              <a:tr h="618754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HOWEVER (sin embargo)</a:t>
                      </a:r>
                    </a:p>
                    <a:p>
                      <a:r>
                        <a:rPr lang="es-AR" sz="1600" dirty="0" smtClean="0"/>
                        <a:t>IF / WHETHER (si)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WHILE (mientras) </a:t>
                      </a:r>
                      <a:endParaRPr lang="es-AR" sz="1600" dirty="0"/>
                    </a:p>
                  </a:txBody>
                  <a:tcPr/>
                </a:tc>
              </a:tr>
              <a:tr h="594838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NEVERTHELESS (sin embargo)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WHY (por qué)</a:t>
                      </a:r>
                      <a:endParaRPr lang="es-AR" sz="1600" dirty="0"/>
                    </a:p>
                  </a:txBody>
                  <a:tcPr/>
                </a:tc>
              </a:tr>
              <a:tr h="594838"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ONLY (solamente)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 smtClean="0"/>
                        <a:t>YET (aún) </a:t>
                      </a:r>
                      <a:endParaRPr lang="es-A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425003"/>
            <a:ext cx="8229600" cy="1059781"/>
          </a:xfrm>
        </p:spPr>
        <p:txBody>
          <a:bodyPr>
            <a:normAutofit/>
          </a:bodyPr>
          <a:lstStyle/>
          <a:p>
            <a:r>
              <a:rPr lang="es-AR" b="1" dirty="0"/>
              <a:t>ORACIONES CONDICIONALES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9550" y="954893"/>
            <a:ext cx="9445299" cy="56004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dirty="0" smtClean="0"/>
              <a:t>            </a:t>
            </a:r>
            <a:r>
              <a:rPr lang="es-AR" sz="4400" b="1" dirty="0"/>
              <a:t>	</a:t>
            </a:r>
            <a:endParaRPr lang="es-ES" b="1" dirty="0" smtClean="0"/>
          </a:p>
          <a:p>
            <a:pPr marL="0" indent="0">
              <a:buNone/>
            </a:pPr>
            <a:r>
              <a:rPr lang="es-ES_tradnl" sz="2900" dirty="0"/>
              <a:t> </a:t>
            </a:r>
          </a:p>
          <a:p>
            <a:pPr marL="0" indent="0">
              <a:buNone/>
            </a:pPr>
            <a:endParaRPr lang="es-ES_tradnl" sz="2900" dirty="0"/>
          </a:p>
          <a:p>
            <a:pPr marL="0" indent="0">
              <a:buNone/>
            </a:pPr>
            <a:endParaRPr lang="es-ES_tradnl" sz="2900" dirty="0"/>
          </a:p>
          <a:p>
            <a:pPr>
              <a:buFontTx/>
              <a:buChar char="-"/>
            </a:pPr>
            <a:r>
              <a:rPr lang="es-ES_tradnl" sz="3500" b="1" dirty="0"/>
              <a:t>PRIMER TIPO</a:t>
            </a:r>
            <a:r>
              <a:rPr lang="es-ES" sz="3500" dirty="0"/>
              <a:t> (</a:t>
            </a:r>
            <a:r>
              <a:rPr lang="es-ES" sz="3500" b="1" dirty="0"/>
              <a:t>Condicionales </a:t>
            </a:r>
            <a:r>
              <a:rPr lang="es-ES" sz="3500" b="1" dirty="0" smtClean="0"/>
              <a:t>posibles presentes </a:t>
            </a:r>
            <a:r>
              <a:rPr lang="es-ES" sz="3500" b="1" dirty="0"/>
              <a:t>o futuros</a:t>
            </a:r>
            <a:r>
              <a:rPr lang="es-ES" sz="3500" b="1" dirty="0" smtClean="0"/>
              <a:t>)</a:t>
            </a:r>
            <a:r>
              <a:rPr lang="es-ES_tradnl" sz="3500" b="1" dirty="0" smtClean="0"/>
              <a:t>:  </a:t>
            </a:r>
          </a:p>
          <a:p>
            <a:pPr marL="0" indent="0">
              <a:buNone/>
            </a:pPr>
            <a:r>
              <a:rPr lang="es-ES_tradnl" sz="3500" b="1" dirty="0"/>
              <a:t>	</a:t>
            </a:r>
            <a:r>
              <a:rPr lang="es-AR" sz="3500" dirty="0" smtClean="0"/>
              <a:t>existe </a:t>
            </a:r>
            <a:r>
              <a:rPr lang="es-AR" sz="3500" dirty="0"/>
              <a:t>posibilidad de que una situación suceda. </a:t>
            </a:r>
            <a:endParaRPr lang="es-AR" sz="3500" dirty="0" smtClean="0"/>
          </a:p>
          <a:p>
            <a:pPr marL="0" indent="0">
              <a:buNone/>
            </a:pPr>
            <a:endParaRPr lang="es-AR" sz="3500" dirty="0"/>
          </a:p>
          <a:p>
            <a:pPr marL="0" indent="0">
              <a:buNone/>
            </a:pPr>
            <a:r>
              <a:rPr lang="es-AR" sz="2300" dirty="0"/>
              <a:t>	</a:t>
            </a:r>
            <a:r>
              <a:rPr lang="es-AR" sz="2900" dirty="0" smtClean="0"/>
              <a:t>a</a:t>
            </a:r>
            <a:r>
              <a:rPr lang="es-AR" sz="3300" dirty="0"/>
              <a:t>) </a:t>
            </a:r>
            <a:r>
              <a:rPr lang="es-AR" sz="3300" b="1" dirty="0"/>
              <a:t>IF + </a:t>
            </a:r>
            <a:r>
              <a:rPr lang="es-AR" sz="3300" b="1" i="1" dirty="0"/>
              <a:t>Presente Simple </a:t>
            </a:r>
            <a:r>
              <a:rPr lang="es-AR" sz="3300" b="1" dirty="0"/>
              <a:t>,    </a:t>
            </a:r>
            <a:r>
              <a:rPr lang="es-AR" sz="3300" b="1" i="1" dirty="0"/>
              <a:t>Presente Simple </a:t>
            </a:r>
            <a:r>
              <a:rPr lang="es-AR" sz="3300" b="1" dirty="0"/>
              <a:t>o </a:t>
            </a:r>
            <a:r>
              <a:rPr lang="es-AR" sz="3300" b="1" i="1" dirty="0"/>
              <a:t>Imperativo</a:t>
            </a:r>
            <a:r>
              <a:rPr lang="es-AR" sz="3300" i="1" dirty="0"/>
              <a:t> 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</a:t>
            </a:r>
            <a:r>
              <a:rPr lang="es-AR" sz="3300" dirty="0" smtClean="0"/>
              <a:t>		I</a:t>
            </a:r>
            <a:r>
              <a:rPr lang="en-US" sz="3300" dirty="0" smtClean="0"/>
              <a:t>f </a:t>
            </a:r>
            <a:r>
              <a:rPr lang="en-US" sz="3300" dirty="0"/>
              <a:t>you </a:t>
            </a:r>
            <a:r>
              <a:rPr lang="en-US" sz="3300" i="1" dirty="0"/>
              <a:t>heat</a:t>
            </a:r>
            <a:r>
              <a:rPr lang="en-US" sz="3300" dirty="0"/>
              <a:t> ice, it </a:t>
            </a:r>
            <a:r>
              <a:rPr lang="en-US" sz="3300" i="1" dirty="0"/>
              <a:t>melts</a:t>
            </a:r>
            <a:r>
              <a:rPr lang="en-US" sz="3300" dirty="0"/>
              <a:t>. </a:t>
            </a:r>
            <a:endParaRPr lang="es-AR" sz="3300" dirty="0"/>
          </a:p>
          <a:p>
            <a:pPr marL="0" indent="0">
              <a:buNone/>
            </a:pPr>
            <a:r>
              <a:rPr lang="en-US" sz="3300" dirty="0"/>
              <a:t>  </a:t>
            </a:r>
            <a:r>
              <a:rPr lang="en-US" sz="3300" dirty="0" smtClean="0"/>
              <a:t>        </a:t>
            </a:r>
            <a:r>
              <a:rPr lang="es-AR" sz="3300" dirty="0" smtClean="0"/>
              <a:t>Nota</a:t>
            </a:r>
            <a:r>
              <a:rPr lang="es-AR" sz="3300" dirty="0"/>
              <a:t>: </a:t>
            </a:r>
            <a:r>
              <a:rPr lang="es-AR" sz="3300" dirty="0" smtClean="0"/>
              <a:t>verdades </a:t>
            </a:r>
            <a:r>
              <a:rPr lang="es-AR" sz="3300" dirty="0"/>
              <a:t>generalizadas o </a:t>
            </a:r>
            <a:r>
              <a:rPr lang="es-AR" sz="3300" dirty="0" smtClean="0"/>
              <a:t>científicas (</a:t>
            </a:r>
            <a:r>
              <a:rPr lang="es-AR" sz="3300" b="1" dirty="0" smtClean="0"/>
              <a:t>“</a:t>
            </a:r>
            <a:r>
              <a:rPr lang="es-AR" sz="3300" b="1" dirty="0"/>
              <a:t>Tipo 0</a:t>
            </a:r>
            <a:r>
              <a:rPr lang="es-AR" sz="3300" b="1" dirty="0" smtClean="0"/>
              <a:t>”).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                     </a:t>
            </a:r>
            <a:r>
              <a:rPr lang="es-AR" sz="3300" dirty="0" smtClean="0"/>
              <a:t>     </a:t>
            </a:r>
          </a:p>
          <a:p>
            <a:pPr marL="0" indent="0">
              <a:buNone/>
            </a:pPr>
            <a:r>
              <a:rPr lang="es-AR" sz="3300" dirty="0"/>
              <a:t> </a:t>
            </a:r>
            <a:r>
              <a:rPr lang="es-AR" sz="3300" dirty="0" smtClean="0"/>
              <a:t>              </a:t>
            </a:r>
            <a:r>
              <a:rPr lang="es-AR" sz="3300" dirty="0" err="1" smtClean="0"/>
              <a:t>If</a:t>
            </a:r>
            <a:r>
              <a:rPr lang="es-AR" sz="3300" dirty="0" smtClean="0"/>
              <a:t> </a:t>
            </a:r>
            <a:r>
              <a:rPr lang="es-AR" sz="3300" dirty="0"/>
              <a:t>he </a:t>
            </a:r>
            <a:r>
              <a:rPr lang="es-AR" sz="3300" i="1" dirty="0" err="1"/>
              <a:t>asks</a:t>
            </a:r>
            <a:r>
              <a:rPr lang="es-AR" sz="3300" i="1" dirty="0"/>
              <a:t> </a:t>
            </a:r>
            <a:r>
              <a:rPr lang="es-AR" sz="3300" dirty="0" err="1"/>
              <a:t>you</a:t>
            </a:r>
            <a:r>
              <a:rPr lang="es-AR" sz="3300" dirty="0"/>
              <a:t>, </a:t>
            </a:r>
            <a:r>
              <a:rPr lang="es-AR" sz="3300" i="1" dirty="0" err="1"/>
              <a:t>help</a:t>
            </a:r>
            <a:r>
              <a:rPr lang="es-AR" sz="3300" i="1" dirty="0"/>
              <a:t> </a:t>
            </a:r>
            <a:r>
              <a:rPr lang="es-AR" sz="3300" dirty="0" err="1"/>
              <a:t>him</a:t>
            </a:r>
            <a:r>
              <a:rPr lang="es-AR" sz="3300" dirty="0"/>
              <a:t>. </a:t>
            </a:r>
          </a:p>
          <a:p>
            <a:pPr marL="0" indent="0">
              <a:buNone/>
            </a:pPr>
            <a:endParaRPr lang="es-AR" sz="3300" dirty="0" smtClean="0"/>
          </a:p>
          <a:p>
            <a:pPr marL="0" indent="0">
              <a:buNone/>
            </a:pPr>
            <a:r>
              <a:rPr lang="es-AR" sz="3300" dirty="0"/>
              <a:t>	</a:t>
            </a:r>
            <a:r>
              <a:rPr lang="es-AR" sz="3300" dirty="0" smtClean="0"/>
              <a:t>b</a:t>
            </a:r>
            <a:r>
              <a:rPr lang="es-AR" sz="3300" dirty="0"/>
              <a:t>) </a:t>
            </a:r>
            <a:r>
              <a:rPr lang="es-AR" sz="3300" b="1" dirty="0"/>
              <a:t>IF + </a:t>
            </a:r>
            <a:r>
              <a:rPr lang="es-AR" sz="3300" b="1" i="1" dirty="0"/>
              <a:t>Presente Simple</a:t>
            </a:r>
            <a:r>
              <a:rPr lang="es-AR" sz="3300" b="1" dirty="0"/>
              <a:t>,   </a:t>
            </a:r>
            <a:r>
              <a:rPr lang="es-AR" sz="3300" b="1" i="1" dirty="0"/>
              <a:t>Futuro</a:t>
            </a:r>
            <a:r>
              <a:rPr lang="es-AR" sz="3300" b="1" dirty="0"/>
              <a:t> </a:t>
            </a:r>
            <a:r>
              <a:rPr lang="es-AR" sz="3300" b="1" i="1" dirty="0"/>
              <a:t>Simple</a:t>
            </a:r>
            <a:r>
              <a:rPr lang="es-AR" sz="3300" i="1" dirty="0"/>
              <a:t> </a:t>
            </a:r>
            <a:endParaRPr lang="es-AR" sz="3300" dirty="0"/>
          </a:p>
          <a:p>
            <a:pPr marL="0" indent="0">
              <a:buNone/>
            </a:pPr>
            <a:r>
              <a:rPr lang="es-AR" sz="3300" dirty="0"/>
              <a:t>          </a:t>
            </a:r>
            <a:r>
              <a:rPr lang="es-AR" sz="3300" dirty="0" smtClean="0"/>
              <a:t>		 </a:t>
            </a:r>
            <a:r>
              <a:rPr lang="en-US" sz="3300" dirty="0" smtClean="0"/>
              <a:t>If </a:t>
            </a:r>
            <a:r>
              <a:rPr lang="en-US" sz="3300" dirty="0"/>
              <a:t>you </a:t>
            </a:r>
            <a:r>
              <a:rPr lang="en-US" sz="3300" i="1" dirty="0"/>
              <a:t>ask </a:t>
            </a:r>
            <a:r>
              <a:rPr lang="en-US" sz="3300" dirty="0"/>
              <a:t>me, I </a:t>
            </a:r>
            <a:r>
              <a:rPr lang="en-US" sz="3300" i="1" dirty="0"/>
              <a:t>will tell </a:t>
            </a:r>
            <a:r>
              <a:rPr lang="en-US" sz="3300" dirty="0"/>
              <a:t>you. </a:t>
            </a:r>
            <a:endParaRPr lang="es-AR" sz="3300" dirty="0"/>
          </a:p>
          <a:p>
            <a:pPr marL="0" indent="0">
              <a:buNone/>
            </a:pPr>
            <a:r>
              <a:rPr lang="en-US" sz="3300" dirty="0"/>
              <a:t>                         </a:t>
            </a:r>
            <a:endParaRPr lang="es-AR" sz="3300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6" name="Rectángulo 5"/>
          <p:cNvSpPr/>
          <p:nvPr/>
        </p:nvSpPr>
        <p:spPr>
          <a:xfrm>
            <a:off x="1275009" y="1352282"/>
            <a:ext cx="7814398" cy="662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/>
              <a:t> </a:t>
            </a:r>
            <a:r>
              <a:rPr lang="es-ES" sz="2800" b="1" dirty="0"/>
              <a:t>IF-CLAUSE        +        MAIN CLAUSE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03864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695459"/>
          </a:xfrm>
        </p:spPr>
        <p:txBody>
          <a:bodyPr/>
          <a:lstStyle/>
          <a:p>
            <a:pPr algn="ctr"/>
            <a:r>
              <a:rPr lang="es-AR" b="1" dirty="0"/>
              <a:t>ORACIONES CONDICIONALES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4" y="1365161"/>
            <a:ext cx="9537998" cy="526745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AR" sz="2400" b="1" dirty="0" smtClean="0"/>
              <a:t> </a:t>
            </a:r>
            <a:r>
              <a:rPr lang="es-ES_tradnl" sz="2000" b="1" dirty="0"/>
              <a:t>- </a:t>
            </a:r>
            <a:r>
              <a:rPr lang="es-ES_tradnl" sz="2400" b="1" dirty="0"/>
              <a:t>SEGUNDO TIPO </a:t>
            </a:r>
            <a:r>
              <a:rPr lang="es-ES" sz="2400" dirty="0"/>
              <a:t>(</a:t>
            </a:r>
            <a:r>
              <a:rPr lang="es-ES" sz="2400" b="1" dirty="0"/>
              <a:t>Condicionales irreales presentes o futuros)</a:t>
            </a:r>
            <a:r>
              <a:rPr lang="es-ES_tradnl" sz="2200" b="1" dirty="0"/>
              <a:t>: </a:t>
            </a:r>
            <a:r>
              <a:rPr lang="es-ES_tradnl" sz="2000" dirty="0"/>
              <a:t>se</a:t>
            </a:r>
            <a:r>
              <a:rPr lang="es-ES_tradnl" sz="2000" b="1" dirty="0"/>
              <a:t> </a:t>
            </a:r>
            <a:r>
              <a:rPr lang="es-AR" sz="2000" dirty="0"/>
              <a:t>especula acerca de situaciones imaginarias o improbables; para dar consejos o hacer advertencias. </a:t>
            </a:r>
            <a:r>
              <a:rPr lang="es-AR" sz="2000" dirty="0" smtClean="0"/>
              <a:t> </a:t>
            </a:r>
            <a:r>
              <a:rPr lang="en-US" sz="2000" b="1" dirty="0"/>
              <a:t>	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 </a:t>
            </a:r>
            <a:r>
              <a:rPr lang="en-US" sz="2400" b="1" dirty="0" smtClean="0"/>
              <a:t> </a:t>
            </a:r>
            <a:r>
              <a:rPr lang="en-US" sz="2400" b="1" dirty="0"/>
              <a:t>IF + </a:t>
            </a:r>
            <a:r>
              <a:rPr lang="en-US" sz="2400" b="1" i="1" dirty="0" err="1"/>
              <a:t>Pasado</a:t>
            </a:r>
            <a:r>
              <a:rPr lang="en-US" sz="2400" b="1" dirty="0"/>
              <a:t> </a:t>
            </a:r>
            <a:r>
              <a:rPr lang="en-US" sz="2400" b="1" i="1" dirty="0"/>
              <a:t>Simple </a:t>
            </a:r>
            <a:r>
              <a:rPr lang="en-US" sz="2400" b="1" dirty="0"/>
              <a:t>,    </a:t>
            </a:r>
            <a:r>
              <a:rPr lang="en-US" sz="2400" b="1" i="1" dirty="0"/>
              <a:t>would/could/might </a:t>
            </a:r>
            <a:r>
              <a:rPr lang="en-US" sz="2400" b="1" dirty="0"/>
              <a:t>+ </a:t>
            </a:r>
            <a:r>
              <a:rPr lang="en-US" sz="2400" b="1" i="1" dirty="0"/>
              <a:t>Infinitive </a:t>
            </a:r>
            <a:endParaRPr lang="es-AR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	 If you </a:t>
            </a:r>
            <a:r>
              <a:rPr lang="en-US" sz="2000" b="1" i="1" dirty="0"/>
              <a:t>asked</a:t>
            </a:r>
            <a:r>
              <a:rPr lang="en-US" sz="2000" i="1" dirty="0"/>
              <a:t> </a:t>
            </a:r>
            <a:r>
              <a:rPr lang="en-US" sz="2000" dirty="0"/>
              <a:t>me, I </a:t>
            </a:r>
            <a:r>
              <a:rPr lang="en-US" sz="2000" b="1" i="1" dirty="0"/>
              <a:t>would</a:t>
            </a:r>
            <a:r>
              <a:rPr lang="en-US" sz="2000" i="1" dirty="0"/>
              <a:t> </a:t>
            </a:r>
            <a:r>
              <a:rPr lang="en-US" sz="2000" b="1" i="1" dirty="0"/>
              <a:t>tell</a:t>
            </a:r>
            <a:r>
              <a:rPr lang="en-US" sz="2000" i="1" dirty="0"/>
              <a:t> </a:t>
            </a:r>
            <a:r>
              <a:rPr lang="en-US" sz="2000" dirty="0"/>
              <a:t>you. 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              </a:t>
            </a:r>
            <a:r>
              <a:rPr lang="es-AR" sz="2000" dirty="0"/>
              <a:t>(Si me </a:t>
            </a:r>
            <a:r>
              <a:rPr lang="es-AR" sz="2000" i="1" dirty="0"/>
              <a:t>pregunt</a:t>
            </a:r>
            <a:r>
              <a:rPr lang="es-AR" sz="2000" b="1" i="1" dirty="0"/>
              <a:t>aras</a:t>
            </a:r>
            <a:r>
              <a:rPr lang="es-AR" sz="2000" dirty="0"/>
              <a:t>/</a:t>
            </a:r>
            <a:r>
              <a:rPr lang="es-AR" sz="2000" i="1" dirty="0"/>
              <a:t>pregunt</a:t>
            </a:r>
            <a:r>
              <a:rPr lang="es-AR" sz="2000" b="1" i="1" dirty="0"/>
              <a:t>ases</a:t>
            </a:r>
            <a:r>
              <a:rPr lang="es-AR" sz="2000" dirty="0"/>
              <a:t>, te </a:t>
            </a:r>
            <a:r>
              <a:rPr lang="es-AR" sz="2000" i="1" dirty="0"/>
              <a:t>contar</a:t>
            </a:r>
            <a:r>
              <a:rPr lang="es-AR" sz="2000" b="1" i="1" dirty="0"/>
              <a:t>ía</a:t>
            </a:r>
            <a:r>
              <a:rPr lang="es-AR" sz="2000" dirty="0"/>
              <a:t>) </a:t>
            </a:r>
          </a:p>
          <a:p>
            <a:pPr marL="0" indent="0">
              <a:buNone/>
            </a:pPr>
            <a:r>
              <a:rPr lang="es-AR" sz="2000" dirty="0"/>
              <a:t>	</a:t>
            </a:r>
          </a:p>
          <a:p>
            <a:pPr marL="0" indent="0">
              <a:buNone/>
            </a:pPr>
            <a:r>
              <a:rPr lang="es-AR" sz="2000" dirty="0"/>
              <a:t>	 </a:t>
            </a:r>
            <a:r>
              <a:rPr lang="en-US" sz="2000" dirty="0"/>
              <a:t>If I </a:t>
            </a:r>
            <a:r>
              <a:rPr lang="en-US" sz="2000" b="1" i="1" dirty="0"/>
              <a:t>were</a:t>
            </a:r>
            <a:r>
              <a:rPr lang="en-US" sz="2000" dirty="0"/>
              <a:t> you</a:t>
            </a:r>
            <a:r>
              <a:rPr lang="en-US" sz="2000" b="1" i="1" dirty="0"/>
              <a:t>, </a:t>
            </a:r>
            <a:r>
              <a:rPr lang="en-US" sz="2000" dirty="0"/>
              <a:t>I</a:t>
            </a:r>
            <a:r>
              <a:rPr lang="en-US" sz="2000" b="1" i="1" dirty="0"/>
              <a:t> would read </a:t>
            </a:r>
            <a:r>
              <a:rPr lang="en-US" sz="2000" dirty="0"/>
              <a:t>everything again.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s-AR" sz="2000" dirty="0"/>
              <a:t>(Si </a:t>
            </a:r>
            <a:r>
              <a:rPr lang="es-AR" sz="2000" b="1" i="1" dirty="0"/>
              <a:t>fuera/fuese</a:t>
            </a:r>
            <a:r>
              <a:rPr lang="es-AR" sz="2000" dirty="0"/>
              <a:t> vos, </a:t>
            </a:r>
            <a:r>
              <a:rPr lang="es-AR" sz="2000" i="1" dirty="0"/>
              <a:t>leer</a:t>
            </a:r>
            <a:r>
              <a:rPr lang="es-AR" sz="2000" b="1" i="1" dirty="0"/>
              <a:t>ía</a:t>
            </a:r>
            <a:r>
              <a:rPr lang="es-AR" sz="2000" dirty="0"/>
              <a:t> todo nuevamente)</a:t>
            </a:r>
          </a:p>
          <a:p>
            <a:pPr marL="0" indent="0">
              <a:buNone/>
            </a:pPr>
            <a:r>
              <a:rPr lang="es-AR" sz="2000" dirty="0"/>
              <a:t> </a:t>
            </a:r>
            <a:r>
              <a:rPr lang="es-AR" sz="1900" b="1" dirty="0"/>
              <a:t>Nota</a:t>
            </a:r>
            <a:r>
              <a:rPr lang="es-AR" sz="1900" dirty="0"/>
              <a:t>: Si bien la estructura verbal en la </a:t>
            </a:r>
            <a:r>
              <a:rPr lang="es-AR" sz="1900" dirty="0" err="1"/>
              <a:t>If-clause</a:t>
            </a:r>
            <a:r>
              <a:rPr lang="es-AR" sz="1900" dirty="0"/>
              <a:t> corresponde a la del Pasado Simple, la traducción al Español es la de un </a:t>
            </a:r>
            <a:r>
              <a:rPr lang="es-AR" sz="1900" i="1" dirty="0"/>
              <a:t>Subjuntivo</a:t>
            </a:r>
            <a:r>
              <a:rPr lang="es-AR" sz="1900" dirty="0"/>
              <a:t> (fuera/fuese, preguntaras/preguntase)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76518"/>
            <a:ext cx="8596668" cy="772733"/>
          </a:xfrm>
        </p:spPr>
        <p:txBody>
          <a:bodyPr>
            <a:normAutofit/>
          </a:bodyPr>
          <a:lstStyle/>
          <a:p>
            <a:pPr algn="ctr"/>
            <a:r>
              <a:rPr lang="es-AR" b="1" dirty="0"/>
              <a:t>ORACIONES CONDICIONALES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9244" y="1249251"/>
            <a:ext cx="9762186" cy="4868214"/>
          </a:xfrm>
        </p:spPr>
        <p:txBody>
          <a:bodyPr>
            <a:normAutofit fontScale="77500" lnSpcReduction="20000"/>
          </a:bodyPr>
          <a:lstStyle/>
          <a:p>
            <a:endParaRPr lang="es-AR" sz="2000" dirty="0" smtClean="0"/>
          </a:p>
          <a:p>
            <a:pPr lvl="0">
              <a:buFontTx/>
              <a:buChar char="-"/>
            </a:pPr>
            <a:r>
              <a:rPr lang="es-ES_tradnl" sz="3600" b="1" dirty="0"/>
              <a:t>TERCER TIPO </a:t>
            </a:r>
            <a:r>
              <a:rPr lang="es-AR" sz="2800" dirty="0"/>
              <a:t>(</a:t>
            </a:r>
            <a:r>
              <a:rPr lang="es-AR" sz="2800" b="1" dirty="0"/>
              <a:t>Condicionales pasados no reales):</a:t>
            </a:r>
            <a:r>
              <a:rPr lang="es-AR" sz="2800" dirty="0"/>
              <a:t> </a:t>
            </a:r>
            <a:r>
              <a:rPr lang="es-AR" sz="2600" dirty="0"/>
              <a:t>para referirnos a un evento que ya sucedió y especular acerca de posibilidades que no se </a:t>
            </a:r>
            <a:r>
              <a:rPr lang="es-AR" sz="2600" dirty="0" smtClean="0"/>
              <a:t>concretaron</a:t>
            </a:r>
            <a:r>
              <a:rPr lang="es-AR" sz="2600" dirty="0"/>
              <a:t>.</a:t>
            </a:r>
          </a:p>
          <a:p>
            <a:pPr marL="0" lvl="0" indent="0">
              <a:buNone/>
            </a:pPr>
            <a:r>
              <a:rPr lang="es-AR" sz="2800" b="1" dirty="0"/>
              <a:t>	</a:t>
            </a:r>
          </a:p>
          <a:p>
            <a:pPr marL="0" lvl="0" indent="0">
              <a:buNone/>
            </a:pPr>
            <a:r>
              <a:rPr lang="es-AR" sz="2800" b="1" dirty="0"/>
              <a:t>	</a:t>
            </a:r>
            <a:r>
              <a:rPr lang="en-US" sz="2800" b="1" dirty="0"/>
              <a:t>IF + </a:t>
            </a:r>
            <a:r>
              <a:rPr lang="en-US" sz="2800" b="1" i="1" dirty="0"/>
              <a:t>Past Perfect</a:t>
            </a:r>
            <a:r>
              <a:rPr lang="en-US" sz="2800" b="1" dirty="0"/>
              <a:t>,     </a:t>
            </a:r>
            <a:r>
              <a:rPr lang="en-US" sz="2800" b="1" i="1" dirty="0"/>
              <a:t>would/could/might/have</a:t>
            </a:r>
            <a:r>
              <a:rPr lang="en-US" sz="2800" b="1" dirty="0"/>
              <a:t> + </a:t>
            </a:r>
            <a:r>
              <a:rPr lang="en-US" sz="2800" b="1" i="1" dirty="0"/>
              <a:t>Past participle </a:t>
            </a:r>
            <a:endParaRPr lang="es-AR" sz="2800" b="1" i="1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	 If you </a:t>
            </a:r>
            <a:r>
              <a:rPr lang="en-US" sz="2800" i="1" dirty="0"/>
              <a:t>had asked </a:t>
            </a:r>
            <a:r>
              <a:rPr lang="en-US" sz="2800" dirty="0"/>
              <a:t>me, I </a:t>
            </a:r>
            <a:r>
              <a:rPr lang="en-US" sz="2800" i="1" dirty="0"/>
              <a:t>would/could have told </a:t>
            </a:r>
            <a:r>
              <a:rPr lang="en-US" sz="2800" dirty="0"/>
              <a:t>you. </a:t>
            </a:r>
            <a:endParaRPr lang="es-AR" sz="2800" dirty="0"/>
          </a:p>
          <a:p>
            <a:pPr marL="0" indent="0">
              <a:buNone/>
            </a:pPr>
            <a:r>
              <a:rPr lang="es-AR" sz="2800" dirty="0" smtClean="0"/>
              <a:t>(</a:t>
            </a:r>
            <a:r>
              <a:rPr lang="es-AR" sz="2800" dirty="0"/>
              <a:t>Si me </a:t>
            </a:r>
            <a:r>
              <a:rPr lang="es-AR" sz="2800" b="1" i="1" dirty="0"/>
              <a:t>hubieras</a:t>
            </a:r>
            <a:r>
              <a:rPr lang="es-AR" sz="2800" b="1" dirty="0"/>
              <a:t>/</a:t>
            </a:r>
            <a:r>
              <a:rPr lang="es-AR" sz="2800" b="1" i="1" dirty="0"/>
              <a:t>hubieses</a:t>
            </a:r>
            <a:r>
              <a:rPr lang="es-AR" sz="2800" i="1" dirty="0"/>
              <a:t> preguntado</a:t>
            </a:r>
            <a:r>
              <a:rPr lang="es-AR" sz="2800" dirty="0"/>
              <a:t>, te </a:t>
            </a:r>
            <a:r>
              <a:rPr lang="es-AR" sz="2800" b="1" i="1" dirty="0"/>
              <a:t>habría / podría haber</a:t>
            </a:r>
            <a:r>
              <a:rPr lang="es-AR" sz="2800" i="1" dirty="0"/>
              <a:t> contado</a:t>
            </a:r>
            <a:r>
              <a:rPr lang="es-AR" sz="2800" dirty="0"/>
              <a:t>) </a:t>
            </a:r>
          </a:p>
          <a:p>
            <a:pPr marL="0" indent="0">
              <a:buNone/>
            </a:pPr>
            <a:endParaRPr lang="es-AR" sz="2800" dirty="0"/>
          </a:p>
          <a:p>
            <a:pPr marL="0" indent="0">
              <a:buNone/>
            </a:pPr>
            <a:r>
              <a:rPr lang="es-ES" sz="2600" b="1" dirty="0"/>
              <a:t>Nota</a:t>
            </a:r>
            <a:r>
              <a:rPr lang="es-ES" sz="2600" dirty="0"/>
              <a:t>: Si bien la estructura verbal en la </a:t>
            </a:r>
            <a:r>
              <a:rPr lang="es-ES" sz="2600" dirty="0" err="1"/>
              <a:t>If-clause</a:t>
            </a:r>
            <a:r>
              <a:rPr lang="es-ES" sz="2600" dirty="0"/>
              <a:t> corresponde a la del Pasado Perfecto, la traducción al Español es la de un </a:t>
            </a:r>
            <a:r>
              <a:rPr lang="es-ES" sz="2600" i="1" dirty="0"/>
              <a:t>Subjuntivo Perfecto</a:t>
            </a:r>
            <a:r>
              <a:rPr lang="es-ES" sz="2600" dirty="0"/>
              <a:t> (hubieras/hubieses preguntado)</a:t>
            </a:r>
            <a:endParaRPr lang="es-AR" sz="2600" dirty="0"/>
          </a:p>
        </p:txBody>
      </p:sp>
    </p:spTree>
    <p:extLst>
      <p:ext uri="{BB962C8B-B14F-4D97-AF65-F5344CB8AC3E}">
        <p14:creationId xmlns:p14="http://schemas.microsoft.com/office/powerpoint/2010/main" val="59739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34851"/>
            <a:ext cx="8596668" cy="193183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7029" y="953036"/>
            <a:ext cx="9509856" cy="5563673"/>
          </a:xfrm>
        </p:spPr>
        <p:txBody>
          <a:bodyPr>
            <a:normAutofit lnSpcReduction="10000"/>
          </a:bodyPr>
          <a:lstStyle/>
          <a:p>
            <a:r>
              <a:rPr lang="es-AR" sz="2000" b="1" dirty="0" smtClean="0"/>
              <a:t> </a:t>
            </a:r>
            <a:r>
              <a:rPr lang="es-AR" sz="2400" b="1" dirty="0"/>
              <a:t>Subordinantes</a:t>
            </a:r>
            <a:r>
              <a:rPr lang="es-AR" sz="2200" dirty="0"/>
              <a:t>: introducen a la cláusula que expresa la condición (IF- </a:t>
            </a:r>
            <a:r>
              <a:rPr lang="es-AR" sz="2200" dirty="0" err="1"/>
              <a:t>Clause</a:t>
            </a:r>
            <a:r>
              <a:rPr lang="es-AR" sz="2200" dirty="0"/>
              <a:t>). </a:t>
            </a:r>
            <a:endParaRPr lang="es-AR" sz="2200" dirty="0" smtClean="0"/>
          </a:p>
          <a:p>
            <a:r>
              <a:rPr lang="es-AR" sz="2200" dirty="0" smtClean="0"/>
              <a:t>El </a:t>
            </a:r>
            <a:r>
              <a:rPr lang="es-AR" sz="2200" dirty="0"/>
              <a:t>más común: </a:t>
            </a:r>
            <a:r>
              <a:rPr lang="es-AR" sz="2200" b="1" dirty="0"/>
              <a:t>IF.</a:t>
            </a:r>
          </a:p>
          <a:p>
            <a:pPr marL="0" indent="0" algn="just">
              <a:buNone/>
            </a:pPr>
            <a:endParaRPr lang="es-AR" sz="2200" dirty="0"/>
          </a:p>
          <a:p>
            <a:pPr algn="just"/>
            <a:r>
              <a:rPr lang="es-AR" sz="2200" b="1" dirty="0" smtClean="0"/>
              <a:t> </a:t>
            </a:r>
            <a:r>
              <a:rPr lang="es-AR" sz="2400" b="1" dirty="0"/>
              <a:t>Otros subordinantes</a:t>
            </a:r>
            <a:r>
              <a:rPr lang="es-AR" sz="2200" b="1" dirty="0"/>
              <a:t>:</a:t>
            </a:r>
          </a:p>
          <a:p>
            <a:pPr marL="0" indent="0" algn="just">
              <a:buNone/>
            </a:pPr>
            <a:r>
              <a:rPr lang="es-AR" sz="2200" dirty="0"/>
              <a:t> </a:t>
            </a:r>
            <a:r>
              <a:rPr lang="es-AR" sz="2200" dirty="0" smtClean="0"/>
              <a:t>  </a:t>
            </a:r>
            <a:r>
              <a:rPr lang="es-AR" sz="2000" dirty="0" smtClean="0"/>
              <a:t> </a:t>
            </a:r>
            <a:r>
              <a:rPr lang="es-AR" sz="2200" b="1" dirty="0" err="1" smtClean="0"/>
              <a:t>Whether</a:t>
            </a:r>
            <a:r>
              <a:rPr lang="es-AR" sz="2200" dirty="0" smtClean="0"/>
              <a:t> </a:t>
            </a:r>
            <a:r>
              <a:rPr lang="es-AR" sz="2200" dirty="0"/>
              <a:t>(si); </a:t>
            </a:r>
            <a:r>
              <a:rPr lang="es-AR" sz="2200" b="1" dirty="0" err="1"/>
              <a:t>unless</a:t>
            </a:r>
            <a:r>
              <a:rPr lang="es-AR" sz="2200" dirty="0"/>
              <a:t> (</a:t>
            </a:r>
            <a:r>
              <a:rPr lang="es-AR" sz="2200" i="1" dirty="0"/>
              <a:t>a menos que</a:t>
            </a:r>
            <a:r>
              <a:rPr lang="es-AR" sz="2200" dirty="0"/>
              <a:t>); </a:t>
            </a:r>
            <a:r>
              <a:rPr lang="es-AR" sz="2200" b="1" dirty="0"/>
              <a:t>as </a:t>
            </a:r>
            <a:r>
              <a:rPr lang="es-AR" sz="2200" b="1" dirty="0" err="1"/>
              <a:t>long</a:t>
            </a:r>
            <a:r>
              <a:rPr lang="es-AR" sz="2200" b="1" dirty="0"/>
              <a:t> as</a:t>
            </a:r>
            <a:r>
              <a:rPr lang="es-AR" sz="2200" dirty="0"/>
              <a:t> (</a:t>
            </a:r>
            <a:r>
              <a:rPr lang="es-AR" sz="2200" i="1" dirty="0"/>
              <a:t>en tanto y en cuanto</a:t>
            </a:r>
            <a:r>
              <a:rPr lang="es-AR" sz="2200" dirty="0"/>
              <a:t>); </a:t>
            </a:r>
            <a:r>
              <a:rPr lang="es-AR" sz="2200" b="1" dirty="0" err="1"/>
              <a:t>only</a:t>
            </a:r>
            <a:r>
              <a:rPr lang="es-AR" sz="2200" b="1" dirty="0"/>
              <a:t> </a:t>
            </a:r>
            <a:r>
              <a:rPr lang="es-AR" sz="2200" b="1" dirty="0" err="1"/>
              <a:t>if</a:t>
            </a:r>
            <a:r>
              <a:rPr lang="es-AR" sz="2200" dirty="0"/>
              <a:t> (</a:t>
            </a:r>
            <a:r>
              <a:rPr lang="es-AR" sz="2200" i="1" dirty="0"/>
              <a:t>solo s</a:t>
            </a:r>
            <a:r>
              <a:rPr lang="es-AR" sz="2200" dirty="0"/>
              <a:t>i), </a:t>
            </a:r>
            <a:r>
              <a:rPr lang="es-AR" sz="2200" b="1" dirty="0" err="1"/>
              <a:t>provided</a:t>
            </a:r>
            <a:r>
              <a:rPr lang="es-AR" sz="2200" b="1" dirty="0"/>
              <a:t> </a:t>
            </a:r>
            <a:r>
              <a:rPr lang="es-AR" sz="2200" b="1" dirty="0" err="1"/>
              <a:t>that</a:t>
            </a:r>
            <a:r>
              <a:rPr lang="es-AR" sz="2200" b="1" dirty="0"/>
              <a:t>/</a:t>
            </a:r>
            <a:r>
              <a:rPr lang="es-AR" sz="2200" b="1" dirty="0" err="1"/>
              <a:t>providing</a:t>
            </a:r>
            <a:r>
              <a:rPr lang="es-AR" sz="2200" b="1" dirty="0"/>
              <a:t> </a:t>
            </a:r>
            <a:r>
              <a:rPr lang="es-AR" sz="2200" b="1" dirty="0" err="1"/>
              <a:t>that</a:t>
            </a:r>
            <a:r>
              <a:rPr lang="es-AR" sz="2200" dirty="0"/>
              <a:t> (</a:t>
            </a:r>
            <a:r>
              <a:rPr lang="es-AR" sz="2200" i="1" dirty="0"/>
              <a:t>siempre que</a:t>
            </a:r>
            <a:r>
              <a:rPr lang="es-AR" sz="2200" dirty="0" smtClean="0"/>
              <a:t>).</a:t>
            </a:r>
          </a:p>
          <a:p>
            <a:pPr marL="0" indent="0" algn="just">
              <a:buNone/>
            </a:pPr>
            <a:r>
              <a:rPr lang="es-AR" sz="2000" dirty="0" smtClean="0"/>
              <a:t>     Ejemplos</a:t>
            </a:r>
            <a:r>
              <a:rPr lang="es-AR" sz="2200" dirty="0" smtClean="0"/>
              <a:t>: </a:t>
            </a:r>
            <a:endParaRPr lang="es-AR" sz="2200" dirty="0"/>
          </a:p>
          <a:p>
            <a:pPr marL="0" indent="0" algn="just">
              <a:buNone/>
            </a:pPr>
            <a:r>
              <a:rPr lang="es-AR" sz="2000" dirty="0"/>
              <a:t>   </a:t>
            </a:r>
            <a:r>
              <a:rPr lang="es-AR" sz="2000" dirty="0" smtClean="0"/>
              <a:t>- </a:t>
            </a:r>
            <a:r>
              <a:rPr lang="es-AR" sz="2000" b="1" i="1" dirty="0" err="1" smtClean="0"/>
              <a:t>Unless</a:t>
            </a:r>
            <a:r>
              <a:rPr lang="es-AR" sz="2000" dirty="0" smtClean="0"/>
              <a:t>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know</a:t>
            </a:r>
            <a:r>
              <a:rPr lang="es-AR" sz="2000" dirty="0"/>
              <a:t> </a:t>
            </a:r>
            <a:r>
              <a:rPr lang="es-AR" sz="2000" dirty="0" err="1"/>
              <a:t>the</a:t>
            </a:r>
            <a:r>
              <a:rPr lang="es-AR" sz="2000" dirty="0"/>
              <a:t> </a:t>
            </a:r>
            <a:r>
              <a:rPr lang="es-AR" sz="2000" dirty="0" err="1"/>
              <a:t>answer</a:t>
            </a:r>
            <a:r>
              <a:rPr lang="es-AR" sz="2000" dirty="0"/>
              <a:t>,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cannot</a:t>
            </a:r>
            <a:r>
              <a:rPr lang="es-AR" sz="2000" dirty="0"/>
              <a:t> </a:t>
            </a:r>
            <a:r>
              <a:rPr lang="es-AR" sz="2000" dirty="0" err="1"/>
              <a:t>follow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   </a:t>
            </a:r>
            <a:r>
              <a:rPr lang="es-AR" sz="2000" dirty="0" smtClean="0"/>
              <a:t>- </a:t>
            </a:r>
            <a:r>
              <a:rPr lang="es-AR" sz="2000" dirty="0" err="1" smtClean="0"/>
              <a:t>The</a:t>
            </a:r>
            <a:r>
              <a:rPr lang="es-AR" sz="2000" dirty="0" smtClean="0"/>
              <a:t> civil </a:t>
            </a:r>
            <a:r>
              <a:rPr lang="es-AR" sz="2000" dirty="0" err="1"/>
              <a:t>engineer</a:t>
            </a:r>
            <a:r>
              <a:rPr lang="es-AR" sz="2000" dirty="0"/>
              <a:t> </a:t>
            </a:r>
            <a:r>
              <a:rPr lang="es-AR" sz="2000" dirty="0" err="1"/>
              <a:t>will</a:t>
            </a:r>
            <a:r>
              <a:rPr lang="es-AR" sz="2000" dirty="0"/>
              <a:t> </a:t>
            </a:r>
            <a:r>
              <a:rPr lang="es-AR" sz="2000" dirty="0" err="1"/>
              <a:t>have</a:t>
            </a:r>
            <a:r>
              <a:rPr lang="es-AR" sz="2000" dirty="0"/>
              <a:t> to </a:t>
            </a:r>
            <a:r>
              <a:rPr lang="es-AR" sz="2000" dirty="0" err="1"/>
              <a:t>modify</a:t>
            </a:r>
            <a:r>
              <a:rPr lang="es-AR" sz="2000" dirty="0"/>
              <a:t> </a:t>
            </a:r>
            <a:r>
              <a:rPr lang="es-AR" sz="2000" dirty="0" err="1"/>
              <a:t>the</a:t>
            </a:r>
            <a:r>
              <a:rPr lang="es-AR" sz="2000" dirty="0"/>
              <a:t> </a:t>
            </a:r>
            <a:r>
              <a:rPr lang="es-AR" sz="2000" dirty="0" err="1" smtClean="0"/>
              <a:t>structure</a:t>
            </a:r>
            <a:r>
              <a:rPr lang="es-AR" sz="2000" dirty="0" smtClean="0"/>
              <a:t> </a:t>
            </a:r>
            <a:r>
              <a:rPr lang="es-AR" sz="2000" b="1" i="1" dirty="0" err="1" smtClean="0"/>
              <a:t>provided</a:t>
            </a:r>
            <a:r>
              <a:rPr lang="es-AR" sz="2000" dirty="0" smtClean="0"/>
              <a:t> </a:t>
            </a:r>
            <a:r>
              <a:rPr lang="es-AR" sz="2000" b="1" i="1" dirty="0" err="1"/>
              <a:t>that</a:t>
            </a:r>
            <a:r>
              <a:rPr lang="es-AR" sz="2000" dirty="0"/>
              <a:t> </a:t>
            </a:r>
            <a:r>
              <a:rPr lang="es-AR" sz="2000" dirty="0" err="1"/>
              <a:t>it</a:t>
            </a:r>
            <a:r>
              <a:rPr lang="es-AR" sz="2000" dirty="0"/>
              <a:t> </a:t>
            </a:r>
            <a:r>
              <a:rPr lang="es-AR" sz="2000" dirty="0" err="1"/>
              <a:t>does</a:t>
            </a:r>
            <a:r>
              <a:rPr lang="es-AR" sz="2000" dirty="0"/>
              <a:t> </a:t>
            </a:r>
            <a:r>
              <a:rPr lang="es-AR" sz="2000" dirty="0" err="1"/>
              <a:t>not</a:t>
            </a:r>
            <a:r>
              <a:rPr lang="es-AR" sz="2000" dirty="0"/>
              <a:t> </a:t>
            </a:r>
            <a:r>
              <a:rPr lang="es-AR" sz="2000" dirty="0" err="1"/>
              <a:t>work</a:t>
            </a:r>
            <a:r>
              <a:rPr lang="es-AR" sz="2000" dirty="0"/>
              <a:t> </a:t>
            </a:r>
            <a:r>
              <a:rPr lang="es-AR" sz="2000" dirty="0" err="1"/>
              <a:t>properly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    </a:t>
            </a:r>
            <a:r>
              <a:rPr lang="es-AR" sz="2000" dirty="0" smtClean="0"/>
              <a:t>- </a:t>
            </a:r>
            <a:r>
              <a:rPr lang="es-AR" sz="2000" b="1" i="1" dirty="0" smtClean="0"/>
              <a:t>As </a:t>
            </a:r>
            <a:r>
              <a:rPr lang="es-AR" sz="2000" b="1" i="1" dirty="0" err="1"/>
              <a:t>long</a:t>
            </a:r>
            <a:r>
              <a:rPr lang="es-AR" sz="2000" b="1" i="1" dirty="0"/>
              <a:t> as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practise</a:t>
            </a:r>
            <a:r>
              <a:rPr lang="es-AR" sz="2000" dirty="0"/>
              <a:t> </a:t>
            </a:r>
            <a:r>
              <a:rPr lang="es-AR" sz="2000" dirty="0" err="1"/>
              <a:t>these</a:t>
            </a:r>
            <a:r>
              <a:rPr lang="es-AR" sz="2000" dirty="0"/>
              <a:t> </a:t>
            </a:r>
            <a:r>
              <a:rPr lang="es-AR" sz="2000" dirty="0" err="1"/>
              <a:t>exercises</a:t>
            </a:r>
            <a:r>
              <a:rPr lang="es-AR" sz="2000" dirty="0"/>
              <a:t>, </a:t>
            </a:r>
            <a:r>
              <a:rPr lang="es-AR" sz="2000" dirty="0" err="1"/>
              <a:t>you</a:t>
            </a:r>
            <a:r>
              <a:rPr lang="es-AR" sz="2000" dirty="0"/>
              <a:t> </a:t>
            </a:r>
            <a:r>
              <a:rPr lang="es-AR" sz="2000" dirty="0" err="1"/>
              <a:t>won´t</a:t>
            </a:r>
            <a:r>
              <a:rPr lang="es-AR" sz="2000" dirty="0"/>
              <a:t> </a:t>
            </a:r>
            <a:r>
              <a:rPr lang="es-AR" sz="2000" dirty="0" err="1"/>
              <a:t>have</a:t>
            </a:r>
            <a:r>
              <a:rPr lang="es-AR" sz="2000" dirty="0"/>
              <a:t> </a:t>
            </a:r>
            <a:r>
              <a:rPr lang="es-AR" sz="2000" dirty="0" err="1"/>
              <a:t>problems</a:t>
            </a:r>
            <a:r>
              <a:rPr lang="es-AR" sz="2000" dirty="0"/>
              <a:t> in </a:t>
            </a:r>
            <a:r>
              <a:rPr lang="es-AR" sz="2000" dirty="0" err="1"/>
              <a:t>the</a:t>
            </a:r>
            <a:r>
              <a:rPr lang="es-AR" sz="2000" dirty="0"/>
              <a:t> final </a:t>
            </a:r>
            <a:r>
              <a:rPr lang="es-AR" sz="2000" dirty="0" err="1"/>
              <a:t>exam</a:t>
            </a:r>
            <a:r>
              <a:rPr lang="es-AR" sz="2000" dirty="0"/>
              <a:t>.</a:t>
            </a:r>
          </a:p>
          <a:p>
            <a:pPr marL="0" indent="0" algn="just">
              <a:buNone/>
            </a:pPr>
            <a:r>
              <a:rPr lang="es-AR" sz="2000" dirty="0"/>
              <a:t>	</a:t>
            </a:r>
          </a:p>
          <a:p>
            <a:pPr marL="0" indent="0">
              <a:buNone/>
            </a:pP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315622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AR" sz="4800" b="1" dirty="0" smtClean="0"/>
              <a:t/>
            </a:r>
            <a:br>
              <a:rPr lang="es-AR" sz="4800" b="1" dirty="0" smtClean="0"/>
            </a:br>
            <a:r>
              <a:rPr lang="es-AR" sz="5300" b="1" dirty="0" smtClean="0"/>
              <a:t>PRACTICE</a:t>
            </a:r>
            <a:endParaRPr lang="es-AR" sz="53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743200"/>
            <a:ext cx="8596668" cy="3298162"/>
          </a:xfrm>
        </p:spPr>
        <p:txBody>
          <a:bodyPr>
            <a:normAutofit/>
          </a:bodyPr>
          <a:lstStyle/>
          <a:p>
            <a:r>
              <a:rPr lang="es-AR" sz="2400" dirty="0">
                <a:hlinkClick r:id="rId2" action="ppaction://hlinkfile"/>
              </a:rPr>
              <a:t>Fundamentals Of Electric </a:t>
            </a:r>
            <a:r>
              <a:rPr lang="es-AR" sz="2400" dirty="0" smtClean="0">
                <a:hlinkClick r:id="rId2" action="ppaction://hlinkfile"/>
              </a:rPr>
              <a:t>Circuits.pdf</a:t>
            </a:r>
            <a:endParaRPr lang="es-AR" sz="2400" dirty="0">
              <a:hlinkClick r:id="rId2" action="ppaction://hlinkfile"/>
            </a:endParaRPr>
          </a:p>
          <a:p>
            <a:pPr marL="0" indent="0">
              <a:buNone/>
            </a:pPr>
            <a:r>
              <a:rPr lang="es-AR" sz="2400" dirty="0" smtClean="0"/>
              <a:t>  (Pág. </a:t>
            </a:r>
            <a:r>
              <a:rPr lang="es-AR" sz="2400" smtClean="0"/>
              <a:t>124)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1900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6888</TotalTime>
  <Words>438</Words>
  <Application>Microsoft Office PowerPoint</Application>
  <PresentationFormat>Panorámica</PresentationFormat>
  <Paragraphs>112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</vt:lpstr>
      <vt:lpstr>INGLÉS I</vt:lpstr>
      <vt:lpstr>TEXTO EN INGLÉS</vt:lpstr>
      <vt:lpstr>ORACIÓN COMPUESTA</vt:lpstr>
      <vt:lpstr>Presentación de PowerPoint</vt:lpstr>
      <vt:lpstr>ORACIONES CONDICIONALES</vt:lpstr>
      <vt:lpstr>ORACIONES CONDICIONALES</vt:lpstr>
      <vt:lpstr>ORACIONES CONDICIONALES</vt:lpstr>
      <vt:lpstr>Presentación de PowerPoint</vt:lpstr>
      <vt:lpstr> PRACTICE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62</cp:revision>
  <dcterms:created xsi:type="dcterms:W3CDTF">2020-03-27T22:25:37Z</dcterms:created>
  <dcterms:modified xsi:type="dcterms:W3CDTF">2022-09-01T14:54:25Z</dcterms:modified>
</cp:coreProperties>
</file>
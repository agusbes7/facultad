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7" r:id="rId2"/>
    <p:sldId id="266" r:id="rId3"/>
    <p:sldId id="265" r:id="rId4"/>
    <p:sldId id="260" r:id="rId5"/>
    <p:sldId id="263" r:id="rId6"/>
    <p:sldId id="264" r:id="rId7"/>
    <p:sldId id="262" r:id="rId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1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4FFCB0-4DAB-4EE7-8E71-DED8AFC388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0309A9B0-FEDD-4BD1-A2FC-F37A89BA23CE}">
      <dgm:prSet custT="1"/>
      <dgm:spPr/>
      <dgm:t>
        <a:bodyPr/>
        <a:lstStyle/>
        <a:p>
          <a:pPr rtl="0"/>
          <a:r>
            <a:rPr lang="es-AR" sz="2800" b="1" dirty="0"/>
            <a:t>Unidad I</a:t>
          </a:r>
          <a:r>
            <a:rPr lang="es-AR" sz="2800" dirty="0"/>
            <a:t>- </a:t>
          </a:r>
          <a:r>
            <a:rPr lang="es-AR" sz="3200" b="1" i="1" dirty="0"/>
            <a:t>La ingeniería y la sociedad actual:</a:t>
          </a:r>
        </a:p>
      </dgm:t>
    </dgm:pt>
    <dgm:pt modelId="{4F346D7D-A37B-40D4-8493-AF3E9921175B}" type="parTrans" cxnId="{3D4041A9-E445-4A00-88D9-E596083507B2}">
      <dgm:prSet/>
      <dgm:spPr/>
      <dgm:t>
        <a:bodyPr/>
        <a:lstStyle/>
        <a:p>
          <a:endParaRPr lang="es-AR"/>
        </a:p>
      </dgm:t>
    </dgm:pt>
    <dgm:pt modelId="{F7060B4C-BC99-40AD-8F40-6E100DAF4E89}" type="sibTrans" cxnId="{3D4041A9-E445-4A00-88D9-E596083507B2}">
      <dgm:prSet/>
      <dgm:spPr/>
      <dgm:t>
        <a:bodyPr/>
        <a:lstStyle/>
        <a:p>
          <a:endParaRPr lang="es-AR"/>
        </a:p>
      </dgm:t>
    </dgm:pt>
    <dgm:pt modelId="{44131925-A9A5-43FB-B7AB-C3F989BC66BD}" type="pres">
      <dgm:prSet presAssocID="{064FFCB0-4DAB-4EE7-8E71-DED8AFC3885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FDC69621-52A9-41DD-8258-A99C651F2654}" type="pres">
      <dgm:prSet presAssocID="{0309A9B0-FEDD-4BD1-A2FC-F37A89BA23CE}" presName="parentText" presStyleLbl="node1" presStyleIdx="0" presStyleCnt="1" custLinFactNeighborY="1348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D4041A9-E445-4A00-88D9-E596083507B2}" srcId="{064FFCB0-4DAB-4EE7-8E71-DED8AFC3885E}" destId="{0309A9B0-FEDD-4BD1-A2FC-F37A89BA23CE}" srcOrd="0" destOrd="0" parTransId="{4F346D7D-A37B-40D4-8493-AF3E9921175B}" sibTransId="{F7060B4C-BC99-40AD-8F40-6E100DAF4E89}"/>
    <dgm:cxn modelId="{9B0E1C59-544B-4459-B3C6-C870460E0107}" type="presOf" srcId="{064FFCB0-4DAB-4EE7-8E71-DED8AFC3885E}" destId="{44131925-A9A5-43FB-B7AB-C3F989BC66BD}" srcOrd="0" destOrd="0" presId="urn:microsoft.com/office/officeart/2005/8/layout/vList2"/>
    <dgm:cxn modelId="{3C59D2C3-03FD-4B0B-8BF1-738B159CB6F3}" type="presOf" srcId="{0309A9B0-FEDD-4BD1-A2FC-F37A89BA23CE}" destId="{FDC69621-52A9-41DD-8258-A99C651F2654}" srcOrd="0" destOrd="0" presId="urn:microsoft.com/office/officeart/2005/8/layout/vList2"/>
    <dgm:cxn modelId="{B5B46C67-A5EC-4F77-872C-4C36B32E12D8}" type="presParOf" srcId="{44131925-A9A5-43FB-B7AB-C3F989BC66BD}" destId="{FDC69621-52A9-41DD-8258-A99C651F265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4FFCB0-4DAB-4EE7-8E71-DED8AFC388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0309A9B0-FEDD-4BD1-A2FC-F37A89BA23CE}">
      <dgm:prSet/>
      <dgm:spPr/>
      <dgm:t>
        <a:bodyPr/>
        <a:lstStyle/>
        <a:p>
          <a:pPr algn="ctr" rtl="0">
            <a:tabLst>
              <a:tab pos="179388" algn="l"/>
            </a:tabLst>
          </a:pPr>
          <a:r>
            <a:rPr lang="es-AR" b="1" dirty="0"/>
            <a:t>Unidad II</a:t>
          </a:r>
          <a:r>
            <a:rPr lang="es-AR" dirty="0"/>
            <a:t>- </a:t>
          </a:r>
          <a:r>
            <a:rPr lang="es-AR" b="1" i="1" dirty="0"/>
            <a:t>El/La ingeniero/a en el mundo actual y su formación universitaria:</a:t>
          </a:r>
        </a:p>
      </dgm:t>
    </dgm:pt>
    <dgm:pt modelId="{4F346D7D-A37B-40D4-8493-AF3E9921175B}" type="parTrans" cxnId="{3D4041A9-E445-4A00-88D9-E596083507B2}">
      <dgm:prSet/>
      <dgm:spPr/>
      <dgm:t>
        <a:bodyPr/>
        <a:lstStyle/>
        <a:p>
          <a:endParaRPr lang="es-AR"/>
        </a:p>
      </dgm:t>
    </dgm:pt>
    <dgm:pt modelId="{F7060B4C-BC99-40AD-8F40-6E100DAF4E89}" type="sibTrans" cxnId="{3D4041A9-E445-4A00-88D9-E596083507B2}">
      <dgm:prSet/>
      <dgm:spPr/>
      <dgm:t>
        <a:bodyPr/>
        <a:lstStyle/>
        <a:p>
          <a:endParaRPr lang="es-AR"/>
        </a:p>
      </dgm:t>
    </dgm:pt>
    <dgm:pt modelId="{44131925-A9A5-43FB-B7AB-C3F989BC66BD}" type="pres">
      <dgm:prSet presAssocID="{064FFCB0-4DAB-4EE7-8E71-DED8AFC3885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FDC69621-52A9-41DD-8258-A99C651F2654}" type="pres">
      <dgm:prSet presAssocID="{0309A9B0-FEDD-4BD1-A2FC-F37A89BA23CE}" presName="parentText" presStyleLbl="node1" presStyleIdx="0" presStyleCnt="1" custLinFactNeighborY="1348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D4041A9-E445-4A00-88D9-E596083507B2}" srcId="{064FFCB0-4DAB-4EE7-8E71-DED8AFC3885E}" destId="{0309A9B0-FEDD-4BD1-A2FC-F37A89BA23CE}" srcOrd="0" destOrd="0" parTransId="{4F346D7D-A37B-40D4-8493-AF3E9921175B}" sibTransId="{F7060B4C-BC99-40AD-8F40-6E100DAF4E89}"/>
    <dgm:cxn modelId="{1B468B4E-9D91-4009-9282-2E7AACB4DCAB}" type="presOf" srcId="{0309A9B0-FEDD-4BD1-A2FC-F37A89BA23CE}" destId="{FDC69621-52A9-41DD-8258-A99C651F2654}" srcOrd="0" destOrd="0" presId="urn:microsoft.com/office/officeart/2005/8/layout/vList2"/>
    <dgm:cxn modelId="{CBD243DC-C72B-4911-8EFF-05A400B1E033}" type="presOf" srcId="{064FFCB0-4DAB-4EE7-8E71-DED8AFC3885E}" destId="{44131925-A9A5-43FB-B7AB-C3F989BC66BD}" srcOrd="0" destOrd="0" presId="urn:microsoft.com/office/officeart/2005/8/layout/vList2"/>
    <dgm:cxn modelId="{0A38E2A8-B3D7-43C6-A465-22F0F35E72B5}" type="presParOf" srcId="{44131925-A9A5-43FB-B7AB-C3F989BC66BD}" destId="{FDC69621-52A9-41DD-8258-A99C651F265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4FFCB0-4DAB-4EE7-8E71-DED8AFC388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0309A9B0-FEDD-4BD1-A2FC-F37A89BA23CE}">
      <dgm:prSet/>
      <dgm:spPr/>
      <dgm:t>
        <a:bodyPr/>
        <a:lstStyle/>
        <a:p>
          <a:pPr algn="ctr" rtl="0"/>
          <a:r>
            <a:rPr lang="es-AR" b="1" dirty="0"/>
            <a:t>Unidad III</a:t>
          </a:r>
          <a:r>
            <a:rPr lang="es-AR" dirty="0"/>
            <a:t>- </a:t>
          </a:r>
          <a:r>
            <a:rPr lang="es-AR" b="1" i="1" dirty="0"/>
            <a:t>Ciencia y tecnología los pilares de la formación integral del ingeniero/a:</a:t>
          </a:r>
        </a:p>
      </dgm:t>
    </dgm:pt>
    <dgm:pt modelId="{4F346D7D-A37B-40D4-8493-AF3E9921175B}" type="parTrans" cxnId="{3D4041A9-E445-4A00-88D9-E596083507B2}">
      <dgm:prSet/>
      <dgm:spPr/>
      <dgm:t>
        <a:bodyPr/>
        <a:lstStyle/>
        <a:p>
          <a:endParaRPr lang="es-AR"/>
        </a:p>
      </dgm:t>
    </dgm:pt>
    <dgm:pt modelId="{F7060B4C-BC99-40AD-8F40-6E100DAF4E89}" type="sibTrans" cxnId="{3D4041A9-E445-4A00-88D9-E596083507B2}">
      <dgm:prSet/>
      <dgm:spPr/>
      <dgm:t>
        <a:bodyPr/>
        <a:lstStyle/>
        <a:p>
          <a:endParaRPr lang="es-AR"/>
        </a:p>
      </dgm:t>
    </dgm:pt>
    <dgm:pt modelId="{44131925-A9A5-43FB-B7AB-C3F989BC66BD}" type="pres">
      <dgm:prSet presAssocID="{064FFCB0-4DAB-4EE7-8E71-DED8AFC3885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FDC69621-52A9-41DD-8258-A99C651F2654}" type="pres">
      <dgm:prSet presAssocID="{0309A9B0-FEDD-4BD1-A2FC-F37A89BA23CE}" presName="parentText" presStyleLbl="node1" presStyleIdx="0" presStyleCnt="1" custLinFactNeighborY="1348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D4041A9-E445-4A00-88D9-E596083507B2}" srcId="{064FFCB0-4DAB-4EE7-8E71-DED8AFC3885E}" destId="{0309A9B0-FEDD-4BD1-A2FC-F37A89BA23CE}" srcOrd="0" destOrd="0" parTransId="{4F346D7D-A37B-40D4-8493-AF3E9921175B}" sibTransId="{F7060B4C-BC99-40AD-8F40-6E100DAF4E89}"/>
    <dgm:cxn modelId="{77859F6F-34B6-4423-906A-AC7FC25F00B4}" type="presOf" srcId="{0309A9B0-FEDD-4BD1-A2FC-F37A89BA23CE}" destId="{FDC69621-52A9-41DD-8258-A99C651F2654}" srcOrd="0" destOrd="0" presId="urn:microsoft.com/office/officeart/2005/8/layout/vList2"/>
    <dgm:cxn modelId="{E67A4464-47F2-4370-81AC-CC240A5768D2}" type="presOf" srcId="{064FFCB0-4DAB-4EE7-8E71-DED8AFC3885E}" destId="{44131925-A9A5-43FB-B7AB-C3F989BC66BD}" srcOrd="0" destOrd="0" presId="urn:microsoft.com/office/officeart/2005/8/layout/vList2"/>
    <dgm:cxn modelId="{E8AA1F14-4575-4966-B026-40E77B4D3D9C}" type="presParOf" srcId="{44131925-A9A5-43FB-B7AB-C3F989BC66BD}" destId="{FDC69621-52A9-41DD-8258-A99C651F265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69621-52A9-41DD-8258-A99C651F2654}">
      <dsp:nvSpPr>
        <dsp:cNvPr id="0" name=""/>
        <dsp:cNvSpPr/>
      </dsp:nvSpPr>
      <dsp:spPr>
        <a:xfrm>
          <a:off x="0" y="7927"/>
          <a:ext cx="8077968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2800" b="1" kern="1200" dirty="0"/>
            <a:t>Unidad I</a:t>
          </a:r>
          <a:r>
            <a:rPr lang="es-AR" sz="2800" kern="1200" dirty="0"/>
            <a:t>- </a:t>
          </a:r>
          <a:r>
            <a:rPr lang="es-AR" sz="3200" b="1" i="1" kern="1200" dirty="0"/>
            <a:t>La ingeniería y la sociedad actual:</a:t>
          </a:r>
        </a:p>
      </dsp:txBody>
      <dsp:txXfrm>
        <a:off x="43864" y="51791"/>
        <a:ext cx="7990240" cy="8108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69621-52A9-41DD-8258-A99C651F2654}">
      <dsp:nvSpPr>
        <dsp:cNvPr id="0" name=""/>
        <dsp:cNvSpPr/>
      </dsp:nvSpPr>
      <dsp:spPr>
        <a:xfrm>
          <a:off x="0" y="23183"/>
          <a:ext cx="8077968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tabLst>
              <a:tab pos="179388" algn="l"/>
            </a:tabLst>
          </a:pPr>
          <a:r>
            <a:rPr lang="es-AR" sz="3200" b="1" kern="1200" dirty="0"/>
            <a:t>Unidad II</a:t>
          </a:r>
          <a:r>
            <a:rPr lang="es-AR" sz="3200" kern="1200" dirty="0"/>
            <a:t>- </a:t>
          </a:r>
          <a:r>
            <a:rPr lang="es-AR" sz="3200" b="1" i="1" kern="1200" dirty="0"/>
            <a:t>El/La ingeniero/a en el mundo actual y su formación universitaria:</a:t>
          </a:r>
        </a:p>
      </dsp:txBody>
      <dsp:txXfrm>
        <a:off x="62141" y="85324"/>
        <a:ext cx="7953686" cy="1148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69621-52A9-41DD-8258-A99C651F2654}">
      <dsp:nvSpPr>
        <dsp:cNvPr id="0" name=""/>
        <dsp:cNvSpPr/>
      </dsp:nvSpPr>
      <dsp:spPr>
        <a:xfrm>
          <a:off x="0" y="23183"/>
          <a:ext cx="8034360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3200" b="1" kern="1200" dirty="0"/>
            <a:t>Unidad III</a:t>
          </a:r>
          <a:r>
            <a:rPr lang="es-AR" sz="3200" kern="1200" dirty="0"/>
            <a:t>- </a:t>
          </a:r>
          <a:r>
            <a:rPr lang="es-AR" sz="3200" b="1" i="1" kern="1200" dirty="0"/>
            <a:t>Ciencia y tecnología los pilares de la formación integral del ingeniero/a:</a:t>
          </a:r>
        </a:p>
      </dsp:txBody>
      <dsp:txXfrm>
        <a:off x="62141" y="85324"/>
        <a:ext cx="7910078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A6C3C-E776-4A49-8DC0-1E85D0D72EBA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8F7E0-3F87-412E-B455-D6983FDE2003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5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991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y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388" y="304800"/>
            <a:ext cx="8713787" cy="838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79388" y="1557338"/>
            <a:ext cx="4316412" cy="4824412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gráfico"/>
          <p:cNvSpPr>
            <a:spLocks noGrp="1"/>
          </p:cNvSpPr>
          <p:nvPr>
            <p:ph type="chart" sz="half" idx="2"/>
          </p:nvPr>
        </p:nvSpPr>
        <p:spPr>
          <a:xfrm>
            <a:off x="4648200" y="1557338"/>
            <a:ext cx="4316413" cy="4824412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lv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7175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1_Título, texto y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388" y="304800"/>
            <a:ext cx="8713787" cy="838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79388" y="1557338"/>
            <a:ext cx="4316412" cy="4824412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gráfico"/>
          <p:cNvSpPr>
            <a:spLocks noGrp="1"/>
          </p:cNvSpPr>
          <p:nvPr>
            <p:ph type="chart" sz="half" idx="2"/>
          </p:nvPr>
        </p:nvSpPr>
        <p:spPr>
          <a:xfrm>
            <a:off x="4648200" y="1557338"/>
            <a:ext cx="4316413" cy="4824412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lv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33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98"/>
          <p:cNvSpPr>
            <a:spLocks noChangeArrowheads="1"/>
          </p:cNvSpPr>
          <p:nvPr userDrawn="1"/>
        </p:nvSpPr>
        <p:spPr bwMode="auto">
          <a:xfrm>
            <a:off x="0" y="0"/>
            <a:ext cx="9144000" cy="1300163"/>
          </a:xfrm>
          <a:prstGeom prst="rect">
            <a:avLst/>
          </a:prstGeom>
          <a:gradFill rotWithShape="1">
            <a:gsLst>
              <a:gs pos="0">
                <a:srgbClr val="58A5CC"/>
              </a:gs>
              <a:gs pos="100000">
                <a:srgbClr val="2E2E8A"/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s-AR" altLang="es-AR" sz="1800">
              <a:latin typeface="Arial" pitchFamily="34" charset="0"/>
            </a:endParaRPr>
          </a:p>
        </p:txBody>
      </p:sp>
      <p:sp>
        <p:nvSpPr>
          <p:cNvPr id="3" name="Line 103"/>
          <p:cNvSpPr>
            <a:spLocks noChangeShapeType="1"/>
          </p:cNvSpPr>
          <p:nvPr userDrawn="1"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38100">
            <a:solidFill>
              <a:srgbClr val="2E2E8A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ES"/>
          </a:p>
        </p:txBody>
      </p:sp>
      <p:grpSp>
        <p:nvGrpSpPr>
          <p:cNvPr id="4" name="Group 128"/>
          <p:cNvGrpSpPr>
            <a:grpSpLocks/>
          </p:cNvGrpSpPr>
          <p:nvPr userDrawn="1"/>
        </p:nvGrpSpPr>
        <p:grpSpPr bwMode="auto">
          <a:xfrm>
            <a:off x="0" y="6096000"/>
            <a:ext cx="9144000" cy="69850"/>
            <a:chOff x="0" y="842"/>
            <a:chExt cx="5760" cy="44"/>
          </a:xfrm>
        </p:grpSpPr>
        <p:sp>
          <p:nvSpPr>
            <p:cNvPr id="5" name="Freeform 494"/>
            <p:cNvSpPr>
              <a:spLocks/>
            </p:cNvSpPr>
            <p:nvPr userDrawn="1"/>
          </p:nvSpPr>
          <p:spPr bwMode="auto">
            <a:xfrm>
              <a:off x="5006" y="842"/>
              <a:ext cx="754" cy="44"/>
            </a:xfrm>
            <a:custGeom>
              <a:avLst/>
              <a:gdLst>
                <a:gd name="T0" fmla="*/ 10 w 775"/>
                <a:gd name="T1" fmla="*/ 0 h 44"/>
                <a:gd name="T2" fmla="*/ 500 w 775"/>
                <a:gd name="T3" fmla="*/ 0 h 44"/>
                <a:gd name="T4" fmla="*/ 500 w 775"/>
                <a:gd name="T5" fmla="*/ 44 h 44"/>
                <a:gd name="T6" fmla="*/ 0 w 775"/>
                <a:gd name="T7" fmla="*/ 44 h 44"/>
                <a:gd name="T8" fmla="*/ 10 w 77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5" h="44">
                  <a:moveTo>
                    <a:pt x="10" y="0"/>
                  </a:moveTo>
                  <a:lnTo>
                    <a:pt x="775" y="0"/>
                  </a:lnTo>
                  <a:lnTo>
                    <a:pt x="775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6A4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6" name="Freeform 495"/>
            <p:cNvSpPr>
              <a:spLocks/>
            </p:cNvSpPr>
            <p:nvPr userDrawn="1"/>
          </p:nvSpPr>
          <p:spPr bwMode="auto">
            <a:xfrm>
              <a:off x="4807" y="842"/>
              <a:ext cx="187" cy="44"/>
            </a:xfrm>
            <a:custGeom>
              <a:avLst/>
              <a:gdLst>
                <a:gd name="T0" fmla="*/ 10 w 192"/>
                <a:gd name="T1" fmla="*/ 0 h 44"/>
                <a:gd name="T2" fmla="*/ 126 w 192"/>
                <a:gd name="T3" fmla="*/ 0 h 44"/>
                <a:gd name="T4" fmla="*/ 120 w 192"/>
                <a:gd name="T5" fmla="*/ 44 h 44"/>
                <a:gd name="T6" fmla="*/ 0 w 192"/>
                <a:gd name="T7" fmla="*/ 44 h 44"/>
                <a:gd name="T8" fmla="*/ 10 w 19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44">
                  <a:moveTo>
                    <a:pt x="10" y="0"/>
                  </a:moveTo>
                  <a:lnTo>
                    <a:pt x="192" y="0"/>
                  </a:lnTo>
                  <a:lnTo>
                    <a:pt x="182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0DA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7" name="Freeform 496"/>
            <p:cNvSpPr>
              <a:spLocks/>
            </p:cNvSpPr>
            <p:nvPr userDrawn="1"/>
          </p:nvSpPr>
          <p:spPr bwMode="auto">
            <a:xfrm>
              <a:off x="4669" y="842"/>
              <a:ext cx="125" cy="44"/>
            </a:xfrm>
            <a:custGeom>
              <a:avLst/>
              <a:gdLst>
                <a:gd name="T0" fmla="*/ 10 w 129"/>
                <a:gd name="T1" fmla="*/ 0 h 44"/>
                <a:gd name="T2" fmla="*/ 77 w 129"/>
                <a:gd name="T3" fmla="*/ 0 h 44"/>
                <a:gd name="T4" fmla="*/ 72 w 129"/>
                <a:gd name="T5" fmla="*/ 44 h 44"/>
                <a:gd name="T6" fmla="*/ 0 w 129"/>
                <a:gd name="T7" fmla="*/ 44 h 44"/>
                <a:gd name="T8" fmla="*/ 10 w 12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" h="44">
                  <a:moveTo>
                    <a:pt x="10" y="0"/>
                  </a:moveTo>
                  <a:lnTo>
                    <a:pt x="129" y="0"/>
                  </a:lnTo>
                  <a:lnTo>
                    <a:pt x="119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B9DC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8" name="Freeform 497"/>
            <p:cNvSpPr>
              <a:spLocks/>
            </p:cNvSpPr>
            <p:nvPr userDrawn="1"/>
          </p:nvSpPr>
          <p:spPr bwMode="auto">
            <a:xfrm>
              <a:off x="0" y="842"/>
              <a:ext cx="4656" cy="44"/>
            </a:xfrm>
            <a:custGeom>
              <a:avLst/>
              <a:gdLst>
                <a:gd name="T0" fmla="*/ 0 w 4787"/>
                <a:gd name="T1" fmla="*/ 0 h 44"/>
                <a:gd name="T2" fmla="*/ 3071 w 4787"/>
                <a:gd name="T3" fmla="*/ 0 h 44"/>
                <a:gd name="T4" fmla="*/ 3063 w 4787"/>
                <a:gd name="T5" fmla="*/ 44 h 44"/>
                <a:gd name="T6" fmla="*/ 0 w 4787"/>
                <a:gd name="T7" fmla="*/ 44 h 44"/>
                <a:gd name="T8" fmla="*/ 0 w 478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7" h="44">
                  <a:moveTo>
                    <a:pt x="0" y="0"/>
                  </a:moveTo>
                  <a:lnTo>
                    <a:pt x="4787" y="0"/>
                  </a:lnTo>
                  <a:lnTo>
                    <a:pt x="4777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</p:grpSp>
      <p:sp>
        <p:nvSpPr>
          <p:cNvPr id="9" name="8 CuadroTexto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200054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s-ES" altLang="es-AR" sz="4000" dirty="0">
                <a:solidFill>
                  <a:schemeClr val="bg1"/>
                </a:solidFill>
                <a:latin typeface="Calibri" pitchFamily="34" charset="0"/>
              </a:rPr>
              <a:t>“Ingeniería y Sociedad”</a:t>
            </a:r>
          </a:p>
          <a:p>
            <a:pPr algn="ctr" eaLnBrk="1" hangingPunct="1">
              <a:defRPr/>
            </a:pPr>
            <a:endParaRPr lang="es-ES" altLang="es-AR" sz="4000" dirty="0">
              <a:solidFill>
                <a:schemeClr val="bg1"/>
              </a:solidFill>
              <a:latin typeface="Calibri" pitchFamily="34" charset="0"/>
            </a:endParaRPr>
          </a:p>
          <a:p>
            <a:pPr algn="ctr" eaLnBrk="1" hangingPunct="1">
              <a:defRPr/>
            </a:pPr>
            <a:endParaRPr lang="es-AR" altLang="es-AR" sz="44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10" name="Picture 2" descr="\\srvfs\Materias_Basicas\Secretaria\logo-utn-fee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6215063"/>
            <a:ext cx="23145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08195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255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281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85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964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4655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333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510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9085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3323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64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6C919-B3C4-41CE-A3C4-A9AADC99C418}" type="datetimeFigureOut">
              <a:rPr lang="es-AR" smtClean="0"/>
              <a:pPr/>
              <a:t>9/8/2023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F94D0-3D09-447E-B094-A904F7BAC9C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53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google.com.ar/url?sa=i&amp;rct=j&amp;q=&amp;esrc=s&amp;source=images&amp;cd=&amp;cad=rja&amp;uact=8&amp;ved=0ahUKEwia_czDrovSAhXEEpAKHbkwDjQQjRwIBw&amp;url=http://codioseticosdeingenierabiomedica.blogspot.com/2012/05/codigos-eticos-para-ingenieria.html&amp;bvm=bv.146786187,d.Y2I&amp;psig=AFQjCNEAaoBprdhJ-xd8v_5EbE5aw6U_kw&amp;ust=1487016557309105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gimenezuribe@frsf.utn.edu.a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://www.google.com.ar/url?sa=i&amp;rct=j&amp;q=&amp;esrc=s&amp;source=images&amp;cd=&amp;cad=rja&amp;uact=8&amp;ved=2ahUKEwig6oqF6fDZAhXCEpAKHWxgBpAQjRx6BAgAEAU&amp;url=http://www.udea.edu.co/wps/portal/udea/web/inicio/institucional/unidades-academicas/facultades/ciencias-exactas-naturales/programas-academicos/programas-posgrado/maestria-ciencias-quimicas/!ut/p/z0/04_Sj9CPykssy0xPLMnMz0vMAfIjo8zi_QJNXQ2NnA18LMxMXAwcfQw8fI1MAo1DTU30C7IdFQGWWBuk/?1dmy%26urile%3Dwcm:path:/PortalUdeA/asPortalUdeA/asHomeUdeA/asInstitucional/unidades-academicas/asFacultades/Ciencias%2BExactas%2By%2BNaturales/Programas%2Bacad!c3!a9micos/Programa%2Bde%2Bposgrado/Maestr!c3!ada%2Ben%2BCiencias%2BQu!c3!admicas/Contenido/asMenuLateral/eqipodocente1&amp;psig=AOvVaw0A7RGJqffE3fWdOagGElMi&amp;ust=1521288769800740" TargetMode="External"/><Relationship Id="rId4" Type="http://schemas.openxmlformats.org/officeDocument/2006/relationships/hyperlink" Target="mailto:vheritier@frsf.utn.edu.a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el ingeniero y la sociedad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28800"/>
            <a:ext cx="4860032" cy="40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4283968" y="3143870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/>
              <a:t>Presentación de la materia</a:t>
            </a:r>
          </a:p>
        </p:txBody>
      </p:sp>
    </p:spTree>
    <p:extLst>
      <p:ext uri="{BB962C8B-B14F-4D97-AF65-F5344CB8AC3E}">
        <p14:creationId xmlns:p14="http://schemas.microsoft.com/office/powerpoint/2010/main" val="21848643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28"/>
          <p:cNvGrpSpPr>
            <a:grpSpLocks/>
          </p:cNvGrpSpPr>
          <p:nvPr/>
        </p:nvGrpSpPr>
        <p:grpSpPr bwMode="auto">
          <a:xfrm>
            <a:off x="0" y="6096000"/>
            <a:ext cx="9144000" cy="69850"/>
            <a:chOff x="0" y="842"/>
            <a:chExt cx="5760" cy="44"/>
          </a:xfrm>
        </p:grpSpPr>
        <p:sp>
          <p:nvSpPr>
            <p:cNvPr id="6152" name="Freeform 494"/>
            <p:cNvSpPr>
              <a:spLocks/>
            </p:cNvSpPr>
            <p:nvPr/>
          </p:nvSpPr>
          <p:spPr bwMode="auto">
            <a:xfrm>
              <a:off x="5006" y="842"/>
              <a:ext cx="754" cy="44"/>
            </a:xfrm>
            <a:custGeom>
              <a:avLst/>
              <a:gdLst>
                <a:gd name="T0" fmla="*/ 10 w 775"/>
                <a:gd name="T1" fmla="*/ 0 h 44"/>
                <a:gd name="T2" fmla="*/ 486 w 775"/>
                <a:gd name="T3" fmla="*/ 0 h 44"/>
                <a:gd name="T4" fmla="*/ 486 w 775"/>
                <a:gd name="T5" fmla="*/ 44 h 44"/>
                <a:gd name="T6" fmla="*/ 0 w 775"/>
                <a:gd name="T7" fmla="*/ 44 h 44"/>
                <a:gd name="T8" fmla="*/ 10 w 77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5"/>
                <a:gd name="T16" fmla="*/ 0 h 44"/>
                <a:gd name="T17" fmla="*/ 775 w 775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5" h="44">
                  <a:moveTo>
                    <a:pt x="10" y="0"/>
                  </a:moveTo>
                  <a:lnTo>
                    <a:pt x="775" y="0"/>
                  </a:lnTo>
                  <a:lnTo>
                    <a:pt x="775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6A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endParaRPr lang="es-ES" altLang="es-AR"/>
            </a:p>
          </p:txBody>
        </p:sp>
        <p:sp>
          <p:nvSpPr>
            <p:cNvPr id="6153" name="Freeform 495"/>
            <p:cNvSpPr>
              <a:spLocks/>
            </p:cNvSpPr>
            <p:nvPr/>
          </p:nvSpPr>
          <p:spPr bwMode="auto">
            <a:xfrm>
              <a:off x="4807" y="842"/>
              <a:ext cx="187" cy="44"/>
            </a:xfrm>
            <a:custGeom>
              <a:avLst/>
              <a:gdLst>
                <a:gd name="T0" fmla="*/ 10 w 192"/>
                <a:gd name="T1" fmla="*/ 0 h 44"/>
                <a:gd name="T2" fmla="*/ 123 w 192"/>
                <a:gd name="T3" fmla="*/ 0 h 44"/>
                <a:gd name="T4" fmla="*/ 117 w 192"/>
                <a:gd name="T5" fmla="*/ 44 h 44"/>
                <a:gd name="T6" fmla="*/ 0 w 192"/>
                <a:gd name="T7" fmla="*/ 44 h 44"/>
                <a:gd name="T8" fmla="*/ 10 w 19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4"/>
                <a:gd name="T17" fmla="*/ 192 w 192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4">
                  <a:moveTo>
                    <a:pt x="10" y="0"/>
                  </a:moveTo>
                  <a:lnTo>
                    <a:pt x="192" y="0"/>
                  </a:lnTo>
                  <a:lnTo>
                    <a:pt x="182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0D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endParaRPr lang="es-ES" altLang="es-AR"/>
            </a:p>
          </p:txBody>
        </p:sp>
        <p:sp>
          <p:nvSpPr>
            <p:cNvPr id="6154" name="Freeform 496"/>
            <p:cNvSpPr>
              <a:spLocks/>
            </p:cNvSpPr>
            <p:nvPr/>
          </p:nvSpPr>
          <p:spPr bwMode="auto">
            <a:xfrm>
              <a:off x="4669" y="842"/>
              <a:ext cx="125" cy="44"/>
            </a:xfrm>
            <a:custGeom>
              <a:avLst/>
              <a:gdLst>
                <a:gd name="T0" fmla="*/ 10 w 129"/>
                <a:gd name="T1" fmla="*/ 0 h 44"/>
                <a:gd name="T2" fmla="*/ 75 w 129"/>
                <a:gd name="T3" fmla="*/ 0 h 44"/>
                <a:gd name="T4" fmla="*/ 70 w 129"/>
                <a:gd name="T5" fmla="*/ 44 h 44"/>
                <a:gd name="T6" fmla="*/ 0 w 129"/>
                <a:gd name="T7" fmla="*/ 44 h 44"/>
                <a:gd name="T8" fmla="*/ 10 w 12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"/>
                <a:gd name="T16" fmla="*/ 0 h 44"/>
                <a:gd name="T17" fmla="*/ 129 w 129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" h="44">
                  <a:moveTo>
                    <a:pt x="10" y="0"/>
                  </a:moveTo>
                  <a:lnTo>
                    <a:pt x="129" y="0"/>
                  </a:lnTo>
                  <a:lnTo>
                    <a:pt x="119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B9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endParaRPr lang="es-ES" altLang="es-AR"/>
            </a:p>
          </p:txBody>
        </p:sp>
        <p:sp>
          <p:nvSpPr>
            <p:cNvPr id="6155" name="Freeform 497"/>
            <p:cNvSpPr>
              <a:spLocks/>
            </p:cNvSpPr>
            <p:nvPr/>
          </p:nvSpPr>
          <p:spPr bwMode="auto">
            <a:xfrm>
              <a:off x="0" y="842"/>
              <a:ext cx="4656" cy="44"/>
            </a:xfrm>
            <a:custGeom>
              <a:avLst/>
              <a:gdLst>
                <a:gd name="T0" fmla="*/ 0 w 4787"/>
                <a:gd name="T1" fmla="*/ 0 h 44"/>
                <a:gd name="T2" fmla="*/ 2987 w 4787"/>
                <a:gd name="T3" fmla="*/ 0 h 44"/>
                <a:gd name="T4" fmla="*/ 2979 w 4787"/>
                <a:gd name="T5" fmla="*/ 44 h 44"/>
                <a:gd name="T6" fmla="*/ 0 w 4787"/>
                <a:gd name="T7" fmla="*/ 44 h 44"/>
                <a:gd name="T8" fmla="*/ 0 w 478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87"/>
                <a:gd name="T16" fmla="*/ 0 h 44"/>
                <a:gd name="T17" fmla="*/ 4787 w 478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87" h="44">
                  <a:moveTo>
                    <a:pt x="0" y="0"/>
                  </a:moveTo>
                  <a:lnTo>
                    <a:pt x="4787" y="0"/>
                  </a:lnTo>
                  <a:lnTo>
                    <a:pt x="4777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endParaRPr lang="es-ES" altLang="es-AR"/>
            </a:p>
          </p:txBody>
        </p:sp>
      </p:grpSp>
      <p:pic>
        <p:nvPicPr>
          <p:cNvPr id="6147" name="Picture 2" descr="\\srvfs\Materias_Basicas\Secretaria\logo-utn-fe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6215063"/>
            <a:ext cx="23145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67868" y="2497137"/>
            <a:ext cx="8424936" cy="2462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dirty="0">
                <a:latin typeface="+mn-lt"/>
                <a:cs typeface="+mn-cs"/>
              </a:rPr>
              <a:t>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b="1" dirty="0" smtClean="0">
                <a:latin typeface="+mn-lt"/>
                <a:cs typeface="+mn-cs"/>
              </a:rPr>
              <a:t>Dr. Alfonso </a:t>
            </a:r>
            <a:r>
              <a:rPr lang="es-ES_tradnl" sz="2400" b="1" dirty="0" err="1" smtClean="0">
                <a:latin typeface="+mn-lt"/>
                <a:cs typeface="+mn-cs"/>
              </a:rPr>
              <a:t>Gimenez</a:t>
            </a:r>
            <a:r>
              <a:rPr lang="es-ES_tradnl" sz="2400" b="1" dirty="0" smtClean="0">
                <a:latin typeface="+mn-lt"/>
                <a:cs typeface="+mn-cs"/>
              </a:rPr>
              <a:t> Uribe    </a:t>
            </a:r>
            <a:r>
              <a:rPr lang="es-ES_tradnl" sz="2000" dirty="0" smtClean="0">
                <a:hlinkClick r:id="rId3"/>
              </a:rPr>
              <a:t>agimenezuribe@frsf.utn.edu.ar</a:t>
            </a:r>
            <a:r>
              <a:rPr lang="es-ES_tradnl" sz="2000" dirty="0" smtClean="0"/>
              <a:t> </a:t>
            </a:r>
            <a:endParaRPr lang="es-ES_tradnl" sz="20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sz="2400" b="1" dirty="0" smtClean="0">
              <a:latin typeface="+mn-lt"/>
              <a:cs typeface="+mn-cs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b="1" dirty="0" smtClean="0">
                <a:latin typeface="+mn-lt"/>
                <a:cs typeface="+mn-cs"/>
              </a:rPr>
              <a:t>Lic</a:t>
            </a:r>
            <a:r>
              <a:rPr lang="es-ES_tradnl" sz="2400" b="1" dirty="0">
                <a:latin typeface="+mn-lt"/>
                <a:cs typeface="+mn-cs"/>
              </a:rPr>
              <a:t>. </a:t>
            </a:r>
            <a:r>
              <a:rPr lang="es-ES_tradnl" sz="2400" b="1" dirty="0"/>
              <a:t>Virginia Heritier       </a:t>
            </a:r>
            <a:r>
              <a:rPr lang="es-ES_tradnl" sz="2400" b="1" dirty="0" smtClean="0"/>
              <a:t>          </a:t>
            </a:r>
            <a:r>
              <a:rPr lang="es-ES_tradnl" sz="2000" dirty="0" smtClean="0">
                <a:hlinkClick r:id="rId4"/>
              </a:rPr>
              <a:t>vheritier@frsf.utn.edu.ar</a:t>
            </a:r>
            <a:endParaRPr lang="es-ES_tradnl" sz="20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sz="20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 smtClean="0"/>
              <a:t>            </a:t>
            </a:r>
            <a:endParaRPr lang="es-ES_tradnl" sz="20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u="sng" dirty="0"/>
          </a:p>
        </p:txBody>
      </p:sp>
      <p:pic>
        <p:nvPicPr>
          <p:cNvPr id="2050" name="Picture 2" descr="Resultado de imagen para equipo docente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46" y="476672"/>
            <a:ext cx="749938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1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8"/>
          <p:cNvGrpSpPr>
            <a:grpSpLocks/>
          </p:cNvGrpSpPr>
          <p:nvPr/>
        </p:nvGrpSpPr>
        <p:grpSpPr bwMode="auto">
          <a:xfrm>
            <a:off x="0" y="6096000"/>
            <a:ext cx="9144000" cy="69850"/>
            <a:chOff x="0" y="842"/>
            <a:chExt cx="5760" cy="44"/>
          </a:xfrm>
        </p:grpSpPr>
        <p:sp>
          <p:nvSpPr>
            <p:cNvPr id="5" name="Freeform 494"/>
            <p:cNvSpPr>
              <a:spLocks/>
            </p:cNvSpPr>
            <p:nvPr/>
          </p:nvSpPr>
          <p:spPr bwMode="auto">
            <a:xfrm>
              <a:off x="5006" y="842"/>
              <a:ext cx="754" cy="44"/>
            </a:xfrm>
            <a:custGeom>
              <a:avLst/>
              <a:gdLst>
                <a:gd name="T0" fmla="*/ 10 w 775"/>
                <a:gd name="T1" fmla="*/ 0 h 44"/>
                <a:gd name="T2" fmla="*/ 500 w 775"/>
                <a:gd name="T3" fmla="*/ 0 h 44"/>
                <a:gd name="T4" fmla="*/ 500 w 775"/>
                <a:gd name="T5" fmla="*/ 44 h 44"/>
                <a:gd name="T6" fmla="*/ 0 w 775"/>
                <a:gd name="T7" fmla="*/ 44 h 44"/>
                <a:gd name="T8" fmla="*/ 10 w 77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5" h="44">
                  <a:moveTo>
                    <a:pt x="10" y="0"/>
                  </a:moveTo>
                  <a:lnTo>
                    <a:pt x="775" y="0"/>
                  </a:lnTo>
                  <a:lnTo>
                    <a:pt x="775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6A4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6" name="Freeform 495"/>
            <p:cNvSpPr>
              <a:spLocks/>
            </p:cNvSpPr>
            <p:nvPr/>
          </p:nvSpPr>
          <p:spPr bwMode="auto">
            <a:xfrm>
              <a:off x="4807" y="842"/>
              <a:ext cx="187" cy="44"/>
            </a:xfrm>
            <a:custGeom>
              <a:avLst/>
              <a:gdLst>
                <a:gd name="T0" fmla="*/ 10 w 192"/>
                <a:gd name="T1" fmla="*/ 0 h 44"/>
                <a:gd name="T2" fmla="*/ 126 w 192"/>
                <a:gd name="T3" fmla="*/ 0 h 44"/>
                <a:gd name="T4" fmla="*/ 120 w 192"/>
                <a:gd name="T5" fmla="*/ 44 h 44"/>
                <a:gd name="T6" fmla="*/ 0 w 192"/>
                <a:gd name="T7" fmla="*/ 44 h 44"/>
                <a:gd name="T8" fmla="*/ 10 w 19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44">
                  <a:moveTo>
                    <a:pt x="10" y="0"/>
                  </a:moveTo>
                  <a:lnTo>
                    <a:pt x="192" y="0"/>
                  </a:lnTo>
                  <a:lnTo>
                    <a:pt x="182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0DA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7" name="Freeform 496"/>
            <p:cNvSpPr>
              <a:spLocks/>
            </p:cNvSpPr>
            <p:nvPr/>
          </p:nvSpPr>
          <p:spPr bwMode="auto">
            <a:xfrm>
              <a:off x="4669" y="842"/>
              <a:ext cx="125" cy="44"/>
            </a:xfrm>
            <a:custGeom>
              <a:avLst/>
              <a:gdLst>
                <a:gd name="T0" fmla="*/ 10 w 129"/>
                <a:gd name="T1" fmla="*/ 0 h 44"/>
                <a:gd name="T2" fmla="*/ 77 w 129"/>
                <a:gd name="T3" fmla="*/ 0 h 44"/>
                <a:gd name="T4" fmla="*/ 72 w 129"/>
                <a:gd name="T5" fmla="*/ 44 h 44"/>
                <a:gd name="T6" fmla="*/ 0 w 129"/>
                <a:gd name="T7" fmla="*/ 44 h 44"/>
                <a:gd name="T8" fmla="*/ 10 w 12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" h="44">
                  <a:moveTo>
                    <a:pt x="10" y="0"/>
                  </a:moveTo>
                  <a:lnTo>
                    <a:pt x="129" y="0"/>
                  </a:lnTo>
                  <a:lnTo>
                    <a:pt x="119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B9DC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8" name="Freeform 497"/>
            <p:cNvSpPr>
              <a:spLocks/>
            </p:cNvSpPr>
            <p:nvPr/>
          </p:nvSpPr>
          <p:spPr bwMode="auto">
            <a:xfrm>
              <a:off x="0" y="842"/>
              <a:ext cx="4656" cy="44"/>
            </a:xfrm>
            <a:custGeom>
              <a:avLst/>
              <a:gdLst>
                <a:gd name="T0" fmla="*/ 0 w 4787"/>
                <a:gd name="T1" fmla="*/ 0 h 44"/>
                <a:gd name="T2" fmla="*/ 3071 w 4787"/>
                <a:gd name="T3" fmla="*/ 0 h 44"/>
                <a:gd name="T4" fmla="*/ 3063 w 4787"/>
                <a:gd name="T5" fmla="*/ 44 h 44"/>
                <a:gd name="T6" fmla="*/ 0 w 4787"/>
                <a:gd name="T7" fmla="*/ 44 h 44"/>
                <a:gd name="T8" fmla="*/ 0 w 478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7" h="44">
                  <a:moveTo>
                    <a:pt x="0" y="0"/>
                  </a:moveTo>
                  <a:lnTo>
                    <a:pt x="4787" y="0"/>
                  </a:lnTo>
                  <a:lnTo>
                    <a:pt x="4777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</p:grpSp>
      <p:pic>
        <p:nvPicPr>
          <p:cNvPr id="9" name="Picture 2" descr="\\srvfs\Materias_Basicas\Secretaria\logo-utn-fe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6215063"/>
            <a:ext cx="23145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539552" y="620688"/>
            <a:ext cx="8005960" cy="197746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Que los/as estudiantes logren:</a:t>
            </a:r>
            <a:endParaRPr lang="es-AR" sz="2000" dirty="0"/>
          </a:p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* Adquirir una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actitud crítica y reflexiva sobre la realidad</a:t>
            </a:r>
            <a:r>
              <a:rPr lang="es-ES_tradnl" sz="2000" dirty="0"/>
              <a:t>.</a:t>
            </a:r>
            <a:endParaRPr lang="es-AR" sz="2000" dirty="0"/>
          </a:p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* Valorar la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formación humanística </a:t>
            </a:r>
            <a:r>
              <a:rPr lang="es-ES_tradnl" sz="2000" dirty="0"/>
              <a:t>en las carreras de Ingeniería.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AR" sz="2000" dirty="0"/>
              <a:t>* </a:t>
            </a:r>
            <a:r>
              <a:rPr lang="es-ES_tradnl" sz="2000" dirty="0"/>
              <a:t>Incorporar de manera transversal la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perspectiva de género </a:t>
            </a:r>
            <a:r>
              <a:rPr lang="es-ES_tradnl" sz="2000" dirty="0"/>
              <a:t>en todas las unidades. </a:t>
            </a:r>
            <a:endParaRPr lang="es-AR" sz="2000" dirty="0"/>
          </a:p>
        </p:txBody>
      </p:sp>
      <p:sp>
        <p:nvSpPr>
          <p:cNvPr id="3" name="2 Rectángulo"/>
          <p:cNvSpPr/>
          <p:nvPr/>
        </p:nvSpPr>
        <p:spPr>
          <a:xfrm>
            <a:off x="539552" y="3240846"/>
            <a:ext cx="8005960" cy="2708434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* Comprender los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fenómenos sociales contemporáneos</a:t>
            </a:r>
            <a:r>
              <a:rPr lang="es-ES_tradnl" sz="2000" dirty="0"/>
              <a:t>.</a:t>
            </a:r>
            <a:endParaRPr lang="es-AR" sz="2000" dirty="0"/>
          </a:p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* Interpretar la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inserción de Argentina y América Latina en los procesos mundiales</a:t>
            </a:r>
            <a:r>
              <a:rPr lang="es-ES_tradnl" sz="2000" dirty="0"/>
              <a:t>, su conflictividad, limitaciones y posibilidades.</a:t>
            </a:r>
            <a:endParaRPr lang="es-AR" sz="2000" dirty="0"/>
          </a:p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* Identificar los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rasgos que caracterizan la universidad</a:t>
            </a:r>
            <a:r>
              <a:rPr lang="es-ES_tradnl" sz="2000" dirty="0"/>
              <a:t> actual. </a:t>
            </a:r>
            <a:endParaRPr lang="es-AR" sz="2000" dirty="0"/>
          </a:p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* Interpretar la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ciencia y</a:t>
            </a:r>
            <a:r>
              <a:rPr lang="es-ES_tradnl" sz="2000" dirty="0"/>
              <a:t> la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tecnología</a:t>
            </a:r>
            <a:r>
              <a:rPr lang="es-ES_tradnl" sz="2000" dirty="0"/>
              <a:t> desde los paradigmas actuales y comprender el vínculo que tienen con el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desarrollo</a:t>
            </a:r>
            <a:r>
              <a:rPr lang="es-ES_tradnl" sz="2000" dirty="0"/>
              <a:t>.</a:t>
            </a:r>
            <a:endParaRPr lang="es-AR" sz="2000" dirty="0"/>
          </a:p>
          <a:p>
            <a:pPr algn="just">
              <a:spcBef>
                <a:spcPts val="300"/>
              </a:spcBef>
              <a:spcAft>
                <a:spcPts val="600"/>
              </a:spcAft>
            </a:pPr>
            <a:r>
              <a:rPr lang="es-ES_tradnl" sz="2000" dirty="0"/>
              <a:t>* Identificar las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competencias</a:t>
            </a:r>
            <a:r>
              <a:rPr lang="es-ES_tradnl" sz="2000" dirty="0"/>
              <a:t> que hacen al </a:t>
            </a:r>
            <a:r>
              <a:rPr lang="es-ES_tradn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ingenieril </a:t>
            </a:r>
            <a:r>
              <a:rPr lang="es-ES_tradnl" sz="2000" dirty="0"/>
              <a:t>del siglo XXI.</a:t>
            </a:r>
            <a:endParaRPr lang="es-AR" sz="20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539552" y="116632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OBJETIVOS GENERALES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539552" y="2740858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OBJETIVOS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407033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8"/>
          <p:cNvGrpSpPr>
            <a:grpSpLocks/>
          </p:cNvGrpSpPr>
          <p:nvPr/>
        </p:nvGrpSpPr>
        <p:grpSpPr bwMode="auto">
          <a:xfrm>
            <a:off x="0" y="6096000"/>
            <a:ext cx="9144000" cy="69850"/>
            <a:chOff x="0" y="842"/>
            <a:chExt cx="5760" cy="44"/>
          </a:xfrm>
        </p:grpSpPr>
        <p:sp>
          <p:nvSpPr>
            <p:cNvPr id="5" name="Freeform 494"/>
            <p:cNvSpPr>
              <a:spLocks/>
            </p:cNvSpPr>
            <p:nvPr/>
          </p:nvSpPr>
          <p:spPr bwMode="auto">
            <a:xfrm>
              <a:off x="5006" y="842"/>
              <a:ext cx="754" cy="44"/>
            </a:xfrm>
            <a:custGeom>
              <a:avLst/>
              <a:gdLst>
                <a:gd name="T0" fmla="*/ 10 w 775"/>
                <a:gd name="T1" fmla="*/ 0 h 44"/>
                <a:gd name="T2" fmla="*/ 500 w 775"/>
                <a:gd name="T3" fmla="*/ 0 h 44"/>
                <a:gd name="T4" fmla="*/ 500 w 775"/>
                <a:gd name="T5" fmla="*/ 44 h 44"/>
                <a:gd name="T6" fmla="*/ 0 w 775"/>
                <a:gd name="T7" fmla="*/ 44 h 44"/>
                <a:gd name="T8" fmla="*/ 10 w 77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5" h="44">
                  <a:moveTo>
                    <a:pt x="10" y="0"/>
                  </a:moveTo>
                  <a:lnTo>
                    <a:pt x="775" y="0"/>
                  </a:lnTo>
                  <a:lnTo>
                    <a:pt x="775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6A4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6" name="Freeform 495"/>
            <p:cNvSpPr>
              <a:spLocks/>
            </p:cNvSpPr>
            <p:nvPr/>
          </p:nvSpPr>
          <p:spPr bwMode="auto">
            <a:xfrm>
              <a:off x="4807" y="842"/>
              <a:ext cx="187" cy="44"/>
            </a:xfrm>
            <a:custGeom>
              <a:avLst/>
              <a:gdLst>
                <a:gd name="T0" fmla="*/ 10 w 192"/>
                <a:gd name="T1" fmla="*/ 0 h 44"/>
                <a:gd name="T2" fmla="*/ 126 w 192"/>
                <a:gd name="T3" fmla="*/ 0 h 44"/>
                <a:gd name="T4" fmla="*/ 120 w 192"/>
                <a:gd name="T5" fmla="*/ 44 h 44"/>
                <a:gd name="T6" fmla="*/ 0 w 192"/>
                <a:gd name="T7" fmla="*/ 44 h 44"/>
                <a:gd name="T8" fmla="*/ 10 w 19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44">
                  <a:moveTo>
                    <a:pt x="10" y="0"/>
                  </a:moveTo>
                  <a:lnTo>
                    <a:pt x="192" y="0"/>
                  </a:lnTo>
                  <a:lnTo>
                    <a:pt x="182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0DA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7" name="Freeform 496"/>
            <p:cNvSpPr>
              <a:spLocks/>
            </p:cNvSpPr>
            <p:nvPr/>
          </p:nvSpPr>
          <p:spPr bwMode="auto">
            <a:xfrm>
              <a:off x="4669" y="842"/>
              <a:ext cx="125" cy="44"/>
            </a:xfrm>
            <a:custGeom>
              <a:avLst/>
              <a:gdLst>
                <a:gd name="T0" fmla="*/ 10 w 129"/>
                <a:gd name="T1" fmla="*/ 0 h 44"/>
                <a:gd name="T2" fmla="*/ 77 w 129"/>
                <a:gd name="T3" fmla="*/ 0 h 44"/>
                <a:gd name="T4" fmla="*/ 72 w 129"/>
                <a:gd name="T5" fmla="*/ 44 h 44"/>
                <a:gd name="T6" fmla="*/ 0 w 129"/>
                <a:gd name="T7" fmla="*/ 44 h 44"/>
                <a:gd name="T8" fmla="*/ 10 w 12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" h="44">
                  <a:moveTo>
                    <a:pt x="10" y="0"/>
                  </a:moveTo>
                  <a:lnTo>
                    <a:pt x="129" y="0"/>
                  </a:lnTo>
                  <a:lnTo>
                    <a:pt x="119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B9DC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8" name="Freeform 497"/>
            <p:cNvSpPr>
              <a:spLocks/>
            </p:cNvSpPr>
            <p:nvPr/>
          </p:nvSpPr>
          <p:spPr bwMode="auto">
            <a:xfrm>
              <a:off x="0" y="842"/>
              <a:ext cx="4656" cy="44"/>
            </a:xfrm>
            <a:custGeom>
              <a:avLst/>
              <a:gdLst>
                <a:gd name="T0" fmla="*/ 0 w 4787"/>
                <a:gd name="T1" fmla="*/ 0 h 44"/>
                <a:gd name="T2" fmla="*/ 3071 w 4787"/>
                <a:gd name="T3" fmla="*/ 0 h 44"/>
                <a:gd name="T4" fmla="*/ 3063 w 4787"/>
                <a:gd name="T5" fmla="*/ 44 h 44"/>
                <a:gd name="T6" fmla="*/ 0 w 4787"/>
                <a:gd name="T7" fmla="*/ 44 h 44"/>
                <a:gd name="T8" fmla="*/ 0 w 478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7" h="44">
                  <a:moveTo>
                    <a:pt x="0" y="0"/>
                  </a:moveTo>
                  <a:lnTo>
                    <a:pt x="4787" y="0"/>
                  </a:lnTo>
                  <a:lnTo>
                    <a:pt x="4777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</p:grpSp>
      <p:pic>
        <p:nvPicPr>
          <p:cNvPr id="9" name="Picture 2" descr="\\srvfs\Materias_Basicas\Secretaria\logo-utn-fe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6215063"/>
            <a:ext cx="23145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67544" y="1988840"/>
            <a:ext cx="78619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dirty="0"/>
              <a:t>Se abordará el concepto de </a:t>
            </a:r>
            <a:r>
              <a:rPr lang="es-A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Sociedad</a:t>
            </a:r>
            <a:r>
              <a:rPr lang="es-AR" sz="2400" dirty="0"/>
              <a:t> y los hechos más significativos de parte de la historia del siglo XX, analizando conceptos básicos como: </a:t>
            </a:r>
            <a:r>
              <a:rPr lang="es-A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política, economía, cultura, capitalismo, globalización</a:t>
            </a:r>
            <a:r>
              <a:rPr lang="es-AR" sz="2400" dirty="0"/>
              <a:t>, etc. 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A través del concepto de globalización, se procederá a un </a:t>
            </a:r>
            <a:r>
              <a:rPr lang="es-A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análisis crítico y valorativo de la situación actual</a:t>
            </a:r>
            <a:r>
              <a:rPr lang="es-AR" sz="2400" dirty="0"/>
              <a:t>, a fin de que cada uno/a pueda elaborar un juicio propio que le permita una mirada comprensiva de la realidad.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1669163" y="245839"/>
            <a:ext cx="597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/>
              <a:t>CONTENIDOS</a:t>
            </a:r>
            <a:endParaRPr lang="es-AR" b="1" dirty="0"/>
          </a:p>
        </p:txBody>
      </p:sp>
      <p:graphicFrame>
        <p:nvGraphicFramePr>
          <p:cNvPr id="12" name="11 Diagrama"/>
          <p:cNvGraphicFramePr/>
          <p:nvPr>
            <p:extLst>
              <p:ext uri="{D42A27DB-BD31-4B8C-83A1-F6EECF244321}">
                <p14:modId xmlns:p14="http://schemas.microsoft.com/office/powerpoint/2010/main" val="2114344754"/>
              </p:ext>
            </p:extLst>
          </p:nvPr>
        </p:nvGraphicFramePr>
        <p:xfrm>
          <a:off x="467544" y="938337"/>
          <a:ext cx="8077968" cy="906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219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8"/>
          <p:cNvGrpSpPr>
            <a:grpSpLocks/>
          </p:cNvGrpSpPr>
          <p:nvPr/>
        </p:nvGrpSpPr>
        <p:grpSpPr bwMode="auto">
          <a:xfrm>
            <a:off x="0" y="6096000"/>
            <a:ext cx="9144000" cy="69850"/>
            <a:chOff x="0" y="842"/>
            <a:chExt cx="5760" cy="44"/>
          </a:xfrm>
        </p:grpSpPr>
        <p:sp>
          <p:nvSpPr>
            <p:cNvPr id="5" name="Freeform 494"/>
            <p:cNvSpPr>
              <a:spLocks/>
            </p:cNvSpPr>
            <p:nvPr/>
          </p:nvSpPr>
          <p:spPr bwMode="auto">
            <a:xfrm>
              <a:off x="5006" y="842"/>
              <a:ext cx="754" cy="44"/>
            </a:xfrm>
            <a:custGeom>
              <a:avLst/>
              <a:gdLst>
                <a:gd name="T0" fmla="*/ 10 w 775"/>
                <a:gd name="T1" fmla="*/ 0 h 44"/>
                <a:gd name="T2" fmla="*/ 500 w 775"/>
                <a:gd name="T3" fmla="*/ 0 h 44"/>
                <a:gd name="T4" fmla="*/ 500 w 775"/>
                <a:gd name="T5" fmla="*/ 44 h 44"/>
                <a:gd name="T6" fmla="*/ 0 w 775"/>
                <a:gd name="T7" fmla="*/ 44 h 44"/>
                <a:gd name="T8" fmla="*/ 10 w 77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5" h="44">
                  <a:moveTo>
                    <a:pt x="10" y="0"/>
                  </a:moveTo>
                  <a:lnTo>
                    <a:pt x="775" y="0"/>
                  </a:lnTo>
                  <a:lnTo>
                    <a:pt x="775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6A4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6" name="Freeform 495"/>
            <p:cNvSpPr>
              <a:spLocks/>
            </p:cNvSpPr>
            <p:nvPr/>
          </p:nvSpPr>
          <p:spPr bwMode="auto">
            <a:xfrm>
              <a:off x="4807" y="842"/>
              <a:ext cx="187" cy="44"/>
            </a:xfrm>
            <a:custGeom>
              <a:avLst/>
              <a:gdLst>
                <a:gd name="T0" fmla="*/ 10 w 192"/>
                <a:gd name="T1" fmla="*/ 0 h 44"/>
                <a:gd name="T2" fmla="*/ 126 w 192"/>
                <a:gd name="T3" fmla="*/ 0 h 44"/>
                <a:gd name="T4" fmla="*/ 120 w 192"/>
                <a:gd name="T5" fmla="*/ 44 h 44"/>
                <a:gd name="T6" fmla="*/ 0 w 192"/>
                <a:gd name="T7" fmla="*/ 44 h 44"/>
                <a:gd name="T8" fmla="*/ 10 w 19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44">
                  <a:moveTo>
                    <a:pt x="10" y="0"/>
                  </a:moveTo>
                  <a:lnTo>
                    <a:pt x="192" y="0"/>
                  </a:lnTo>
                  <a:lnTo>
                    <a:pt x="182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0DA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7" name="Freeform 496"/>
            <p:cNvSpPr>
              <a:spLocks/>
            </p:cNvSpPr>
            <p:nvPr/>
          </p:nvSpPr>
          <p:spPr bwMode="auto">
            <a:xfrm>
              <a:off x="4669" y="842"/>
              <a:ext cx="125" cy="44"/>
            </a:xfrm>
            <a:custGeom>
              <a:avLst/>
              <a:gdLst>
                <a:gd name="T0" fmla="*/ 10 w 129"/>
                <a:gd name="T1" fmla="*/ 0 h 44"/>
                <a:gd name="T2" fmla="*/ 77 w 129"/>
                <a:gd name="T3" fmla="*/ 0 h 44"/>
                <a:gd name="T4" fmla="*/ 72 w 129"/>
                <a:gd name="T5" fmla="*/ 44 h 44"/>
                <a:gd name="T6" fmla="*/ 0 w 129"/>
                <a:gd name="T7" fmla="*/ 44 h 44"/>
                <a:gd name="T8" fmla="*/ 10 w 12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" h="44">
                  <a:moveTo>
                    <a:pt x="10" y="0"/>
                  </a:moveTo>
                  <a:lnTo>
                    <a:pt x="129" y="0"/>
                  </a:lnTo>
                  <a:lnTo>
                    <a:pt x="119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B9DC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8" name="Freeform 497"/>
            <p:cNvSpPr>
              <a:spLocks/>
            </p:cNvSpPr>
            <p:nvPr/>
          </p:nvSpPr>
          <p:spPr bwMode="auto">
            <a:xfrm>
              <a:off x="0" y="842"/>
              <a:ext cx="4656" cy="44"/>
            </a:xfrm>
            <a:custGeom>
              <a:avLst/>
              <a:gdLst>
                <a:gd name="T0" fmla="*/ 0 w 4787"/>
                <a:gd name="T1" fmla="*/ 0 h 44"/>
                <a:gd name="T2" fmla="*/ 3071 w 4787"/>
                <a:gd name="T3" fmla="*/ 0 h 44"/>
                <a:gd name="T4" fmla="*/ 3063 w 4787"/>
                <a:gd name="T5" fmla="*/ 44 h 44"/>
                <a:gd name="T6" fmla="*/ 0 w 4787"/>
                <a:gd name="T7" fmla="*/ 44 h 44"/>
                <a:gd name="T8" fmla="*/ 0 w 478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7" h="44">
                  <a:moveTo>
                    <a:pt x="0" y="0"/>
                  </a:moveTo>
                  <a:lnTo>
                    <a:pt x="4787" y="0"/>
                  </a:lnTo>
                  <a:lnTo>
                    <a:pt x="4777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</p:grpSp>
      <p:pic>
        <p:nvPicPr>
          <p:cNvPr id="9" name="Picture 2" descr="\\srvfs\Materias_Basicas\Secretaria\logo-utn-fe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6215063"/>
            <a:ext cx="23145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11 Diagrama"/>
          <p:cNvGraphicFramePr/>
          <p:nvPr>
            <p:extLst>
              <p:ext uri="{D42A27DB-BD31-4B8C-83A1-F6EECF244321}">
                <p14:modId xmlns:p14="http://schemas.microsoft.com/office/powerpoint/2010/main" val="1908490123"/>
              </p:ext>
            </p:extLst>
          </p:nvPr>
        </p:nvGraphicFramePr>
        <p:xfrm>
          <a:off x="467544" y="476672"/>
          <a:ext cx="8077968" cy="1296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9 Rectángulo"/>
          <p:cNvSpPr/>
          <p:nvPr/>
        </p:nvSpPr>
        <p:spPr>
          <a:xfrm>
            <a:off x="467544" y="2348880"/>
            <a:ext cx="820891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dirty="0"/>
              <a:t>Historia de la Universidad.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dirty="0"/>
              <a:t>Universidad Tecnológica Nacional </a:t>
            </a:r>
            <a:r>
              <a:rPr lang="es-AR" sz="1400" dirty="0"/>
              <a:t>– </a:t>
            </a:r>
            <a:r>
              <a:rPr lang="es-AR" sz="2400" dirty="0"/>
              <a:t>Facultad Regional Santa Fe.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dirty="0"/>
              <a:t> Área de actuación del ingeniero/a y competencias necesarias.</a:t>
            </a:r>
          </a:p>
        </p:txBody>
      </p:sp>
    </p:spTree>
    <p:extLst>
      <p:ext uri="{BB962C8B-B14F-4D97-AF65-F5344CB8AC3E}">
        <p14:creationId xmlns:p14="http://schemas.microsoft.com/office/powerpoint/2010/main" val="393461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8"/>
          <p:cNvGrpSpPr>
            <a:grpSpLocks/>
          </p:cNvGrpSpPr>
          <p:nvPr/>
        </p:nvGrpSpPr>
        <p:grpSpPr bwMode="auto">
          <a:xfrm>
            <a:off x="0" y="6096000"/>
            <a:ext cx="9144000" cy="69850"/>
            <a:chOff x="0" y="842"/>
            <a:chExt cx="5760" cy="44"/>
          </a:xfrm>
        </p:grpSpPr>
        <p:sp>
          <p:nvSpPr>
            <p:cNvPr id="5" name="Freeform 494"/>
            <p:cNvSpPr>
              <a:spLocks/>
            </p:cNvSpPr>
            <p:nvPr/>
          </p:nvSpPr>
          <p:spPr bwMode="auto">
            <a:xfrm>
              <a:off x="5006" y="842"/>
              <a:ext cx="754" cy="44"/>
            </a:xfrm>
            <a:custGeom>
              <a:avLst/>
              <a:gdLst>
                <a:gd name="T0" fmla="*/ 10 w 775"/>
                <a:gd name="T1" fmla="*/ 0 h 44"/>
                <a:gd name="T2" fmla="*/ 500 w 775"/>
                <a:gd name="T3" fmla="*/ 0 h 44"/>
                <a:gd name="T4" fmla="*/ 500 w 775"/>
                <a:gd name="T5" fmla="*/ 44 h 44"/>
                <a:gd name="T6" fmla="*/ 0 w 775"/>
                <a:gd name="T7" fmla="*/ 44 h 44"/>
                <a:gd name="T8" fmla="*/ 10 w 77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5" h="44">
                  <a:moveTo>
                    <a:pt x="10" y="0"/>
                  </a:moveTo>
                  <a:lnTo>
                    <a:pt x="775" y="0"/>
                  </a:lnTo>
                  <a:lnTo>
                    <a:pt x="775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6A4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6" name="Freeform 495"/>
            <p:cNvSpPr>
              <a:spLocks/>
            </p:cNvSpPr>
            <p:nvPr/>
          </p:nvSpPr>
          <p:spPr bwMode="auto">
            <a:xfrm>
              <a:off x="4807" y="842"/>
              <a:ext cx="187" cy="44"/>
            </a:xfrm>
            <a:custGeom>
              <a:avLst/>
              <a:gdLst>
                <a:gd name="T0" fmla="*/ 10 w 192"/>
                <a:gd name="T1" fmla="*/ 0 h 44"/>
                <a:gd name="T2" fmla="*/ 126 w 192"/>
                <a:gd name="T3" fmla="*/ 0 h 44"/>
                <a:gd name="T4" fmla="*/ 120 w 192"/>
                <a:gd name="T5" fmla="*/ 44 h 44"/>
                <a:gd name="T6" fmla="*/ 0 w 192"/>
                <a:gd name="T7" fmla="*/ 44 h 44"/>
                <a:gd name="T8" fmla="*/ 10 w 19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44">
                  <a:moveTo>
                    <a:pt x="10" y="0"/>
                  </a:moveTo>
                  <a:lnTo>
                    <a:pt x="192" y="0"/>
                  </a:lnTo>
                  <a:lnTo>
                    <a:pt x="182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0DA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7" name="Freeform 496"/>
            <p:cNvSpPr>
              <a:spLocks/>
            </p:cNvSpPr>
            <p:nvPr/>
          </p:nvSpPr>
          <p:spPr bwMode="auto">
            <a:xfrm>
              <a:off x="4669" y="842"/>
              <a:ext cx="125" cy="44"/>
            </a:xfrm>
            <a:custGeom>
              <a:avLst/>
              <a:gdLst>
                <a:gd name="T0" fmla="*/ 10 w 129"/>
                <a:gd name="T1" fmla="*/ 0 h 44"/>
                <a:gd name="T2" fmla="*/ 77 w 129"/>
                <a:gd name="T3" fmla="*/ 0 h 44"/>
                <a:gd name="T4" fmla="*/ 72 w 129"/>
                <a:gd name="T5" fmla="*/ 44 h 44"/>
                <a:gd name="T6" fmla="*/ 0 w 129"/>
                <a:gd name="T7" fmla="*/ 44 h 44"/>
                <a:gd name="T8" fmla="*/ 10 w 12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" h="44">
                  <a:moveTo>
                    <a:pt x="10" y="0"/>
                  </a:moveTo>
                  <a:lnTo>
                    <a:pt x="129" y="0"/>
                  </a:lnTo>
                  <a:lnTo>
                    <a:pt x="119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B9DC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8" name="Freeform 497"/>
            <p:cNvSpPr>
              <a:spLocks/>
            </p:cNvSpPr>
            <p:nvPr/>
          </p:nvSpPr>
          <p:spPr bwMode="auto">
            <a:xfrm>
              <a:off x="0" y="842"/>
              <a:ext cx="4656" cy="44"/>
            </a:xfrm>
            <a:custGeom>
              <a:avLst/>
              <a:gdLst>
                <a:gd name="T0" fmla="*/ 0 w 4787"/>
                <a:gd name="T1" fmla="*/ 0 h 44"/>
                <a:gd name="T2" fmla="*/ 3071 w 4787"/>
                <a:gd name="T3" fmla="*/ 0 h 44"/>
                <a:gd name="T4" fmla="*/ 3063 w 4787"/>
                <a:gd name="T5" fmla="*/ 44 h 44"/>
                <a:gd name="T6" fmla="*/ 0 w 4787"/>
                <a:gd name="T7" fmla="*/ 44 h 44"/>
                <a:gd name="T8" fmla="*/ 0 w 478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7" h="44">
                  <a:moveTo>
                    <a:pt x="0" y="0"/>
                  </a:moveTo>
                  <a:lnTo>
                    <a:pt x="4787" y="0"/>
                  </a:lnTo>
                  <a:lnTo>
                    <a:pt x="4777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</p:grpSp>
      <p:pic>
        <p:nvPicPr>
          <p:cNvPr id="9" name="Picture 2" descr="\\srvfs\Materias_Basicas\Secretaria\logo-utn-fe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6215063"/>
            <a:ext cx="23145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11 Diagrama"/>
          <p:cNvGraphicFramePr/>
          <p:nvPr>
            <p:extLst>
              <p:ext uri="{D42A27DB-BD31-4B8C-83A1-F6EECF244321}">
                <p14:modId xmlns:p14="http://schemas.microsoft.com/office/powerpoint/2010/main" val="172799490"/>
              </p:ext>
            </p:extLst>
          </p:nvPr>
        </p:nvGraphicFramePr>
        <p:xfrm>
          <a:off x="511152" y="476672"/>
          <a:ext cx="8034360" cy="1296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1 Rectángulo"/>
          <p:cNvSpPr/>
          <p:nvPr/>
        </p:nvSpPr>
        <p:spPr>
          <a:xfrm>
            <a:off x="323528" y="2492896"/>
            <a:ext cx="8424936" cy="2385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AR" sz="2400" dirty="0"/>
              <a:t>Revisión histórica y crítica del desarrollo de la Ciencia y la Tecnología como actividades fundamentales y fundantes de la Ingeniería. </a:t>
            </a:r>
          </a:p>
          <a:p>
            <a:pPr algn="just"/>
            <a:endParaRPr lang="es-AR" sz="2400" dirty="0"/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dirty="0"/>
              <a:t>Características del conocimiento científico y conceptualizaciones sobre la tecnología.</a:t>
            </a:r>
          </a:p>
        </p:txBody>
      </p:sp>
    </p:spTree>
    <p:extLst>
      <p:ext uri="{BB962C8B-B14F-4D97-AF65-F5344CB8AC3E}">
        <p14:creationId xmlns:p14="http://schemas.microsoft.com/office/powerpoint/2010/main" val="1823025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8"/>
          <p:cNvGrpSpPr>
            <a:grpSpLocks/>
          </p:cNvGrpSpPr>
          <p:nvPr/>
        </p:nvGrpSpPr>
        <p:grpSpPr bwMode="auto">
          <a:xfrm>
            <a:off x="0" y="6096000"/>
            <a:ext cx="9144000" cy="69850"/>
            <a:chOff x="0" y="842"/>
            <a:chExt cx="5760" cy="44"/>
          </a:xfrm>
        </p:grpSpPr>
        <p:sp>
          <p:nvSpPr>
            <p:cNvPr id="5" name="Freeform 494"/>
            <p:cNvSpPr>
              <a:spLocks/>
            </p:cNvSpPr>
            <p:nvPr/>
          </p:nvSpPr>
          <p:spPr bwMode="auto">
            <a:xfrm>
              <a:off x="5006" y="842"/>
              <a:ext cx="754" cy="44"/>
            </a:xfrm>
            <a:custGeom>
              <a:avLst/>
              <a:gdLst>
                <a:gd name="T0" fmla="*/ 10 w 775"/>
                <a:gd name="T1" fmla="*/ 0 h 44"/>
                <a:gd name="T2" fmla="*/ 500 w 775"/>
                <a:gd name="T3" fmla="*/ 0 h 44"/>
                <a:gd name="T4" fmla="*/ 500 w 775"/>
                <a:gd name="T5" fmla="*/ 44 h 44"/>
                <a:gd name="T6" fmla="*/ 0 w 775"/>
                <a:gd name="T7" fmla="*/ 44 h 44"/>
                <a:gd name="T8" fmla="*/ 10 w 77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5" h="44">
                  <a:moveTo>
                    <a:pt x="10" y="0"/>
                  </a:moveTo>
                  <a:lnTo>
                    <a:pt x="775" y="0"/>
                  </a:lnTo>
                  <a:lnTo>
                    <a:pt x="775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6A4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6" name="Freeform 495"/>
            <p:cNvSpPr>
              <a:spLocks/>
            </p:cNvSpPr>
            <p:nvPr/>
          </p:nvSpPr>
          <p:spPr bwMode="auto">
            <a:xfrm>
              <a:off x="4807" y="842"/>
              <a:ext cx="187" cy="44"/>
            </a:xfrm>
            <a:custGeom>
              <a:avLst/>
              <a:gdLst>
                <a:gd name="T0" fmla="*/ 10 w 192"/>
                <a:gd name="T1" fmla="*/ 0 h 44"/>
                <a:gd name="T2" fmla="*/ 126 w 192"/>
                <a:gd name="T3" fmla="*/ 0 h 44"/>
                <a:gd name="T4" fmla="*/ 120 w 192"/>
                <a:gd name="T5" fmla="*/ 44 h 44"/>
                <a:gd name="T6" fmla="*/ 0 w 192"/>
                <a:gd name="T7" fmla="*/ 44 h 44"/>
                <a:gd name="T8" fmla="*/ 10 w 19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44">
                  <a:moveTo>
                    <a:pt x="10" y="0"/>
                  </a:moveTo>
                  <a:lnTo>
                    <a:pt x="192" y="0"/>
                  </a:lnTo>
                  <a:lnTo>
                    <a:pt x="182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B0DA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7" name="Freeform 496"/>
            <p:cNvSpPr>
              <a:spLocks/>
            </p:cNvSpPr>
            <p:nvPr/>
          </p:nvSpPr>
          <p:spPr bwMode="auto">
            <a:xfrm>
              <a:off x="4669" y="842"/>
              <a:ext cx="125" cy="44"/>
            </a:xfrm>
            <a:custGeom>
              <a:avLst/>
              <a:gdLst>
                <a:gd name="T0" fmla="*/ 10 w 129"/>
                <a:gd name="T1" fmla="*/ 0 h 44"/>
                <a:gd name="T2" fmla="*/ 77 w 129"/>
                <a:gd name="T3" fmla="*/ 0 h 44"/>
                <a:gd name="T4" fmla="*/ 72 w 129"/>
                <a:gd name="T5" fmla="*/ 44 h 44"/>
                <a:gd name="T6" fmla="*/ 0 w 129"/>
                <a:gd name="T7" fmla="*/ 44 h 44"/>
                <a:gd name="T8" fmla="*/ 10 w 12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" h="44">
                  <a:moveTo>
                    <a:pt x="10" y="0"/>
                  </a:moveTo>
                  <a:lnTo>
                    <a:pt x="129" y="0"/>
                  </a:lnTo>
                  <a:lnTo>
                    <a:pt x="119" y="44"/>
                  </a:lnTo>
                  <a:lnTo>
                    <a:pt x="0" y="4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B9DC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8" name="Freeform 497"/>
            <p:cNvSpPr>
              <a:spLocks/>
            </p:cNvSpPr>
            <p:nvPr/>
          </p:nvSpPr>
          <p:spPr bwMode="auto">
            <a:xfrm>
              <a:off x="0" y="842"/>
              <a:ext cx="4656" cy="44"/>
            </a:xfrm>
            <a:custGeom>
              <a:avLst/>
              <a:gdLst>
                <a:gd name="T0" fmla="*/ 0 w 4787"/>
                <a:gd name="T1" fmla="*/ 0 h 44"/>
                <a:gd name="T2" fmla="*/ 3071 w 4787"/>
                <a:gd name="T3" fmla="*/ 0 h 44"/>
                <a:gd name="T4" fmla="*/ 3063 w 4787"/>
                <a:gd name="T5" fmla="*/ 44 h 44"/>
                <a:gd name="T6" fmla="*/ 0 w 4787"/>
                <a:gd name="T7" fmla="*/ 44 h 44"/>
                <a:gd name="T8" fmla="*/ 0 w 478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7" h="44">
                  <a:moveTo>
                    <a:pt x="0" y="0"/>
                  </a:moveTo>
                  <a:lnTo>
                    <a:pt x="4787" y="0"/>
                  </a:lnTo>
                  <a:lnTo>
                    <a:pt x="4777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/>
            </a:p>
          </p:txBody>
        </p:sp>
      </p:grpSp>
      <p:pic>
        <p:nvPicPr>
          <p:cNvPr id="9" name="Picture 2" descr="\\srvfs\Materias_Basicas\Secretaria\logo-utn-fe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6215063"/>
            <a:ext cx="23145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467544" y="332656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/>
              <a:t>REQUISITOS DE APROBACIÓN DE CURSADO </a:t>
            </a:r>
          </a:p>
          <a:p>
            <a:pPr algn="ctr"/>
            <a:r>
              <a:rPr lang="es-AR" sz="2400" b="1" dirty="0"/>
              <a:t>Y PROMOCIÓN DIRECTA</a:t>
            </a:r>
          </a:p>
        </p:txBody>
      </p:sp>
      <p:sp>
        <p:nvSpPr>
          <p:cNvPr id="20" name="2 Rectángulo">
            <a:extLst>
              <a:ext uri="{FF2B5EF4-FFF2-40B4-BE49-F238E27FC236}">
                <a16:creationId xmlns:a16="http://schemas.microsoft.com/office/drawing/2014/main" id="{CF3C0BD5-CF08-40A7-904E-81E5531E331E}"/>
              </a:ext>
            </a:extLst>
          </p:cNvPr>
          <p:cNvSpPr/>
          <p:nvPr/>
        </p:nvSpPr>
        <p:spPr>
          <a:xfrm>
            <a:off x="568428" y="1929606"/>
            <a:ext cx="79339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/>
              <a:t>* </a:t>
            </a:r>
            <a:r>
              <a:rPr lang="es-AR" sz="2000" b="1" dirty="0"/>
              <a:t>Asistencia</a:t>
            </a:r>
            <a:r>
              <a:rPr lang="es-AR" sz="2000" dirty="0"/>
              <a:t> a clases de un 75%.</a:t>
            </a:r>
          </a:p>
          <a:p>
            <a:r>
              <a:rPr lang="es-AR" sz="2000" dirty="0"/>
              <a:t>* Aprobación de </a:t>
            </a:r>
            <a:r>
              <a:rPr lang="es-AR" sz="2000" b="1" dirty="0"/>
              <a:t>trabajos </a:t>
            </a:r>
            <a:r>
              <a:rPr lang="es-AR" sz="2000" b="1" dirty="0" smtClean="0"/>
              <a:t>prácticos o </a:t>
            </a:r>
            <a:r>
              <a:rPr lang="es-AR" sz="2000" b="1" smtClean="0"/>
              <a:t>actividades grupales</a:t>
            </a:r>
            <a:r>
              <a:rPr lang="es-AR" sz="2000" smtClean="0"/>
              <a:t>.</a:t>
            </a:r>
            <a:endParaRPr lang="es-AR" sz="2000" dirty="0"/>
          </a:p>
          <a:p>
            <a:r>
              <a:rPr lang="es-AR" sz="2000" dirty="0"/>
              <a:t>* Aprobación de </a:t>
            </a:r>
            <a:r>
              <a:rPr lang="es-AR" sz="2000" b="1" dirty="0"/>
              <a:t>1 examen parcial</a:t>
            </a:r>
            <a:r>
              <a:rPr lang="es-AR" sz="2000" dirty="0"/>
              <a:t>, con posibilidad de recuperatorio. </a:t>
            </a:r>
          </a:p>
          <a:p>
            <a:pPr algn="ctr"/>
            <a:r>
              <a:rPr lang="es-ES_tradnl" sz="2000" dirty="0"/>
              <a:t>Nota mínima de aprobación: </a:t>
            </a:r>
            <a:r>
              <a:rPr lang="es-ES_tradnl" sz="2000" b="1" dirty="0"/>
              <a:t>6</a:t>
            </a:r>
            <a:r>
              <a:rPr lang="es-ES_tradnl" sz="2000" dirty="0"/>
              <a:t> (60%)</a:t>
            </a:r>
            <a:endParaRPr lang="es-AR" sz="2000" dirty="0"/>
          </a:p>
        </p:txBody>
      </p:sp>
      <p:sp>
        <p:nvSpPr>
          <p:cNvPr id="21" name="10 Rectángulo">
            <a:extLst>
              <a:ext uri="{FF2B5EF4-FFF2-40B4-BE49-F238E27FC236}">
                <a16:creationId xmlns:a16="http://schemas.microsoft.com/office/drawing/2014/main" id="{D047AAD3-5A29-4317-98E5-BA2594043839}"/>
              </a:ext>
            </a:extLst>
          </p:cNvPr>
          <p:cNvSpPr/>
          <p:nvPr/>
        </p:nvSpPr>
        <p:spPr>
          <a:xfrm>
            <a:off x="322936" y="5025319"/>
            <a:ext cx="84249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2000" dirty="0"/>
              <a:t>Se logra cumpliendo lo anterior </a:t>
            </a:r>
            <a:r>
              <a:rPr lang="es-ES_tradnl" sz="2000"/>
              <a:t>y aprobando </a:t>
            </a:r>
            <a:endParaRPr lang="es-ES_tradnl" sz="2000" dirty="0"/>
          </a:p>
          <a:p>
            <a:pPr algn="ctr"/>
            <a:r>
              <a:rPr lang="es-ES_tradnl" sz="2000" b="1" dirty="0"/>
              <a:t>2 exámenes parciales con una nota mínima de 6 (seis)</a:t>
            </a:r>
          </a:p>
          <a:p>
            <a:pPr algn="ctr"/>
            <a:r>
              <a:rPr lang="es-ES_tradnl" sz="2000" dirty="0"/>
              <a:t>Se pueden recuperar ambos parciales. </a:t>
            </a:r>
            <a:endParaRPr lang="es-AR" sz="2000" dirty="0"/>
          </a:p>
        </p:txBody>
      </p:sp>
      <p:sp>
        <p:nvSpPr>
          <p:cNvPr id="22" name="11 CuadroTexto">
            <a:extLst>
              <a:ext uri="{FF2B5EF4-FFF2-40B4-BE49-F238E27FC236}">
                <a16:creationId xmlns:a16="http://schemas.microsoft.com/office/drawing/2014/main" id="{C4C615EB-BAA2-4DC9-BE2E-BAA19A9F3463}"/>
              </a:ext>
            </a:extLst>
          </p:cNvPr>
          <p:cNvSpPr txBox="1"/>
          <p:nvPr/>
        </p:nvSpPr>
        <p:spPr>
          <a:xfrm>
            <a:off x="568428" y="1268760"/>
            <a:ext cx="774798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/>
              <a:t>Para aprobar el cursado de la materia se necesita:</a:t>
            </a:r>
          </a:p>
        </p:txBody>
      </p:sp>
      <p:sp>
        <p:nvSpPr>
          <p:cNvPr id="23" name="12 Rectángulo">
            <a:extLst>
              <a:ext uri="{FF2B5EF4-FFF2-40B4-BE49-F238E27FC236}">
                <a16:creationId xmlns:a16="http://schemas.microsoft.com/office/drawing/2014/main" id="{247F360E-CBDA-466C-9EE4-CE47373F4D02}"/>
              </a:ext>
            </a:extLst>
          </p:cNvPr>
          <p:cNvSpPr/>
          <p:nvPr/>
        </p:nvSpPr>
        <p:spPr>
          <a:xfrm>
            <a:off x="710194" y="4282306"/>
            <a:ext cx="7713132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s-ES_tradnl" sz="2400" b="1" dirty="0"/>
              <a:t>Aprobación directa </a:t>
            </a:r>
            <a:r>
              <a:rPr lang="es-ES_tradnl" sz="2000" dirty="0"/>
              <a:t>(Reglamentación vigente: Ord. CS N° 1549)</a:t>
            </a:r>
            <a:endParaRPr lang="es-AR" sz="2000" dirty="0"/>
          </a:p>
        </p:txBody>
      </p:sp>
      <p:sp>
        <p:nvSpPr>
          <p:cNvPr id="24" name="13 Rectángulo">
            <a:extLst>
              <a:ext uri="{FF2B5EF4-FFF2-40B4-BE49-F238E27FC236}">
                <a16:creationId xmlns:a16="http://schemas.microsoft.com/office/drawing/2014/main" id="{14F448A5-428F-4A21-8B4A-F77CDA43169F}"/>
              </a:ext>
            </a:extLst>
          </p:cNvPr>
          <p:cNvSpPr/>
          <p:nvPr/>
        </p:nvSpPr>
        <p:spPr>
          <a:xfrm>
            <a:off x="1742121" y="3358523"/>
            <a:ext cx="56492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2000" dirty="0"/>
              <a:t>Quien aprueba el cursado rinde un </a:t>
            </a:r>
            <a:r>
              <a:rPr lang="es-ES_tradnl" sz="2000" b="1" dirty="0"/>
              <a:t>EXAMEN FINAL </a:t>
            </a:r>
            <a:r>
              <a:rPr lang="es-ES_tradnl" sz="2000" dirty="0"/>
              <a:t>en los llamados de cada turno.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0844203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350</TotalTime>
  <Words>413</Words>
  <Application>Microsoft Office PowerPoint</Application>
  <PresentationFormat>Presentación en pantalla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Virginia</dc:creator>
  <cp:lastModifiedBy>Virginia Heritier</cp:lastModifiedBy>
  <cp:revision>32</cp:revision>
  <dcterms:created xsi:type="dcterms:W3CDTF">2017-02-12T20:06:08Z</dcterms:created>
  <dcterms:modified xsi:type="dcterms:W3CDTF">2023-08-09T22:46:19Z</dcterms:modified>
</cp:coreProperties>
</file>
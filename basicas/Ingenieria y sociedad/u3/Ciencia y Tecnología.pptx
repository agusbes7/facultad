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embeddedFontLst>
    <p:embeddedFont>
      <p:font typeface="Tahoma" panose="020B060403050404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E779F63-8466-4DC8-8864-8709B0D1E8D7}">
  <a:tblStyle styleId="{5E779F63-8466-4DC8-8864-8709B0D1E8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1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3AED50-1FEA-45DF-8290-C91F258CD73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s-AR"/>
        </a:p>
      </dgm:t>
    </dgm:pt>
    <dgm:pt modelId="{2294E58E-754F-4BE9-A6A6-2E6E48777929}">
      <dgm:prSet/>
      <dgm:spPr/>
      <dgm:t>
        <a:bodyPr/>
        <a:lstStyle/>
        <a:p>
          <a:pPr rtl="0"/>
          <a:r>
            <a:rPr lang="es-AR" b="0" i="0" smtClean="0"/>
            <a:t>Conceptos científicos </a:t>
          </a:r>
          <a:endParaRPr lang="es-AR"/>
        </a:p>
      </dgm:t>
    </dgm:pt>
    <dgm:pt modelId="{5D8F1DD5-0532-42FE-AC9F-7D404BE6B7D4}" type="parTrans" cxnId="{6568F824-F488-4709-9FBB-0AAC3EAB72D5}">
      <dgm:prSet/>
      <dgm:spPr/>
      <dgm:t>
        <a:bodyPr/>
        <a:lstStyle/>
        <a:p>
          <a:endParaRPr lang="es-AR"/>
        </a:p>
      </dgm:t>
    </dgm:pt>
    <dgm:pt modelId="{BA2B82A7-956D-499A-A03B-3A8BBE3977B6}" type="sibTrans" cxnId="{6568F824-F488-4709-9FBB-0AAC3EAB72D5}">
      <dgm:prSet/>
      <dgm:spPr/>
      <dgm:t>
        <a:bodyPr/>
        <a:lstStyle/>
        <a:p>
          <a:endParaRPr lang="es-AR"/>
        </a:p>
      </dgm:t>
    </dgm:pt>
    <dgm:pt modelId="{7E8D52DA-3F60-46BD-9DCA-A315939CC070}">
      <dgm:prSet/>
      <dgm:spPr/>
      <dgm:t>
        <a:bodyPr/>
        <a:lstStyle/>
        <a:p>
          <a:pPr rtl="0"/>
          <a:r>
            <a:rPr lang="es-AR" b="0" i="0" smtClean="0"/>
            <a:t>Conocimiento problemático</a:t>
          </a:r>
          <a:endParaRPr lang="es-AR"/>
        </a:p>
      </dgm:t>
    </dgm:pt>
    <dgm:pt modelId="{043EE8B3-C808-4EF7-ABD3-8993001E9A59}" type="parTrans" cxnId="{3D0F624C-C04F-42CD-A993-5AC6CDFAB2F9}">
      <dgm:prSet/>
      <dgm:spPr/>
      <dgm:t>
        <a:bodyPr/>
        <a:lstStyle/>
        <a:p>
          <a:endParaRPr lang="es-AR"/>
        </a:p>
      </dgm:t>
    </dgm:pt>
    <dgm:pt modelId="{60CAAD86-6384-4A7D-A0E1-DE18B431D34D}" type="sibTrans" cxnId="{3D0F624C-C04F-42CD-A993-5AC6CDFAB2F9}">
      <dgm:prSet/>
      <dgm:spPr/>
      <dgm:t>
        <a:bodyPr/>
        <a:lstStyle/>
        <a:p>
          <a:endParaRPr lang="es-AR"/>
        </a:p>
      </dgm:t>
    </dgm:pt>
    <dgm:pt modelId="{6FA6A670-69A1-4116-A7EA-F3CA5D3DC06F}">
      <dgm:prSet/>
      <dgm:spPr/>
      <dgm:t>
        <a:bodyPr/>
        <a:lstStyle/>
        <a:p>
          <a:pPr rtl="0"/>
          <a:r>
            <a:rPr lang="es-AR" b="0" i="0" smtClean="0"/>
            <a:t>Teoría tecnológica</a:t>
          </a:r>
          <a:endParaRPr lang="es-AR"/>
        </a:p>
      </dgm:t>
    </dgm:pt>
    <dgm:pt modelId="{BE7A57DA-0F15-4416-81AA-D8906804B680}" type="parTrans" cxnId="{B9EBB7E7-4E42-427B-80FF-365905990CFE}">
      <dgm:prSet/>
      <dgm:spPr/>
      <dgm:t>
        <a:bodyPr/>
        <a:lstStyle/>
        <a:p>
          <a:endParaRPr lang="es-AR"/>
        </a:p>
      </dgm:t>
    </dgm:pt>
    <dgm:pt modelId="{14AEDEB2-BEDF-452E-966D-87ED69DD42F2}" type="sibTrans" cxnId="{B9EBB7E7-4E42-427B-80FF-365905990CFE}">
      <dgm:prSet/>
      <dgm:spPr/>
      <dgm:t>
        <a:bodyPr/>
        <a:lstStyle/>
        <a:p>
          <a:endParaRPr lang="es-AR"/>
        </a:p>
      </dgm:t>
    </dgm:pt>
    <dgm:pt modelId="{3655A2A9-CD0B-433C-9646-22E6CA4F29AD}">
      <dgm:prSet/>
      <dgm:spPr/>
      <dgm:t>
        <a:bodyPr/>
        <a:lstStyle/>
        <a:p>
          <a:pPr rtl="0"/>
          <a:r>
            <a:rPr lang="es-AR" b="0" i="0" smtClean="0"/>
            <a:t>Pericia técnica o </a:t>
          </a:r>
          <a:r>
            <a:rPr lang="es-AR" b="0" i="1" smtClean="0"/>
            <a:t>know how</a:t>
          </a:r>
          <a:endParaRPr lang="es-AR"/>
        </a:p>
      </dgm:t>
    </dgm:pt>
    <dgm:pt modelId="{D9C9E12B-712C-4079-8C0E-5D1FF01AE2C5}" type="parTrans" cxnId="{E1196D0B-70C4-469D-B9B1-736E8872DE3E}">
      <dgm:prSet/>
      <dgm:spPr/>
      <dgm:t>
        <a:bodyPr/>
        <a:lstStyle/>
        <a:p>
          <a:endParaRPr lang="es-AR"/>
        </a:p>
      </dgm:t>
    </dgm:pt>
    <dgm:pt modelId="{A177B494-438A-47F8-B264-0883092E5B2C}" type="sibTrans" cxnId="{E1196D0B-70C4-469D-B9B1-736E8872DE3E}">
      <dgm:prSet/>
      <dgm:spPr/>
      <dgm:t>
        <a:bodyPr/>
        <a:lstStyle/>
        <a:p>
          <a:endParaRPr lang="es-AR"/>
        </a:p>
      </dgm:t>
    </dgm:pt>
    <dgm:pt modelId="{A9D026E9-9243-4100-B4C4-51511D724565}" type="pres">
      <dgm:prSet presAssocID="{8B3AED50-1FEA-45DF-8290-C91F258CD73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AR"/>
        </a:p>
      </dgm:t>
    </dgm:pt>
    <dgm:pt modelId="{2553F71B-6701-44D9-A9B7-97D7E26E93C3}" type="pres">
      <dgm:prSet presAssocID="{2294E58E-754F-4BE9-A6A6-2E6E4877792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4483D004-2BC9-46A4-9B42-E18A146D51A3}" type="pres">
      <dgm:prSet presAssocID="{BA2B82A7-956D-499A-A03B-3A8BBE3977B6}" presName="spacer" presStyleCnt="0"/>
      <dgm:spPr/>
    </dgm:pt>
    <dgm:pt modelId="{CF433564-773F-4B47-B8F0-8B246CF7165E}" type="pres">
      <dgm:prSet presAssocID="{7E8D52DA-3F60-46BD-9DCA-A315939CC07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5CC879CF-7650-4B11-B492-FB7D99355B33}" type="pres">
      <dgm:prSet presAssocID="{60CAAD86-6384-4A7D-A0E1-DE18B431D34D}" presName="spacer" presStyleCnt="0"/>
      <dgm:spPr/>
    </dgm:pt>
    <dgm:pt modelId="{40DB3131-6408-48E5-8181-395D28DC7C40}" type="pres">
      <dgm:prSet presAssocID="{6FA6A670-69A1-4116-A7EA-F3CA5D3DC06F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A0ACB4C6-7819-46D3-8D86-7652C02C304D}" type="pres">
      <dgm:prSet presAssocID="{14AEDEB2-BEDF-452E-966D-87ED69DD42F2}" presName="spacer" presStyleCnt="0"/>
      <dgm:spPr/>
    </dgm:pt>
    <dgm:pt modelId="{FE18DBAD-493A-4E21-AC0D-AA831D34A434}" type="pres">
      <dgm:prSet presAssocID="{3655A2A9-CD0B-433C-9646-22E6CA4F29A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E0E74268-5CE0-4ADF-8287-5E24106BAD5A}" type="presOf" srcId="{7E8D52DA-3F60-46BD-9DCA-A315939CC070}" destId="{CF433564-773F-4B47-B8F0-8B246CF7165E}" srcOrd="0" destOrd="0" presId="urn:microsoft.com/office/officeart/2005/8/layout/vList2"/>
    <dgm:cxn modelId="{0BDB53A0-49DB-4CC4-A2D0-EE9DBF4DE0DD}" type="presOf" srcId="{8B3AED50-1FEA-45DF-8290-C91F258CD73E}" destId="{A9D026E9-9243-4100-B4C4-51511D724565}" srcOrd="0" destOrd="0" presId="urn:microsoft.com/office/officeart/2005/8/layout/vList2"/>
    <dgm:cxn modelId="{6568F824-F488-4709-9FBB-0AAC3EAB72D5}" srcId="{8B3AED50-1FEA-45DF-8290-C91F258CD73E}" destId="{2294E58E-754F-4BE9-A6A6-2E6E48777929}" srcOrd="0" destOrd="0" parTransId="{5D8F1DD5-0532-42FE-AC9F-7D404BE6B7D4}" sibTransId="{BA2B82A7-956D-499A-A03B-3A8BBE3977B6}"/>
    <dgm:cxn modelId="{302E5F8E-9EE3-4F36-A576-4433ABDBF913}" type="presOf" srcId="{3655A2A9-CD0B-433C-9646-22E6CA4F29AD}" destId="{FE18DBAD-493A-4E21-AC0D-AA831D34A434}" srcOrd="0" destOrd="0" presId="urn:microsoft.com/office/officeart/2005/8/layout/vList2"/>
    <dgm:cxn modelId="{C7111471-B7CF-4D53-87ED-36A4FDCE0099}" type="presOf" srcId="{6FA6A670-69A1-4116-A7EA-F3CA5D3DC06F}" destId="{40DB3131-6408-48E5-8181-395D28DC7C40}" srcOrd="0" destOrd="0" presId="urn:microsoft.com/office/officeart/2005/8/layout/vList2"/>
    <dgm:cxn modelId="{3D0F624C-C04F-42CD-A993-5AC6CDFAB2F9}" srcId="{8B3AED50-1FEA-45DF-8290-C91F258CD73E}" destId="{7E8D52DA-3F60-46BD-9DCA-A315939CC070}" srcOrd="1" destOrd="0" parTransId="{043EE8B3-C808-4EF7-ABD3-8993001E9A59}" sibTransId="{60CAAD86-6384-4A7D-A0E1-DE18B431D34D}"/>
    <dgm:cxn modelId="{B9EBB7E7-4E42-427B-80FF-365905990CFE}" srcId="{8B3AED50-1FEA-45DF-8290-C91F258CD73E}" destId="{6FA6A670-69A1-4116-A7EA-F3CA5D3DC06F}" srcOrd="2" destOrd="0" parTransId="{BE7A57DA-0F15-4416-81AA-D8906804B680}" sibTransId="{14AEDEB2-BEDF-452E-966D-87ED69DD42F2}"/>
    <dgm:cxn modelId="{E1196D0B-70C4-469D-B9B1-736E8872DE3E}" srcId="{8B3AED50-1FEA-45DF-8290-C91F258CD73E}" destId="{3655A2A9-CD0B-433C-9646-22E6CA4F29AD}" srcOrd="3" destOrd="0" parTransId="{D9C9E12B-712C-4079-8C0E-5D1FF01AE2C5}" sibTransId="{A177B494-438A-47F8-B264-0883092E5B2C}"/>
    <dgm:cxn modelId="{695D500D-5AE2-40FE-A8DC-50719EA065F8}" type="presOf" srcId="{2294E58E-754F-4BE9-A6A6-2E6E48777929}" destId="{2553F71B-6701-44D9-A9B7-97D7E26E93C3}" srcOrd="0" destOrd="0" presId="urn:microsoft.com/office/officeart/2005/8/layout/vList2"/>
    <dgm:cxn modelId="{B604168B-64CF-435F-AA71-E82E424FF73F}" type="presParOf" srcId="{A9D026E9-9243-4100-B4C4-51511D724565}" destId="{2553F71B-6701-44D9-A9B7-97D7E26E93C3}" srcOrd="0" destOrd="0" presId="urn:microsoft.com/office/officeart/2005/8/layout/vList2"/>
    <dgm:cxn modelId="{E53D7A89-65EC-4E53-9C74-D93C750FE69F}" type="presParOf" srcId="{A9D026E9-9243-4100-B4C4-51511D724565}" destId="{4483D004-2BC9-46A4-9B42-E18A146D51A3}" srcOrd="1" destOrd="0" presId="urn:microsoft.com/office/officeart/2005/8/layout/vList2"/>
    <dgm:cxn modelId="{AC272DE7-12A1-4581-9295-DF2DB7F98424}" type="presParOf" srcId="{A9D026E9-9243-4100-B4C4-51511D724565}" destId="{CF433564-773F-4B47-B8F0-8B246CF7165E}" srcOrd="2" destOrd="0" presId="urn:microsoft.com/office/officeart/2005/8/layout/vList2"/>
    <dgm:cxn modelId="{6ADFA950-D6AD-4F46-9117-575C91989027}" type="presParOf" srcId="{A9D026E9-9243-4100-B4C4-51511D724565}" destId="{5CC879CF-7650-4B11-B492-FB7D99355B33}" srcOrd="3" destOrd="0" presId="urn:microsoft.com/office/officeart/2005/8/layout/vList2"/>
    <dgm:cxn modelId="{550B699A-021B-4148-9A4E-EEE8DAEB73E7}" type="presParOf" srcId="{A9D026E9-9243-4100-B4C4-51511D724565}" destId="{40DB3131-6408-48E5-8181-395D28DC7C40}" srcOrd="4" destOrd="0" presId="urn:microsoft.com/office/officeart/2005/8/layout/vList2"/>
    <dgm:cxn modelId="{89DA760C-77F7-4571-8ADE-036CC04B29B0}" type="presParOf" srcId="{A9D026E9-9243-4100-B4C4-51511D724565}" destId="{A0ACB4C6-7819-46D3-8D86-7652C02C304D}" srcOrd="5" destOrd="0" presId="urn:microsoft.com/office/officeart/2005/8/layout/vList2"/>
    <dgm:cxn modelId="{04841BE6-983E-45F9-A285-C9CDE53ED78B}" type="presParOf" srcId="{A9D026E9-9243-4100-B4C4-51511D724565}" destId="{FE18DBAD-493A-4E21-AC0D-AA831D34A4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53F71B-6701-44D9-A9B7-97D7E26E93C3}">
      <dsp:nvSpPr>
        <dsp:cNvPr id="0" name=""/>
        <dsp:cNvSpPr/>
      </dsp:nvSpPr>
      <dsp:spPr>
        <a:xfrm>
          <a:off x="0" y="33959"/>
          <a:ext cx="687360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2200" b="0" i="0" kern="1200" smtClean="0"/>
            <a:t>Conceptos científicos </a:t>
          </a:r>
          <a:endParaRPr lang="es-AR" sz="2200" kern="1200"/>
        </a:p>
      </dsp:txBody>
      <dsp:txXfrm>
        <a:off x="25130" y="59089"/>
        <a:ext cx="6823340" cy="464540"/>
      </dsp:txXfrm>
    </dsp:sp>
    <dsp:sp modelId="{CF433564-773F-4B47-B8F0-8B246CF7165E}">
      <dsp:nvSpPr>
        <dsp:cNvPr id="0" name=""/>
        <dsp:cNvSpPr/>
      </dsp:nvSpPr>
      <dsp:spPr>
        <a:xfrm>
          <a:off x="0" y="612119"/>
          <a:ext cx="687360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2200" b="0" i="0" kern="1200" smtClean="0"/>
            <a:t>Conocimiento problemático</a:t>
          </a:r>
          <a:endParaRPr lang="es-AR" sz="2200" kern="1200"/>
        </a:p>
      </dsp:txBody>
      <dsp:txXfrm>
        <a:off x="25130" y="637249"/>
        <a:ext cx="6823340" cy="464540"/>
      </dsp:txXfrm>
    </dsp:sp>
    <dsp:sp modelId="{40DB3131-6408-48E5-8181-395D28DC7C40}">
      <dsp:nvSpPr>
        <dsp:cNvPr id="0" name=""/>
        <dsp:cNvSpPr/>
      </dsp:nvSpPr>
      <dsp:spPr>
        <a:xfrm>
          <a:off x="0" y="1190280"/>
          <a:ext cx="687360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2200" b="0" i="0" kern="1200" smtClean="0"/>
            <a:t>Teoría tecnológica</a:t>
          </a:r>
          <a:endParaRPr lang="es-AR" sz="2200" kern="1200"/>
        </a:p>
      </dsp:txBody>
      <dsp:txXfrm>
        <a:off x="25130" y="1215410"/>
        <a:ext cx="6823340" cy="464540"/>
      </dsp:txXfrm>
    </dsp:sp>
    <dsp:sp modelId="{FE18DBAD-493A-4E21-AC0D-AA831D34A434}">
      <dsp:nvSpPr>
        <dsp:cNvPr id="0" name=""/>
        <dsp:cNvSpPr/>
      </dsp:nvSpPr>
      <dsp:spPr>
        <a:xfrm>
          <a:off x="0" y="1768440"/>
          <a:ext cx="687360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AR" sz="2200" b="0" i="0" kern="1200" smtClean="0"/>
            <a:t>Pericia técnica o </a:t>
          </a:r>
          <a:r>
            <a:rPr lang="es-AR" sz="2200" b="0" i="1" kern="1200" smtClean="0"/>
            <a:t>know how</a:t>
          </a:r>
          <a:endParaRPr lang="es-AR" sz="2200" kern="1200"/>
        </a:p>
      </dsp:txBody>
      <dsp:txXfrm>
        <a:off x="25130" y="1793570"/>
        <a:ext cx="6823340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32490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Shape 16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Shape 2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Shape 22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Shape 2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Shape 85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6" name="Shape 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Shape 87"/>
          <p:cNvSpPr txBox="1"/>
          <p:nvPr/>
        </p:nvSpPr>
        <p:spPr>
          <a:xfrm>
            <a:off x="0" y="323850"/>
            <a:ext cx="91440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 sz="3600" b="0" i="0" u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</a:t>
            </a:r>
            <a:r>
              <a:rPr lang="en-US" sz="3600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SOCIEDAD</a:t>
            </a:r>
            <a:endParaRPr dirty="0"/>
          </a:p>
        </p:txBody>
      </p:sp>
      <p:sp>
        <p:nvSpPr>
          <p:cNvPr id="88" name="Shape 88"/>
          <p:cNvSpPr txBox="1"/>
          <p:nvPr/>
        </p:nvSpPr>
        <p:spPr>
          <a:xfrm rot="-1500000">
            <a:off x="4711700" y="2813050"/>
            <a:ext cx="4000500" cy="1201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Tahoma"/>
              <a:buNone/>
            </a:pPr>
            <a:r>
              <a:rPr lang="en-US" sz="3600" b="1" i="0" u="none" dirty="0">
                <a:solidFill>
                  <a:srgbClr val="FFC000"/>
                </a:solidFill>
                <a:latin typeface="Tahoma"/>
                <a:ea typeface="Tahoma"/>
                <a:cs typeface="Tahoma"/>
                <a:sym typeface="Tahoma"/>
              </a:rPr>
              <a:t>CIENCIA Y TECNOLOGÍA</a:t>
            </a:r>
            <a:endParaRPr b="1" dirty="0"/>
          </a:p>
        </p:txBody>
      </p:sp>
      <p:sp>
        <p:nvSpPr>
          <p:cNvPr id="90" name="Shape 90" descr="Resultado de imagen para ciencia y tecnologia"/>
          <p:cNvSpPr txBox="1"/>
          <p:nvPr/>
        </p:nvSpPr>
        <p:spPr>
          <a:xfrm>
            <a:off x="1258887" y="930275"/>
            <a:ext cx="2665412" cy="266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Shape 91" descr="Resultado de imagen para ciencia y tecnolog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70125"/>
            <a:ext cx="3969463" cy="2729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Shape 97"/>
          <p:cNvCxnSpPr/>
          <p:nvPr/>
        </p:nvCxnSpPr>
        <p:spPr>
          <a:xfrm>
            <a:off x="0" y="6143625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324600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 txBox="1">
            <a:spLocks noGrp="1"/>
          </p:cNvSpPr>
          <p:nvPr>
            <p:ph type="ctrTitle"/>
          </p:nvPr>
        </p:nvSpPr>
        <p:spPr>
          <a:xfrm>
            <a:off x="457200" y="246062"/>
            <a:ext cx="8229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AR" sz="4000" b="0" i="0" u="none" strike="noStrike" cap="none" dirty="0" smtClean="0">
                <a:solidFill>
                  <a:schemeClr val="lt1"/>
                </a:solidFill>
                <a:sym typeface="Calibri"/>
              </a:rPr>
              <a:t>¿Por qu</a:t>
            </a:r>
            <a:r>
              <a:rPr lang="es-AR" sz="4000" dirty="0" smtClean="0">
                <a:solidFill>
                  <a:schemeClr val="lt1"/>
                </a:solidFill>
              </a:rPr>
              <a:t>é</a:t>
            </a:r>
            <a:r>
              <a:rPr lang="es-AR" sz="4000" b="0" i="0" u="none" strike="noStrike" cap="none" dirty="0" smtClean="0">
                <a:solidFill>
                  <a:schemeClr val="lt1"/>
                </a:solidFill>
                <a:sym typeface="Calibri"/>
              </a:rPr>
              <a:t> hablamos de Ciencia y Tecnología en Ingeniería y Sociedad?</a:t>
            </a:r>
            <a:endParaRPr lang="es-AR" sz="4000" dirty="0"/>
          </a:p>
        </p:txBody>
      </p:sp>
      <p:sp>
        <p:nvSpPr>
          <p:cNvPr id="100" name="Shape 100"/>
          <p:cNvSpPr txBox="1"/>
          <p:nvPr/>
        </p:nvSpPr>
        <p:spPr>
          <a:xfrm>
            <a:off x="323528" y="2217737"/>
            <a:ext cx="8352928" cy="2678112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AR" sz="2800" b="0" i="0" u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Forman parte del campo de acción de los y las Ingenieras/os</a:t>
            </a:r>
            <a:endParaRPr lang="es-AR" dirty="0" smtClean="0"/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s-AR" sz="2800" b="0" i="0" u="none" dirty="0" smtClea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AR" sz="2800" b="0" i="0" u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visión que tengamos de este tema influirá en la forma de acceder a los conocimientos, de entenderlos y luego de utilizarlos.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Shape 106"/>
          <p:cNvCxnSpPr/>
          <p:nvPr/>
        </p:nvCxnSpPr>
        <p:spPr>
          <a:xfrm>
            <a:off x="0" y="6143625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7" name="Shape 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324600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>
            <a:spLocks noGrp="1"/>
          </p:cNvSpPr>
          <p:nvPr>
            <p:ph type="ctrTitle"/>
          </p:nvPr>
        </p:nvSpPr>
        <p:spPr>
          <a:xfrm>
            <a:off x="457200" y="246062"/>
            <a:ext cx="82296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CIENCIA</a:t>
            </a: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1331912" y="1772816"/>
            <a:ext cx="6048375" cy="1201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</a:t>
            </a:r>
            <a:r>
              <a:rPr lang="en-US" sz="1800" b="0" i="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EPISTEMO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0" i="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LOGÍA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Estudio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de    la   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ciencia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cxnSp>
        <p:nvCxnSpPr>
          <p:cNvPr id="110" name="Shape 110"/>
          <p:cNvCxnSpPr/>
          <p:nvPr/>
        </p:nvCxnSpPr>
        <p:spPr>
          <a:xfrm flipH="1">
            <a:off x="3672727" y="2157784"/>
            <a:ext cx="358775" cy="431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cxnSp>
        <p:nvCxnSpPr>
          <p:cNvPr id="111" name="Shape 111"/>
          <p:cNvCxnSpPr/>
          <p:nvPr/>
        </p:nvCxnSpPr>
        <p:spPr>
          <a:xfrm>
            <a:off x="5148262" y="2157784"/>
            <a:ext cx="360362" cy="503237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  <a:effectLst>
            <a:outerShdw blurRad="63500" dist="23000" dir="5400000">
              <a:srgbClr val="000000">
                <a:alpha val="34901"/>
              </a:srgbClr>
            </a:outerShdw>
          </a:effectLst>
        </p:spPr>
      </p:cxnSp>
      <p:sp>
        <p:nvSpPr>
          <p:cNvPr id="112" name="Shape 112"/>
          <p:cNvSpPr txBox="1"/>
          <p:nvPr/>
        </p:nvSpPr>
        <p:spPr>
          <a:xfrm>
            <a:off x="536936" y="3501008"/>
            <a:ext cx="7923496" cy="2232248"/>
          </a:xfrm>
          <a:prstGeom prst="rect">
            <a:avLst/>
          </a:pr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w="95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s-AR" sz="2800" b="0" i="0" u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Doctrina de los fundamentos y métodos del conocimiento científico.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lang="es-AR" sz="1800" dirty="0" smtClean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s-AR" sz="2800" b="0" i="0" u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Criticar o reflexionar sobre la Ciencia, “ir más allá”</a:t>
            </a:r>
            <a:endParaRPr lang="es-AR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/>
          <p:nvPr/>
        </p:nvSpPr>
        <p:spPr>
          <a:xfrm>
            <a:off x="0" y="0"/>
            <a:ext cx="9144000" cy="1398600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Shape 119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0" name="Shape 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 txBox="1"/>
          <p:nvPr/>
        </p:nvSpPr>
        <p:spPr>
          <a:xfrm>
            <a:off x="754625" y="1830375"/>
            <a:ext cx="7803900" cy="3398825"/>
          </a:xfrm>
          <a:prstGeom prst="re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dirty="0" smtClean="0"/>
              <a:t>La ciencia es una producción netamente humana, supone un proceso de construcción y los cambios a los que ha estado y sigue estando sujeta, dependen de la visión que el hombre tenga de sus supuestos, creencias, expectativas, mitos, así como el contexto </a:t>
            </a:r>
            <a:r>
              <a:rPr lang="es-AR" sz="2800" dirty="0" err="1" smtClean="0"/>
              <a:t>sociohistórico</a:t>
            </a:r>
            <a:r>
              <a:rPr lang="es-AR" sz="2800" dirty="0" smtClean="0"/>
              <a:t> y cultural en el que está inserta.</a:t>
            </a:r>
            <a:endParaRPr lang="es-AR" sz="2800" dirty="0"/>
          </a:p>
        </p:txBody>
      </p:sp>
      <p:sp>
        <p:nvSpPr>
          <p:cNvPr id="122" name="Shape 122"/>
          <p:cNvSpPr txBox="1"/>
          <p:nvPr/>
        </p:nvSpPr>
        <p:spPr>
          <a:xfrm>
            <a:off x="1114800" y="265800"/>
            <a:ext cx="69144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>
                <a:solidFill>
                  <a:srgbClr val="FFFFFF"/>
                </a:solidFill>
              </a:rPr>
              <a:t>Carácter histórico de la ciencia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 txBox="1"/>
          <p:nvPr/>
        </p:nvSpPr>
        <p:spPr>
          <a:xfrm>
            <a:off x="0" y="0"/>
            <a:ext cx="9144000" cy="1398600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Shape 128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9" name="Shape 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Shape 130"/>
          <p:cNvSpPr txBox="1"/>
          <p:nvPr/>
        </p:nvSpPr>
        <p:spPr>
          <a:xfrm>
            <a:off x="653300" y="321000"/>
            <a:ext cx="79278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Evolución del pensamiento científico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31" name="Shape 131"/>
          <p:cNvSpPr txBox="1"/>
          <p:nvPr/>
        </p:nvSpPr>
        <p:spPr>
          <a:xfrm>
            <a:off x="687000" y="1530000"/>
            <a:ext cx="7770000" cy="43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 b="1" dirty="0" smtClean="0"/>
              <a:t>Ciencia</a:t>
            </a:r>
            <a:r>
              <a:rPr lang="en-US" sz="3000" b="1" dirty="0" smtClean="0"/>
              <a:t> </a:t>
            </a:r>
            <a:r>
              <a:rPr lang="en-US" sz="3000" b="1" dirty="0"/>
              <a:t>Antigua</a:t>
            </a:r>
            <a:endParaRPr sz="3000" b="1" dirty="0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Mundo = cosmos = orden = bello</a:t>
            </a: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Naturaleza: autosuficiente, existió desde siempre, se crea a sí misma, es de </a:t>
            </a:r>
            <a:r>
              <a:rPr lang="es-A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carácter divino</a:t>
            </a:r>
            <a:r>
              <a:rPr lang="es-AR" sz="2400" dirty="0" smtClean="0"/>
              <a:t>.</a:t>
            </a: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Correspondencia entre el logos y el ser</a:t>
            </a: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Contemplativa</a:t>
            </a:r>
            <a:r>
              <a:rPr lang="es-AR" sz="2400" dirty="0" smtClean="0"/>
              <a:t>: observación y contemplación</a:t>
            </a: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Deducción de verdades a partir de la demostración de proposiciones </a:t>
            </a:r>
          </a:p>
          <a:p>
            <a:pPr marL="457200" lvl="0" indent="-3810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Método = RAZONAMIENTO</a:t>
            </a:r>
            <a:endParaRPr lang="es-A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Shape 137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8" name="Shape 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Shape 139"/>
          <p:cNvSpPr txBox="1"/>
          <p:nvPr/>
        </p:nvSpPr>
        <p:spPr>
          <a:xfrm>
            <a:off x="622300" y="1440525"/>
            <a:ext cx="7961700" cy="4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3600" b="1" dirty="0" smtClean="0">
                <a:solidFill>
                  <a:schemeClr val="dk1"/>
                </a:solidFill>
              </a:rPr>
              <a:t>Ciencia Moderna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AR" sz="900" b="1" dirty="0" smtClean="0"/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Elementos: </a:t>
            </a:r>
            <a:r>
              <a:rPr lang="es-A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Observación - Experimento - Razonamiento inductivo - Matemática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AR" sz="1100" dirty="0" smtClean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Matematización de la Naturaleza</a:t>
            </a:r>
          </a:p>
          <a:p>
            <a:pPr marL="76200" lvl="0" rtl="0">
              <a:spcBef>
                <a:spcPts val="0"/>
              </a:spcBef>
              <a:spcAft>
                <a:spcPts val="0"/>
              </a:spcAft>
              <a:buSzPts val="2400"/>
            </a:pPr>
            <a:endParaRPr lang="es-AR" sz="1000" dirty="0" smtClean="0"/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Experimentos: observación metódica, experimento repetitivo, registro de tablas de variables y constantes, instrumentos de medición.</a:t>
            </a:r>
          </a:p>
          <a:p>
            <a:pPr marL="76200" lvl="0" algn="just" rtl="0">
              <a:spcBef>
                <a:spcPts val="0"/>
              </a:spcBef>
              <a:spcAft>
                <a:spcPts val="0"/>
              </a:spcAft>
              <a:buSzPts val="2400"/>
            </a:pPr>
            <a:endParaRPr lang="es-AR" sz="1000" dirty="0" smtClean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Se enuncian </a:t>
            </a:r>
            <a:r>
              <a:rPr lang="es-A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leyes que explican y predicen relaciones causales</a:t>
            </a:r>
            <a:r>
              <a:rPr lang="es-AR" sz="1800" dirty="0"/>
              <a:t>.</a:t>
            </a:r>
            <a:endParaRPr lang="es-AR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653300" y="321000"/>
            <a:ext cx="79278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Evolución del pensamiento científico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/>
          <p:nvPr/>
        </p:nvSpPr>
        <p:spPr>
          <a:xfrm>
            <a:off x="0" y="0"/>
            <a:ext cx="9144000" cy="1398600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Shape 146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7" name="Shape 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 txBox="1"/>
          <p:nvPr/>
        </p:nvSpPr>
        <p:spPr>
          <a:xfrm>
            <a:off x="540650" y="1523025"/>
            <a:ext cx="8153100" cy="43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3600" b="1" dirty="0" smtClean="0">
                <a:solidFill>
                  <a:schemeClr val="dk1"/>
                </a:solidFill>
              </a:rPr>
              <a:t>Ciencia del siglo XIX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AR" sz="800" dirty="0" smtClean="0"/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Descubrimientos en física y química llevan a concebir el mundo a partir de los fenómenos físicos.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Ciencia </a:t>
            </a:r>
            <a:r>
              <a:rPr lang="es-A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positiva y reduccionista.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s-A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onocimiento</a:t>
            </a:r>
            <a:r>
              <a:rPr lang="es-AR" sz="2000" dirty="0" smtClean="0"/>
              <a:t> = </a:t>
            </a:r>
            <a:r>
              <a:rPr lang="es-A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medible, cuantificable y experimentable</a:t>
            </a:r>
            <a:r>
              <a:rPr lang="es-AR" sz="2000" dirty="0" smtClean="0"/>
              <a:t>.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Se obtienen </a:t>
            </a:r>
            <a:r>
              <a:rPr lang="es-A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es-A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erdades absolutas e irrefutables</a:t>
            </a:r>
            <a:r>
              <a:rPr lang="es-AR" sz="2000" dirty="0" smtClean="0"/>
              <a:t>.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Científico = observador objetivo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Objeto de estudio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División de las ciencias como </a:t>
            </a:r>
            <a:r>
              <a:rPr lang="es-A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compartimentos cerrados</a:t>
            </a:r>
            <a:r>
              <a:rPr lang="es-AR" sz="2000" dirty="0" smtClean="0"/>
              <a:t>.</a:t>
            </a:r>
          </a:p>
          <a:p>
            <a:pPr marL="457200" lvl="0" indent="-34290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AR" sz="2000" dirty="0" smtClean="0"/>
              <a:t>Ciencia = Sistema de conocimientos racionales acabados, absolutos y asépticos (desprovista de valores, creencias y aspectos sociales, políticos, económicos o históricos)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Shape 149"/>
          <p:cNvSpPr txBox="1"/>
          <p:nvPr/>
        </p:nvSpPr>
        <p:spPr>
          <a:xfrm>
            <a:off x="653300" y="321000"/>
            <a:ext cx="79278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Evolución del pensamiento científico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Shape 155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6" name="Shape 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Shape 157"/>
          <p:cNvSpPr txBox="1"/>
          <p:nvPr/>
        </p:nvSpPr>
        <p:spPr>
          <a:xfrm>
            <a:off x="157850" y="1484784"/>
            <a:ext cx="8918700" cy="3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 b="1" dirty="0" smtClean="0"/>
              <a:t>Ciencia del siglo XX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s-AR" sz="3000" b="1" dirty="0" smtClean="0"/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300" dirty="0" smtClean="0"/>
              <a:t>Descubrimiento de la dispersión de las galaxias y el origen del mundo (orden y desorden combinados)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300" dirty="0" smtClean="0"/>
              <a:t>Ciencia = Sistema abierto: verdades hipotéticas, provisorias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300" dirty="0" smtClean="0"/>
              <a:t>Obtención de un </a:t>
            </a:r>
            <a:r>
              <a:rPr lang="es-AR" sz="2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saber riguroso y contrastable</a:t>
            </a:r>
            <a:r>
              <a:rPr lang="es-AR" sz="2300" dirty="0" smtClean="0"/>
              <a:t>, no verdadero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300" dirty="0" smtClean="0"/>
              <a:t>Las hipótesis son verdaderas cuanto más resisten a la </a:t>
            </a:r>
            <a:r>
              <a:rPr lang="es-AR" sz="2300" dirty="0" err="1" smtClean="0"/>
              <a:t>falsación</a:t>
            </a:r>
            <a:endParaRPr lang="es-AR" sz="2300" dirty="0" smtClean="0"/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300" dirty="0" smtClean="0"/>
              <a:t>Teorías = hipótesis tentativas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s-AR" dirty="0"/>
          </a:p>
        </p:txBody>
      </p:sp>
      <p:sp>
        <p:nvSpPr>
          <p:cNvPr id="158" name="Shape 158"/>
          <p:cNvSpPr txBox="1"/>
          <p:nvPr/>
        </p:nvSpPr>
        <p:spPr>
          <a:xfrm>
            <a:off x="653300" y="321000"/>
            <a:ext cx="79278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Evolución del pensamiento científico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Shape 164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5" name="Shape 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 txBox="1"/>
          <p:nvPr/>
        </p:nvSpPr>
        <p:spPr>
          <a:xfrm>
            <a:off x="1734350" y="250725"/>
            <a:ext cx="59796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PARADIGMA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67" name="Shape 167"/>
          <p:cNvSpPr txBox="1"/>
          <p:nvPr/>
        </p:nvSpPr>
        <p:spPr>
          <a:xfrm>
            <a:off x="540675" y="1628801"/>
            <a:ext cx="8135781" cy="1279552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dirty="0" smtClean="0"/>
              <a:t>Modelos compartidos por una comunidad científica, en los que intervienen aspectos sociales e históricos de la Ciencia</a:t>
            </a:r>
            <a:r>
              <a:rPr lang="es-AR" sz="1800" dirty="0" smtClean="0"/>
              <a:t>. (</a:t>
            </a:r>
            <a:r>
              <a:rPr lang="es-AR" sz="1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Kuhn</a:t>
            </a:r>
            <a:r>
              <a:rPr lang="es-AR" sz="1800" dirty="0" smtClean="0"/>
              <a:t>) </a:t>
            </a:r>
            <a:endParaRPr lang="es-AR" sz="2000" dirty="0" smtClean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Shape 168"/>
          <p:cNvSpPr txBox="1"/>
          <p:nvPr/>
        </p:nvSpPr>
        <p:spPr>
          <a:xfrm>
            <a:off x="323528" y="3269340"/>
            <a:ext cx="8550247" cy="23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dirty="0" smtClean="0"/>
              <a:t>Plantea etapas de </a:t>
            </a:r>
            <a:r>
              <a:rPr lang="es-AR" sz="1800" b="1" dirty="0" smtClean="0"/>
              <a:t>CIENCIA NORMAL</a:t>
            </a:r>
            <a:r>
              <a:rPr lang="es-AR" sz="1800" dirty="0" smtClean="0"/>
              <a:t> en la que se exploran hechos dentro de un paradigma, pero cuando esos hechos son “anómalos” o no encajan en las normas preestablecidas para su validación, van surgiendo teorías suplementarias que ponen en crisis el paradigma vigente. Esta etapa se denomina </a:t>
            </a:r>
            <a:r>
              <a:rPr lang="es-AR" sz="1800" b="1" dirty="0" smtClean="0"/>
              <a:t>REVOLUCIÓN CIENTÍFICA</a:t>
            </a:r>
            <a:r>
              <a:rPr lang="es-AR" sz="1800" dirty="0" smtClean="0"/>
              <a:t> y da lugar o una nueva etapa de Ciencia Normal.</a:t>
            </a:r>
            <a:endParaRPr lang="es-AR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Shape 174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5" name="Shape 1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Shape 176"/>
          <p:cNvSpPr txBox="1"/>
          <p:nvPr/>
        </p:nvSpPr>
        <p:spPr>
          <a:xfrm>
            <a:off x="611560" y="305088"/>
            <a:ext cx="7920880" cy="7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 dirty="0" smtClean="0">
                <a:solidFill>
                  <a:srgbClr val="FFFFFF"/>
                </a:solidFill>
              </a:rPr>
              <a:t>Ciencia moderna </a:t>
            </a:r>
            <a:r>
              <a:rPr lang="es-AR" sz="3600" i="1" dirty="0" smtClean="0">
                <a:solidFill>
                  <a:srgbClr val="FFFFFF"/>
                </a:solidFill>
              </a:rPr>
              <a:t>vs</a:t>
            </a:r>
            <a:r>
              <a:rPr lang="es-AR" sz="3600" dirty="0" smtClean="0">
                <a:solidFill>
                  <a:srgbClr val="FFFFFF"/>
                </a:solidFill>
              </a:rPr>
              <a:t> Ciencia actual</a:t>
            </a:r>
            <a:endParaRPr lang="es-AR" sz="3600" dirty="0">
              <a:solidFill>
                <a:srgbClr val="FFFFFF"/>
              </a:solidFill>
            </a:endParaRPr>
          </a:p>
        </p:txBody>
      </p:sp>
      <p:graphicFrame>
        <p:nvGraphicFramePr>
          <p:cNvPr id="177" name="Shape 177"/>
          <p:cNvGraphicFramePr/>
          <p:nvPr>
            <p:extLst>
              <p:ext uri="{D42A27DB-BD31-4B8C-83A1-F6EECF244321}">
                <p14:modId xmlns:p14="http://schemas.microsoft.com/office/powerpoint/2010/main" val="275712479"/>
              </p:ext>
            </p:extLst>
          </p:nvPr>
        </p:nvGraphicFramePr>
        <p:xfrm>
          <a:off x="952500" y="1556791"/>
          <a:ext cx="7239000" cy="4150270"/>
        </p:xfrm>
        <a:graphic>
          <a:graphicData uri="http://schemas.openxmlformats.org/drawingml/2006/table">
            <a:tbl>
              <a:tblPr>
                <a:noFill/>
                <a:tableStyleId>{5E779F63-8466-4DC8-8864-8709B0D1E8D7}</a:tableStyleId>
              </a:tblPr>
              <a:tblGrid>
                <a:gridCol w="3619500"/>
                <a:gridCol w="3619500"/>
              </a:tblGrid>
              <a:tr h="4364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/>
                        <a:t>Ciencia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Moderna</a:t>
                      </a:r>
                      <a:endParaRPr sz="1800" b="1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/>
                        <a:t>Ciencia</a:t>
                      </a:r>
                      <a:r>
                        <a:rPr lang="en-US" sz="1800" b="1" dirty="0"/>
                        <a:t> hoy</a:t>
                      </a:r>
                      <a:endParaRPr sz="1800" b="1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470019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Paradigma de la Simplicidad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Paradigma de la Complejidad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738620"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instrumento de investigación </a:t>
                      </a:r>
                      <a:r>
                        <a:rPr lang="es-AR" sz="1600" noProof="0" dirty="0" smtClean="0"/>
                        <a:t>por excelencia es 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experimental</a:t>
                      </a:r>
                      <a:endParaRPr lang="es-AR" sz="16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Presencia del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desorden</a:t>
                      </a:r>
                      <a:r>
                        <a:rPr lang="es-AR" sz="1600" noProof="0" dirty="0" smtClean="0"/>
                        <a:t> en la experiencia cotidiana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738620"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objetivo</a:t>
                      </a:r>
                      <a:r>
                        <a:rPr lang="es-AR" sz="1600" noProof="0" dirty="0" smtClean="0"/>
                        <a:t> es alcanzar 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descubrimiento de leyes</a:t>
                      </a:r>
                      <a:endParaRPr lang="es-AR" sz="16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Incidencia del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azar</a:t>
                      </a:r>
                      <a:r>
                        <a:rPr lang="es-AR" sz="1600" noProof="0" dirty="0" smtClean="0"/>
                        <a:t> en la estructuración de los fenómenos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738620"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Se prescinde de cualquier perspectiva subjetiva o social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Lectura interdisciplinaria</a:t>
                      </a:r>
                      <a:r>
                        <a:rPr lang="es-AR" sz="1600" noProof="0" dirty="0" smtClean="0"/>
                        <a:t> de los fenómenos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007221"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La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finalidad</a:t>
                      </a:r>
                      <a:r>
                        <a:rPr lang="es-AR" sz="1600" noProof="0" dirty="0" smtClean="0"/>
                        <a:t> es 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llegar a una verdad </a:t>
                      </a:r>
                      <a:r>
                        <a:rPr lang="es-AR" sz="1600" noProof="0" dirty="0" err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ahistórica</a:t>
                      </a:r>
                      <a:r>
                        <a:rPr lang="es-AR" sz="16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y definitiva</a:t>
                      </a:r>
                      <a:endParaRPr lang="es-AR" sz="16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noProof="0" dirty="0" smtClean="0"/>
                        <a:t>No busca expulsar lo azaroso, intenta incorporarlo como un elemento creativo.</a:t>
                      </a:r>
                      <a:endParaRPr lang="es-AR" sz="1600" noProof="0" dirty="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Shape 183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4" name="Shape 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Shape 185"/>
          <p:cNvSpPr txBox="1"/>
          <p:nvPr/>
        </p:nvSpPr>
        <p:spPr>
          <a:xfrm>
            <a:off x="90225" y="318300"/>
            <a:ext cx="89976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Características del conocimiento científico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2134175" y="1747275"/>
            <a:ext cx="5039400" cy="3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Saber crítico y fundamentado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Sistemático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Explicativo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Verificable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Metódico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Objetivo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Comunicable</a:t>
            </a:r>
          </a:p>
          <a:p>
            <a: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AR" sz="2400" dirty="0" smtClean="0"/>
              <a:t>Provisorio</a:t>
            </a:r>
            <a:endParaRPr lang="es-A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Shape 192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3" name="Shape 1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Shape 194"/>
          <p:cNvSpPr txBox="1"/>
          <p:nvPr/>
        </p:nvSpPr>
        <p:spPr>
          <a:xfrm>
            <a:off x="653275" y="327750"/>
            <a:ext cx="78378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0000"/>
                </a:solidFill>
              </a:rPr>
              <a:t>TECNOLOGÍA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1031407" y="1950250"/>
            <a:ext cx="7140993" cy="2544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s-AR" sz="3000" dirty="0" smtClean="0"/>
              <a:t>Producción específicamente humana</a:t>
            </a:r>
          </a:p>
          <a:p>
            <a:pPr marL="457200" lvl="0" indent="-4191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s-AR" sz="3000" dirty="0" smtClean="0"/>
              <a:t>Es producto de una actividad social</a:t>
            </a:r>
          </a:p>
          <a:p>
            <a:pPr marL="457200" lvl="0" indent="-4191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s-AR" sz="3000" dirty="0" smtClean="0"/>
              <a:t>Es saber hacer</a:t>
            </a:r>
            <a:endParaRPr lang="es-AR" sz="3000" dirty="0"/>
          </a:p>
        </p:txBody>
      </p:sp>
      <p:sp>
        <p:nvSpPr>
          <p:cNvPr id="196" name="Shape 196"/>
          <p:cNvSpPr txBox="1"/>
          <p:nvPr/>
        </p:nvSpPr>
        <p:spPr>
          <a:xfrm>
            <a:off x="317274" y="4763099"/>
            <a:ext cx="8215166" cy="111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dirty="0" smtClean="0"/>
              <a:t>Todas las manifestaciones culturales tienen 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dirty="0" smtClean="0"/>
              <a:t>carácter tecnológico</a:t>
            </a:r>
            <a:endParaRPr lang="es-A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Shape 202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3" name="Shape 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Shape 204"/>
          <p:cNvSpPr txBox="1"/>
          <p:nvPr/>
        </p:nvSpPr>
        <p:spPr>
          <a:xfrm>
            <a:off x="653275" y="2108824"/>
            <a:ext cx="7871700" cy="30483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dirty="0" smtClean="0"/>
              <a:t>La Técnica y la Ciencia no tenían una relación estrecha hasta la Edad Moderna donde se va gestando una fusión que va abriendo el espacio de la tecnología como Técnica que emplea conocimientos científicos y que fundamenta a la ciencia al darle una aplicación práctica.</a:t>
            </a:r>
            <a:endParaRPr lang="es-AR" sz="2400" dirty="0"/>
          </a:p>
        </p:txBody>
      </p:sp>
      <p:sp>
        <p:nvSpPr>
          <p:cNvPr id="205" name="Shape 205"/>
          <p:cNvSpPr txBox="1"/>
          <p:nvPr/>
        </p:nvSpPr>
        <p:spPr>
          <a:xfrm>
            <a:off x="1103725" y="329575"/>
            <a:ext cx="7162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Breve reseña histórica del término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Shape 211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2" name="Shape 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Shape 213"/>
          <p:cNvSpPr txBox="1"/>
          <p:nvPr/>
        </p:nvSpPr>
        <p:spPr>
          <a:xfrm>
            <a:off x="1321825" y="326575"/>
            <a:ext cx="63138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 dirty="0" smtClean="0">
                <a:solidFill>
                  <a:schemeClr val="tx1"/>
                </a:solidFill>
              </a:rPr>
              <a:t>¿Qué es la Tecnología?</a:t>
            </a:r>
            <a:endParaRPr lang="es-AR" sz="3600" dirty="0">
              <a:solidFill>
                <a:schemeClr val="tx1"/>
              </a:solidFill>
            </a:endParaRP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4088101585"/>
              </p:ext>
            </p:extLst>
          </p:nvPr>
        </p:nvGraphicFramePr>
        <p:xfrm>
          <a:off x="1135200" y="2872000"/>
          <a:ext cx="6873600" cy="231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5" name="Shape 215"/>
          <p:cNvSpPr txBox="1"/>
          <p:nvPr/>
        </p:nvSpPr>
        <p:spPr>
          <a:xfrm>
            <a:off x="251520" y="1484784"/>
            <a:ext cx="8568952" cy="12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dirty="0" smtClean="0"/>
              <a:t>Conjunto de conocimientos que le son propios y específicos y están configurados por los siguientes componentes: </a:t>
            </a:r>
            <a:endParaRPr lang="es-A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Shape 221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2" name="Shape 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Shape 223"/>
          <p:cNvSpPr txBox="1"/>
          <p:nvPr/>
        </p:nvSpPr>
        <p:spPr>
          <a:xfrm>
            <a:off x="108850" y="294888"/>
            <a:ext cx="87864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 dirty="0" smtClean="0">
                <a:solidFill>
                  <a:schemeClr val="tx1"/>
                </a:solidFill>
              </a:rPr>
              <a:t>Etapas del desarrollo tecnológico</a:t>
            </a:r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224" name="Shape 224"/>
          <p:cNvSpPr txBox="1"/>
          <p:nvPr/>
        </p:nvSpPr>
        <p:spPr>
          <a:xfrm>
            <a:off x="979725" y="2065463"/>
            <a:ext cx="74334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La Revolución Industrial </a:t>
            </a:r>
            <a:r>
              <a:rPr lang="en-US" sz="1800"/>
              <a:t>Sociedad agraria a sociedad industrial - cambios en la vida social</a:t>
            </a:r>
            <a:endParaRPr sz="1800"/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La revolución Tecnológica: </a:t>
            </a:r>
            <a:r>
              <a:rPr lang="en-US" sz="1800"/>
              <a:t>Electricidad, petroleo, motores a combustión - impacto en transporte, comunicación y producción. </a:t>
            </a:r>
            <a:endParaRPr sz="1800"/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La revolución Científica tecnológica:</a:t>
            </a:r>
            <a:r>
              <a:rPr lang="en-US" sz="1800"/>
              <a:t> posterior a la 2da Guerra Mundial - principales avances: Biotecnología, tecnologías de la información y nuevos materiales.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Shape 230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31" name="Shape 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Shape 232"/>
          <p:cNvSpPr txBox="1"/>
          <p:nvPr/>
        </p:nvSpPr>
        <p:spPr>
          <a:xfrm>
            <a:off x="1570650" y="450975"/>
            <a:ext cx="5862900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</a:rPr>
              <a:t>Las Nuevas tecnologías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33" name="Shape 233"/>
          <p:cNvSpPr txBox="1"/>
          <p:nvPr/>
        </p:nvSpPr>
        <p:spPr>
          <a:xfrm>
            <a:off x="241050" y="1635450"/>
            <a:ext cx="8661900" cy="3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Efectos de las NT</a:t>
            </a:r>
            <a:endParaRPr sz="2400" b="1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El Efecto Vertical</a:t>
            </a:r>
            <a:r>
              <a:rPr lang="en-US" sz="2400"/>
              <a:t>: Surgimiento de nuevas actividades y empleos, con nuevas demandas en cuanto a conocimientos  y competencias para desempeñarlas. Como coontrapartida muchas actividades desaparecen</a:t>
            </a:r>
            <a:endParaRPr sz="2400"/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El efecto horizontal</a:t>
            </a:r>
            <a:r>
              <a:rPr lang="en-US" sz="2400"/>
              <a:t>: Impacto en la actividad que se desarrolla “</a:t>
            </a:r>
            <a:r>
              <a:rPr lang="en-US" sz="2400" i="1"/>
              <a:t>cuando una nueva tecnología se incorpora a otra actividad, esta cambia y ya nada es igual”</a:t>
            </a:r>
            <a:r>
              <a:rPr lang="en-US" sz="2400"/>
              <a:t>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Shape 239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0" name="Shape 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 txBox="1"/>
          <p:nvPr/>
        </p:nvSpPr>
        <p:spPr>
          <a:xfrm>
            <a:off x="1002375" y="262000"/>
            <a:ext cx="73083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</a:rPr>
              <a:t>Ciencia y Tecnología: Similitudes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242" name="Shape 242"/>
          <p:cNvSpPr txBox="1"/>
          <p:nvPr/>
        </p:nvSpPr>
        <p:spPr>
          <a:xfrm>
            <a:off x="251520" y="1800663"/>
            <a:ext cx="8712968" cy="3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Son producto de la racionalidad humana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Se validan a través de rigurosos métodos</a:t>
            </a:r>
          </a:p>
          <a:p>
            <a: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Los dos tipos de conocimiento parten del supuesto de la posibilidad del conocimiento de la realidad</a:t>
            </a:r>
          </a:p>
          <a:p>
            <a: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AR" sz="2400" dirty="0" smtClean="0"/>
              <a:t>Se retroalimentan constituyendo saberes complementarios</a:t>
            </a:r>
            <a:endParaRPr lang="es-AR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/>
          <p:nvPr/>
        </p:nvSpPr>
        <p:spPr>
          <a:xfrm>
            <a:off x="0" y="0"/>
            <a:ext cx="9144000" cy="1398587"/>
          </a:xfrm>
          <a:prstGeom prst="rect">
            <a:avLst/>
          </a:prstGeom>
          <a:gradFill>
            <a:gsLst>
              <a:gs pos="0">
                <a:srgbClr val="58A5CC"/>
              </a:gs>
              <a:gs pos="100000">
                <a:srgbClr val="2E2E8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Shape 248"/>
          <p:cNvCxnSpPr/>
          <p:nvPr/>
        </p:nvCxnSpPr>
        <p:spPr>
          <a:xfrm>
            <a:off x="0" y="6000750"/>
            <a:ext cx="9144000" cy="0"/>
          </a:xfrm>
          <a:prstGeom prst="straightConnector1">
            <a:avLst/>
          </a:prstGeom>
          <a:noFill/>
          <a:ln w="38100" cap="flat" cmpd="sng">
            <a:solidFill>
              <a:srgbClr val="2E2E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9" name="Shape 2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75" y="6143625"/>
            <a:ext cx="2867368" cy="53202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Shape 250"/>
          <p:cNvSpPr txBox="1"/>
          <p:nvPr/>
        </p:nvSpPr>
        <p:spPr>
          <a:xfrm>
            <a:off x="1002375" y="262000"/>
            <a:ext cx="73083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</a:rPr>
              <a:t>Ciencia y Tecnología: Diferencias</a:t>
            </a:r>
            <a:endParaRPr sz="3000">
              <a:solidFill>
                <a:srgbClr val="FFFFFF"/>
              </a:solidFill>
            </a:endParaRPr>
          </a:p>
        </p:txBody>
      </p:sp>
      <p:graphicFrame>
        <p:nvGraphicFramePr>
          <p:cNvPr id="251" name="Shape 251"/>
          <p:cNvGraphicFramePr/>
          <p:nvPr>
            <p:extLst>
              <p:ext uri="{D42A27DB-BD31-4B8C-83A1-F6EECF244321}">
                <p14:modId xmlns:p14="http://schemas.microsoft.com/office/powerpoint/2010/main" val="3252447396"/>
              </p:ext>
            </p:extLst>
          </p:nvPr>
        </p:nvGraphicFramePr>
        <p:xfrm>
          <a:off x="395537" y="2279713"/>
          <a:ext cx="8041038" cy="2479453"/>
        </p:xfrm>
        <a:graphic>
          <a:graphicData uri="http://schemas.openxmlformats.org/drawingml/2006/table">
            <a:tbl>
              <a:tblPr>
                <a:noFill/>
                <a:tableStyleId>{5E779F63-8466-4DC8-8864-8709B0D1E8D7}</a:tableStyleId>
              </a:tblPr>
              <a:tblGrid>
                <a:gridCol w="4020519"/>
                <a:gridCol w="4020519"/>
              </a:tblGrid>
              <a:tr h="7038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400" b="1" noProof="0" dirty="0" smtClean="0"/>
                        <a:t>Ciencia</a:t>
                      </a:r>
                      <a:endParaRPr lang="es-AR" sz="2400" b="1" noProof="0" dirty="0"/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400" b="1" noProof="0" dirty="0" smtClean="0"/>
                        <a:t>Tecnología</a:t>
                      </a:r>
                      <a:endParaRPr lang="es-AR" sz="2400" b="1" noProof="0" dirty="0"/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89478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Busca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información</a:t>
                      </a:r>
                      <a:r>
                        <a:rPr lang="es-AR" sz="1800" noProof="0" dirty="0" smtClean="0"/>
                        <a:t> sobre la realidad</a:t>
                      </a:r>
                      <a:endParaRPr lang="es-AR" sz="1800" noProof="0" dirty="0"/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Busca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modificar</a:t>
                      </a:r>
                      <a:r>
                        <a:rPr lang="es-AR" sz="1800" noProof="0" dirty="0" smtClean="0"/>
                        <a:t> la realidad</a:t>
                      </a:r>
                      <a:endParaRPr lang="es-AR" sz="1800" noProof="0" dirty="0"/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93075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Su finalidad es la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verdad</a:t>
                      </a:r>
                      <a:endParaRPr lang="es-AR" sz="18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Busca la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utilidad</a:t>
                      </a:r>
                      <a:r>
                        <a:rPr lang="es-AR" sz="1800" noProof="0" dirty="0" smtClean="0"/>
                        <a:t> y la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eficiencia</a:t>
                      </a:r>
                      <a:endParaRPr lang="es-AR" sz="18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93075"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Persigue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leyes</a:t>
                      </a:r>
                      <a:endParaRPr lang="es-AR" sz="18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800" noProof="0" dirty="0" smtClean="0"/>
                        <a:t>Genera </a:t>
                      </a:r>
                      <a:r>
                        <a:rPr lang="es-AR" sz="1800" noProof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normas</a:t>
                      </a:r>
                      <a:endParaRPr lang="es-AR" sz="1800" noProof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893</Words>
  <Application>Microsoft Office PowerPoint</Application>
  <PresentationFormat>Presentación en pantalla (4:3)</PresentationFormat>
  <Paragraphs>119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Tahoma</vt:lpstr>
      <vt:lpstr>Calibri</vt:lpstr>
      <vt:lpstr>Tema de Office</vt:lpstr>
      <vt:lpstr>Presentación de PowerPoint</vt:lpstr>
      <vt:lpstr>¿Por qué hablamos de Ciencia y Tecnología en Ingeniería y Sociedad?</vt:lpstr>
      <vt:lpstr>CIENCIA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Virginia</dc:creator>
  <cp:lastModifiedBy>Virginia</cp:lastModifiedBy>
  <cp:revision>7</cp:revision>
  <dcterms:modified xsi:type="dcterms:W3CDTF">2019-05-26T15:30:10Z</dcterms:modified>
</cp:coreProperties>
</file>
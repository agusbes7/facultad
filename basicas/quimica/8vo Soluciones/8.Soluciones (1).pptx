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4" r:id="rId4"/>
    <p:sldId id="265" r:id="rId5"/>
    <p:sldId id="273" r:id="rId6"/>
    <p:sldId id="274" r:id="rId7"/>
    <p:sldId id="267" r:id="rId8"/>
    <p:sldId id="259" r:id="rId9"/>
    <p:sldId id="260" r:id="rId10"/>
    <p:sldId id="261" r:id="rId11"/>
    <p:sldId id="262" r:id="rId12"/>
    <p:sldId id="263"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98" d="100"/>
          <a:sy n="98" d="100"/>
        </p:scale>
        <p:origin x="-474" y="3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6CE91A-9D65-4501-BB88-513A5ADA94E1}" type="datetimeFigureOut">
              <a:rPr lang="en-US" smtClean="0"/>
              <a:pPr/>
              <a:t>5/10/2021</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1DD0DE-EA4C-4F75-B774-5DA18DB7DB4B}" type="slidenum">
              <a:rPr lang="en-US" smtClean="0"/>
              <a:pPr/>
              <a:t>‹Nº›</a:t>
            </a:fld>
            <a:endParaRPr lang="en-US"/>
          </a:p>
        </p:txBody>
      </p:sp>
    </p:spTree>
    <p:extLst>
      <p:ext uri="{BB962C8B-B14F-4D97-AF65-F5344CB8AC3E}">
        <p14:creationId xmlns:p14="http://schemas.microsoft.com/office/powerpoint/2010/main" val="2461302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9C40BD-3318-47A6-AC75-0EEF6C4AB2D0}" type="slidenum">
              <a:rPr lang="es-ES"/>
              <a:pPr/>
              <a:t>4</a:t>
            </a:fld>
            <a:endParaRPr lang="es-ES"/>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75B337-734A-471F-97C5-9430F1691665}" type="slidenum">
              <a:rPr lang="es-ES"/>
              <a:pPr/>
              <a:t>7</a:t>
            </a:fld>
            <a:endParaRPr lang="es-ES"/>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AC31296B-AA18-496F-9BDE-F7C47D761429}"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E8E15-58DA-49F1-B65B-1B6AF907A383}" type="datetimeFigureOut">
              <a:rPr lang="en-US" smtClean="0"/>
              <a:pPr/>
              <a:t>5/10/2021</a:t>
            </a:fld>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1296B-AA18-496F-9BDE-F7C47D761429}"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571472" y="642918"/>
            <a:ext cx="8358246" cy="707886"/>
          </a:xfrm>
          <a:prstGeom prst="rect">
            <a:avLst/>
          </a:prstGeom>
          <a:noFill/>
        </p:spPr>
        <p:txBody>
          <a:bodyPr wrap="square" rtlCol="0">
            <a:spAutoFit/>
          </a:bodyPr>
          <a:lstStyle/>
          <a:p>
            <a:r>
              <a:rPr lang="es-ES" sz="4000" b="1" dirty="0" smtClean="0"/>
              <a:t>Soluciones.</a:t>
            </a:r>
            <a:endParaRPr lang="en-US" sz="4000" b="1" dirty="0"/>
          </a:p>
        </p:txBody>
      </p:sp>
      <p:sp>
        <p:nvSpPr>
          <p:cNvPr id="5" name="4 CuadroTexto"/>
          <p:cNvSpPr txBox="1"/>
          <p:nvPr/>
        </p:nvSpPr>
        <p:spPr>
          <a:xfrm>
            <a:off x="642910" y="1857364"/>
            <a:ext cx="7786742" cy="2677656"/>
          </a:xfrm>
          <a:prstGeom prst="rect">
            <a:avLst/>
          </a:prstGeom>
          <a:noFill/>
        </p:spPr>
        <p:txBody>
          <a:bodyPr wrap="square" rtlCol="0">
            <a:spAutoFit/>
          </a:bodyPr>
          <a:lstStyle/>
          <a:p>
            <a:r>
              <a:rPr lang="es-ES" sz="2400" dirty="0" smtClean="0"/>
              <a:t>Concepto</a:t>
            </a:r>
          </a:p>
          <a:p>
            <a:r>
              <a:rPr lang="es-ES" sz="2400" dirty="0" smtClean="0"/>
              <a:t>Componentes</a:t>
            </a:r>
          </a:p>
          <a:p>
            <a:r>
              <a:rPr lang="es-ES" sz="2400" dirty="0" smtClean="0"/>
              <a:t>Concentración</a:t>
            </a:r>
          </a:p>
          <a:p>
            <a:r>
              <a:rPr lang="es-ES" sz="2400" dirty="0" smtClean="0"/>
              <a:t>Formas de expresar la concentración</a:t>
            </a:r>
          </a:p>
          <a:p>
            <a:r>
              <a:rPr lang="es-ES" sz="2400" dirty="0" smtClean="0"/>
              <a:t>Cálculos aplicados </a:t>
            </a:r>
          </a:p>
          <a:p>
            <a:r>
              <a:rPr lang="es-ES" sz="2400" dirty="0" smtClean="0"/>
              <a:t>Solubilidad </a:t>
            </a:r>
          </a:p>
          <a:p>
            <a:r>
              <a:rPr lang="es-ES" sz="2400" dirty="0" smtClean="0"/>
              <a:t>Propiedades</a:t>
            </a: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85720" y="428604"/>
            <a:ext cx="8643998" cy="3847207"/>
          </a:xfrm>
          <a:prstGeom prst="rect">
            <a:avLst/>
          </a:prstGeom>
          <a:noFill/>
        </p:spPr>
        <p:txBody>
          <a:bodyPr wrap="square" rtlCol="0">
            <a:spAutoFit/>
          </a:bodyPr>
          <a:lstStyle/>
          <a:p>
            <a:pPr algn="just"/>
            <a:r>
              <a:rPr lang="es-ES" sz="2400" b="1" dirty="0" smtClean="0"/>
              <a:t>Soluciones. Concepto</a:t>
            </a:r>
          </a:p>
          <a:p>
            <a:pPr algn="just"/>
            <a:r>
              <a:rPr lang="es-ES" sz="2000" dirty="0" smtClean="0"/>
              <a:t>Es una mezcla homogénea de dos o mas componentes de modo tal que pierden sus características individuales, sus constituyentes son indistinguibles y se presenta en una sola fase (liquida, solida o gas). Es el sistema homogéneo que resulta de la dispersión atómica, iónica o molecular de una sustancia en el seno de otra. Tiene propiedades intensivas constantes. El estado físico de la solución coincide con el del solvente.</a:t>
            </a:r>
          </a:p>
          <a:p>
            <a:pPr algn="just"/>
            <a:r>
              <a:rPr lang="es-ES" sz="2000" dirty="0" smtClean="0"/>
              <a:t>Una </a:t>
            </a:r>
            <a:r>
              <a:rPr lang="es-ES" sz="2000" dirty="0"/>
              <a:t>solución que contiene agua como solvente se llama </a:t>
            </a:r>
            <a:r>
              <a:rPr lang="es-ES" sz="2000" b="1" dirty="0" smtClean="0"/>
              <a:t>solución acuosa</a:t>
            </a:r>
            <a:r>
              <a:rPr lang="es-ES" sz="2000" dirty="0" smtClean="0"/>
              <a:t>.</a:t>
            </a:r>
            <a:endParaRPr lang="es-ES" sz="2000" dirty="0"/>
          </a:p>
          <a:p>
            <a:pPr algn="just"/>
            <a:r>
              <a:rPr lang="es-ES" sz="2000" dirty="0" smtClean="0"/>
              <a:t>Llamaremos</a:t>
            </a:r>
            <a:r>
              <a:rPr lang="es-ES" sz="2000" dirty="0"/>
              <a:t> </a:t>
            </a:r>
            <a:r>
              <a:rPr lang="es-ES" sz="2000" b="1" dirty="0"/>
              <a:t>solución  o disolución a las mezclas  homogéneas que se encuentran en  fase líquida</a:t>
            </a:r>
            <a:r>
              <a:rPr lang="es-ES" sz="2000" dirty="0"/>
              <a:t>. Es decir,  las mezclas homogéneas que se presentan en fase sólida,  como las aleaciones (acero, bronce, latón) o las que se hallan en fase gaseosa (aire, humo, etc.) no se les conoce como disoluciones. </a:t>
            </a:r>
            <a:endParaRPr lang="en-US" sz="2000" dirty="0"/>
          </a:p>
        </p:txBody>
      </p:sp>
      <p:sp>
        <p:nvSpPr>
          <p:cNvPr id="6" name="WordArt 3"/>
          <p:cNvSpPr>
            <a:spLocks noChangeArrowheads="1" noChangeShapeType="1" noTextEdit="1"/>
          </p:cNvSpPr>
          <p:nvPr/>
        </p:nvSpPr>
        <p:spPr bwMode="auto">
          <a:xfrm>
            <a:off x="357158" y="4357694"/>
            <a:ext cx="3695700" cy="1751013"/>
          </a:xfrm>
          <a:prstGeom prst="rect">
            <a:avLst/>
          </a:prstGeom>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en-US" sz="3600" kern="10" dirty="0" err="1">
                <a:ln w="9525">
                  <a:round/>
                  <a:headEnd/>
                  <a:tailEnd/>
                </a:ln>
                <a:gradFill rotWithShape="0">
                  <a:gsLst>
                    <a:gs pos="0">
                      <a:srgbClr val="FFE701"/>
                    </a:gs>
                    <a:gs pos="100000">
                      <a:srgbClr val="FE3E02"/>
                    </a:gs>
                  </a:gsLst>
                  <a:lin ang="5400000" scaled="1"/>
                </a:gradFill>
                <a:latin typeface="Impact"/>
              </a:rPr>
              <a:t>tipos</a:t>
            </a:r>
            <a:r>
              <a:rPr lang="en-US" sz="3600" kern="10" dirty="0">
                <a:ln w="9525">
                  <a:round/>
                  <a:headEnd/>
                  <a:tailEnd/>
                </a:ln>
                <a:gradFill rotWithShape="0">
                  <a:gsLst>
                    <a:gs pos="0">
                      <a:srgbClr val="FFE701"/>
                    </a:gs>
                    <a:gs pos="100000">
                      <a:srgbClr val="FE3E02"/>
                    </a:gs>
                  </a:gsLst>
                  <a:lin ang="5400000" scaled="1"/>
                </a:gradFill>
                <a:latin typeface="Impact"/>
              </a:rPr>
              <a:t> de </a:t>
            </a:r>
            <a:r>
              <a:rPr lang="en-US" sz="3600" kern="10" dirty="0" err="1">
                <a:ln w="9525">
                  <a:round/>
                  <a:headEnd/>
                  <a:tailEnd/>
                </a:ln>
                <a:gradFill rotWithShape="0">
                  <a:gsLst>
                    <a:gs pos="0">
                      <a:srgbClr val="FFE701"/>
                    </a:gs>
                    <a:gs pos="100000">
                      <a:srgbClr val="FE3E02"/>
                    </a:gs>
                  </a:gsLst>
                  <a:lin ang="5400000" scaled="1"/>
                </a:gradFill>
                <a:latin typeface="Impact"/>
              </a:rPr>
              <a:t>soluciónes</a:t>
            </a:r>
            <a:endParaRPr lang="en-US" sz="3600" kern="10" dirty="0">
              <a:ln w="9525">
                <a:round/>
                <a:headEnd/>
                <a:tailEnd/>
              </a:ln>
              <a:gradFill rotWithShape="0">
                <a:gsLst>
                  <a:gs pos="0">
                    <a:srgbClr val="FFE701"/>
                  </a:gs>
                  <a:gs pos="100000">
                    <a:srgbClr val="FE3E02"/>
                  </a:gs>
                </a:gsLst>
                <a:lin ang="5400000" scaled="1"/>
              </a:gradFill>
              <a:latin typeface="Impact"/>
            </a:endParaRPr>
          </a:p>
        </p:txBody>
      </p:sp>
      <p:sp>
        <p:nvSpPr>
          <p:cNvPr id="8" name="Text Box 6"/>
          <p:cNvSpPr txBox="1">
            <a:spLocks noChangeArrowheads="1"/>
          </p:cNvSpPr>
          <p:nvPr/>
        </p:nvSpPr>
        <p:spPr bwMode="auto">
          <a:xfrm>
            <a:off x="2143108" y="5786454"/>
            <a:ext cx="2057400" cy="466725"/>
          </a:xfrm>
          <a:prstGeom prst="rect">
            <a:avLst/>
          </a:prstGeom>
          <a:solidFill>
            <a:srgbClr val="FF9900"/>
          </a:solidFill>
          <a:ln w="9525">
            <a:solidFill>
              <a:srgbClr val="FFFF00"/>
            </a:solidFill>
            <a:miter lim="800000"/>
            <a:headEnd/>
            <a:tailEnd/>
          </a:ln>
          <a:effectLst/>
        </p:spPr>
        <p:txBody>
          <a:bodyPr>
            <a:spAutoFit/>
          </a:bodyPr>
          <a:lstStyle/>
          <a:p>
            <a:pPr>
              <a:spcBef>
                <a:spcPct val="50000"/>
              </a:spcBef>
            </a:pPr>
            <a:r>
              <a:rPr lang="es-ES" sz="2400" dirty="0">
                <a:latin typeface="Times New Roman" pitchFamily="18" charset="0"/>
              </a:rPr>
              <a:t>más comunes</a:t>
            </a:r>
          </a:p>
        </p:txBody>
      </p:sp>
      <p:sp>
        <p:nvSpPr>
          <p:cNvPr id="10" name="Text Box 4"/>
          <p:cNvSpPr txBox="1">
            <a:spLocks noChangeArrowheads="1"/>
          </p:cNvSpPr>
          <p:nvPr/>
        </p:nvSpPr>
        <p:spPr bwMode="auto">
          <a:xfrm>
            <a:off x="4262438" y="4214818"/>
            <a:ext cx="4881562" cy="2282825"/>
          </a:xfrm>
          <a:prstGeom prst="rect">
            <a:avLst/>
          </a:prstGeom>
          <a:noFill/>
          <a:ln w="9525">
            <a:noFill/>
            <a:miter lim="800000"/>
            <a:headEnd/>
            <a:tailEnd/>
          </a:ln>
          <a:effectLst/>
        </p:spPr>
        <p:txBody>
          <a:bodyPr wrap="none">
            <a:spAutoFit/>
          </a:bodyPr>
          <a:lstStyle/>
          <a:p>
            <a:r>
              <a:rPr lang="es-ES" sz="2400" dirty="0">
                <a:latin typeface="Times New Roman" pitchFamily="18" charset="0"/>
              </a:rPr>
              <a:t>Gas en Gas            AIRE</a:t>
            </a:r>
          </a:p>
          <a:p>
            <a:r>
              <a:rPr lang="es-ES" sz="2400" dirty="0">
                <a:latin typeface="Times New Roman" pitchFamily="18" charset="0"/>
              </a:rPr>
              <a:t>Gas en líquido       SODA</a:t>
            </a:r>
          </a:p>
          <a:p>
            <a:r>
              <a:rPr lang="es-ES" sz="2400" dirty="0">
                <a:latin typeface="Times New Roman" pitchFamily="18" charset="0"/>
              </a:rPr>
              <a:t>Gas en sólido 	      CATALIZADOR</a:t>
            </a:r>
          </a:p>
          <a:p>
            <a:r>
              <a:rPr lang="es-ES" sz="2400" dirty="0">
                <a:latin typeface="Times New Roman" pitchFamily="18" charset="0"/>
              </a:rPr>
              <a:t>Liquido en líquido ETANOL - AGUA</a:t>
            </a:r>
          </a:p>
          <a:p>
            <a:r>
              <a:rPr lang="es-ES" sz="2400" dirty="0">
                <a:latin typeface="Times New Roman" pitchFamily="18" charset="0"/>
              </a:rPr>
              <a:t>Sólido en líquido   SALMUERA</a:t>
            </a:r>
          </a:p>
          <a:p>
            <a:r>
              <a:rPr lang="es-ES" sz="2400" dirty="0">
                <a:latin typeface="Times New Roman" pitchFamily="18" charset="0"/>
              </a:rPr>
              <a:t>Sólido en sólido     ALEACIÓN</a:t>
            </a:r>
          </a:p>
        </p:txBody>
      </p:sp>
      <p:sp>
        <p:nvSpPr>
          <p:cNvPr id="11" name="AutoShape 8"/>
          <p:cNvSpPr>
            <a:spLocks/>
          </p:cNvSpPr>
          <p:nvPr/>
        </p:nvSpPr>
        <p:spPr bwMode="auto">
          <a:xfrm>
            <a:off x="4038600" y="4367234"/>
            <a:ext cx="304800" cy="2133600"/>
          </a:xfrm>
          <a:prstGeom prst="leftBrace">
            <a:avLst>
              <a:gd name="adj1" fmla="val 58333"/>
              <a:gd name="adj2" fmla="val 50000"/>
            </a:avLst>
          </a:prstGeom>
          <a:noFill/>
          <a:ln w="38100">
            <a:solidFill>
              <a:schemeClr val="tx1"/>
            </a:solidFill>
            <a:round/>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214282" y="285728"/>
            <a:ext cx="8643998" cy="2215991"/>
          </a:xfrm>
          <a:prstGeom prst="rect">
            <a:avLst/>
          </a:prstGeom>
          <a:noFill/>
        </p:spPr>
        <p:txBody>
          <a:bodyPr wrap="square" rtlCol="0">
            <a:spAutoFit/>
          </a:bodyPr>
          <a:lstStyle/>
          <a:p>
            <a:pPr algn="just"/>
            <a:r>
              <a:rPr lang="es-ES" sz="2000" b="1" dirty="0"/>
              <a:t>Características de las soluciones (o disoluciones): </a:t>
            </a:r>
            <a:endParaRPr lang="es-ES" sz="2000" dirty="0"/>
          </a:p>
          <a:p>
            <a:pPr algn="just">
              <a:buFont typeface="Wingdings" pitchFamily="2" charset="2"/>
              <a:buChar char="ü"/>
            </a:pPr>
            <a:r>
              <a:rPr lang="es-ES" sz="2000" dirty="0" smtClean="0"/>
              <a:t>Sus componentes </a:t>
            </a:r>
            <a:r>
              <a:rPr lang="es-ES" sz="2000" dirty="0"/>
              <a:t>no pueden separarse por métodos físicos simples como decantación, filtración, centrifugación, etc. </a:t>
            </a:r>
          </a:p>
          <a:p>
            <a:pPr algn="just">
              <a:buFont typeface="Wingdings" pitchFamily="2" charset="2"/>
              <a:buChar char="ü"/>
            </a:pPr>
            <a:r>
              <a:rPr lang="es-ES" sz="2000" dirty="0" smtClean="0"/>
              <a:t>Sus </a:t>
            </a:r>
            <a:r>
              <a:rPr lang="es-ES" sz="2000" dirty="0"/>
              <a:t>componentes sólo pueden separase por destilación, cristalización, cromatografía. </a:t>
            </a:r>
          </a:p>
          <a:p>
            <a:pPr algn="just">
              <a:buFont typeface="Wingdings" pitchFamily="2" charset="2"/>
              <a:buChar char="ü"/>
            </a:pPr>
            <a:r>
              <a:rPr lang="es-ES" sz="2000" dirty="0" smtClean="0"/>
              <a:t>Los </a:t>
            </a:r>
            <a:r>
              <a:rPr lang="es-ES" sz="2000" dirty="0"/>
              <a:t>componentes de una solución son </a:t>
            </a:r>
            <a:r>
              <a:rPr lang="es-ES" sz="2000" b="1" dirty="0"/>
              <a:t>soluto</a:t>
            </a:r>
            <a:r>
              <a:rPr lang="es-ES" sz="2000" dirty="0"/>
              <a:t> y </a:t>
            </a:r>
            <a:r>
              <a:rPr lang="es-ES" sz="2000" b="1" dirty="0"/>
              <a:t>solvente</a:t>
            </a:r>
            <a:r>
              <a:rPr lang="es-ES" sz="2000" dirty="0"/>
              <a:t>. </a:t>
            </a:r>
          </a:p>
          <a:p>
            <a:endParaRPr lang="en-US" dirty="0"/>
          </a:p>
        </p:txBody>
      </p:sp>
      <p:sp>
        <p:nvSpPr>
          <p:cNvPr id="5" name="4 CuadroTexto"/>
          <p:cNvSpPr txBox="1"/>
          <p:nvPr/>
        </p:nvSpPr>
        <p:spPr>
          <a:xfrm>
            <a:off x="214282" y="2643182"/>
            <a:ext cx="8715436" cy="2862322"/>
          </a:xfrm>
          <a:prstGeom prst="rect">
            <a:avLst/>
          </a:prstGeom>
          <a:noFill/>
        </p:spPr>
        <p:txBody>
          <a:bodyPr wrap="square" rtlCol="0">
            <a:spAutoFit/>
          </a:bodyPr>
          <a:lstStyle/>
          <a:p>
            <a:pPr algn="just"/>
            <a:r>
              <a:rPr lang="es-ES" sz="2000" b="1" dirty="0" smtClean="0"/>
              <a:t>Soluto: </a:t>
            </a:r>
            <a:r>
              <a:rPr lang="es-ES" sz="2000" dirty="0" smtClean="0"/>
              <a:t>componente </a:t>
            </a:r>
            <a:r>
              <a:rPr lang="es-ES" sz="2000" dirty="0"/>
              <a:t>que se encuentra en menor cantidad y es el que se disuelve.  El soluto puede ser sólido, líquido o gas, como ocurre en las bebidas gaseosas, donde el dióxido de carbono  se utiliza como </a:t>
            </a:r>
            <a:r>
              <a:rPr lang="es-ES" sz="2000" dirty="0" err="1"/>
              <a:t>gasificante</a:t>
            </a:r>
            <a:r>
              <a:rPr lang="es-ES" sz="2000" dirty="0"/>
              <a:t> de las bebidas. El azúcar se puede utilizar como un soluto disuelto en líquidos (agua</a:t>
            </a:r>
            <a:r>
              <a:rPr lang="es-ES" sz="2000" dirty="0" smtClean="0"/>
              <a:t>).</a:t>
            </a:r>
          </a:p>
          <a:p>
            <a:pPr algn="just"/>
            <a:endParaRPr lang="es-ES" sz="2000" dirty="0" smtClean="0"/>
          </a:p>
          <a:p>
            <a:pPr algn="just"/>
            <a:r>
              <a:rPr lang="es-ES" sz="2000" dirty="0"/>
              <a:t> </a:t>
            </a:r>
            <a:r>
              <a:rPr lang="es-ES" sz="2000" b="1" dirty="0" smtClean="0"/>
              <a:t>Solvente: </a:t>
            </a:r>
            <a:r>
              <a:rPr lang="es-ES" sz="2000" dirty="0" smtClean="0"/>
              <a:t>componente </a:t>
            </a:r>
            <a:r>
              <a:rPr lang="es-ES" sz="2000" dirty="0"/>
              <a:t>que se encuentra en mayor cantidad y es el medio que disuelve al soluto.  El solvente es aquella fase en  que se encuentra la solución. Aunque un solvente puede ser un gas, líquido o sólido, el solvente más común es el agua.</a:t>
            </a:r>
            <a:endParaRPr lang="en-US" sz="2000" dirty="0"/>
          </a:p>
        </p:txBody>
      </p:sp>
      <p:sp>
        <p:nvSpPr>
          <p:cNvPr id="6" name="5 CuadroTexto"/>
          <p:cNvSpPr txBox="1"/>
          <p:nvPr/>
        </p:nvSpPr>
        <p:spPr>
          <a:xfrm>
            <a:off x="214282" y="5534561"/>
            <a:ext cx="8929718" cy="1323439"/>
          </a:xfrm>
          <a:prstGeom prst="rect">
            <a:avLst/>
          </a:prstGeom>
          <a:noFill/>
        </p:spPr>
        <p:txBody>
          <a:bodyPr wrap="square" rtlCol="0">
            <a:spAutoFit/>
          </a:bodyPr>
          <a:lstStyle/>
          <a:p>
            <a:pPr algn="just">
              <a:buFont typeface="Wingdings" pitchFamily="2" charset="2"/>
              <a:buChar char="ü"/>
            </a:pPr>
            <a:r>
              <a:rPr lang="es-ES" sz="2000" dirty="0"/>
              <a:t>En una disolución, tanto el soluto como el solvente interactúan a nivel de sus componentes más pequeños (moléculas, iones). Esto explica el carácter homogéneo de las soluciones y la imposibilidad de separar sus componentes por métodos mecánicos.</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xfrm>
            <a:off x="457200" y="-242888"/>
            <a:ext cx="8229600" cy="1143001"/>
          </a:xfrm>
        </p:spPr>
        <p:txBody>
          <a:bodyPr/>
          <a:lstStyle/>
          <a:p>
            <a:r>
              <a:rPr lang="es-ES" sz="2000" dirty="0">
                <a:latin typeface="Arial Black" pitchFamily="34" charset="0"/>
              </a:rPr>
              <a:t>Proceso De Disolución</a:t>
            </a:r>
            <a:br>
              <a:rPr lang="es-ES" sz="2000" dirty="0">
                <a:latin typeface="Arial Black" pitchFamily="34" charset="0"/>
              </a:rPr>
            </a:br>
            <a:r>
              <a:rPr lang="es-ES" sz="2000" dirty="0">
                <a:latin typeface="Arial Black" pitchFamily="34" charset="0"/>
              </a:rPr>
              <a:t>visión molecular</a:t>
            </a:r>
          </a:p>
        </p:txBody>
      </p:sp>
      <p:sp>
        <p:nvSpPr>
          <p:cNvPr id="10245" name="Text Box 5"/>
          <p:cNvSpPr txBox="1">
            <a:spLocks noChangeArrowheads="1"/>
          </p:cNvSpPr>
          <p:nvPr/>
        </p:nvSpPr>
        <p:spPr bwMode="auto">
          <a:xfrm>
            <a:off x="4572000" y="765175"/>
            <a:ext cx="4392613" cy="1739900"/>
          </a:xfrm>
          <a:prstGeom prst="rect">
            <a:avLst/>
          </a:prstGeom>
          <a:noFill/>
          <a:ln w="9525">
            <a:noFill/>
            <a:miter lim="800000"/>
            <a:headEnd/>
            <a:tailEnd/>
          </a:ln>
          <a:effectLst/>
        </p:spPr>
        <p:txBody>
          <a:bodyPr>
            <a:spAutoFit/>
          </a:bodyPr>
          <a:lstStyle/>
          <a:p>
            <a:r>
              <a:rPr lang="es-ES" sz="1800" dirty="0">
                <a:latin typeface="Arial" charset="0"/>
              </a:rPr>
              <a:t>Las soluciones se forman cuando las fuerzas de atracción entre las moléculas  de soluto y solvente son de magnitud comparables con las fuerzas que existen entre las partículas de soluto mismas o entre las partículas de disolvente mismas</a:t>
            </a:r>
          </a:p>
        </p:txBody>
      </p:sp>
      <p:grpSp>
        <p:nvGrpSpPr>
          <p:cNvPr id="2" name="Group 11"/>
          <p:cNvGrpSpPr>
            <a:grpSpLocks/>
          </p:cNvGrpSpPr>
          <p:nvPr/>
        </p:nvGrpSpPr>
        <p:grpSpPr bwMode="auto">
          <a:xfrm>
            <a:off x="0" y="620713"/>
            <a:ext cx="4211638" cy="6237287"/>
            <a:chOff x="0" y="346"/>
            <a:chExt cx="1383" cy="2676"/>
          </a:xfrm>
        </p:grpSpPr>
        <p:pic>
          <p:nvPicPr>
            <p:cNvPr id="10246" name="Picture 6" descr="hidratación"/>
            <p:cNvPicPr>
              <a:picLocks noChangeAspect="1" noChangeArrowheads="1"/>
            </p:cNvPicPr>
            <p:nvPr/>
          </p:nvPicPr>
          <p:blipFill>
            <a:blip r:embed="rId3"/>
            <a:srcRect/>
            <a:stretch>
              <a:fillRect/>
            </a:stretch>
          </p:blipFill>
          <p:spPr bwMode="auto">
            <a:xfrm>
              <a:off x="147" y="436"/>
              <a:ext cx="1160" cy="2495"/>
            </a:xfrm>
            <a:prstGeom prst="rect">
              <a:avLst/>
            </a:prstGeom>
            <a:noFill/>
          </p:spPr>
        </p:pic>
        <p:sp>
          <p:nvSpPr>
            <p:cNvPr id="10249" name="Rectangle 9"/>
            <p:cNvSpPr>
              <a:spLocks noChangeArrowheads="1"/>
            </p:cNvSpPr>
            <p:nvPr/>
          </p:nvSpPr>
          <p:spPr bwMode="auto">
            <a:xfrm>
              <a:off x="0" y="346"/>
              <a:ext cx="1383" cy="2676"/>
            </a:xfrm>
            <a:prstGeom prst="rect">
              <a:avLst/>
            </a:prstGeom>
            <a:noFill/>
            <a:ln w="9525">
              <a:solidFill>
                <a:schemeClr val="tx1"/>
              </a:solidFill>
              <a:miter lim="800000"/>
              <a:headEnd/>
              <a:tailEnd/>
            </a:ln>
            <a:effectLst/>
          </p:spPr>
          <p:txBody>
            <a:bodyPr wrap="none" anchor="ctr"/>
            <a:lstStyle/>
            <a:p>
              <a:endParaRPr lang="en-US"/>
            </a:p>
          </p:txBody>
        </p:sp>
      </p:grpSp>
      <p:sp>
        <p:nvSpPr>
          <p:cNvPr id="10248" name="AutoShape 8"/>
          <p:cNvSpPr>
            <a:spLocks noChangeArrowheads="1"/>
          </p:cNvSpPr>
          <p:nvPr/>
        </p:nvSpPr>
        <p:spPr bwMode="auto">
          <a:xfrm>
            <a:off x="4572000" y="3429000"/>
            <a:ext cx="3960813" cy="1565275"/>
          </a:xfrm>
          <a:prstGeom prst="wedgeRectCallout">
            <a:avLst>
              <a:gd name="adj1" fmla="val -73208"/>
              <a:gd name="adj2" fmla="val -25315"/>
            </a:avLst>
          </a:prstGeom>
          <a:solidFill>
            <a:srgbClr val="FFFF99"/>
          </a:solidFill>
          <a:ln w="9525">
            <a:solidFill>
              <a:schemeClr val="tx1"/>
            </a:solidFill>
            <a:miter lim="800000"/>
            <a:headEnd/>
            <a:tailEnd/>
          </a:ln>
          <a:effectLst/>
        </p:spPr>
        <p:txBody>
          <a:bodyPr lIns="0" tIns="0" rIns="0" bIns="0">
            <a:spAutoFit/>
          </a:bodyPr>
          <a:lstStyle/>
          <a:p>
            <a:pPr algn="ctr"/>
            <a:r>
              <a:rPr lang="es-ES" sz="1800">
                <a:latin typeface="Arial" charset="0"/>
              </a:rPr>
              <a:t>Solvatación: es el proceso por el cuál las moléculas de solvente rodean e interaccionan con las partículas de soluto.</a:t>
            </a:r>
          </a:p>
          <a:p>
            <a:r>
              <a:rPr lang="es-ES" sz="1800" i="1">
                <a:latin typeface="Arial" charset="0"/>
              </a:rPr>
              <a:t>observación</a:t>
            </a:r>
            <a:r>
              <a:rPr lang="es-ES" sz="1800">
                <a:latin typeface="Arial" charset="0"/>
              </a:rPr>
              <a:t> : </a:t>
            </a:r>
            <a:r>
              <a:rPr lang="es-ES" sz="1200">
                <a:latin typeface="Arial" charset="0"/>
              </a:rPr>
              <a:t>si el solvente es agua, la solvatación se denomina  hidratación</a:t>
            </a:r>
          </a:p>
        </p:txBody>
      </p:sp>
      <p:sp>
        <p:nvSpPr>
          <p:cNvPr id="10252" name="AutoShape 12"/>
          <p:cNvSpPr>
            <a:spLocks noChangeArrowheads="1"/>
          </p:cNvSpPr>
          <p:nvPr/>
        </p:nvSpPr>
        <p:spPr bwMode="auto">
          <a:xfrm>
            <a:off x="4572000" y="5500702"/>
            <a:ext cx="4357718" cy="1107996"/>
          </a:xfrm>
          <a:prstGeom prst="wedgeRectCallout">
            <a:avLst>
              <a:gd name="adj1" fmla="val -132605"/>
              <a:gd name="adj2" fmla="val -28609"/>
            </a:avLst>
          </a:prstGeom>
          <a:solidFill>
            <a:srgbClr val="FFFF99"/>
          </a:solidFill>
          <a:ln w="9525">
            <a:solidFill>
              <a:schemeClr val="tx1"/>
            </a:solidFill>
            <a:miter lim="800000"/>
            <a:headEnd/>
            <a:tailEnd/>
          </a:ln>
          <a:effectLst/>
        </p:spPr>
        <p:txBody>
          <a:bodyPr wrap="square" lIns="0" tIns="0" rIns="0" bIns="0">
            <a:spAutoFit/>
          </a:bodyPr>
          <a:lstStyle/>
          <a:p>
            <a:pPr algn="ctr"/>
            <a:r>
              <a:rPr lang="es-ES" sz="1800" dirty="0">
                <a:latin typeface="Arial" charset="0"/>
              </a:rPr>
              <a:t>Fuerzas ión </a:t>
            </a:r>
            <a:r>
              <a:rPr lang="es-ES" sz="1800" dirty="0" smtClean="0">
                <a:latin typeface="Arial" charset="0"/>
              </a:rPr>
              <a:t>dipolo</a:t>
            </a:r>
            <a:r>
              <a:rPr lang="es-ES" dirty="0" smtClean="0">
                <a:latin typeface="Arial" charset="0"/>
              </a:rPr>
              <a:t>:</a:t>
            </a:r>
            <a:r>
              <a:rPr lang="es-ES" dirty="0" smtClean="0"/>
              <a:t> Los iones </a:t>
            </a:r>
            <a:r>
              <a:rPr lang="es-ES" dirty="0" err="1" smtClean="0"/>
              <a:t>Na</a:t>
            </a:r>
            <a:r>
              <a:rPr lang="es-ES" baseline="30000" dirty="0" smtClean="0"/>
              <a:t>+</a:t>
            </a:r>
            <a:r>
              <a:rPr lang="es-ES" dirty="0" smtClean="0"/>
              <a:t> y Cl</a:t>
            </a:r>
            <a:r>
              <a:rPr lang="es-ES" baseline="30000" dirty="0" smtClean="0"/>
              <a:t>-</a:t>
            </a:r>
            <a:r>
              <a:rPr lang="es-ES" dirty="0" smtClean="0"/>
              <a:t> están rodeados de moléculas de agua (polares), las moléculas de agua actúan como aislante eléctrico que mantiene a los iones separados. </a:t>
            </a:r>
            <a:endParaRPr lang="es-ES" sz="18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0245"/>
                                        </p:tgtEl>
                                        <p:attrNameLst>
                                          <p:attrName>style.visibility</p:attrName>
                                        </p:attrNameLst>
                                      </p:cBhvr>
                                      <p:to>
                                        <p:strVal val="visible"/>
                                      </p:to>
                                    </p:set>
                                    <p:anim calcmode="lin" valueType="num">
                                      <p:cBhvr>
                                        <p:cTn id="12" dur="500" fill="hold"/>
                                        <p:tgtEl>
                                          <p:spTgt spid="10245"/>
                                        </p:tgtEl>
                                        <p:attrNameLst>
                                          <p:attrName>ppt_w</p:attrName>
                                        </p:attrNameLst>
                                      </p:cBhvr>
                                      <p:tavLst>
                                        <p:tav tm="0">
                                          <p:val>
                                            <p:fltVal val="0"/>
                                          </p:val>
                                        </p:tav>
                                        <p:tav tm="100000">
                                          <p:val>
                                            <p:strVal val="#ppt_w"/>
                                          </p:val>
                                        </p:tav>
                                      </p:tavLst>
                                    </p:anim>
                                    <p:anim calcmode="lin" valueType="num">
                                      <p:cBhvr>
                                        <p:cTn id="13" dur="500" fill="hold"/>
                                        <p:tgtEl>
                                          <p:spTgt spid="1024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248"/>
                                        </p:tgtEl>
                                        <p:attrNameLst>
                                          <p:attrName>style.visibility</p:attrName>
                                        </p:attrNameLst>
                                      </p:cBhvr>
                                      <p:to>
                                        <p:strVal val="visible"/>
                                      </p:to>
                                    </p:set>
                                    <p:animEffect transition="in" filter="wipe(left)">
                                      <p:cBhvr>
                                        <p:cTn id="18" dur="500"/>
                                        <p:tgtEl>
                                          <p:spTgt spid="1024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252"/>
                                        </p:tgtEl>
                                        <p:attrNameLst>
                                          <p:attrName>style.visibility</p:attrName>
                                        </p:attrNameLst>
                                      </p:cBhvr>
                                      <p:to>
                                        <p:strVal val="visible"/>
                                      </p:to>
                                    </p:set>
                                    <p:animEffect transition="in" filter="wipe(left)">
                                      <p:cBhvr>
                                        <p:cTn id="23"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0248" grpId="0" animBg="1"/>
      <p:bldP spid="1025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79659" y="0"/>
            <a:ext cx="8496944" cy="7140416"/>
          </a:xfrm>
          <a:prstGeom prst="rect">
            <a:avLst/>
          </a:prstGeom>
          <a:noFill/>
        </p:spPr>
        <p:txBody>
          <a:bodyPr wrap="square" rtlCol="0">
            <a:spAutoFit/>
          </a:bodyPr>
          <a:lstStyle/>
          <a:p>
            <a:pPr algn="just"/>
            <a:r>
              <a:rPr lang="es-ES" sz="2000" b="1" u="sng" dirty="0" smtClean="0">
                <a:solidFill>
                  <a:schemeClr val="accent2"/>
                </a:solidFill>
              </a:rPr>
              <a:t>VISION MOLECULAR DEL PROCESO DE DISOLUCION.</a:t>
            </a:r>
            <a:endParaRPr lang="es-AR" sz="2000" b="1" u="sng" dirty="0" smtClean="0">
              <a:solidFill>
                <a:schemeClr val="accent2"/>
              </a:solidFill>
            </a:endParaRPr>
          </a:p>
          <a:p>
            <a:pPr algn="just"/>
            <a:r>
              <a:rPr lang="es-AR" sz="2000" dirty="0" smtClean="0"/>
              <a:t>En </a:t>
            </a:r>
            <a:r>
              <a:rPr lang="es-AR" sz="2000" dirty="0"/>
              <a:t>todo estado de agregación, las unidades/partículas estructurales se mantienen unidas por distintos tipos de atracciones. Estas fuerzas también juegan un papel importante en la formación de soluciones. Cuando una sustancia (el soluto) se disuelve en otra (el solvente) - por ejemplo un sólido en un líquido - las </a:t>
            </a:r>
            <a:r>
              <a:rPr lang="es-AR" sz="2000" dirty="0" smtClean="0"/>
              <a:t>unidades/partículas </a:t>
            </a:r>
            <a:r>
              <a:rPr lang="es-AR" sz="2000" dirty="0"/>
              <a:t>del soluto se dispersan homogéneamente en todo el solvente. Las unidades/partículas de soluto ocupan posiciones que por lo normal corresponden a unidades/partículas del solvente. La facilidad con que una unidad/partícula de soluto puede reemplazar a una unidad/partícula de solvente depende de la fuerza relativa de tres tipos de interacciones (atracciones).</a:t>
            </a:r>
          </a:p>
          <a:p>
            <a:pPr lvl="0" algn="just" fontAlgn="base"/>
            <a:r>
              <a:rPr lang="es-AR" sz="2000" b="1" dirty="0"/>
              <a:t>Interacción solvente - solvente.</a:t>
            </a:r>
          </a:p>
          <a:p>
            <a:pPr lvl="0" algn="just" fontAlgn="base"/>
            <a:r>
              <a:rPr lang="es-AR" sz="2000" b="1" dirty="0"/>
              <a:t>Interacción solvente - soluto.</a:t>
            </a:r>
          </a:p>
          <a:p>
            <a:pPr lvl="0" algn="just" fontAlgn="base"/>
            <a:r>
              <a:rPr lang="es-AR" sz="2000" b="1" dirty="0"/>
              <a:t>Interacción soluto - soluto.</a:t>
            </a:r>
          </a:p>
          <a:p>
            <a:pPr algn="just"/>
            <a:r>
              <a:rPr lang="es-AR" sz="2000" dirty="0"/>
              <a:t>Podemos imaginar que el proceso de disolución se lleva a cabo en tres etapas, la primera es la ruptura de las unidades/partículas del solvente mientras que la segunda es la separación de las unidades/partículas de soluto. En estas etapas se requiere de aporte de energía para vencer las fuerzas de atracción inherentes al solvente y al soluto; por lo tanto son endotérmicas. En la tercera etapa interactúan las unidades/partículas de soluto con las del solvente lo cual puede ser un proceso de tipo </a:t>
            </a:r>
            <a:r>
              <a:rPr lang="es-AR" sz="2000" dirty="0" err="1"/>
              <a:t>endo</a:t>
            </a:r>
            <a:r>
              <a:rPr lang="es-AR" sz="2000" dirty="0"/>
              <a:t> o exotérmico</a:t>
            </a:r>
            <a:r>
              <a:rPr lang="es-AR" sz="2000" dirty="0" smtClean="0"/>
              <a:t>.</a:t>
            </a:r>
          </a:p>
          <a:p>
            <a:pPr algn="just"/>
            <a:r>
              <a:rPr lang="es-AR" sz="2000" b="1" i="1" dirty="0" smtClean="0"/>
              <a:t>∆Disolución= ∆H</a:t>
            </a:r>
            <a:r>
              <a:rPr lang="es-AR" sz="2000" b="1" i="1" baseline="-25000" dirty="0" smtClean="0"/>
              <a:t>1</a:t>
            </a:r>
            <a:r>
              <a:rPr lang="es-AR" sz="2000" b="1" i="1" dirty="0" smtClean="0"/>
              <a:t>  + </a:t>
            </a:r>
            <a:r>
              <a:rPr lang="es-AR" sz="2000" b="1" i="1" dirty="0"/>
              <a:t>∆</a:t>
            </a:r>
            <a:r>
              <a:rPr lang="es-AR" sz="2000" b="1" i="1" dirty="0" smtClean="0"/>
              <a:t>H</a:t>
            </a:r>
            <a:r>
              <a:rPr lang="es-AR" sz="2000" b="1" i="1" baseline="-25000" dirty="0" smtClean="0"/>
              <a:t>2</a:t>
            </a:r>
            <a:r>
              <a:rPr lang="es-AR" sz="2000" b="1" i="1" dirty="0" smtClean="0"/>
              <a:t>  + </a:t>
            </a:r>
            <a:r>
              <a:rPr lang="es-AR" sz="2000" b="1" i="1" dirty="0"/>
              <a:t>∆</a:t>
            </a:r>
            <a:r>
              <a:rPr lang="es-AR" sz="2000" b="1" i="1" dirty="0" smtClean="0"/>
              <a:t>H</a:t>
            </a:r>
            <a:r>
              <a:rPr lang="es-AR" sz="2000" b="1" i="1" baseline="-25000" dirty="0" smtClean="0"/>
              <a:t>3</a:t>
            </a:r>
            <a:r>
              <a:rPr lang="es-AR" sz="2000" b="1" i="1" dirty="0" smtClean="0"/>
              <a:t> </a:t>
            </a:r>
            <a:endParaRPr lang="es-AR" sz="2000" b="1" i="1" dirty="0"/>
          </a:p>
          <a:p>
            <a:endParaRPr lang="es-AR" dirty="0"/>
          </a:p>
        </p:txBody>
      </p:sp>
    </p:spTree>
    <p:extLst>
      <p:ext uri="{BB962C8B-B14F-4D97-AF65-F5344CB8AC3E}">
        <p14:creationId xmlns:p14="http://schemas.microsoft.com/office/powerpoint/2010/main" val="1302169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683568" y="476672"/>
            <a:ext cx="7344816" cy="1908215"/>
          </a:xfrm>
          <a:prstGeom prst="rect">
            <a:avLst/>
          </a:prstGeom>
          <a:noFill/>
        </p:spPr>
        <p:txBody>
          <a:bodyPr wrap="square" rtlCol="0">
            <a:spAutoFit/>
          </a:bodyPr>
          <a:lstStyle/>
          <a:p>
            <a:pPr algn="just"/>
            <a:r>
              <a:rPr lang="es-AR" sz="2000" dirty="0"/>
              <a:t>Si la atracción soluto-solvente es más fuerte que la correspondiente al solvente-solvente y soluto-soluto por separado, este último se disolverá en el solvente; este proceso es exotérmico. Si por el contrario la atracción soluto-solvente es más débil, el proceso será endotérmico y no habrá una tendencia natural a formar disolución.</a:t>
            </a:r>
          </a:p>
          <a:p>
            <a:endParaRPr lang="es-AR" dirty="0"/>
          </a:p>
        </p:txBody>
      </p:sp>
      <p:graphicFrame>
        <p:nvGraphicFramePr>
          <p:cNvPr id="5" name="4 Tabla"/>
          <p:cNvGraphicFramePr>
            <a:graphicFrameLocks noGrp="1"/>
          </p:cNvGraphicFramePr>
          <p:nvPr>
            <p:extLst>
              <p:ext uri="{D42A27DB-BD31-4B8C-83A1-F6EECF244321}">
                <p14:modId xmlns:p14="http://schemas.microsoft.com/office/powerpoint/2010/main" val="103224402"/>
              </p:ext>
            </p:extLst>
          </p:nvPr>
        </p:nvGraphicFramePr>
        <p:xfrm>
          <a:off x="683568" y="2636912"/>
          <a:ext cx="7344815" cy="1718394"/>
        </p:xfrm>
        <a:graphic>
          <a:graphicData uri="http://schemas.openxmlformats.org/drawingml/2006/table">
            <a:tbl>
              <a:tblPr>
                <a:tableStyleId>{5C22544A-7EE6-4342-B048-85BDC9FD1C3A}</a:tableStyleId>
              </a:tblPr>
              <a:tblGrid>
                <a:gridCol w="2226894"/>
                <a:gridCol w="2612141"/>
                <a:gridCol w="2505780"/>
              </a:tblGrid>
              <a:tr h="1718394">
                <a:tc>
                  <a:txBody>
                    <a:bodyPr/>
                    <a:lstStyle/>
                    <a:p>
                      <a:pPr algn="ctr">
                        <a:lnSpc>
                          <a:spcPct val="107000"/>
                        </a:lnSpc>
                        <a:spcAft>
                          <a:spcPts val="800"/>
                        </a:spcAft>
                      </a:pPr>
                      <a:r>
                        <a:rPr lang="es-AR" sz="2000" b="1" dirty="0">
                          <a:effectLst/>
                        </a:rPr>
                        <a:t> </a:t>
                      </a:r>
                    </a:p>
                    <a:p>
                      <a:pPr algn="ctr">
                        <a:lnSpc>
                          <a:spcPct val="107000"/>
                        </a:lnSpc>
                        <a:spcAft>
                          <a:spcPts val="800"/>
                        </a:spcAft>
                      </a:pPr>
                      <a:r>
                        <a:rPr lang="es-AR" sz="2000" b="1" dirty="0">
                          <a:effectLst/>
                        </a:rPr>
                        <a:t>atracción  </a:t>
                      </a:r>
                      <a:r>
                        <a:rPr lang="es-AR" sz="2000" b="1" dirty="0" smtClean="0">
                          <a:effectLst/>
                        </a:rPr>
                        <a:t>soluto/solvente</a:t>
                      </a:r>
                      <a:endParaRPr lang="es-AR" sz="2000" b="1" dirty="0">
                        <a:effectLst/>
                      </a:endParaRPr>
                    </a:p>
                    <a:p>
                      <a:pPr algn="ctr">
                        <a:lnSpc>
                          <a:spcPct val="107000"/>
                        </a:lnSpc>
                        <a:spcAft>
                          <a:spcPts val="800"/>
                        </a:spcAft>
                      </a:pPr>
                      <a:r>
                        <a:rPr lang="es-AR" sz="2000" b="1" dirty="0">
                          <a:solidFill>
                            <a:schemeClr val="accent2"/>
                          </a:solidFill>
                          <a:effectLst/>
                        </a:rPr>
                        <a:t>Iones/dipolo, </a:t>
                      </a:r>
                      <a:r>
                        <a:rPr lang="es-AR" sz="2000" b="1" dirty="0" err="1">
                          <a:solidFill>
                            <a:schemeClr val="accent2"/>
                          </a:solidFill>
                          <a:effectLst/>
                        </a:rPr>
                        <a:t>pte</a:t>
                      </a:r>
                      <a:r>
                        <a:rPr lang="es-AR" sz="2000" b="1" dirty="0">
                          <a:solidFill>
                            <a:schemeClr val="accent2"/>
                          </a:solidFill>
                          <a:effectLst/>
                        </a:rPr>
                        <a:t> H</a:t>
                      </a:r>
                      <a:endParaRPr lang="es-AR" sz="2000" b="1" dirty="0">
                        <a:solidFill>
                          <a:schemeClr val="accent2"/>
                        </a:solidFill>
                        <a:effectLst/>
                        <a:latin typeface="Calibri"/>
                        <a:ea typeface="Calibri"/>
                      </a:endParaRPr>
                    </a:p>
                  </a:txBody>
                  <a:tcPr marL="68580" marR="68580" marT="0" marB="0"/>
                </a:tc>
                <a:tc>
                  <a:txBody>
                    <a:bodyPr/>
                    <a:lstStyle/>
                    <a:p>
                      <a:pPr>
                        <a:lnSpc>
                          <a:spcPct val="107000"/>
                        </a:lnSpc>
                        <a:spcAft>
                          <a:spcPts val="800"/>
                        </a:spcAft>
                      </a:pPr>
                      <a:r>
                        <a:rPr lang="es-AR" sz="2000" b="1" dirty="0">
                          <a:effectLst/>
                        </a:rPr>
                        <a:t> </a:t>
                      </a:r>
                    </a:p>
                    <a:p>
                      <a:pPr>
                        <a:lnSpc>
                          <a:spcPct val="107000"/>
                        </a:lnSpc>
                        <a:spcAft>
                          <a:spcPts val="800"/>
                        </a:spcAft>
                      </a:pPr>
                      <a:r>
                        <a:rPr lang="es-AR" sz="2000" b="1" dirty="0">
                          <a:effectLst/>
                        </a:rPr>
                        <a:t>&gt;     atracción  </a:t>
                      </a:r>
                      <a:r>
                        <a:rPr lang="es-AR" sz="2000" b="1" dirty="0" smtClean="0">
                          <a:effectLst/>
                        </a:rPr>
                        <a:t>soluto/soluto</a:t>
                      </a:r>
                      <a:endParaRPr lang="es-AR" sz="2000" b="1" dirty="0">
                        <a:effectLst/>
                      </a:endParaRPr>
                    </a:p>
                    <a:p>
                      <a:pPr>
                        <a:lnSpc>
                          <a:spcPct val="107000"/>
                        </a:lnSpc>
                        <a:spcAft>
                          <a:spcPts val="800"/>
                        </a:spcAft>
                      </a:pPr>
                      <a:r>
                        <a:rPr lang="es-AR" sz="2000" b="1" dirty="0">
                          <a:effectLst/>
                        </a:rPr>
                        <a:t>    </a:t>
                      </a:r>
                      <a:r>
                        <a:rPr lang="es-AR" sz="2000" b="1" dirty="0" smtClean="0">
                          <a:effectLst/>
                        </a:rPr>
                        <a:t> </a:t>
                      </a:r>
                      <a:r>
                        <a:rPr lang="es-AR" sz="2000" b="1" dirty="0">
                          <a:solidFill>
                            <a:schemeClr val="accent2"/>
                          </a:solidFill>
                          <a:effectLst/>
                        </a:rPr>
                        <a:t>catión/anión</a:t>
                      </a:r>
                      <a:endParaRPr lang="es-AR" sz="2000" b="1" dirty="0">
                        <a:solidFill>
                          <a:schemeClr val="accent2"/>
                        </a:solidFill>
                        <a:effectLst/>
                        <a:latin typeface="Calibri"/>
                        <a:ea typeface="Calibri"/>
                      </a:endParaRPr>
                    </a:p>
                  </a:txBody>
                  <a:tcPr marL="68580" marR="68580" marT="0" marB="0"/>
                </a:tc>
                <a:tc>
                  <a:txBody>
                    <a:bodyPr/>
                    <a:lstStyle/>
                    <a:p>
                      <a:pPr algn="ctr">
                        <a:lnSpc>
                          <a:spcPct val="107000"/>
                        </a:lnSpc>
                        <a:spcAft>
                          <a:spcPts val="800"/>
                        </a:spcAft>
                      </a:pPr>
                      <a:r>
                        <a:rPr lang="es-AR" sz="2000" b="1" dirty="0">
                          <a:effectLst/>
                        </a:rPr>
                        <a:t> </a:t>
                      </a:r>
                    </a:p>
                    <a:p>
                      <a:pPr>
                        <a:lnSpc>
                          <a:spcPct val="107000"/>
                        </a:lnSpc>
                        <a:spcAft>
                          <a:spcPts val="800"/>
                        </a:spcAft>
                      </a:pPr>
                      <a:r>
                        <a:rPr lang="es-AR" sz="2000" b="1" dirty="0">
                          <a:effectLst/>
                        </a:rPr>
                        <a:t>+    atracción </a:t>
                      </a:r>
                      <a:r>
                        <a:rPr lang="es-AR" sz="2000" b="1" dirty="0" smtClean="0">
                          <a:effectLst/>
                        </a:rPr>
                        <a:t>solvente</a:t>
                      </a:r>
                      <a:r>
                        <a:rPr lang="es-AR" sz="2000" b="1" baseline="0" dirty="0" smtClean="0">
                          <a:effectLst/>
                        </a:rPr>
                        <a:t> /solvente (</a:t>
                      </a:r>
                      <a:r>
                        <a:rPr lang="es-AR" sz="2000" b="1" dirty="0" smtClean="0">
                          <a:effectLst/>
                        </a:rPr>
                        <a:t>H</a:t>
                      </a:r>
                      <a:r>
                        <a:rPr lang="es-AR" sz="2000" b="1" baseline="-25000" dirty="0" smtClean="0">
                          <a:effectLst/>
                        </a:rPr>
                        <a:t>2</a:t>
                      </a:r>
                      <a:r>
                        <a:rPr lang="es-AR" sz="2000" b="1" dirty="0" smtClean="0">
                          <a:effectLst/>
                        </a:rPr>
                        <a:t>O)</a:t>
                      </a:r>
                      <a:endParaRPr lang="es-AR" sz="2000" b="1" dirty="0">
                        <a:effectLst/>
                      </a:endParaRPr>
                    </a:p>
                    <a:p>
                      <a:pPr algn="ctr">
                        <a:lnSpc>
                          <a:spcPct val="107000"/>
                        </a:lnSpc>
                        <a:spcAft>
                          <a:spcPts val="800"/>
                        </a:spcAft>
                      </a:pPr>
                      <a:r>
                        <a:rPr lang="es-AR" sz="2000" b="1" dirty="0">
                          <a:solidFill>
                            <a:schemeClr val="accent2"/>
                          </a:solidFill>
                          <a:effectLst/>
                        </a:rPr>
                        <a:t>dipolo, </a:t>
                      </a:r>
                      <a:r>
                        <a:rPr lang="es-AR" sz="2000" b="1" dirty="0" err="1">
                          <a:solidFill>
                            <a:schemeClr val="accent2"/>
                          </a:solidFill>
                          <a:effectLst/>
                        </a:rPr>
                        <a:t>pteH</a:t>
                      </a:r>
                      <a:endParaRPr lang="es-AR" sz="2000" b="1" dirty="0">
                        <a:solidFill>
                          <a:schemeClr val="accent2"/>
                        </a:solidFill>
                        <a:effectLst/>
                        <a:latin typeface="Calibri"/>
                        <a:ea typeface="Calibri"/>
                      </a:endParaRPr>
                    </a:p>
                  </a:txBody>
                  <a:tcPr marL="68580" marR="68580" marT="0" marB="0"/>
                </a:tc>
              </a:tr>
            </a:tbl>
          </a:graphicData>
        </a:graphic>
      </p:graphicFrame>
    </p:spTree>
    <p:extLst>
      <p:ext uri="{BB962C8B-B14F-4D97-AF65-F5344CB8AC3E}">
        <p14:creationId xmlns:p14="http://schemas.microsoft.com/office/powerpoint/2010/main" val="20577638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Grp="1" noChangeArrowheads="1"/>
          </p:cNvSpPr>
          <p:nvPr>
            <p:ph type="title"/>
          </p:nvPr>
        </p:nvSpPr>
        <p:spPr>
          <a:xfrm>
            <a:off x="457200" y="0"/>
            <a:ext cx="8229600" cy="1143000"/>
          </a:xfrm>
        </p:spPr>
        <p:txBody>
          <a:bodyPr/>
          <a:lstStyle/>
          <a:p>
            <a:r>
              <a:rPr lang="es-ES"/>
              <a:t>Proceso de Disolución </a:t>
            </a:r>
          </a:p>
        </p:txBody>
      </p:sp>
      <p:pic>
        <p:nvPicPr>
          <p:cNvPr id="12295" name="Picture 7" descr="bl13fg01"/>
          <p:cNvPicPr>
            <a:picLocks noChangeAspect="1" noChangeArrowheads="1"/>
          </p:cNvPicPr>
          <p:nvPr/>
        </p:nvPicPr>
        <p:blipFill>
          <a:blip r:embed="rId3"/>
          <a:srcRect/>
          <a:stretch>
            <a:fillRect/>
          </a:stretch>
        </p:blipFill>
        <p:spPr bwMode="auto">
          <a:xfrm>
            <a:off x="-32" y="908050"/>
            <a:ext cx="9040842" cy="3121025"/>
          </a:xfrm>
          <a:prstGeom prst="rect">
            <a:avLst/>
          </a:prstGeom>
          <a:noFill/>
        </p:spPr>
      </p:pic>
      <p:sp>
        <p:nvSpPr>
          <p:cNvPr id="12296" name="Text Box 8"/>
          <p:cNvSpPr txBox="1">
            <a:spLocks noChangeArrowheads="1"/>
          </p:cNvSpPr>
          <p:nvPr/>
        </p:nvSpPr>
        <p:spPr bwMode="auto">
          <a:xfrm>
            <a:off x="409575" y="4221163"/>
            <a:ext cx="8266113" cy="2289175"/>
          </a:xfrm>
          <a:prstGeom prst="rect">
            <a:avLst/>
          </a:prstGeom>
          <a:noFill/>
          <a:ln w="9525">
            <a:noFill/>
            <a:miter lim="800000"/>
            <a:headEnd/>
            <a:tailEnd/>
          </a:ln>
          <a:effectLst/>
        </p:spPr>
        <p:txBody>
          <a:bodyPr>
            <a:spAutoFit/>
          </a:bodyPr>
          <a:lstStyle/>
          <a:p>
            <a:pPr marL="342900" indent="-342900">
              <a:buFontTx/>
              <a:buAutoNum type="alphaLcPeriod"/>
            </a:pPr>
            <a:r>
              <a:rPr lang="es-ES" sz="1800">
                <a:latin typeface="Arial" charset="0"/>
              </a:rPr>
              <a:t>Ilustración esquemática del proceso de disolución de un sólido iónico en agua</a:t>
            </a:r>
          </a:p>
          <a:p>
            <a:pPr marL="342900" indent="-342900">
              <a:buFontTx/>
              <a:buAutoNum type="alphaLcPeriod"/>
            </a:pPr>
            <a:r>
              <a:rPr lang="es-ES" sz="1800">
                <a:latin typeface="Arial" charset="0"/>
              </a:rPr>
              <a:t>La sustancia sólida es hidratada por las moléculas de agua con los átomos de oxígenos orientados hacia  los cationes y los átomos de hidrógeno hacia los aniones del sólido</a:t>
            </a:r>
          </a:p>
          <a:p>
            <a:pPr marL="342900" indent="-342900">
              <a:buFontTx/>
              <a:buAutoNum type="alphaLcPeriod"/>
            </a:pPr>
            <a:r>
              <a:rPr lang="es-ES" sz="1800">
                <a:latin typeface="Arial" charset="0"/>
              </a:rPr>
              <a:t>A medida que avanza el proceso, los iones individuales son retirados de las superficie del sólido y se convierten en especies hidratadas totalmente individuales en solución</a:t>
            </a:r>
          </a:p>
        </p:txBody>
      </p:sp>
      <p:sp>
        <p:nvSpPr>
          <p:cNvPr id="12297" name="AutoShape 9"/>
          <p:cNvSpPr>
            <a:spLocks noChangeArrowheads="1"/>
          </p:cNvSpPr>
          <p:nvPr/>
        </p:nvSpPr>
        <p:spPr bwMode="auto">
          <a:xfrm>
            <a:off x="1116013" y="333375"/>
            <a:ext cx="719137" cy="284163"/>
          </a:xfrm>
          <a:prstGeom prst="wedgeRectCallout">
            <a:avLst>
              <a:gd name="adj1" fmla="val -63245"/>
              <a:gd name="adj2" fmla="val 184639"/>
            </a:avLst>
          </a:prstGeom>
          <a:solidFill>
            <a:srgbClr val="FFFF99"/>
          </a:solidFill>
          <a:ln w="9525">
            <a:solidFill>
              <a:schemeClr val="tx1"/>
            </a:solidFill>
            <a:miter lim="800000"/>
            <a:headEnd/>
            <a:tailEnd/>
          </a:ln>
          <a:effectLst/>
        </p:spPr>
        <p:txBody>
          <a:bodyPr lIns="0" tIns="0" rIns="0" bIns="0">
            <a:spAutoFit/>
          </a:bodyPr>
          <a:lstStyle/>
          <a:p>
            <a:pPr algn="ctr"/>
            <a:r>
              <a:rPr lang="es-ES" sz="1800">
                <a:latin typeface="Arial" charset="0"/>
              </a:rPr>
              <a:t>agua</a:t>
            </a:r>
          </a:p>
        </p:txBody>
      </p:sp>
      <p:sp>
        <p:nvSpPr>
          <p:cNvPr id="12298" name="AutoShape 10"/>
          <p:cNvSpPr>
            <a:spLocks noChangeArrowheads="1"/>
          </p:cNvSpPr>
          <p:nvPr/>
        </p:nvSpPr>
        <p:spPr bwMode="auto">
          <a:xfrm>
            <a:off x="1763713" y="1125538"/>
            <a:ext cx="719137" cy="833437"/>
          </a:xfrm>
          <a:prstGeom prst="wedgeRectCallout">
            <a:avLst>
              <a:gd name="adj1" fmla="val -102981"/>
              <a:gd name="adj2" fmla="val 92667"/>
            </a:avLst>
          </a:prstGeom>
          <a:solidFill>
            <a:srgbClr val="FFFF99"/>
          </a:solidFill>
          <a:ln w="9525">
            <a:solidFill>
              <a:schemeClr val="tx1"/>
            </a:solidFill>
            <a:miter lim="800000"/>
            <a:headEnd/>
            <a:tailEnd/>
          </a:ln>
          <a:effectLst/>
        </p:spPr>
        <p:txBody>
          <a:bodyPr lIns="0" tIns="0" rIns="0" bIns="0">
            <a:spAutoFit/>
          </a:bodyPr>
          <a:lstStyle/>
          <a:p>
            <a:pPr algn="ctr"/>
            <a:r>
              <a:rPr lang="es-ES" sz="1800">
                <a:latin typeface="Arial" charset="0"/>
              </a:rPr>
              <a:t>Anión del sólido</a:t>
            </a:r>
          </a:p>
        </p:txBody>
      </p:sp>
      <p:sp>
        <p:nvSpPr>
          <p:cNvPr id="12299" name="AutoShape 11"/>
          <p:cNvSpPr>
            <a:spLocks noChangeArrowheads="1"/>
          </p:cNvSpPr>
          <p:nvPr/>
        </p:nvSpPr>
        <p:spPr bwMode="auto">
          <a:xfrm>
            <a:off x="1692275" y="3429000"/>
            <a:ext cx="719138" cy="833438"/>
          </a:xfrm>
          <a:prstGeom prst="wedgeRectCallout">
            <a:avLst>
              <a:gd name="adj1" fmla="val -112472"/>
              <a:gd name="adj2" fmla="val -51144"/>
            </a:avLst>
          </a:prstGeom>
          <a:solidFill>
            <a:srgbClr val="FFFF99"/>
          </a:solidFill>
          <a:ln w="9525">
            <a:solidFill>
              <a:schemeClr val="tx1"/>
            </a:solidFill>
            <a:miter lim="800000"/>
            <a:headEnd/>
            <a:tailEnd/>
          </a:ln>
          <a:effectLst/>
        </p:spPr>
        <p:txBody>
          <a:bodyPr lIns="0" tIns="0" rIns="0" bIns="0">
            <a:spAutoFit/>
          </a:bodyPr>
          <a:lstStyle/>
          <a:p>
            <a:pPr algn="ctr"/>
            <a:r>
              <a:rPr lang="es-ES" sz="1800">
                <a:latin typeface="Arial" charset="0"/>
              </a:rPr>
              <a:t>Catión del sólido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wipe(up)">
                                      <p:cBhvr>
                                        <p:cTn id="7" dur="500"/>
                                        <p:tgtEl>
                                          <p:spTgt spid="1229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2297"/>
                                        </p:tgtEl>
                                        <p:attrNameLst>
                                          <p:attrName>style.visibility</p:attrName>
                                        </p:attrNameLst>
                                      </p:cBhvr>
                                      <p:to>
                                        <p:strVal val="visible"/>
                                      </p:to>
                                    </p:set>
                                    <p:anim calcmode="lin" valueType="num">
                                      <p:cBhvr>
                                        <p:cTn id="12" dur="500" fill="hold"/>
                                        <p:tgtEl>
                                          <p:spTgt spid="12297"/>
                                        </p:tgtEl>
                                        <p:attrNameLst>
                                          <p:attrName>ppt_w</p:attrName>
                                        </p:attrNameLst>
                                      </p:cBhvr>
                                      <p:tavLst>
                                        <p:tav tm="0">
                                          <p:val>
                                            <p:fltVal val="0"/>
                                          </p:val>
                                        </p:tav>
                                        <p:tav tm="100000">
                                          <p:val>
                                            <p:strVal val="#ppt_w"/>
                                          </p:val>
                                        </p:tav>
                                      </p:tavLst>
                                    </p:anim>
                                    <p:anim calcmode="lin" valueType="num">
                                      <p:cBhvr>
                                        <p:cTn id="13" dur="500" fill="hold"/>
                                        <p:tgtEl>
                                          <p:spTgt spid="1229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2298"/>
                                        </p:tgtEl>
                                        <p:attrNameLst>
                                          <p:attrName>style.visibility</p:attrName>
                                        </p:attrNameLst>
                                      </p:cBhvr>
                                      <p:to>
                                        <p:strVal val="visible"/>
                                      </p:to>
                                    </p:set>
                                    <p:animEffect transition="in" filter="wipe(down)">
                                      <p:cBhvr>
                                        <p:cTn id="18" dur="500"/>
                                        <p:tgtEl>
                                          <p:spTgt spid="1229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2299"/>
                                        </p:tgtEl>
                                        <p:attrNameLst>
                                          <p:attrName>style.visibility</p:attrName>
                                        </p:attrNameLst>
                                      </p:cBhvr>
                                      <p:to>
                                        <p:strVal val="visible"/>
                                      </p:to>
                                    </p:set>
                                    <p:animEffect transition="in" filter="wipe(up)">
                                      <p:cBhvr>
                                        <p:cTn id="23" dur="500"/>
                                        <p:tgtEl>
                                          <p:spTgt spid="122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2296"/>
                                        </p:tgtEl>
                                        <p:attrNameLst>
                                          <p:attrName>style.visibility</p:attrName>
                                        </p:attrNameLst>
                                      </p:cBhvr>
                                      <p:to>
                                        <p:strVal val="visible"/>
                                      </p:to>
                                    </p:set>
                                    <p:animEffect transition="in" filter="wipe(up)">
                                      <p:cBhvr>
                                        <p:cTn id="28" dur="500"/>
                                        <p:tgtEl>
                                          <p:spTgt spid="12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p:bldP spid="12297" grpId="0" animBg="1"/>
      <p:bldP spid="12298" grpId="0" animBg="1"/>
      <p:bldP spid="1229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96453" y="511705"/>
            <a:ext cx="8572560" cy="1938992"/>
          </a:xfrm>
          <a:prstGeom prst="rect">
            <a:avLst/>
          </a:prstGeom>
          <a:noFill/>
        </p:spPr>
        <p:txBody>
          <a:bodyPr wrap="square" rtlCol="0">
            <a:spAutoFit/>
          </a:bodyPr>
          <a:lstStyle/>
          <a:p>
            <a:pPr algn="just"/>
            <a:r>
              <a:rPr lang="es-ES" sz="2000" dirty="0" smtClean="0"/>
              <a:t>La concentración de un disolución es la cantidad de soluto presente en una cantidad dada de disolvente o de disolución</a:t>
            </a:r>
            <a:r>
              <a:rPr lang="es-ES" sz="2000" dirty="0" smtClean="0"/>
              <a:t>.</a:t>
            </a:r>
            <a:endParaRPr lang="es-ES" sz="2000" dirty="0" smtClean="0"/>
          </a:p>
          <a:p>
            <a:pPr algn="just"/>
            <a:r>
              <a:rPr lang="es-ES" sz="2000" dirty="0" smtClean="0"/>
              <a:t>Para </a:t>
            </a:r>
            <a:r>
              <a:rPr lang="es-ES" sz="2000" dirty="0"/>
              <a:t>saber exactamente la cantidad de soluto  y de solvente  de una disolución  se utiliza una magnitud denominada </a:t>
            </a:r>
            <a:r>
              <a:rPr lang="es-ES" sz="2000" b="1" dirty="0" smtClean="0"/>
              <a:t>CONCENTRACION</a:t>
            </a:r>
            <a:r>
              <a:rPr lang="es-ES" sz="2000" dirty="0" smtClean="0"/>
              <a:t>.</a:t>
            </a:r>
            <a:r>
              <a:rPr lang="es-ES" sz="2000" dirty="0"/>
              <a:t> </a:t>
            </a:r>
          </a:p>
          <a:p>
            <a:pPr algn="just"/>
            <a:r>
              <a:rPr lang="es-ES" sz="2000" dirty="0"/>
              <a:t>Dependiendo de su </a:t>
            </a:r>
            <a:r>
              <a:rPr lang="es-ES" sz="2000" b="1" dirty="0"/>
              <a:t>concentración</a:t>
            </a:r>
            <a:r>
              <a:rPr lang="es-ES" sz="2000" dirty="0"/>
              <a:t>, las disoluciones se clasifican en </a:t>
            </a:r>
            <a:r>
              <a:rPr lang="es-ES" sz="2000" b="1" dirty="0"/>
              <a:t>diluidas, concentradas, saturadas,  sobresaturadas.  </a:t>
            </a:r>
            <a:endParaRPr lang="es-ES" sz="2000" dirty="0"/>
          </a:p>
        </p:txBody>
      </p:sp>
      <p:sp>
        <p:nvSpPr>
          <p:cNvPr id="5" name="4 CuadroTexto"/>
          <p:cNvSpPr txBox="1"/>
          <p:nvPr/>
        </p:nvSpPr>
        <p:spPr>
          <a:xfrm>
            <a:off x="229384" y="2548910"/>
            <a:ext cx="8715436" cy="4370427"/>
          </a:xfrm>
          <a:prstGeom prst="rect">
            <a:avLst/>
          </a:prstGeom>
          <a:noFill/>
        </p:spPr>
        <p:txBody>
          <a:bodyPr wrap="square" rtlCol="0">
            <a:spAutoFit/>
          </a:bodyPr>
          <a:lstStyle/>
          <a:p>
            <a:pPr algn="just"/>
            <a:r>
              <a:rPr lang="es-ES" sz="2000" b="1" dirty="0"/>
              <a:t>Diluidas</a:t>
            </a:r>
            <a:r>
              <a:rPr lang="es-ES" sz="2000" dirty="0"/>
              <a:t>: si la cantidad de soluto respecto del solvente es pequeña.  Ejemplo: una solución de 1 gramo de sal de mesa en 100 gramos de agua. </a:t>
            </a:r>
          </a:p>
          <a:p>
            <a:pPr algn="just"/>
            <a:r>
              <a:rPr lang="es-ES" sz="2000" b="1" dirty="0"/>
              <a:t>Concentradas</a:t>
            </a:r>
            <a:r>
              <a:rPr lang="es-ES" sz="2000" dirty="0"/>
              <a:t>: si la proporción de soluto con respecto del solvente es grande.  Ejemplo: una disolución de 25 gramos de sal de mesa  en 100 gramos de agua. </a:t>
            </a:r>
          </a:p>
          <a:p>
            <a:pPr algn="just"/>
            <a:r>
              <a:rPr lang="es-ES" sz="2000" b="1" dirty="0"/>
              <a:t>Saturadas</a:t>
            </a:r>
            <a:r>
              <a:rPr lang="es-ES" sz="2000" dirty="0"/>
              <a:t>: se dice que una disolución está saturada a una determinada temperatura cuando no admite más cantidad de soluto disuelto.  Ejemplo: 36 gramos de sal de mesa en 100 gramos de agua a 20º C.  </a:t>
            </a:r>
          </a:p>
          <a:p>
            <a:pPr algn="just"/>
            <a:r>
              <a:rPr lang="es-ES" sz="2000" dirty="0"/>
              <a:t>Si intentamos disolver 38 gramos de sal en 100 gramos de agua, sólo se disolvería 36 gramos y los 2 gramos restantes permanecerán en el fondo del vaso sin disolverse.  </a:t>
            </a:r>
          </a:p>
          <a:p>
            <a:pPr algn="just"/>
            <a:r>
              <a:rPr lang="es-ES" sz="2000" b="1" dirty="0"/>
              <a:t>Sobresaturadas</a:t>
            </a:r>
            <a:r>
              <a:rPr lang="es-ES" sz="2000" dirty="0"/>
              <a:t>: disolución que contiene mayor cantidad de soluto que la permitida a una temperatura determinada. </a:t>
            </a:r>
          </a:p>
          <a:p>
            <a:pPr algn="just"/>
            <a:endParaRPr lang="en-US" dirty="0"/>
          </a:p>
        </p:txBody>
      </p:sp>
      <p:sp>
        <p:nvSpPr>
          <p:cNvPr id="6" name="5 CuadroTexto"/>
          <p:cNvSpPr txBox="1"/>
          <p:nvPr/>
        </p:nvSpPr>
        <p:spPr>
          <a:xfrm>
            <a:off x="186109" y="50040"/>
            <a:ext cx="8572560" cy="461665"/>
          </a:xfrm>
          <a:prstGeom prst="rect">
            <a:avLst/>
          </a:prstGeom>
          <a:noFill/>
        </p:spPr>
        <p:txBody>
          <a:bodyPr wrap="square" rtlCol="0">
            <a:spAutoFit/>
          </a:bodyPr>
          <a:lstStyle/>
          <a:p>
            <a:pPr algn="just"/>
            <a:r>
              <a:rPr lang="es-ES" sz="2400" b="1" dirty="0" smtClean="0"/>
              <a:t>Concentración de disoluciones</a:t>
            </a:r>
            <a:endParaRPr lang="es-ES" sz="240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85720" y="142852"/>
            <a:ext cx="8429684" cy="400110"/>
          </a:xfrm>
          <a:prstGeom prst="rect">
            <a:avLst/>
          </a:prstGeom>
          <a:noFill/>
        </p:spPr>
        <p:txBody>
          <a:bodyPr wrap="square" rtlCol="0">
            <a:spAutoFit/>
          </a:bodyPr>
          <a:lstStyle/>
          <a:p>
            <a:r>
              <a:rPr lang="es-ES" sz="2000" b="1" u="sng" dirty="0"/>
              <a:t>Modo de expresar las </a:t>
            </a:r>
            <a:r>
              <a:rPr lang="es-ES" sz="2000" b="1" u="sng" dirty="0" smtClean="0"/>
              <a:t>concentraciones:</a:t>
            </a:r>
            <a:endParaRPr lang="en-US" sz="2000" u="sng" dirty="0"/>
          </a:p>
        </p:txBody>
      </p:sp>
      <p:sp>
        <p:nvSpPr>
          <p:cNvPr id="3" name="2 CuadroTexto"/>
          <p:cNvSpPr txBox="1"/>
          <p:nvPr/>
        </p:nvSpPr>
        <p:spPr>
          <a:xfrm>
            <a:off x="357158" y="642918"/>
            <a:ext cx="8358246" cy="707886"/>
          </a:xfrm>
          <a:prstGeom prst="rect">
            <a:avLst/>
          </a:prstGeom>
          <a:noFill/>
        </p:spPr>
        <p:txBody>
          <a:bodyPr wrap="square" rtlCol="0">
            <a:spAutoFit/>
          </a:bodyPr>
          <a:lstStyle/>
          <a:p>
            <a:pPr algn="just"/>
            <a:r>
              <a:rPr lang="es-ES" sz="2000" dirty="0"/>
              <a:t>Las </a:t>
            </a:r>
            <a:r>
              <a:rPr lang="es-ES" sz="2000" b="1" dirty="0"/>
              <a:t>unidades de concentración</a:t>
            </a:r>
            <a:r>
              <a:rPr lang="es-ES" sz="2000" dirty="0"/>
              <a:t> en que se expresa una solución o disolución pueden clasificarse en </a:t>
            </a:r>
            <a:r>
              <a:rPr lang="es-ES" sz="2000" b="1" dirty="0"/>
              <a:t>unidades físicas </a:t>
            </a:r>
            <a:r>
              <a:rPr lang="es-ES" sz="2000" dirty="0"/>
              <a:t>y </a:t>
            </a:r>
            <a:r>
              <a:rPr lang="es-ES" sz="2000" dirty="0" smtClean="0"/>
              <a:t>en </a:t>
            </a:r>
            <a:r>
              <a:rPr lang="es-ES" sz="2000" b="1" dirty="0" smtClean="0"/>
              <a:t>unidades </a:t>
            </a:r>
            <a:r>
              <a:rPr lang="es-ES" sz="2000" b="1" dirty="0"/>
              <a:t>químicas</a:t>
            </a:r>
            <a:r>
              <a:rPr lang="es-ES" sz="2000" dirty="0"/>
              <a:t>.</a:t>
            </a:r>
            <a:endParaRPr lang="en-US" sz="2000" dirty="0"/>
          </a:p>
        </p:txBody>
      </p:sp>
      <p:sp>
        <p:nvSpPr>
          <p:cNvPr id="4" name="3 CuadroTexto"/>
          <p:cNvSpPr txBox="1"/>
          <p:nvPr/>
        </p:nvSpPr>
        <p:spPr>
          <a:xfrm>
            <a:off x="428596" y="1428736"/>
            <a:ext cx="7715304" cy="677108"/>
          </a:xfrm>
          <a:prstGeom prst="rect">
            <a:avLst/>
          </a:prstGeom>
          <a:noFill/>
        </p:spPr>
        <p:txBody>
          <a:bodyPr wrap="square" rtlCol="0">
            <a:spAutoFit/>
          </a:bodyPr>
          <a:lstStyle/>
          <a:p>
            <a:r>
              <a:rPr lang="en-US" sz="2000" b="1" dirty="0" err="1"/>
              <a:t>Unidades</a:t>
            </a:r>
            <a:r>
              <a:rPr lang="en-US" sz="2000" b="1" dirty="0"/>
              <a:t> </a:t>
            </a:r>
            <a:r>
              <a:rPr lang="en-US" sz="2000" b="1" dirty="0" err="1"/>
              <a:t>físicas</a:t>
            </a:r>
            <a:r>
              <a:rPr lang="en-US" sz="2000" b="1" dirty="0"/>
              <a:t> de </a:t>
            </a:r>
            <a:r>
              <a:rPr lang="en-US" sz="2000" b="1" dirty="0" err="1" smtClean="0"/>
              <a:t>concentración</a:t>
            </a:r>
            <a:r>
              <a:rPr lang="en-US" sz="2000" b="1" dirty="0" smtClean="0"/>
              <a:t>:</a:t>
            </a:r>
            <a:endParaRPr lang="en-US" sz="2000" b="1" dirty="0"/>
          </a:p>
          <a:p>
            <a:endParaRPr lang="en-US" dirty="0"/>
          </a:p>
        </p:txBody>
      </p:sp>
      <p:sp>
        <p:nvSpPr>
          <p:cNvPr id="5" name="4 CuadroTexto"/>
          <p:cNvSpPr txBox="1"/>
          <p:nvPr/>
        </p:nvSpPr>
        <p:spPr>
          <a:xfrm>
            <a:off x="500034" y="1785926"/>
            <a:ext cx="8143932" cy="2831544"/>
          </a:xfrm>
          <a:prstGeom prst="rect">
            <a:avLst/>
          </a:prstGeom>
          <a:noFill/>
        </p:spPr>
        <p:txBody>
          <a:bodyPr wrap="square" rtlCol="0">
            <a:spAutoFit/>
          </a:bodyPr>
          <a:lstStyle/>
          <a:p>
            <a:r>
              <a:rPr lang="es-ES" sz="2000" dirty="0"/>
              <a:t>a) Tanto por ciento </a:t>
            </a:r>
            <a:r>
              <a:rPr lang="es-ES" sz="2000" dirty="0" smtClean="0"/>
              <a:t>masa/masa,</a:t>
            </a:r>
            <a:r>
              <a:rPr lang="es-ES" sz="2000" dirty="0"/>
              <a:t> </a:t>
            </a:r>
            <a:r>
              <a:rPr lang="es-ES" sz="2000" b="1" dirty="0" smtClean="0"/>
              <a:t>%m/m</a:t>
            </a:r>
            <a:r>
              <a:rPr lang="es-ES" sz="2000" dirty="0"/>
              <a:t> = (cantidad de gramos de soluto) / (100 gramos de solución)</a:t>
            </a:r>
          </a:p>
          <a:p>
            <a:r>
              <a:rPr lang="es-ES" sz="2000" dirty="0"/>
              <a:t>b) Tanto por ciento </a:t>
            </a:r>
            <a:r>
              <a:rPr lang="es-ES" sz="2000" dirty="0" smtClean="0"/>
              <a:t>volumen/volumen</a:t>
            </a:r>
            <a:r>
              <a:rPr lang="es-ES" sz="2000" dirty="0"/>
              <a:t> </a:t>
            </a:r>
            <a:r>
              <a:rPr lang="es-ES" sz="2000" b="1" dirty="0" smtClean="0"/>
              <a:t>%v/v</a:t>
            </a:r>
            <a:r>
              <a:rPr lang="es-ES" sz="2000" dirty="0"/>
              <a:t> = (cantidad de cc de soluto) / (100 cc de solución)</a:t>
            </a:r>
          </a:p>
          <a:p>
            <a:r>
              <a:rPr lang="es-ES" sz="2000" dirty="0"/>
              <a:t>c) Tanto por ciento </a:t>
            </a:r>
            <a:r>
              <a:rPr lang="es-ES" sz="2000" dirty="0" smtClean="0"/>
              <a:t>masa/volumen</a:t>
            </a:r>
            <a:r>
              <a:rPr lang="es-ES" sz="2000" dirty="0"/>
              <a:t> </a:t>
            </a:r>
            <a:r>
              <a:rPr lang="es-ES" sz="2000" b="1" dirty="0"/>
              <a:t>% </a:t>
            </a:r>
            <a:r>
              <a:rPr lang="es-ES" sz="2000" b="1" dirty="0" smtClean="0"/>
              <a:t>m/v</a:t>
            </a:r>
            <a:r>
              <a:rPr lang="es-ES" sz="2000" dirty="0"/>
              <a:t> =(cantidad de gr de soluto)/ (100 cc de solución</a:t>
            </a:r>
            <a:r>
              <a:rPr lang="es-ES" sz="2000" dirty="0" smtClean="0"/>
              <a:t>)</a:t>
            </a:r>
          </a:p>
          <a:p>
            <a:r>
              <a:rPr lang="es-ES" sz="2000" dirty="0" smtClean="0"/>
              <a:t>d) gramos/ litro  </a:t>
            </a:r>
            <a:r>
              <a:rPr lang="es-ES" sz="2000" b="1" dirty="0" smtClean="0"/>
              <a:t>g/l = </a:t>
            </a:r>
            <a:r>
              <a:rPr lang="es-ES" sz="2000" dirty="0" smtClean="0"/>
              <a:t>(gramos de soluto/ litro solución)</a:t>
            </a:r>
          </a:p>
          <a:p>
            <a:r>
              <a:rPr lang="es-ES" sz="2000" dirty="0" smtClean="0"/>
              <a:t>e) Partes x millón ppm= (mg soluto/kg solución)</a:t>
            </a:r>
            <a:endParaRPr lang="es-ES" sz="2000" dirty="0"/>
          </a:p>
          <a:p>
            <a:endParaRPr lang="en-US" dirty="0"/>
          </a:p>
        </p:txBody>
      </p:sp>
      <p:sp>
        <p:nvSpPr>
          <p:cNvPr id="6" name="5 CuadroTexto"/>
          <p:cNvSpPr txBox="1"/>
          <p:nvPr/>
        </p:nvSpPr>
        <p:spPr>
          <a:xfrm>
            <a:off x="428596" y="4477132"/>
            <a:ext cx="8715404" cy="2523768"/>
          </a:xfrm>
          <a:prstGeom prst="rect">
            <a:avLst/>
          </a:prstGeom>
          <a:noFill/>
        </p:spPr>
        <p:txBody>
          <a:bodyPr wrap="square" rtlCol="0">
            <a:spAutoFit/>
          </a:bodyPr>
          <a:lstStyle/>
          <a:p>
            <a:r>
              <a:rPr lang="es-ES" sz="2000" b="1" dirty="0"/>
              <a:t>Unidades químicas de concentración</a:t>
            </a:r>
          </a:p>
          <a:p>
            <a:r>
              <a:rPr lang="es-ES" sz="2000" dirty="0"/>
              <a:t>Para expresar la concentración de las soluciones se usan también sistemas con unidades químicas, como son:</a:t>
            </a:r>
          </a:p>
          <a:p>
            <a:pPr marL="457200" indent="-457200"/>
            <a:r>
              <a:rPr lang="es-ES" sz="2000" dirty="0" smtClean="0"/>
              <a:t>a) Fracción molar </a:t>
            </a:r>
            <a:r>
              <a:rPr lang="es-ES" sz="2000" b="1" dirty="0" err="1" smtClean="0"/>
              <a:t>X</a:t>
            </a:r>
            <a:r>
              <a:rPr lang="es-ES" sz="2000" b="1" baseline="-25000" dirty="0" err="1" smtClean="0"/>
              <a:t>sto</a:t>
            </a:r>
            <a:r>
              <a:rPr lang="es-ES" sz="2000" dirty="0" smtClean="0"/>
              <a:t> = (moles soluto / moles totales);</a:t>
            </a:r>
          </a:p>
          <a:p>
            <a:pPr marL="457200" indent="-457200"/>
            <a:r>
              <a:rPr lang="es-ES" sz="2000" dirty="0" smtClean="0"/>
              <a:t>			 </a:t>
            </a:r>
            <a:r>
              <a:rPr lang="es-ES" sz="2000" b="1" dirty="0" err="1" smtClean="0"/>
              <a:t>X</a:t>
            </a:r>
            <a:r>
              <a:rPr lang="es-ES" sz="2000" b="1" baseline="-25000" dirty="0" err="1" smtClean="0"/>
              <a:t>ste</a:t>
            </a:r>
            <a:r>
              <a:rPr lang="es-ES" sz="2000" dirty="0" smtClean="0"/>
              <a:t> = (moles solvente / moles totales)</a:t>
            </a:r>
            <a:endParaRPr lang="es-ES" sz="2000" dirty="0"/>
          </a:p>
          <a:p>
            <a:r>
              <a:rPr lang="es-ES" sz="2000" dirty="0"/>
              <a:t>b) Molaridad </a:t>
            </a:r>
            <a:r>
              <a:rPr lang="es-ES" sz="2000" b="1" dirty="0"/>
              <a:t>M </a:t>
            </a:r>
            <a:r>
              <a:rPr lang="es-ES" sz="2000" dirty="0"/>
              <a:t>= (número de moles de soluto) / (1 litro de solución)</a:t>
            </a:r>
          </a:p>
          <a:p>
            <a:r>
              <a:rPr lang="es-ES" sz="2000" dirty="0"/>
              <a:t>c) </a:t>
            </a:r>
            <a:r>
              <a:rPr lang="es-ES" sz="2000" dirty="0" err="1"/>
              <a:t>Molalidad</a:t>
            </a:r>
            <a:r>
              <a:rPr lang="es-ES" sz="2000" dirty="0"/>
              <a:t> </a:t>
            </a:r>
            <a:r>
              <a:rPr lang="es-ES" sz="2000" b="1" dirty="0"/>
              <a:t>m </a:t>
            </a:r>
            <a:r>
              <a:rPr lang="es-ES" sz="2000" dirty="0"/>
              <a:t>= (número de moles de soluto) / (1 kilo de solvente)</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00034" y="285728"/>
            <a:ext cx="8429684" cy="523220"/>
          </a:xfrm>
          <a:prstGeom prst="rect">
            <a:avLst/>
          </a:prstGeom>
          <a:noFill/>
        </p:spPr>
        <p:txBody>
          <a:bodyPr wrap="square" rtlCol="0">
            <a:spAutoFit/>
          </a:bodyPr>
          <a:lstStyle/>
          <a:p>
            <a:r>
              <a:rPr lang="es-ES" sz="2800" b="1" dirty="0" smtClean="0"/>
              <a:t>Solubilidad.</a:t>
            </a:r>
            <a:endParaRPr lang="en-US" sz="2800" b="1" dirty="0"/>
          </a:p>
        </p:txBody>
      </p:sp>
      <p:sp>
        <p:nvSpPr>
          <p:cNvPr id="3" name="2 CuadroTexto"/>
          <p:cNvSpPr txBox="1"/>
          <p:nvPr/>
        </p:nvSpPr>
        <p:spPr>
          <a:xfrm>
            <a:off x="285720" y="857232"/>
            <a:ext cx="8501122" cy="2523768"/>
          </a:xfrm>
          <a:prstGeom prst="rect">
            <a:avLst/>
          </a:prstGeom>
          <a:noFill/>
        </p:spPr>
        <p:txBody>
          <a:bodyPr wrap="square" rtlCol="0">
            <a:spAutoFit/>
          </a:bodyPr>
          <a:lstStyle/>
          <a:p>
            <a:pPr algn="just"/>
            <a:r>
              <a:rPr lang="es-ES" sz="2000" i="1" dirty="0" smtClean="0"/>
              <a:t>Es </a:t>
            </a:r>
            <a:r>
              <a:rPr lang="es-ES" sz="2000" i="1" dirty="0" smtClean="0"/>
              <a:t>la máxima cantidad de soluto que se disolverá en una cantidad dada de disolvente a unta temperatura especifica.</a:t>
            </a:r>
            <a:endParaRPr lang="en-US" sz="2000" i="1" dirty="0" smtClean="0"/>
          </a:p>
          <a:p>
            <a:pPr algn="just"/>
            <a:r>
              <a:rPr lang="es-ES" sz="2000" i="1" dirty="0" smtClean="0"/>
              <a:t>En términos generales, es la facilidad con que un sólido puede mezclarse homogéneamente con el agua para proporcionar una solución química</a:t>
            </a:r>
            <a:r>
              <a:rPr lang="es-ES" sz="2000" i="1" dirty="0" smtClean="0"/>
              <a:t>. En términos cualitativas las sustancias se clasifican en solubles, ligeramente solubles o insolubles, una sustancia es soluble si se disuelve en forma visible una cantidad suficiente cuando se agrega agua.</a:t>
            </a:r>
            <a:endParaRPr lang="en-US" sz="2000" i="1" dirty="0" smtClean="0"/>
          </a:p>
          <a:p>
            <a:pPr algn="just"/>
            <a:endParaRPr lang="en-US" dirty="0"/>
          </a:p>
        </p:txBody>
      </p:sp>
      <p:sp>
        <p:nvSpPr>
          <p:cNvPr id="4" name="3 CuadroTexto"/>
          <p:cNvSpPr txBox="1"/>
          <p:nvPr/>
        </p:nvSpPr>
        <p:spPr>
          <a:xfrm>
            <a:off x="295917" y="3159846"/>
            <a:ext cx="8643998" cy="1600438"/>
          </a:xfrm>
          <a:prstGeom prst="rect">
            <a:avLst/>
          </a:prstGeom>
          <a:noFill/>
        </p:spPr>
        <p:txBody>
          <a:bodyPr wrap="square" rtlCol="0">
            <a:spAutoFit/>
          </a:bodyPr>
          <a:lstStyle/>
          <a:p>
            <a:pPr algn="just"/>
            <a:r>
              <a:rPr lang="es-ES" sz="2000" dirty="0" smtClean="0"/>
              <a:t>Algunos líquidos, tales como agua y alcohol, pueden ser disueltos en cualquier proporción en otro solvente. Sin embargo, el azúcar tiene un límite de solubilidad ya que al agregar cierta cantidad adicional en una solución está dejará de solubilizarse, llamándose a esta solución saturada.</a:t>
            </a:r>
            <a:endParaRPr lang="en-US" sz="2000" dirty="0" smtClean="0"/>
          </a:p>
          <a:p>
            <a:pPr algn="just"/>
            <a:endParaRPr lang="en-US" dirty="0"/>
          </a:p>
        </p:txBody>
      </p:sp>
      <p:sp>
        <p:nvSpPr>
          <p:cNvPr id="5" name="4 CuadroTexto"/>
          <p:cNvSpPr txBox="1"/>
          <p:nvPr/>
        </p:nvSpPr>
        <p:spPr>
          <a:xfrm>
            <a:off x="283876" y="4509120"/>
            <a:ext cx="8286808" cy="2215991"/>
          </a:xfrm>
          <a:prstGeom prst="rect">
            <a:avLst/>
          </a:prstGeom>
          <a:noFill/>
        </p:spPr>
        <p:txBody>
          <a:bodyPr wrap="square" rtlCol="0">
            <a:spAutoFit/>
          </a:bodyPr>
          <a:lstStyle/>
          <a:p>
            <a:pPr algn="just">
              <a:lnSpc>
                <a:spcPct val="150000"/>
              </a:lnSpc>
            </a:pPr>
            <a:r>
              <a:rPr lang="es-ES" sz="2000" b="1" i="1" dirty="0" smtClean="0"/>
              <a:t>Concepto</a:t>
            </a:r>
            <a:endParaRPr lang="en-US" sz="2000" i="1" dirty="0" smtClean="0"/>
          </a:p>
          <a:p>
            <a:pPr algn="just">
              <a:lnSpc>
                <a:spcPct val="150000"/>
              </a:lnSpc>
            </a:pPr>
            <a:r>
              <a:rPr lang="es-ES" sz="2000" i="1" dirty="0" smtClean="0"/>
              <a:t>La </a:t>
            </a:r>
            <a:r>
              <a:rPr lang="es-ES" sz="2000" b="1" i="1" dirty="0" smtClean="0"/>
              <a:t>solubilidad</a:t>
            </a:r>
            <a:r>
              <a:rPr lang="es-ES" sz="2000" i="1" dirty="0" smtClean="0"/>
              <a:t> es la mayor cantidad de soluto (gramos de sustancia) que se puede disolver en 100 gramos (g). de disolvente a una temperatura fija, para formar una disolución saturada en cierta cantidad de disolvente.</a:t>
            </a:r>
            <a:endParaRPr lang="en-US" sz="2000" i="1"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57158" y="214290"/>
            <a:ext cx="8286808" cy="6463308"/>
          </a:xfrm>
          <a:prstGeom prst="rect">
            <a:avLst/>
          </a:prstGeom>
          <a:noFill/>
        </p:spPr>
        <p:txBody>
          <a:bodyPr wrap="square" rtlCol="0">
            <a:spAutoFit/>
          </a:bodyPr>
          <a:lstStyle/>
          <a:p>
            <a:pPr algn="just">
              <a:lnSpc>
                <a:spcPct val="150000"/>
              </a:lnSpc>
            </a:pPr>
            <a:r>
              <a:rPr lang="es-ES" sz="2400" b="1" dirty="0" smtClean="0"/>
              <a:t>Factores que determinan la solubilidad</a:t>
            </a:r>
            <a:endParaRPr lang="en-US" sz="2400" dirty="0" smtClean="0"/>
          </a:p>
          <a:p>
            <a:pPr algn="just">
              <a:lnSpc>
                <a:spcPct val="150000"/>
              </a:lnSpc>
            </a:pPr>
            <a:r>
              <a:rPr lang="es-ES" sz="2000" b="1" dirty="0" smtClean="0"/>
              <a:t>Solubilidad en líquidos:</a:t>
            </a:r>
            <a:r>
              <a:rPr lang="es-ES" sz="2000" dirty="0" smtClean="0"/>
              <a:t> al elevar la temperatura aumenta la solubilidad del soluto gas en el líquido debido al aumento de choques entre moléculas contra la superficie del líquido. También ocurre lo mismo con la presión.</a:t>
            </a:r>
            <a:endParaRPr lang="en-US" sz="2000" dirty="0" smtClean="0"/>
          </a:p>
          <a:p>
            <a:pPr algn="just">
              <a:lnSpc>
                <a:spcPct val="150000"/>
              </a:lnSpc>
            </a:pPr>
            <a:r>
              <a:rPr lang="es-ES" sz="2000" b="1" dirty="0" smtClean="0"/>
              <a:t>Solubilidad de líquidos en líquidos:</a:t>
            </a:r>
            <a:r>
              <a:rPr lang="es-ES" sz="2000" dirty="0" smtClean="0"/>
              <a:t> Al aumentar la temperatura aumenta la solubilidad de líquidos en líquidos. En este caso la solubilidad no se ve afectada por la presión.</a:t>
            </a:r>
            <a:endParaRPr lang="en-US" sz="2000" dirty="0" smtClean="0"/>
          </a:p>
          <a:p>
            <a:pPr algn="just">
              <a:lnSpc>
                <a:spcPct val="150000"/>
              </a:lnSpc>
            </a:pPr>
            <a:r>
              <a:rPr lang="es-ES" sz="2000" b="1" dirty="0" smtClean="0"/>
              <a:t>Solubilidad de sólidos en líquidos:</a:t>
            </a:r>
            <a:r>
              <a:rPr lang="es-ES" sz="2000" dirty="0" smtClean="0"/>
              <a:t> la variación de solubilidad está relacionada con el calor absorbido o desprendido durante el proceso de disolución. Si durante el proceso de disolución se absorbe calor la solubilidad crece con el aumento de la temperatura, y por el contrario, si se desprende calor durante el proceso de disolución, la solubilidad disminuye con la elevación de temperatura. La presión no afecta a la solubilidad en este caso.</a:t>
            </a:r>
            <a:endParaRPr lang="en-US" sz="2000"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28596" y="357166"/>
            <a:ext cx="8143932" cy="2446824"/>
          </a:xfrm>
          <a:prstGeom prst="rect">
            <a:avLst/>
          </a:prstGeom>
          <a:noFill/>
        </p:spPr>
        <p:txBody>
          <a:bodyPr wrap="square" rtlCol="0">
            <a:spAutoFit/>
          </a:bodyPr>
          <a:lstStyle/>
          <a:p>
            <a:pPr algn="just">
              <a:lnSpc>
                <a:spcPct val="150000"/>
              </a:lnSpc>
            </a:pPr>
            <a:r>
              <a:rPr lang="es-ES" b="1" dirty="0" smtClean="0"/>
              <a:t>Unidades de medida</a:t>
            </a:r>
            <a:endParaRPr lang="en-US" dirty="0" smtClean="0"/>
          </a:p>
          <a:p>
            <a:pPr algn="just">
              <a:lnSpc>
                <a:spcPct val="150000"/>
              </a:lnSpc>
            </a:pPr>
            <a:r>
              <a:rPr lang="es-ES" dirty="0" smtClean="0"/>
              <a:t>Puesto que la solubilidad es la máxima concentración que puede alcanzar un soluto, se medirá en las mismas unidades que la concentración.</a:t>
            </a:r>
            <a:endParaRPr lang="en-US" dirty="0" smtClean="0"/>
          </a:p>
          <a:p>
            <a:pPr algn="just">
              <a:lnSpc>
                <a:spcPct val="150000"/>
              </a:lnSpc>
            </a:pPr>
            <a:r>
              <a:rPr lang="es-ES" dirty="0" smtClean="0"/>
              <a:t>Es habitual medirla en gramos de soluto por litro de disolución (g/l) o en gramos de soluto por cada 100 </a:t>
            </a:r>
            <a:r>
              <a:rPr lang="es-ES" dirty="0" err="1" smtClean="0"/>
              <a:t>cc</a:t>
            </a:r>
            <a:r>
              <a:rPr lang="es-ES" dirty="0" smtClean="0"/>
              <a:t> de disolución (%).</a:t>
            </a:r>
            <a:endParaRPr lang="en-US" dirty="0" smtClean="0"/>
          </a:p>
          <a:p>
            <a:endParaRPr lang="en-US" dirty="0"/>
          </a:p>
        </p:txBody>
      </p:sp>
      <p:sp>
        <p:nvSpPr>
          <p:cNvPr id="3" name="2 CuadroTexto"/>
          <p:cNvSpPr txBox="1"/>
          <p:nvPr/>
        </p:nvSpPr>
        <p:spPr>
          <a:xfrm>
            <a:off x="357158" y="2500306"/>
            <a:ext cx="8572560" cy="830997"/>
          </a:xfrm>
          <a:prstGeom prst="rect">
            <a:avLst/>
          </a:prstGeom>
          <a:noFill/>
        </p:spPr>
        <p:txBody>
          <a:bodyPr wrap="square" rtlCol="0">
            <a:spAutoFit/>
          </a:bodyPr>
          <a:lstStyle/>
          <a:p>
            <a:r>
              <a:rPr lang="es-ES" sz="2400" b="1" dirty="0" smtClean="0"/>
              <a:t>Factores que afectan la solubilidad de sólidos en líquidos:</a:t>
            </a:r>
          </a:p>
          <a:p>
            <a:r>
              <a:rPr lang="es-ES" sz="2400" b="1" dirty="0" smtClean="0"/>
              <a:t> </a:t>
            </a:r>
            <a:endParaRPr lang="en-US" sz="2400" b="1" dirty="0"/>
          </a:p>
        </p:txBody>
      </p:sp>
      <p:sp>
        <p:nvSpPr>
          <p:cNvPr id="4" name="3 CuadroTexto"/>
          <p:cNvSpPr txBox="1"/>
          <p:nvPr/>
        </p:nvSpPr>
        <p:spPr>
          <a:xfrm>
            <a:off x="285720" y="3000372"/>
            <a:ext cx="8501122" cy="3139321"/>
          </a:xfrm>
          <a:prstGeom prst="rect">
            <a:avLst/>
          </a:prstGeom>
          <a:noFill/>
        </p:spPr>
        <p:txBody>
          <a:bodyPr wrap="square" rtlCol="0">
            <a:spAutoFit/>
          </a:bodyPr>
          <a:lstStyle/>
          <a:p>
            <a:pPr lvl="0" algn="just"/>
            <a:r>
              <a:rPr lang="es-ES" sz="2000" i="1" u="sng" dirty="0" smtClean="0"/>
              <a:t>Superficie de contacto</a:t>
            </a:r>
            <a:r>
              <a:rPr lang="es-ES" sz="2000" dirty="0" smtClean="0"/>
              <a:t>: al aumentar la superficie de contacto del soluto, la cual se favorece por pulverización del mismo, con el solvente, las interacciones soluto-solvente aumentarán y el cuerpo se disuelve con mayor rapidez.</a:t>
            </a:r>
          </a:p>
          <a:p>
            <a:pPr lvl="0" algn="just"/>
            <a:endParaRPr lang="en-US" sz="2000" dirty="0" smtClean="0"/>
          </a:p>
          <a:p>
            <a:pPr lvl="0" algn="just"/>
            <a:r>
              <a:rPr lang="es-ES" sz="2000" i="1" u="sng" dirty="0" smtClean="0"/>
              <a:t>Grado de agitación</a:t>
            </a:r>
            <a:r>
              <a:rPr lang="es-ES" sz="2000" dirty="0" smtClean="0"/>
              <a:t>: al disolverse el sólido, las partículas del mismo deben difundirse por toda la masa del solvente. Este proceso es lento y alrededor del cristal se forma una capa de disolución muy concentrada que dificulta la continuación del proceso; al agitar la solución se logra la separación de la capa y nuevas moléculas de solvente alcanzan la superficie del sólido.</a:t>
            </a:r>
            <a:endParaRPr lang="en-US" sz="2000"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28596" y="285728"/>
            <a:ext cx="8286808" cy="6740307"/>
          </a:xfrm>
          <a:prstGeom prst="rect">
            <a:avLst/>
          </a:prstGeom>
          <a:noFill/>
        </p:spPr>
        <p:txBody>
          <a:bodyPr wrap="square" rtlCol="0">
            <a:spAutoFit/>
          </a:bodyPr>
          <a:lstStyle/>
          <a:p>
            <a:pPr lvl="0" algn="just"/>
            <a:r>
              <a:rPr lang="es-ES" i="1" u="sng" dirty="0" smtClean="0"/>
              <a:t>Temperatura: </a:t>
            </a:r>
            <a:r>
              <a:rPr lang="es-ES" b="1" dirty="0" smtClean="0"/>
              <a:t>la temperatura afecta la rapidez y grado de solubilidad</a:t>
            </a:r>
            <a:r>
              <a:rPr lang="es-ES" dirty="0" smtClean="0"/>
              <a:t>. Al aumentar la temperatura se favorece el movimiento de las moléculas en solución y con ello su rápida difusión. Además, una temperatura elevada hace que la energía de las partículas del sólido, moléculas o iones sea alta y puedan abandonar con facilidad la superficie, disolviéndose.</a:t>
            </a:r>
            <a:endParaRPr lang="en-US" dirty="0" smtClean="0"/>
          </a:p>
          <a:p>
            <a:pPr algn="just"/>
            <a:r>
              <a:rPr lang="es-ES" dirty="0" smtClean="0"/>
              <a:t> </a:t>
            </a:r>
            <a:endParaRPr lang="en-US" dirty="0" smtClean="0"/>
          </a:p>
          <a:p>
            <a:pPr lvl="0" algn="just"/>
            <a:r>
              <a:rPr lang="es-ES" i="1" u="sng" dirty="0" smtClean="0"/>
              <a:t>Presión: </a:t>
            </a:r>
            <a:r>
              <a:rPr lang="es-ES" b="1" dirty="0" smtClean="0"/>
              <a:t>Los cambios de presión ordinarios no tienen mayor efecto en la solubilidad de los líquidos y de sólidos. La solubilidad de gases es directamente proporcional a la presión</a:t>
            </a:r>
            <a:r>
              <a:rPr lang="es-ES" dirty="0" smtClean="0"/>
              <a:t>. Como ejemplo imagina que se abre una botella de una bebida carbonatada, el líquido burbujeante puede derramarse del recipiente. Las bebidas carbonatadas se embotellan bajo una presión que es un poco mayor de una atmósfera, lo que hace aumentar la solubilidad del CO</a:t>
            </a:r>
            <a:r>
              <a:rPr lang="es-ES" baseline="-25000" dirty="0" smtClean="0"/>
              <a:t>2 </a:t>
            </a:r>
            <a:r>
              <a:rPr lang="es-ES" dirty="0" smtClean="0"/>
              <a:t>gaseoso. Una vez que se abre el recipiente, la presión desciende de inmediato hasta la presión atmosférica y disminuye la solubilidad del gas. Al escapar burbujas de gas de la solución, parte del líquido puede derramarse del recipiente.</a:t>
            </a:r>
            <a:endParaRPr lang="en-US" dirty="0" smtClean="0"/>
          </a:p>
          <a:p>
            <a:pPr algn="just"/>
            <a:r>
              <a:rPr lang="es-ES" dirty="0" smtClean="0"/>
              <a:t> </a:t>
            </a:r>
            <a:endParaRPr lang="en-US" dirty="0" smtClean="0"/>
          </a:p>
          <a:p>
            <a:pPr lvl="0" algn="just"/>
            <a:r>
              <a:rPr lang="es-ES" i="1" u="sng" dirty="0" smtClean="0"/>
              <a:t>Naturaleza del soluto y del solvente: </a:t>
            </a:r>
            <a:r>
              <a:rPr lang="es-ES" dirty="0" smtClean="0"/>
              <a:t>Los procesos de disolución son complejos y difíciles de explicar. El fenómeno esencial de todo proceso de disolución es que la mezcla de sustancias diferentes da lugar a varias fuerzas de atracción y repulsión cuyo resultado es la solución. </a:t>
            </a:r>
            <a:r>
              <a:rPr lang="es-ES" b="1" dirty="0" smtClean="0"/>
              <a:t>La solubilidad de un soluto en particular depende de la atracción relativa entre las partículas en las sustancias puras y las partículas en solución.</a:t>
            </a:r>
            <a:endParaRPr lang="en-US" b="1" dirty="0" smtClean="0"/>
          </a:p>
          <a:p>
            <a:r>
              <a:rPr lang="es-ES" b="1" dirty="0" smtClean="0"/>
              <a:t> </a:t>
            </a:r>
            <a:endParaRPr lang="en-US" b="1"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67544" y="188640"/>
            <a:ext cx="8424936" cy="584775"/>
          </a:xfrm>
          <a:prstGeom prst="rect">
            <a:avLst/>
          </a:prstGeom>
          <a:noFill/>
        </p:spPr>
        <p:txBody>
          <a:bodyPr wrap="square" rtlCol="0">
            <a:spAutoFit/>
          </a:bodyPr>
          <a:lstStyle/>
          <a:p>
            <a:r>
              <a:rPr lang="es-ES" sz="3200" dirty="0" smtClean="0">
                <a:latin typeface="Algerian" pitchFamily="82" charset="0"/>
              </a:rPr>
              <a:t>Dilución</a:t>
            </a:r>
            <a:endParaRPr lang="es-AR" sz="3200" dirty="0">
              <a:latin typeface="Algerian" pitchFamily="82" charset="0"/>
            </a:endParaRPr>
          </a:p>
        </p:txBody>
      </p:sp>
      <p:sp>
        <p:nvSpPr>
          <p:cNvPr id="3" name="2 CuadroTexto"/>
          <p:cNvSpPr txBox="1"/>
          <p:nvPr/>
        </p:nvSpPr>
        <p:spPr>
          <a:xfrm>
            <a:off x="251520" y="764704"/>
            <a:ext cx="8352928" cy="1938992"/>
          </a:xfrm>
          <a:prstGeom prst="rect">
            <a:avLst/>
          </a:prstGeom>
          <a:noFill/>
        </p:spPr>
        <p:txBody>
          <a:bodyPr wrap="square" rtlCol="0">
            <a:spAutoFit/>
          </a:bodyPr>
          <a:lstStyle/>
          <a:p>
            <a:pPr algn="just"/>
            <a:r>
              <a:rPr lang="es-ES" sz="2400" dirty="0" smtClean="0"/>
              <a:t>Si nos sirven una taza de café y esta muy cargado (tiene una alta concentración de café) lo que hacemos intuitivamente es agregarle mas agua hasta que el sabor menos intenso, quiere decir que la concentración de café disminuya. Este proceso que realizamos de manera mecánica se llama DILUCION.</a:t>
            </a:r>
            <a:endParaRPr lang="es-AR" sz="2400" dirty="0"/>
          </a:p>
        </p:txBody>
      </p:sp>
      <p:sp>
        <p:nvSpPr>
          <p:cNvPr id="4" name="3 CuadroTexto"/>
          <p:cNvSpPr txBox="1"/>
          <p:nvPr/>
        </p:nvSpPr>
        <p:spPr>
          <a:xfrm>
            <a:off x="251520" y="2664470"/>
            <a:ext cx="8352928" cy="1200329"/>
          </a:xfrm>
          <a:prstGeom prst="rect">
            <a:avLst/>
          </a:prstGeom>
          <a:noFill/>
        </p:spPr>
        <p:txBody>
          <a:bodyPr wrap="square" rtlCol="0">
            <a:spAutoFit/>
          </a:bodyPr>
          <a:lstStyle/>
          <a:p>
            <a:pPr algn="just"/>
            <a:r>
              <a:rPr lang="es-ES" sz="2400" b="1" dirty="0" smtClean="0"/>
              <a:t>Dilución:</a:t>
            </a:r>
            <a:r>
              <a:rPr lang="es-ES" sz="2400" dirty="0" smtClean="0"/>
              <a:t> es el procedimiento que se realiza para preparar una disolución menos concentrada a partir de una mas concentrada y consiste en añadir mas solvente.</a:t>
            </a:r>
            <a:endParaRPr lang="es-AR" sz="2400" dirty="0"/>
          </a:p>
        </p:txBody>
      </p:sp>
      <p:sp>
        <p:nvSpPr>
          <p:cNvPr id="5" name="4 CuadroTexto"/>
          <p:cNvSpPr txBox="1"/>
          <p:nvPr/>
        </p:nvSpPr>
        <p:spPr>
          <a:xfrm>
            <a:off x="3995936" y="4149080"/>
            <a:ext cx="4896544" cy="1477328"/>
          </a:xfrm>
          <a:prstGeom prst="rect">
            <a:avLst/>
          </a:prstGeom>
          <a:noFill/>
        </p:spPr>
        <p:txBody>
          <a:bodyPr wrap="square" rtlCol="0">
            <a:spAutoFit/>
          </a:bodyPr>
          <a:lstStyle/>
          <a:p>
            <a:pPr marL="285750" indent="-285750">
              <a:buFont typeface="Arial" pitchFamily="34" charset="0"/>
              <a:buChar char="•"/>
            </a:pPr>
            <a:r>
              <a:rPr lang="es-ES" dirty="0" smtClean="0"/>
              <a:t>En una </a:t>
            </a:r>
            <a:r>
              <a:rPr lang="es-ES" dirty="0" smtClean="0"/>
              <a:t>dilución </a:t>
            </a:r>
            <a:r>
              <a:rPr lang="es-ES" dirty="0" smtClean="0"/>
              <a:t>la cantidad de soluto no varia.</a:t>
            </a:r>
          </a:p>
          <a:p>
            <a:pPr marL="285750" indent="-285750">
              <a:buFont typeface="Arial" pitchFamily="34" charset="0"/>
              <a:buChar char="•"/>
            </a:pPr>
            <a:r>
              <a:rPr lang="es-ES" dirty="0" smtClean="0"/>
              <a:t>Lo que varia en una </a:t>
            </a:r>
            <a:r>
              <a:rPr lang="es-ES" dirty="0" smtClean="0"/>
              <a:t>dilución </a:t>
            </a:r>
            <a:r>
              <a:rPr lang="es-ES" dirty="0" smtClean="0"/>
              <a:t>es el solvente.</a:t>
            </a:r>
          </a:p>
          <a:p>
            <a:pPr marL="285750" indent="-285750">
              <a:buFont typeface="Arial" pitchFamily="34" charset="0"/>
              <a:buChar char="•"/>
            </a:pPr>
            <a:r>
              <a:rPr lang="es-ES" dirty="0" smtClean="0"/>
              <a:t>Al agregar mas  solvente , la concentración de soluto  disminuye, ya que el volumen o peso de la solución aumenta</a:t>
            </a:r>
            <a:endParaRPr lang="es-AR" dirty="0"/>
          </a:p>
        </p:txBody>
      </p:sp>
      <p:sp>
        <p:nvSpPr>
          <p:cNvPr id="6" name="AutoShape 4" descr="6.4. Dilución | Química gener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7" name="AutoShape 6" descr="6.4. Dilución | Química genera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8" name="AutoShape 8" descr="6.4. Dilución | Química genera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pic>
        <p:nvPicPr>
          <p:cNvPr id="1034" name="Picture 10" descr="Qué es una dilución? - 100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145" y="3864799"/>
            <a:ext cx="3687961" cy="2768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750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95295" y="76562"/>
            <a:ext cx="7704856" cy="800219"/>
          </a:xfrm>
          <a:prstGeom prst="rect">
            <a:avLst/>
          </a:prstGeom>
          <a:noFill/>
        </p:spPr>
        <p:txBody>
          <a:bodyPr wrap="square" rtlCol="0">
            <a:spAutoFit/>
          </a:bodyPr>
          <a:lstStyle/>
          <a:p>
            <a:r>
              <a:rPr lang="es-ES" sz="2800" dirty="0" smtClean="0"/>
              <a:t>Dilución:</a:t>
            </a:r>
          </a:p>
          <a:p>
            <a:endParaRPr lang="es-ES" dirty="0"/>
          </a:p>
        </p:txBody>
      </p:sp>
      <p:sp>
        <p:nvSpPr>
          <p:cNvPr id="3" name="2 CuadroTexto"/>
          <p:cNvSpPr txBox="1"/>
          <p:nvPr/>
        </p:nvSpPr>
        <p:spPr>
          <a:xfrm>
            <a:off x="611560" y="1123003"/>
            <a:ext cx="2520280" cy="738664"/>
          </a:xfrm>
          <a:prstGeom prst="rect">
            <a:avLst/>
          </a:prstGeom>
          <a:noFill/>
          <a:ln>
            <a:solidFill>
              <a:schemeClr val="tx1"/>
            </a:solidFill>
          </a:ln>
        </p:spPr>
        <p:txBody>
          <a:bodyPr wrap="square" rtlCol="0">
            <a:spAutoFit/>
          </a:bodyPr>
          <a:lstStyle/>
          <a:p>
            <a:r>
              <a:rPr lang="es-ES" sz="2400" dirty="0" err="1" smtClean="0"/>
              <a:t>Cc</a:t>
            </a:r>
            <a:r>
              <a:rPr lang="es-ES" sz="2400" dirty="0" smtClean="0"/>
              <a:t> </a:t>
            </a:r>
            <a:r>
              <a:rPr lang="es-ES" sz="2400" dirty="0"/>
              <a:t>. </a:t>
            </a:r>
            <a:r>
              <a:rPr lang="es-ES" sz="2400" dirty="0" err="1" smtClean="0"/>
              <a:t>Vc</a:t>
            </a:r>
            <a:r>
              <a:rPr lang="es-ES" sz="2400" dirty="0" smtClean="0"/>
              <a:t> </a:t>
            </a:r>
            <a:r>
              <a:rPr lang="es-ES" sz="2400" dirty="0"/>
              <a:t>= </a:t>
            </a:r>
            <a:r>
              <a:rPr lang="es-ES" sz="2400" dirty="0" smtClean="0"/>
              <a:t>Cd . </a:t>
            </a:r>
            <a:r>
              <a:rPr lang="es-ES" sz="2400" dirty="0" err="1" smtClean="0"/>
              <a:t>Vd</a:t>
            </a:r>
            <a:endParaRPr lang="es-AR" sz="2400" dirty="0"/>
          </a:p>
          <a:p>
            <a:endParaRPr lang="es-AR" dirty="0"/>
          </a:p>
        </p:txBody>
      </p:sp>
      <p:sp>
        <p:nvSpPr>
          <p:cNvPr id="4" name="3 CuadroTexto"/>
          <p:cNvSpPr txBox="1"/>
          <p:nvPr/>
        </p:nvSpPr>
        <p:spPr>
          <a:xfrm>
            <a:off x="3491880" y="933076"/>
            <a:ext cx="5508104" cy="2308324"/>
          </a:xfrm>
          <a:prstGeom prst="rect">
            <a:avLst/>
          </a:prstGeom>
          <a:noFill/>
        </p:spPr>
        <p:txBody>
          <a:bodyPr wrap="square" rtlCol="0">
            <a:spAutoFit/>
          </a:bodyPr>
          <a:lstStyle/>
          <a:p>
            <a:pPr marL="342900" indent="-342900" algn="just">
              <a:buFont typeface="Wingdings" pitchFamily="2" charset="2"/>
              <a:buChar char="ü"/>
            </a:pPr>
            <a:r>
              <a:rPr lang="es-ES" sz="2400" dirty="0" smtClean="0"/>
              <a:t>C: cualquier unidad de concentración: M, N % m/m</a:t>
            </a:r>
          </a:p>
          <a:p>
            <a:pPr marL="342900" indent="-342900" algn="just">
              <a:buFont typeface="Wingdings" pitchFamily="2" charset="2"/>
              <a:buChar char="ü"/>
            </a:pPr>
            <a:r>
              <a:rPr lang="es-ES" sz="2400" dirty="0" smtClean="0"/>
              <a:t>V: cualquier unidad de volumen, ml,  l, cm</a:t>
            </a:r>
            <a:r>
              <a:rPr lang="es-ES" sz="2400" baseline="30000" dirty="0" smtClean="0"/>
              <a:t>3</a:t>
            </a:r>
          </a:p>
          <a:p>
            <a:pPr marL="342900" indent="-342900" algn="just">
              <a:buFont typeface="Arial" pitchFamily="34" charset="0"/>
              <a:buChar char="•"/>
            </a:pPr>
            <a:r>
              <a:rPr lang="es-ES" sz="2400" dirty="0" smtClean="0"/>
              <a:t>Las unidades de C y V deben ser las mismas a ambos lados de la formula.</a:t>
            </a:r>
            <a:endParaRPr lang="es-AR" sz="2400" dirty="0"/>
          </a:p>
        </p:txBody>
      </p:sp>
      <p:sp>
        <p:nvSpPr>
          <p:cNvPr id="5" name="4 CuadroTexto"/>
          <p:cNvSpPr txBox="1"/>
          <p:nvPr/>
        </p:nvSpPr>
        <p:spPr>
          <a:xfrm>
            <a:off x="89756" y="3241400"/>
            <a:ext cx="8748464" cy="3970318"/>
          </a:xfrm>
          <a:prstGeom prst="rect">
            <a:avLst/>
          </a:prstGeom>
          <a:noFill/>
        </p:spPr>
        <p:txBody>
          <a:bodyPr wrap="square" rtlCol="0">
            <a:spAutoFit/>
          </a:bodyPr>
          <a:lstStyle/>
          <a:p>
            <a:r>
              <a:rPr lang="es-ES" sz="2400" dirty="0" smtClean="0"/>
              <a:t>Ejercicios:</a:t>
            </a:r>
          </a:p>
          <a:p>
            <a:r>
              <a:rPr lang="es-ES" sz="2400" dirty="0" smtClean="0"/>
              <a:t>1.¿ Como prepararía 10 ml de una solución </a:t>
            </a:r>
            <a:r>
              <a:rPr lang="es-ES" sz="2400" dirty="0" err="1" smtClean="0"/>
              <a:t>HCl</a:t>
            </a:r>
            <a:r>
              <a:rPr lang="es-ES" sz="2400" dirty="0" smtClean="0"/>
              <a:t> 0,1 M a partir de una solución de </a:t>
            </a:r>
            <a:r>
              <a:rPr lang="es-ES" sz="2400" dirty="0" err="1" smtClean="0"/>
              <a:t>HCl</a:t>
            </a:r>
            <a:r>
              <a:rPr lang="es-ES" sz="2400" dirty="0" smtClean="0"/>
              <a:t> 3 M?</a:t>
            </a:r>
          </a:p>
          <a:p>
            <a:endParaRPr lang="es-ES" sz="2400" dirty="0"/>
          </a:p>
          <a:p>
            <a:r>
              <a:rPr lang="es-ES" sz="2400" dirty="0" err="1"/>
              <a:t>Cc</a:t>
            </a:r>
            <a:r>
              <a:rPr lang="es-ES" sz="2400" dirty="0"/>
              <a:t> . </a:t>
            </a:r>
            <a:r>
              <a:rPr lang="es-ES" sz="2400" dirty="0" err="1"/>
              <a:t>Vc</a:t>
            </a:r>
            <a:r>
              <a:rPr lang="es-ES" sz="2400" dirty="0"/>
              <a:t> = Cd . </a:t>
            </a:r>
            <a:r>
              <a:rPr lang="es-ES" sz="2400" dirty="0" err="1"/>
              <a:t>Vd</a:t>
            </a:r>
            <a:endParaRPr lang="es-AR" sz="2400" dirty="0"/>
          </a:p>
          <a:p>
            <a:endParaRPr lang="es-AR" sz="2400" dirty="0"/>
          </a:p>
          <a:p>
            <a:r>
              <a:rPr lang="es-ES" sz="2400" dirty="0" smtClean="0"/>
              <a:t>3M . </a:t>
            </a:r>
            <a:r>
              <a:rPr lang="es-ES" sz="2400" dirty="0" err="1" smtClean="0"/>
              <a:t>Vc</a:t>
            </a:r>
            <a:r>
              <a:rPr lang="es-ES" sz="2400" dirty="0" smtClean="0"/>
              <a:t> = 0,1M . 10 ml</a:t>
            </a:r>
          </a:p>
          <a:p>
            <a:endParaRPr lang="es-ES" sz="2400" dirty="0"/>
          </a:p>
          <a:p>
            <a:r>
              <a:rPr lang="es-ES" sz="2400" dirty="0" err="1" smtClean="0"/>
              <a:t>Vc</a:t>
            </a:r>
            <a:r>
              <a:rPr lang="es-ES" sz="2400" dirty="0" smtClean="0"/>
              <a:t>= 0,3 ml</a:t>
            </a:r>
          </a:p>
          <a:p>
            <a:endParaRPr lang="es-ES" dirty="0"/>
          </a:p>
          <a:p>
            <a:endParaRPr lang="es-AR" dirty="0"/>
          </a:p>
        </p:txBody>
      </p:sp>
    </p:spTree>
    <p:extLst>
      <p:ext uri="{BB962C8B-B14F-4D97-AF65-F5344CB8AC3E}">
        <p14:creationId xmlns:p14="http://schemas.microsoft.com/office/powerpoint/2010/main" val="1104801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79512" y="404664"/>
            <a:ext cx="8784976" cy="6555641"/>
          </a:xfrm>
          <a:prstGeom prst="rect">
            <a:avLst/>
          </a:prstGeom>
          <a:noFill/>
        </p:spPr>
        <p:txBody>
          <a:bodyPr wrap="square" rtlCol="0">
            <a:spAutoFit/>
          </a:bodyPr>
          <a:lstStyle/>
          <a:p>
            <a:r>
              <a:rPr lang="es-ES" sz="2400" b="1" u="sng" dirty="0" smtClean="0"/>
              <a:t>Trabajo Practico:</a:t>
            </a:r>
          </a:p>
          <a:p>
            <a:r>
              <a:rPr lang="es-ES" sz="2400" dirty="0" smtClean="0"/>
              <a:t>Preparar 200 ml de una solución de </a:t>
            </a:r>
            <a:r>
              <a:rPr lang="es-ES" sz="2400" dirty="0" err="1" smtClean="0"/>
              <a:t>NaCl</a:t>
            </a:r>
            <a:r>
              <a:rPr lang="es-ES" sz="2400" dirty="0" smtClean="0"/>
              <a:t> 5%m/v.</a:t>
            </a:r>
          </a:p>
          <a:p>
            <a:r>
              <a:rPr lang="es-ES" sz="2400" dirty="0" smtClean="0"/>
              <a:t>Expresar la concentración en: 5m/v, %m/m, g/l, M</a:t>
            </a:r>
          </a:p>
          <a:p>
            <a:endParaRPr lang="es-ES" sz="2400" dirty="0"/>
          </a:p>
          <a:p>
            <a:r>
              <a:rPr lang="es-ES" sz="2400" dirty="0" smtClean="0"/>
              <a:t>Primero se calculan los gramos de </a:t>
            </a:r>
            <a:r>
              <a:rPr lang="es-ES" sz="2400" dirty="0" err="1" smtClean="0"/>
              <a:t>NaCl</a:t>
            </a:r>
            <a:r>
              <a:rPr lang="es-ES" sz="2400" dirty="0" smtClean="0"/>
              <a:t> necesarios para preparar la solución.</a:t>
            </a:r>
          </a:p>
          <a:p>
            <a:endParaRPr lang="es-ES" sz="2400" dirty="0"/>
          </a:p>
          <a:p>
            <a:r>
              <a:rPr lang="es-ES" sz="2400" u="sng" dirty="0" smtClean="0"/>
              <a:t>5gNaCl </a:t>
            </a:r>
            <a:r>
              <a:rPr lang="es-ES" sz="2400" dirty="0" smtClean="0"/>
              <a:t>x 200 ml sol = 10 g </a:t>
            </a:r>
            <a:r>
              <a:rPr lang="es-ES" sz="2400" dirty="0" err="1" smtClean="0"/>
              <a:t>NaCl</a:t>
            </a:r>
            <a:endParaRPr lang="es-ES" sz="2400" dirty="0" smtClean="0"/>
          </a:p>
          <a:p>
            <a:r>
              <a:rPr lang="es-ES" sz="2400" dirty="0" smtClean="0"/>
              <a:t>100 ml sol</a:t>
            </a:r>
          </a:p>
          <a:p>
            <a:endParaRPr lang="es-ES" sz="2400" dirty="0"/>
          </a:p>
          <a:p>
            <a:r>
              <a:rPr lang="es-ES" sz="2400" dirty="0" smtClean="0"/>
              <a:t>Luego se pesa la masa de </a:t>
            </a:r>
            <a:r>
              <a:rPr lang="es-ES" sz="2400" dirty="0" err="1" smtClean="0"/>
              <a:t>NaCl</a:t>
            </a:r>
            <a:r>
              <a:rPr lang="es-ES" sz="2400" dirty="0" smtClean="0"/>
              <a:t> calculada  y se trasvasa a un vaso de precipitado de 100 ml, se agregan aproximadamente 70 ml de agua destilada.</a:t>
            </a:r>
          </a:p>
          <a:p>
            <a:endParaRPr lang="es-ES" dirty="0"/>
          </a:p>
          <a:p>
            <a:endParaRPr lang="es-ES" dirty="0" smtClean="0"/>
          </a:p>
          <a:p>
            <a:endParaRPr lang="es-ES" dirty="0"/>
          </a:p>
          <a:p>
            <a:endParaRPr lang="es-ES" dirty="0" smtClean="0"/>
          </a:p>
          <a:p>
            <a:endParaRPr lang="es-ES" dirty="0"/>
          </a:p>
          <a:p>
            <a:endParaRPr lang="es-AR" dirty="0"/>
          </a:p>
        </p:txBody>
      </p:sp>
    </p:spTree>
    <p:extLst>
      <p:ext uri="{BB962C8B-B14F-4D97-AF65-F5344CB8AC3E}">
        <p14:creationId xmlns:p14="http://schemas.microsoft.com/office/powerpoint/2010/main" val="38898270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328686" y="476672"/>
            <a:ext cx="1296144" cy="523220"/>
          </a:xfrm>
          <a:prstGeom prst="rect">
            <a:avLst/>
          </a:prstGeom>
          <a:noFill/>
          <a:ln>
            <a:solidFill>
              <a:schemeClr val="tx1"/>
            </a:solidFill>
          </a:ln>
        </p:spPr>
        <p:txBody>
          <a:bodyPr wrap="square" rtlCol="0">
            <a:spAutoFit/>
          </a:bodyPr>
          <a:lstStyle/>
          <a:p>
            <a:r>
              <a:rPr lang="es-ES" sz="2800" dirty="0" smtClean="0"/>
              <a:t>Agitar</a:t>
            </a:r>
            <a:endParaRPr lang="es-AR" sz="2800" dirty="0"/>
          </a:p>
        </p:txBody>
      </p:sp>
      <p:sp>
        <p:nvSpPr>
          <p:cNvPr id="3" name="2 CuadroTexto"/>
          <p:cNvSpPr txBox="1"/>
          <p:nvPr/>
        </p:nvSpPr>
        <p:spPr>
          <a:xfrm>
            <a:off x="6012160" y="476672"/>
            <a:ext cx="1296144" cy="523220"/>
          </a:xfrm>
          <a:prstGeom prst="rect">
            <a:avLst/>
          </a:prstGeom>
          <a:noFill/>
          <a:ln>
            <a:solidFill>
              <a:schemeClr val="tx1"/>
            </a:solidFill>
          </a:ln>
        </p:spPr>
        <p:txBody>
          <a:bodyPr wrap="square" rtlCol="0">
            <a:spAutoFit/>
          </a:bodyPr>
          <a:lstStyle/>
          <a:p>
            <a:r>
              <a:rPr lang="es-ES" sz="2800" dirty="0" smtClean="0"/>
              <a:t>Filtrar</a:t>
            </a:r>
            <a:endParaRPr lang="es-AR" sz="2800" dirty="0"/>
          </a:p>
        </p:txBody>
      </p:sp>
      <p:sp>
        <p:nvSpPr>
          <p:cNvPr id="4" name="3 CuadroTexto"/>
          <p:cNvSpPr txBox="1"/>
          <p:nvPr/>
        </p:nvSpPr>
        <p:spPr>
          <a:xfrm>
            <a:off x="395535" y="448875"/>
            <a:ext cx="1657789" cy="523220"/>
          </a:xfrm>
          <a:prstGeom prst="rect">
            <a:avLst/>
          </a:prstGeom>
          <a:noFill/>
          <a:ln>
            <a:solidFill>
              <a:schemeClr val="tx1"/>
            </a:solidFill>
          </a:ln>
        </p:spPr>
        <p:txBody>
          <a:bodyPr wrap="square" rtlCol="0">
            <a:spAutoFit/>
          </a:bodyPr>
          <a:lstStyle/>
          <a:p>
            <a:r>
              <a:rPr lang="es-ES" sz="2800" dirty="0" smtClean="0"/>
              <a:t>Disolver</a:t>
            </a:r>
            <a:endParaRPr lang="es-AR" sz="2800" dirty="0"/>
          </a:p>
        </p:txBody>
      </p:sp>
      <p:sp>
        <p:nvSpPr>
          <p:cNvPr id="5" name="4 CuadroTexto"/>
          <p:cNvSpPr txBox="1"/>
          <p:nvPr/>
        </p:nvSpPr>
        <p:spPr>
          <a:xfrm>
            <a:off x="213844" y="4528284"/>
            <a:ext cx="1296144" cy="523220"/>
          </a:xfrm>
          <a:prstGeom prst="rect">
            <a:avLst/>
          </a:prstGeom>
          <a:noFill/>
          <a:ln>
            <a:solidFill>
              <a:schemeClr val="tx1"/>
            </a:solidFill>
          </a:ln>
        </p:spPr>
        <p:txBody>
          <a:bodyPr wrap="square" rtlCol="0">
            <a:spAutoFit/>
          </a:bodyPr>
          <a:lstStyle/>
          <a:p>
            <a:r>
              <a:rPr lang="es-ES" sz="2800" dirty="0" smtClean="0"/>
              <a:t>Enrasar</a:t>
            </a:r>
            <a:endParaRPr lang="es-AR" sz="2800" dirty="0"/>
          </a:p>
        </p:txBody>
      </p:sp>
      <p:sp>
        <p:nvSpPr>
          <p:cNvPr id="6" name="5 CuadroTexto"/>
          <p:cNvSpPr txBox="1"/>
          <p:nvPr/>
        </p:nvSpPr>
        <p:spPr>
          <a:xfrm>
            <a:off x="2795872" y="4528284"/>
            <a:ext cx="2361771" cy="523220"/>
          </a:xfrm>
          <a:prstGeom prst="rect">
            <a:avLst/>
          </a:prstGeom>
          <a:noFill/>
          <a:ln>
            <a:solidFill>
              <a:schemeClr val="tx1"/>
            </a:solidFill>
          </a:ln>
        </p:spPr>
        <p:txBody>
          <a:bodyPr wrap="square" rtlCol="0">
            <a:spAutoFit/>
          </a:bodyPr>
          <a:lstStyle/>
          <a:p>
            <a:r>
              <a:rPr lang="es-ES" sz="2800" dirty="0" smtClean="0"/>
              <a:t>Homogenizar</a:t>
            </a:r>
            <a:endParaRPr lang="es-AR" sz="2800" dirty="0"/>
          </a:p>
        </p:txBody>
      </p:sp>
      <p:cxnSp>
        <p:nvCxnSpPr>
          <p:cNvPr id="8" name="7 Conector recto de flecha"/>
          <p:cNvCxnSpPr/>
          <p:nvPr/>
        </p:nvCxnSpPr>
        <p:spPr>
          <a:xfrm>
            <a:off x="2166749" y="710485"/>
            <a:ext cx="893083"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4831045" y="764704"/>
            <a:ext cx="893083"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a:off x="7524328" y="738282"/>
            <a:ext cx="893083"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720207" y="4816967"/>
            <a:ext cx="893083"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050" name="Picture 2" descr="QUIMICA!!!: reporte experiment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44" y="1465505"/>
            <a:ext cx="2162175" cy="19431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écnicas básicas de laboratorio: filtración — UPCtv. Universita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222" y="1988840"/>
            <a:ext cx="3072269" cy="172815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REPARACIÓN DE DISOLUCIONES - PDF Free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8043" y="1196752"/>
            <a:ext cx="3940522" cy="542674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12 Conector recto de flecha"/>
          <p:cNvCxnSpPr/>
          <p:nvPr/>
        </p:nvCxnSpPr>
        <p:spPr>
          <a:xfrm>
            <a:off x="7383390" y="1052233"/>
            <a:ext cx="662565" cy="7009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99739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1433</Words>
  <Application>Microsoft Office PowerPoint</Application>
  <PresentationFormat>Presentación en pantalla (4:3)</PresentationFormat>
  <Paragraphs>144</Paragraphs>
  <Slides>17</Slides>
  <Notes>2</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Tema de Office</vt:lpstr>
      <vt:lpstr>Presentación de PowerPoint</vt:lpstr>
      <vt:lpstr>Presentación de PowerPoint</vt:lpstr>
      <vt:lpstr>Presentación de PowerPoint</vt:lpstr>
      <vt:lpstr>Proceso De Disolución visión molecular</vt:lpstr>
      <vt:lpstr>Presentación de PowerPoint</vt:lpstr>
      <vt:lpstr>Presentación de PowerPoint</vt:lpstr>
      <vt:lpstr>Proceso de Disolución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Vanina Mazzieri</dc:creator>
  <cp:lastModifiedBy>Vanina</cp:lastModifiedBy>
  <cp:revision>43</cp:revision>
  <dcterms:created xsi:type="dcterms:W3CDTF">2016-04-20T18:15:55Z</dcterms:created>
  <dcterms:modified xsi:type="dcterms:W3CDTF">2021-05-10T14:20:08Z</dcterms:modified>
</cp:coreProperties>
</file>
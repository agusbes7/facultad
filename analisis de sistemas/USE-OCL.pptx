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0" r:id="rId1"/>
  </p:sldMasterIdLst>
  <p:notesMasterIdLst>
    <p:notesMasterId r:id="rId37"/>
  </p:notesMasterIdLst>
  <p:sldIdLst>
    <p:sldId id="804" r:id="rId2"/>
    <p:sldId id="837" r:id="rId3"/>
    <p:sldId id="805" r:id="rId4"/>
    <p:sldId id="806" r:id="rId5"/>
    <p:sldId id="807" r:id="rId6"/>
    <p:sldId id="808" r:id="rId7"/>
    <p:sldId id="809" r:id="rId8"/>
    <p:sldId id="810" r:id="rId9"/>
    <p:sldId id="811" r:id="rId10"/>
    <p:sldId id="812" r:id="rId11"/>
    <p:sldId id="813" r:id="rId12"/>
    <p:sldId id="838" r:id="rId13"/>
    <p:sldId id="815" r:id="rId14"/>
    <p:sldId id="816" r:id="rId15"/>
    <p:sldId id="817" r:id="rId16"/>
    <p:sldId id="818" r:id="rId17"/>
    <p:sldId id="819" r:id="rId18"/>
    <p:sldId id="820" r:id="rId19"/>
    <p:sldId id="821" r:id="rId20"/>
    <p:sldId id="822" r:id="rId21"/>
    <p:sldId id="823" r:id="rId22"/>
    <p:sldId id="839" r:id="rId23"/>
    <p:sldId id="824" r:id="rId24"/>
    <p:sldId id="825" r:id="rId25"/>
    <p:sldId id="826" r:id="rId26"/>
    <p:sldId id="827" r:id="rId27"/>
    <p:sldId id="828" r:id="rId28"/>
    <p:sldId id="829" r:id="rId29"/>
    <p:sldId id="830" r:id="rId30"/>
    <p:sldId id="831" r:id="rId31"/>
    <p:sldId id="832" r:id="rId32"/>
    <p:sldId id="833" r:id="rId33"/>
    <p:sldId id="834" r:id="rId34"/>
    <p:sldId id="835" r:id="rId35"/>
    <p:sldId id="836" r:id="rId36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047"/>
    <a:srgbClr val="DDEBFF"/>
    <a:srgbClr val="B9D5FF"/>
    <a:srgbClr val="93B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60" autoAdjust="0"/>
    <p:restoredTop sz="86551" autoAdjust="0"/>
  </p:normalViewPr>
  <p:slideViewPr>
    <p:cSldViewPr>
      <p:cViewPr varScale="1">
        <p:scale>
          <a:sx n="101" d="100"/>
          <a:sy n="101" d="100"/>
        </p:scale>
        <p:origin x="213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1EE91-2872-4618-A458-2AC2739A00E1}" type="datetimeFigureOut">
              <a:rPr lang="es-AR" smtClean="0"/>
              <a:pPr/>
              <a:t>4/10/2018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9B3CC-7EC6-4D46-BAB3-CAE1E70D48DD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8805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9F5A77-F2D7-FA40-96B5-DFD33BCA8406}" type="slidenum">
              <a:rPr lang="es-ES_tradnl" altLang="es-ES_tradnl"/>
              <a:pPr/>
              <a:t>1</a:t>
            </a:fld>
            <a:endParaRPr lang="es-ES_tradnl" altLang="es-ES_tradnl"/>
          </a:p>
        </p:txBody>
      </p:sp>
      <p:sp>
        <p:nvSpPr>
          <p:cNvPr id="57346" name="Rectangle 7"/>
          <p:cNvSpPr txBox="1">
            <a:spLocks noGrp="1" noChangeArrowheads="1"/>
          </p:cNvSpPr>
          <p:nvPr/>
        </p:nvSpPr>
        <p:spPr bwMode="auto">
          <a:xfrm>
            <a:off x="4024313" y="9744075"/>
            <a:ext cx="30749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73" tIns="0" rIns="19073" bIns="0" anchor="b"/>
          <a:lstStyle>
            <a:lvl1pPr defTabSz="741363">
              <a:defRPr sz="2400">
                <a:solidFill>
                  <a:srgbClr val="000000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4538" indent="-287338" defTabSz="741363">
              <a:defRPr sz="2400">
                <a:solidFill>
                  <a:srgbClr val="000000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4588" indent="-228600" defTabSz="741363">
              <a:defRPr sz="2400">
                <a:solidFill>
                  <a:srgbClr val="000000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1788" indent="-228600" defTabSz="741363">
              <a:defRPr sz="2400">
                <a:solidFill>
                  <a:srgbClr val="000000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60575" indent="-230188" defTabSz="741363">
              <a:defRPr sz="2400">
                <a:solidFill>
                  <a:srgbClr val="000000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7775" indent="-230188" defTabSz="7413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4975" indent="-230188" defTabSz="7413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32175" indent="-230188" defTabSz="7413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9375" indent="-230188" defTabSz="7413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/>
            <a:fld id="{31C2A8CE-2783-804D-AAA8-6189FE39E7A0}" type="slidenum">
              <a:rPr lang="es-ES" altLang="es-ES_tradnl" sz="1000" i="1">
                <a:solidFill>
                  <a:schemeClr val="tx1"/>
                </a:solidFill>
              </a:rPr>
              <a:pPr algn="r"/>
              <a:t>1</a:t>
            </a:fld>
            <a:endParaRPr lang="es-ES" altLang="es-ES_tradnl" sz="1000" i="1">
              <a:solidFill>
                <a:schemeClr val="tx1"/>
              </a:solidFill>
            </a:endParaRPr>
          </a:p>
        </p:txBody>
      </p:sp>
      <p:sp>
        <p:nvSpPr>
          <p:cNvPr id="332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328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023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D46D59-1CA1-6240-80C6-E3294B68A078}" type="slidenum">
              <a:rPr lang="es-ES_tradnl" altLang="es-ES_tradnl"/>
              <a:pPr/>
              <a:t>3</a:t>
            </a:fld>
            <a:endParaRPr lang="es-ES_tradnl" altLang="es-ES_tradnl"/>
          </a:p>
        </p:txBody>
      </p:sp>
      <p:sp>
        <p:nvSpPr>
          <p:cNvPr id="33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694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31E8ED-37B7-5347-97F0-AB4A40CF8440}" type="slidenum">
              <a:rPr lang="es-ES_tradnl" altLang="es-ES_tradnl"/>
              <a:pPr/>
              <a:t>4</a:t>
            </a:fld>
            <a:endParaRPr lang="es-ES_tradnl" altLang="es-ES_tradnl"/>
          </a:p>
        </p:txBody>
      </p:sp>
      <p:sp>
        <p:nvSpPr>
          <p:cNvPr id="33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474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95CC39-CC18-8544-809F-120672A1BC6D}" type="slidenum">
              <a:rPr lang="es-ES_tradnl" altLang="es-ES_tradnl"/>
              <a:pPr/>
              <a:t>5</a:t>
            </a:fld>
            <a:endParaRPr lang="es-ES_tradnl" altLang="es-ES_tradnl"/>
          </a:p>
        </p:txBody>
      </p:sp>
      <p:sp>
        <p:nvSpPr>
          <p:cNvPr id="338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15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E3E9E3-BC19-1546-A4A0-E0520F68FFBD}" type="slidenum">
              <a:rPr lang="es-ES_tradnl" altLang="es-ES_tradnl"/>
              <a:pPr/>
              <a:t>6</a:t>
            </a:fld>
            <a:endParaRPr lang="es-ES_tradnl" altLang="es-ES_tradnl"/>
          </a:p>
        </p:txBody>
      </p:sp>
      <p:sp>
        <p:nvSpPr>
          <p:cNvPr id="34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202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309E99-9985-544C-B694-ED27292ECBE8}" type="slidenum">
              <a:rPr lang="es-ES_tradnl" altLang="es-ES_tradnl"/>
              <a:pPr/>
              <a:t>7</a:t>
            </a:fld>
            <a:endParaRPr lang="es-ES_tradnl" altLang="es-ES_tradnl"/>
          </a:p>
        </p:txBody>
      </p:sp>
      <p:sp>
        <p:nvSpPr>
          <p:cNvPr id="34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907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B4C3EB-7304-7546-B22F-26735DECC2FD}" type="slidenum">
              <a:rPr lang="es-ES_tradnl" altLang="es-ES_tradnl"/>
              <a:pPr/>
              <a:t>8</a:t>
            </a:fld>
            <a:endParaRPr lang="es-ES_tradnl" altLang="es-ES_tradnl"/>
          </a:p>
        </p:txBody>
      </p:sp>
      <p:sp>
        <p:nvSpPr>
          <p:cNvPr id="345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571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B59655-07AA-FB4A-A81C-72F8B4C3BE41}" type="slidenum">
              <a:rPr lang="es-ES_tradnl" altLang="es-ES_tradnl"/>
              <a:pPr/>
              <a:t>9</a:t>
            </a:fld>
            <a:endParaRPr lang="es-ES_tradnl" altLang="es-ES_tradnl"/>
          </a:p>
        </p:txBody>
      </p:sp>
      <p:sp>
        <p:nvSpPr>
          <p:cNvPr id="34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502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0B3279-DE50-0443-A753-F6F02AC5420A}" type="slidenum">
              <a:rPr lang="es-ES_tradnl" altLang="es-ES_tradnl"/>
              <a:pPr/>
              <a:t>10</a:t>
            </a:fld>
            <a:endParaRPr lang="es-ES_tradnl" altLang="es-ES_tradnl"/>
          </a:p>
        </p:txBody>
      </p:sp>
      <p:sp>
        <p:nvSpPr>
          <p:cNvPr id="34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49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181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811E68-2C03-424F-AC47-27EFB3887A89}" type="slidenum">
              <a:rPr lang="es-ES_tradnl" altLang="es-ES_tradnl"/>
              <a:pPr/>
              <a:t>11</a:t>
            </a:fld>
            <a:endParaRPr lang="es-ES_tradnl" altLang="es-ES_tradnl"/>
          </a:p>
        </p:txBody>
      </p:sp>
      <p:sp>
        <p:nvSpPr>
          <p:cNvPr id="351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2305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811E68-2C03-424F-AC47-27EFB3887A89}" type="slidenum">
              <a:rPr lang="es-ES_tradnl" altLang="es-ES_tradnl"/>
              <a:pPr/>
              <a:t>12</a:t>
            </a:fld>
            <a:endParaRPr lang="es-ES_tradnl" altLang="es-ES_tradnl"/>
          </a:p>
        </p:txBody>
      </p:sp>
      <p:sp>
        <p:nvSpPr>
          <p:cNvPr id="351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1991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22F13F-E050-E849-B788-BF603F65E4FF}" type="slidenum">
              <a:rPr lang="es-ES_tradnl" altLang="es-ES_tradnl"/>
              <a:pPr/>
              <a:t>13</a:t>
            </a:fld>
            <a:endParaRPr lang="es-ES_tradnl" altLang="es-ES_tradnl"/>
          </a:p>
        </p:txBody>
      </p:sp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962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0FB9FD-2165-0748-BD48-C8EE11EAAD85}" type="slidenum">
              <a:rPr lang="es-ES_tradnl" altLang="es-ES_tradnl"/>
              <a:pPr/>
              <a:t>14</a:t>
            </a:fld>
            <a:endParaRPr lang="es-ES_tradnl" altLang="es-ES_tradnl"/>
          </a:p>
        </p:txBody>
      </p:sp>
      <p:sp>
        <p:nvSpPr>
          <p:cNvPr id="35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932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3EEC32-2FF3-6B4B-AC5E-99DA9401E66C}" type="slidenum">
              <a:rPr lang="es-ES_tradnl" altLang="es-ES_tradnl"/>
              <a:pPr/>
              <a:t>15</a:t>
            </a:fld>
            <a:endParaRPr lang="es-ES_tradnl" altLang="es-ES_tradnl"/>
          </a:p>
        </p:txBody>
      </p:sp>
      <p:sp>
        <p:nvSpPr>
          <p:cNvPr id="35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1134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3F1B78-BB6D-DF49-8C46-6B69BDF0F6A7}" type="slidenum">
              <a:rPr lang="es-ES_tradnl" altLang="es-ES_tradnl"/>
              <a:pPr/>
              <a:t>16</a:t>
            </a:fld>
            <a:endParaRPr lang="es-ES_tradnl" altLang="es-ES_tradnl"/>
          </a:p>
        </p:txBody>
      </p:sp>
      <p:sp>
        <p:nvSpPr>
          <p:cNvPr id="36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74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3CA662-68B2-754C-BC48-736D181F54B7}" type="slidenum">
              <a:rPr lang="es-ES_tradnl" altLang="es-ES_tradnl"/>
              <a:pPr/>
              <a:t>17</a:t>
            </a:fld>
            <a:endParaRPr lang="es-ES_tradnl" altLang="es-ES_tradnl"/>
          </a:p>
        </p:txBody>
      </p:sp>
      <p:sp>
        <p:nvSpPr>
          <p:cNvPr id="36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9744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A30D5E-F0BB-DF46-B17F-A04D10B66ADF}" type="slidenum">
              <a:rPr lang="es-ES_tradnl" altLang="es-ES_tradnl"/>
              <a:pPr/>
              <a:t>18</a:t>
            </a:fld>
            <a:endParaRPr lang="es-ES_tradnl" altLang="es-ES_tradnl"/>
          </a:p>
        </p:txBody>
      </p:sp>
      <p:sp>
        <p:nvSpPr>
          <p:cNvPr id="365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2111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B880B-BF63-4F4B-8351-8F753A81BF96}" type="slidenum">
              <a:rPr lang="es-ES_tradnl" altLang="es-ES_tradnl"/>
              <a:pPr/>
              <a:t>19</a:t>
            </a:fld>
            <a:endParaRPr lang="es-ES_tradnl" altLang="es-ES_tradnl"/>
          </a:p>
        </p:txBody>
      </p:sp>
      <p:sp>
        <p:nvSpPr>
          <p:cNvPr id="367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1438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1F123F-9F02-584B-A195-35FAB213FCB9}" type="slidenum">
              <a:rPr lang="es-ES_tradnl" altLang="es-ES_tradnl"/>
              <a:pPr/>
              <a:t>20</a:t>
            </a:fld>
            <a:endParaRPr lang="es-ES_tradnl" altLang="es-ES_tradnl"/>
          </a:p>
        </p:txBody>
      </p:sp>
      <p:sp>
        <p:nvSpPr>
          <p:cNvPr id="369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92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3147E4-42D1-844F-AF84-37C2A8AF575D}" type="slidenum">
              <a:rPr lang="es-ES_tradnl" altLang="es-ES_tradnl"/>
              <a:pPr/>
              <a:t>21</a:t>
            </a:fld>
            <a:endParaRPr lang="es-ES_tradnl" altLang="es-ES_tradnl"/>
          </a:p>
        </p:txBody>
      </p:sp>
      <p:sp>
        <p:nvSpPr>
          <p:cNvPr id="371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5309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684145-F7B4-CC4F-93E1-82DBF7BE4DD1}" type="slidenum">
              <a:rPr lang="es-ES_tradnl" altLang="es-ES_tradnl"/>
              <a:pPr/>
              <a:t>23</a:t>
            </a:fld>
            <a:endParaRPr lang="es-ES_tradnl" altLang="es-ES_tradnl"/>
          </a:p>
        </p:txBody>
      </p:sp>
      <p:sp>
        <p:nvSpPr>
          <p:cNvPr id="37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99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6E32FE-44B9-7346-BDCD-5B9F18BCBB2C}" type="slidenum">
              <a:rPr lang="es-ES_tradnl" altLang="es-ES_tradnl"/>
              <a:pPr/>
              <a:t>24</a:t>
            </a:fld>
            <a:endParaRPr lang="es-ES_tradnl" altLang="es-ES_tradnl"/>
          </a:p>
        </p:txBody>
      </p:sp>
      <p:sp>
        <p:nvSpPr>
          <p:cNvPr id="375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75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129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5C1D7F-D577-FF49-B37D-70CC50F3A837}" type="slidenum">
              <a:rPr lang="es-ES_tradnl" altLang="es-ES_tradnl"/>
              <a:pPr/>
              <a:t>25</a:t>
            </a:fld>
            <a:endParaRPr lang="es-ES_tradnl" altLang="es-ES_tradnl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1222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B92807-276E-8F4C-89CD-D2261548D868}" type="slidenum">
              <a:rPr lang="es-ES_tradnl" altLang="es-ES_tradnl"/>
              <a:pPr/>
              <a:t>26</a:t>
            </a:fld>
            <a:endParaRPr lang="es-ES_tradnl" altLang="es-ES_tradnl"/>
          </a:p>
        </p:txBody>
      </p:sp>
      <p:sp>
        <p:nvSpPr>
          <p:cNvPr id="37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120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2BAA41-BB43-8F4B-8320-3566E0B72D81}" type="slidenum">
              <a:rPr lang="es-ES_tradnl" altLang="es-ES_tradnl"/>
              <a:pPr/>
              <a:t>27</a:t>
            </a:fld>
            <a:endParaRPr lang="es-ES_tradnl" altLang="es-ES_tradnl"/>
          </a:p>
        </p:txBody>
      </p:sp>
      <p:sp>
        <p:nvSpPr>
          <p:cNvPr id="381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4537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5A7DE7-5C66-6F43-A243-9E284ADE08FD}" type="slidenum">
              <a:rPr lang="es-ES_tradnl" altLang="es-ES_tradnl"/>
              <a:pPr/>
              <a:t>28</a:t>
            </a:fld>
            <a:endParaRPr lang="es-ES_tradnl" altLang="es-ES_tradnl"/>
          </a:p>
        </p:txBody>
      </p:sp>
      <p:sp>
        <p:nvSpPr>
          <p:cNvPr id="384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6304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96714D-D3FB-1743-938B-43FB2D0D6A8E}" type="slidenum">
              <a:rPr lang="es-ES_tradnl" altLang="es-ES_tradnl"/>
              <a:pPr/>
              <a:t>29</a:t>
            </a:fld>
            <a:endParaRPr lang="es-ES_tradnl" altLang="es-ES_tradnl"/>
          </a:p>
        </p:txBody>
      </p:sp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888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E24826-530D-CE49-8472-55A25F13FD56}" type="slidenum">
              <a:rPr lang="es-ES_tradnl" altLang="es-ES_tradnl"/>
              <a:pPr/>
              <a:t>30</a:t>
            </a:fld>
            <a:endParaRPr lang="es-ES_tradnl" altLang="es-ES_tradnl"/>
          </a:p>
        </p:txBody>
      </p:sp>
      <p:sp>
        <p:nvSpPr>
          <p:cNvPr id="388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1296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974FF9-EF97-2D4D-84EC-DD6EC1DC8F60}" type="slidenum">
              <a:rPr lang="es-ES_tradnl" altLang="es-ES_tradnl"/>
              <a:pPr/>
              <a:t>31</a:t>
            </a:fld>
            <a:endParaRPr lang="es-ES_tradnl" altLang="es-ES_tradnl"/>
          </a:p>
        </p:txBody>
      </p:sp>
      <p:sp>
        <p:nvSpPr>
          <p:cNvPr id="390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4034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B72FA3-2CE0-014A-93D6-F5C22C918459}" type="slidenum">
              <a:rPr lang="es-ES_tradnl" altLang="es-ES_tradnl"/>
              <a:pPr/>
              <a:t>32</a:t>
            </a:fld>
            <a:endParaRPr lang="es-ES_tradnl" altLang="es-ES_tradnl"/>
          </a:p>
        </p:txBody>
      </p:sp>
      <p:sp>
        <p:nvSpPr>
          <p:cNvPr id="392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7645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6C487A-E43A-6543-984E-779FA5BEF6F4}" type="slidenum">
              <a:rPr lang="es-ES_tradnl" altLang="es-ES_tradnl"/>
              <a:pPr/>
              <a:t>33</a:t>
            </a:fld>
            <a:endParaRPr lang="es-ES_tradnl" altLang="es-ES_tradnl"/>
          </a:p>
        </p:txBody>
      </p:sp>
      <p:sp>
        <p:nvSpPr>
          <p:cNvPr id="394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64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B333DE-794F-2440-80C5-D9FA4520BBB1}" type="slidenum">
              <a:rPr lang="es-ES_tradnl" altLang="es-ES_tradnl"/>
              <a:pPr/>
              <a:t>34</a:t>
            </a:fld>
            <a:endParaRPr lang="es-ES_tradnl" altLang="es-ES_tradnl"/>
          </a:p>
        </p:txBody>
      </p:sp>
      <p:sp>
        <p:nvSpPr>
          <p:cNvPr id="508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7875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s-ES" altLang="es-ES_tradnl"/>
              <a:t>EMISI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s-ES" altLang="es-ES_tradnl"/>
              <a:t>04/06/2010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s-ES" altLang="es-ES_tradnl"/>
              <a:t>S. Gonnet - H. Leone, 2010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DCCDC1-54AA-E545-B380-9AA5A7E06CA6}" type="slidenum">
              <a:rPr lang="es-ES_tradnl" altLang="es-ES_tradnl"/>
              <a:pPr/>
              <a:t>35</a:t>
            </a:fld>
            <a:endParaRPr lang="es-ES_tradnl" altLang="es-ES_tradnl"/>
          </a:p>
        </p:txBody>
      </p:sp>
      <p:sp>
        <p:nvSpPr>
          <p:cNvPr id="497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7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S_tradn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770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s-AR" smtClean="0"/>
              <a:t>Análisis de Sistemas</a:t>
            </a:r>
            <a:endParaRPr lang="es-AR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BBC35B-A44B-4119-B8DA-DE9E3DFADA20}" type="slidenum">
              <a:rPr kumimoji="0" lang="en-US" smtClean="0"/>
              <a:pPr/>
              <a:t>‹Nº›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4704" y="6508684"/>
            <a:ext cx="5421083" cy="365125"/>
          </a:xfrm>
        </p:spPr>
        <p:txBody>
          <a:bodyPr/>
          <a:lstStyle/>
          <a:p>
            <a:r>
              <a:rPr lang="es-AR" smtClean="0"/>
              <a:t>Análisis de Sistemas</a:t>
            </a:r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BBC35B-A44B-4119-B8DA-DE9E3DFADA20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5BBC35B-A44B-4119-B8DA-DE9E3DFADA20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AR" smtClean="0"/>
              <a:t>Análisis de Sistemas</a:t>
            </a:r>
            <a:endParaRPr lang="es-A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5BBC35B-A44B-4119-B8DA-DE9E3DFADA20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s-AR" smtClean="0"/>
              <a:t>Análisis de Sistemas</a:t>
            </a:r>
            <a:endParaRPr lang="es-A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5BBC35B-A44B-4119-B8DA-DE9E3DFADA20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s-AR" smtClean="0"/>
              <a:t>Análisis de Sistemas</a:t>
            </a:r>
            <a:endParaRPr lang="es-AR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710571" y="6520259"/>
            <a:ext cx="5421083" cy="365125"/>
          </a:xfrm>
        </p:spPr>
        <p:txBody>
          <a:bodyPr/>
          <a:lstStyle/>
          <a:p>
            <a:r>
              <a:rPr lang="es-AR" smtClean="0"/>
              <a:t>Análisis de Sistemas</a:t>
            </a:r>
            <a:endParaRPr lang="es-A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BBC35B-A44B-4119-B8DA-DE9E3DFADA20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smtClean="0"/>
              <a:t>Análisis de Sistemas</a:t>
            </a:r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BBC35B-A44B-4119-B8DA-DE9E3DFADA20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smtClean="0"/>
              <a:t>Análisis de Sistemas</a:t>
            </a:r>
            <a:endParaRPr lang="es-A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BBC35B-A44B-4119-B8DA-DE9E3DFADA20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5BBC35B-A44B-4119-B8DA-DE9E3DFADA20}" type="slidenum">
              <a:rPr kumimoji="0" lang="en-US" smtClean="0"/>
              <a:pPr/>
              <a:t>‹Nº›</a:t>
            </a:fld>
            <a:endParaRPr kumimoji="0" lang="en-US">
              <a:solidFill>
                <a:schemeClr val="tx1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es-AR" smtClean="0"/>
              <a:t>Análisis de Sistemas</a:t>
            </a:r>
            <a:endParaRPr lang="es-AR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smtClean="0"/>
              <a:t>Análisis de Sistemas</a:t>
            </a:r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es-AR" smtClean="0"/>
              <a:t>Análisis de Sistemas</a:t>
            </a:r>
            <a:endParaRPr lang="es-AR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5BBC35B-A44B-4119-B8DA-DE9E3DFADA20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1400" cy="4873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28725"/>
            <a:ext cx="8229600" cy="5248275"/>
          </a:xfrm>
        </p:spPr>
        <p:txBody>
          <a:bodyPr/>
          <a:lstStyle/>
          <a:p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943600" y="6537325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Análisis de Sistemas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>
          <a:xfrm>
            <a:off x="5943600" y="68263"/>
            <a:ext cx="2590800" cy="2365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1400" cy="4873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28725"/>
            <a:ext cx="4038600" cy="52482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28725"/>
            <a:ext cx="4038600" cy="52482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943600" y="6537325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Análisis de Sistemas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5943600" y="68263"/>
            <a:ext cx="2590800" cy="2365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1400" cy="4873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28725"/>
            <a:ext cx="4038600" cy="52482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28725"/>
            <a:ext cx="4038600" cy="25479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29063"/>
            <a:ext cx="4038600" cy="25479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5943600" y="6537325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Análisis de Sistemas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>
          <a:xfrm>
            <a:off x="5943600" y="68263"/>
            <a:ext cx="2590800" cy="2365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724704" y="6494551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s-AR" smtClean="0"/>
              <a:t>Análisis de Sistemas</a:t>
            </a:r>
            <a:endParaRPr lang="es-AR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5BBC35B-A44B-4119-B8DA-DE9E3DFADA20}" type="slidenum">
              <a:rPr kumimoji="0" lang="en-US" smtClean="0"/>
              <a:pPr/>
              <a:t>‹Nº›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pic>
        <p:nvPicPr>
          <p:cNvPr id="11" name="3 Imagen" descr="Marca UTN Santa Fe - Color.bmp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773" y="6559269"/>
            <a:ext cx="1667822" cy="26498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ourceforge.net/projects/useoc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6" name="Rectangle 103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AR" altLang="es-ES_tradnl" sz="2900" dirty="0">
                <a:solidFill>
                  <a:srgbClr val="000066"/>
                </a:solidFill>
              </a:rPr>
              <a:t>USE: A UML Specification Environment</a:t>
            </a:r>
            <a:endParaRPr lang="es-ES" altLang="es-ES_tradnl" sz="2900" dirty="0">
              <a:solidFill>
                <a:srgbClr val="000066"/>
              </a:solidFill>
            </a:endParaRPr>
          </a:p>
        </p:txBody>
      </p:sp>
      <p:sp>
        <p:nvSpPr>
          <p:cNvPr id="33178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s-ES" altLang="es-ES_tradnl"/>
              <a:t>USE: A UML base Specification Environment</a:t>
            </a:r>
            <a:br>
              <a:rPr lang="es-ES" altLang="es-ES_tradnl"/>
            </a:br>
            <a:endParaRPr lang="es-ES" altLang="es-ES_tradnl"/>
          </a:p>
        </p:txBody>
      </p:sp>
      <p:sp>
        <p:nvSpPr>
          <p:cNvPr id="331780" name="Text Box 4"/>
          <p:cNvSpPr txBox="1">
            <a:spLocks noChangeArrowheads="1"/>
          </p:cNvSpPr>
          <p:nvPr/>
        </p:nvSpPr>
        <p:spPr bwMode="auto">
          <a:xfrm>
            <a:off x="3665538" y="6213475"/>
            <a:ext cx="51546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ES_tradnl" sz="1600" dirty="0">
                <a:latin typeface="Tahoma" charset="0"/>
              </a:rPr>
              <a:t>http://</a:t>
            </a:r>
            <a:r>
              <a:rPr lang="es-ES" altLang="es-ES_tradnl" sz="1600" dirty="0" err="1">
                <a:latin typeface="Tahoma" charset="0"/>
              </a:rPr>
              <a:t>useocl.sourceforge.net</a:t>
            </a:r>
            <a:r>
              <a:rPr lang="es-ES" altLang="es-ES_tradnl" sz="1600" dirty="0">
                <a:latin typeface="Tahoma" charset="0"/>
              </a:rPr>
              <a:t>/w/</a:t>
            </a:r>
            <a:r>
              <a:rPr lang="es-ES" altLang="es-ES_tradnl" sz="1600" dirty="0" err="1">
                <a:latin typeface="Tahoma" charset="0"/>
              </a:rPr>
              <a:t>index.php</a:t>
            </a:r>
            <a:r>
              <a:rPr lang="es-ES" altLang="es-ES_tradnl" sz="1600" dirty="0">
                <a:latin typeface="Tahoma" charset="0"/>
              </a:rPr>
              <a:t>/</a:t>
            </a:r>
            <a:r>
              <a:rPr lang="es-ES" altLang="es-ES_tradnl" sz="1600" dirty="0" err="1">
                <a:latin typeface="Tahoma" charset="0"/>
              </a:rPr>
              <a:t>Main_Page</a:t>
            </a:r>
            <a:endParaRPr lang="es-ES" altLang="es-ES_tradnl" sz="1600" dirty="0">
              <a:solidFill>
                <a:schemeClr val="tx1"/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5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USE: UML </a:t>
            </a:r>
            <a:r>
              <a:rPr lang="es-ES_tradnl" dirty="0" err="1" smtClean="0"/>
              <a:t>Specification</a:t>
            </a:r>
            <a:r>
              <a:rPr lang="es-ES_tradnl" dirty="0" smtClean="0"/>
              <a:t> </a:t>
            </a:r>
            <a:r>
              <a:rPr lang="es-ES_tradnl" dirty="0" err="1" smtClean="0"/>
              <a:t>Environment</a:t>
            </a:r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smtClean="0"/>
              <a:t>Análisis de Sistemas</a:t>
            </a:r>
            <a:endParaRPr lang="es-AR" dirty="0"/>
          </a:p>
        </p:txBody>
      </p:sp>
      <p:sp>
        <p:nvSpPr>
          <p:cNvPr id="4" name="Marcador de conteni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_tradnl" dirty="0" smtClean="0"/>
              <a:t>Razonar sobre la estructura y comportamiento del sistema</a:t>
            </a:r>
          </a:p>
          <a:p>
            <a:pPr lvl="1"/>
            <a:r>
              <a:rPr lang="es-ES_tradnl" dirty="0" smtClean="0"/>
              <a:t>Comprobar su una “foto” del sistema (modelo de objetos) satisface ciertas propiedades</a:t>
            </a:r>
          </a:p>
          <a:p>
            <a:pPr lvl="2"/>
            <a:r>
              <a:rPr lang="es-ES_tradnl" dirty="0" smtClean="0"/>
              <a:t>invariantes OCL</a:t>
            </a:r>
          </a:p>
          <a:p>
            <a:pPr lvl="2"/>
            <a:r>
              <a:rPr lang="es-ES_tradnl" dirty="0" smtClean="0"/>
              <a:t>multiplicidades</a:t>
            </a:r>
          </a:p>
          <a:p>
            <a:pPr lvl="1"/>
            <a:r>
              <a:rPr lang="es-ES_tradnl" dirty="0" smtClean="0"/>
              <a:t>Comprobar si la invocación de una operación viola su especificación</a:t>
            </a:r>
          </a:p>
          <a:p>
            <a:pPr lvl="2"/>
            <a:r>
              <a:rPr lang="es-ES_tradnl" dirty="0" smtClean="0"/>
              <a:t>precondiciones OCL</a:t>
            </a:r>
          </a:p>
          <a:p>
            <a:pPr lvl="2"/>
            <a:r>
              <a:rPr lang="es-ES_tradnl" dirty="0" err="1" smtClean="0"/>
              <a:t>postcondiciones</a:t>
            </a:r>
            <a:r>
              <a:rPr lang="es-ES_tradnl" dirty="0" smtClean="0"/>
              <a:t> OCL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920770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63F60B2-6A81-444D-9CC6-205EBCE58692}" type="slidenum">
              <a:rPr lang="es-ES" altLang="es-ES_tradnl"/>
              <a:pPr/>
              <a:t>3</a:t>
            </a:fld>
            <a:endParaRPr lang="es-ES" altLang="es-ES_tradnl"/>
          </a:p>
        </p:txBody>
      </p:sp>
      <p:sp>
        <p:nvSpPr>
          <p:cNvPr id="333826" name="Rectangle 2"/>
          <p:cNvSpPr>
            <a:spLocks noChangeArrowheads="1"/>
          </p:cNvSpPr>
          <p:nvPr/>
        </p:nvSpPr>
        <p:spPr bwMode="auto">
          <a:xfrm>
            <a:off x="2051050" y="1700213"/>
            <a:ext cx="5257800" cy="288131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s-ES_tradnl"/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 sz="2400" dirty="0"/>
              <a:t>USE: A UML </a:t>
            </a:r>
            <a:r>
              <a:rPr lang="es-ES" altLang="es-ES_tradnl" sz="2400" dirty="0" err="1"/>
              <a:t>Specification</a:t>
            </a:r>
            <a:r>
              <a:rPr lang="es-ES" altLang="es-ES_tradnl" sz="2400" dirty="0"/>
              <a:t> </a:t>
            </a:r>
            <a:r>
              <a:rPr lang="es-ES" altLang="es-ES_tradnl" sz="2400" dirty="0" err="1"/>
              <a:t>Environment</a:t>
            </a:r>
            <a:endParaRPr lang="es-ES" altLang="es-ES_tradnl" sz="2400" dirty="0"/>
          </a:p>
        </p:txBody>
      </p:sp>
      <p:sp>
        <p:nvSpPr>
          <p:cNvPr id="333828" name="Text Box 4"/>
          <p:cNvSpPr txBox="1">
            <a:spLocks noChangeArrowheads="1"/>
          </p:cNvSpPr>
          <p:nvPr/>
        </p:nvSpPr>
        <p:spPr bwMode="auto">
          <a:xfrm>
            <a:off x="3670300" y="1860550"/>
            <a:ext cx="1801813" cy="6413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s-ES" altLang="es-ES_tradnl" sz="1800" b="1">
                <a:solidFill>
                  <a:schemeClr val="bg1"/>
                </a:solidFill>
                <a:latin typeface="Tahoma" charset="0"/>
              </a:rPr>
              <a:t>Especificación</a:t>
            </a:r>
            <a:br>
              <a:rPr lang="es-ES" altLang="es-ES_tradnl" sz="1800" b="1">
                <a:solidFill>
                  <a:schemeClr val="bg1"/>
                </a:solidFill>
                <a:latin typeface="Tahoma" charset="0"/>
              </a:rPr>
            </a:br>
            <a:r>
              <a:rPr lang="es-ES" altLang="es-ES_tradnl" sz="1800" b="1">
                <a:solidFill>
                  <a:schemeClr val="bg1"/>
                </a:solidFill>
                <a:latin typeface="Tahoma" charset="0"/>
              </a:rPr>
              <a:t>USE</a:t>
            </a:r>
          </a:p>
        </p:txBody>
      </p:sp>
      <p:grpSp>
        <p:nvGrpSpPr>
          <p:cNvPr id="333829" name="Group 5"/>
          <p:cNvGrpSpPr>
            <a:grpSpLocks/>
          </p:cNvGrpSpPr>
          <p:nvPr/>
        </p:nvGrpSpPr>
        <p:grpSpPr bwMode="auto">
          <a:xfrm>
            <a:off x="2259013" y="3284538"/>
            <a:ext cx="4627562" cy="1190625"/>
            <a:chOff x="1655" y="2069"/>
            <a:chExt cx="2915" cy="750"/>
          </a:xfrm>
        </p:grpSpPr>
        <p:sp>
          <p:nvSpPr>
            <p:cNvPr id="333830" name="Text Box 6"/>
            <p:cNvSpPr txBox="1">
              <a:spLocks noChangeArrowheads="1"/>
            </p:cNvSpPr>
            <p:nvPr/>
          </p:nvSpPr>
          <p:spPr bwMode="auto">
            <a:xfrm>
              <a:off x="1655" y="2069"/>
              <a:ext cx="1117" cy="7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s-ES" altLang="es-ES_tradnl" sz="1800" b="1" dirty="0">
                  <a:solidFill>
                    <a:schemeClr val="accent1">
                      <a:lumMod val="50000"/>
                    </a:schemeClr>
                  </a:solidFill>
                  <a:latin typeface="Tahoma" charset="0"/>
                </a:rPr>
                <a:t>UML</a:t>
              </a:r>
            </a:p>
            <a:p>
              <a:pPr algn="ctr" eaLnBrk="1" hangingPunct="1"/>
              <a:r>
                <a:rPr lang="es-ES" altLang="es-ES_tradnl" sz="1800" b="1" dirty="0">
                  <a:solidFill>
                    <a:schemeClr val="accent1">
                      <a:lumMod val="50000"/>
                    </a:schemeClr>
                  </a:solidFill>
                  <a:latin typeface="Tahoma" charset="0"/>
                </a:rPr>
                <a:t>(clases, </a:t>
              </a:r>
              <a:br>
                <a:rPr lang="es-ES" altLang="es-ES_tradnl" sz="1800" b="1" dirty="0">
                  <a:solidFill>
                    <a:schemeClr val="accent1">
                      <a:lumMod val="50000"/>
                    </a:schemeClr>
                  </a:solidFill>
                  <a:latin typeface="Tahoma" charset="0"/>
                </a:rPr>
              </a:br>
              <a:r>
                <a:rPr lang="es-ES" altLang="es-ES_tradnl" sz="1800" b="1" dirty="0">
                  <a:solidFill>
                    <a:schemeClr val="accent1">
                      <a:lumMod val="50000"/>
                    </a:schemeClr>
                  </a:solidFill>
                  <a:latin typeface="Tahoma" charset="0"/>
                </a:rPr>
                <a:t>asociaciones, </a:t>
              </a:r>
              <a:br>
                <a:rPr lang="es-ES" altLang="es-ES_tradnl" sz="1800" b="1" dirty="0">
                  <a:solidFill>
                    <a:schemeClr val="accent1">
                      <a:lumMod val="50000"/>
                    </a:schemeClr>
                  </a:solidFill>
                  <a:latin typeface="Tahoma" charset="0"/>
                </a:rPr>
              </a:br>
              <a:r>
                <a:rPr lang="es-ES" altLang="es-ES_tradnl" sz="1800" b="1" dirty="0">
                  <a:solidFill>
                    <a:schemeClr val="accent1">
                      <a:lumMod val="50000"/>
                    </a:schemeClr>
                  </a:solidFill>
                  <a:latin typeface="Tahoma" charset="0"/>
                </a:rPr>
                <a:t>operaciones)</a:t>
              </a:r>
            </a:p>
          </p:txBody>
        </p:sp>
        <p:sp>
          <p:nvSpPr>
            <p:cNvPr id="333831" name="Text Box 7"/>
            <p:cNvSpPr txBox="1">
              <a:spLocks noChangeArrowheads="1"/>
            </p:cNvSpPr>
            <p:nvPr/>
          </p:nvSpPr>
          <p:spPr bwMode="auto">
            <a:xfrm>
              <a:off x="3379" y="2069"/>
              <a:ext cx="1191" cy="40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s-ES" altLang="es-ES_tradnl" sz="1800" b="1" dirty="0">
                  <a:solidFill>
                    <a:schemeClr val="accent1">
                      <a:lumMod val="50000"/>
                    </a:schemeClr>
                  </a:solidFill>
                  <a:latin typeface="Tahoma" charset="0"/>
                </a:rPr>
                <a:t>OCL</a:t>
              </a:r>
            </a:p>
            <a:p>
              <a:pPr algn="ctr" eaLnBrk="1" hangingPunct="1"/>
              <a:r>
                <a:rPr lang="es-ES" altLang="es-ES_tradnl" sz="1800" b="1" dirty="0">
                  <a:solidFill>
                    <a:schemeClr val="accent1">
                      <a:lumMod val="50000"/>
                    </a:schemeClr>
                  </a:solidFill>
                  <a:latin typeface="Tahoma" charset="0"/>
                </a:rPr>
                <a:t>(</a:t>
              </a:r>
              <a:r>
                <a:rPr lang="es-ES" altLang="es-ES_tradnl" sz="1800" b="1" dirty="0" err="1">
                  <a:solidFill>
                    <a:schemeClr val="accent1">
                      <a:lumMod val="50000"/>
                    </a:schemeClr>
                  </a:solidFill>
                  <a:latin typeface="Tahoma" charset="0"/>
                </a:rPr>
                <a:t>inv</a:t>
              </a:r>
              <a:r>
                <a:rPr lang="es-ES" altLang="es-ES_tradnl" sz="1800" b="1" dirty="0">
                  <a:solidFill>
                    <a:schemeClr val="accent1">
                      <a:lumMod val="50000"/>
                    </a:schemeClr>
                  </a:solidFill>
                  <a:latin typeface="Tahoma" charset="0"/>
                </a:rPr>
                <a:t>, pre, post)</a:t>
              </a:r>
            </a:p>
          </p:txBody>
        </p:sp>
      </p:grpSp>
      <p:sp>
        <p:nvSpPr>
          <p:cNvPr id="333832" name="Text Box 8"/>
          <p:cNvSpPr txBox="1">
            <a:spLocks noChangeArrowheads="1"/>
          </p:cNvSpPr>
          <p:nvPr/>
        </p:nvSpPr>
        <p:spPr bwMode="auto">
          <a:xfrm>
            <a:off x="3592513" y="5595938"/>
            <a:ext cx="1960562" cy="6413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s-ES" altLang="es-ES_tradnl" sz="1800" b="1">
                <a:solidFill>
                  <a:schemeClr val="bg1"/>
                </a:solidFill>
                <a:latin typeface="Tahoma" charset="0"/>
              </a:rPr>
              <a:t>Estado</a:t>
            </a:r>
            <a:br>
              <a:rPr lang="es-ES" altLang="es-ES_tradnl" sz="1800" b="1">
                <a:solidFill>
                  <a:schemeClr val="bg1"/>
                </a:solidFill>
                <a:latin typeface="Tahoma" charset="0"/>
              </a:rPr>
            </a:br>
            <a:r>
              <a:rPr lang="es-ES" altLang="es-ES_tradnl" sz="1800" b="1">
                <a:solidFill>
                  <a:schemeClr val="bg1"/>
                </a:solidFill>
                <a:latin typeface="Tahoma" charset="0"/>
              </a:rPr>
              <a:t>(Objetos, links)</a:t>
            </a:r>
          </a:p>
        </p:txBody>
      </p:sp>
      <p:sp>
        <p:nvSpPr>
          <p:cNvPr id="333833" name="Line 9"/>
          <p:cNvSpPr>
            <a:spLocks noChangeShapeType="1"/>
          </p:cNvSpPr>
          <p:nvPr/>
        </p:nvSpPr>
        <p:spPr bwMode="auto">
          <a:xfrm>
            <a:off x="3635375" y="4508500"/>
            <a:ext cx="431800" cy="936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_tradnl"/>
          </a:p>
        </p:txBody>
      </p:sp>
      <p:sp>
        <p:nvSpPr>
          <p:cNvPr id="333834" name="Line 10"/>
          <p:cNvSpPr>
            <a:spLocks noChangeShapeType="1"/>
          </p:cNvSpPr>
          <p:nvPr/>
        </p:nvSpPr>
        <p:spPr bwMode="auto">
          <a:xfrm flipH="1">
            <a:off x="5148263" y="4149725"/>
            <a:ext cx="936625" cy="13668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_tradnl"/>
          </a:p>
        </p:txBody>
      </p:sp>
      <p:sp>
        <p:nvSpPr>
          <p:cNvPr id="333835" name="Text Box 11"/>
          <p:cNvSpPr txBox="1">
            <a:spLocks noChangeArrowheads="1"/>
          </p:cNvSpPr>
          <p:nvPr/>
        </p:nvSpPr>
        <p:spPr bwMode="auto">
          <a:xfrm>
            <a:off x="2276475" y="4764088"/>
            <a:ext cx="16478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_tradnl" sz="1600">
                <a:solidFill>
                  <a:schemeClr val="tx1"/>
                </a:solidFill>
                <a:latin typeface="Tahoma" charset="0"/>
              </a:rPr>
              <a:t>estructura</a:t>
            </a:r>
            <a:br>
              <a:rPr lang="es-ES" altLang="es-ES_tradnl" sz="1600">
                <a:solidFill>
                  <a:schemeClr val="tx1"/>
                </a:solidFill>
                <a:latin typeface="Tahoma" charset="0"/>
              </a:rPr>
            </a:br>
            <a:r>
              <a:rPr lang="es-ES" altLang="es-ES_tradnl" sz="1600">
                <a:solidFill>
                  <a:schemeClr val="tx1"/>
                </a:solidFill>
                <a:latin typeface="Tahoma" charset="0"/>
              </a:rPr>
              <a:t>comportamiento</a:t>
            </a:r>
          </a:p>
        </p:txBody>
      </p:sp>
      <p:sp>
        <p:nvSpPr>
          <p:cNvPr id="333836" name="Text Box 12"/>
          <p:cNvSpPr txBox="1">
            <a:spLocks noChangeArrowheads="1"/>
          </p:cNvSpPr>
          <p:nvPr/>
        </p:nvSpPr>
        <p:spPr bwMode="auto">
          <a:xfrm>
            <a:off x="5437188" y="4797425"/>
            <a:ext cx="1295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1" hangingPunct="1"/>
            <a:r>
              <a:rPr lang="es-ES" altLang="es-ES_tradnl" sz="1600">
                <a:solidFill>
                  <a:schemeClr val="tx1"/>
                </a:solidFill>
                <a:latin typeface="Tahoma" charset="0"/>
              </a:rPr>
              <a:t>consultas</a:t>
            </a:r>
          </a:p>
          <a:p>
            <a:pPr algn="r" eaLnBrk="1" hangingPunct="1"/>
            <a:r>
              <a:rPr lang="es-ES" altLang="es-ES_tradnl" sz="1600">
                <a:solidFill>
                  <a:schemeClr val="tx1"/>
                </a:solidFill>
                <a:latin typeface="Tahoma" charset="0"/>
              </a:rPr>
              <a:t>restricciones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1619672" y="6270790"/>
            <a:ext cx="651717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s-ES" altLang="es-ES_tradnl" sz="1600" dirty="0" smtClean="0">
                <a:solidFill>
                  <a:schemeClr val="tx1"/>
                </a:solidFill>
                <a:latin typeface="Tahoma" charset="0"/>
              </a:rPr>
              <a:t>Es posible ver si el modelo de objetos satisface las invariantes OCL</a:t>
            </a:r>
            <a:r>
              <a:rPr lang="es-ES" altLang="es-ES_tradnl" sz="1600" dirty="0" smtClean="0">
                <a:latin typeface="Tahoma" charset="0"/>
              </a:rPr>
              <a:t>, si la invocación de operaciones satisfacen las pre-</a:t>
            </a:r>
            <a:r>
              <a:rPr lang="es-ES" altLang="es-ES_tradnl" sz="1600" dirty="0" err="1" smtClean="0">
                <a:latin typeface="Tahoma" charset="0"/>
              </a:rPr>
              <a:t>postcondiciones</a:t>
            </a:r>
            <a:r>
              <a:rPr lang="es-ES" altLang="es-ES_tradnl" sz="1600" dirty="0" smtClean="0">
                <a:latin typeface="Tahoma" charset="0"/>
              </a:rPr>
              <a:t> OCL</a:t>
            </a:r>
            <a:endParaRPr lang="es-ES" altLang="es-ES_tradnl" sz="1600" dirty="0" smtClean="0">
              <a:solidFill>
                <a:schemeClr val="tx1"/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078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9B2BE-03EC-7749-BA47-45315159BC44}" type="slidenum">
              <a:rPr lang="es-ES" altLang="es-ES_tradnl"/>
              <a:pPr/>
              <a:t>4</a:t>
            </a:fld>
            <a:endParaRPr lang="es-ES" altLang="es-ES_tradnl"/>
          </a:p>
        </p:txBody>
      </p:sp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Caso de Estudio</a:t>
            </a:r>
          </a:p>
        </p:txBody>
      </p:sp>
      <p:grpSp>
        <p:nvGrpSpPr>
          <p:cNvPr id="335875" name="Group 3"/>
          <p:cNvGrpSpPr>
            <a:grpSpLocks/>
          </p:cNvGrpSpPr>
          <p:nvPr/>
        </p:nvGrpSpPr>
        <p:grpSpPr bwMode="auto">
          <a:xfrm>
            <a:off x="971600" y="1484784"/>
            <a:ext cx="7550100" cy="4960466"/>
            <a:chOff x="423" y="791"/>
            <a:chExt cx="4945" cy="3305"/>
          </a:xfrm>
        </p:grpSpPr>
        <p:pic>
          <p:nvPicPr>
            <p:cNvPr id="335876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44" t="21312" r="30457" b="24896"/>
            <a:stretch>
              <a:fillRect/>
            </a:stretch>
          </p:blipFill>
          <p:spPr bwMode="auto">
            <a:xfrm>
              <a:off x="423" y="791"/>
              <a:ext cx="4945" cy="330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>
              <a:outerShdw blurRad="63500" dist="107763" dir="189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335877" name="Rectangle 5"/>
            <p:cNvSpPr>
              <a:spLocks noChangeArrowheads="1"/>
            </p:cNvSpPr>
            <p:nvPr/>
          </p:nvSpPr>
          <p:spPr bwMode="auto">
            <a:xfrm>
              <a:off x="2209" y="3697"/>
              <a:ext cx="1995" cy="3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427394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DD2BE6-681F-6145-9929-09026820AA7D}" type="slidenum">
              <a:rPr lang="es-ES" altLang="es-ES_tradnl"/>
              <a:pPr/>
              <a:t>5</a:t>
            </a:fld>
            <a:endParaRPr lang="es-ES" altLang="es-ES_tradnl"/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Especificación USE - UML</a:t>
            </a:r>
          </a:p>
        </p:txBody>
      </p:sp>
      <p:sp>
        <p:nvSpPr>
          <p:cNvPr id="337924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17525" y="1556792"/>
            <a:ext cx="3937000" cy="4257576"/>
          </a:xfrm>
          <a:noFill/>
          <a:ln/>
        </p:spPr>
        <p:txBody>
          <a:bodyPr>
            <a:spAutoFit/>
          </a:bodyPr>
          <a:lstStyle/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 err="1"/>
              <a:t>model</a:t>
            </a:r>
            <a:r>
              <a:rPr lang="es-ES" altLang="es-ES_tradnl" sz="1800" dirty="0"/>
              <a:t> Biblioteca</a:t>
            </a:r>
          </a:p>
          <a:p>
            <a:pPr>
              <a:lnSpc>
                <a:spcPct val="70000"/>
              </a:lnSpc>
              <a:buFont typeface="Wingdings" charset="2"/>
              <a:buNone/>
            </a:pPr>
            <a:endParaRPr lang="es-ES" altLang="es-ES_tradnl" sz="1800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 err="1"/>
              <a:t>class</a:t>
            </a:r>
            <a:r>
              <a:rPr lang="es-ES" altLang="es-ES_tradnl" sz="1800" dirty="0"/>
              <a:t> Biblioteca</a:t>
            </a:r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 err="1"/>
              <a:t>attributes</a:t>
            </a:r>
            <a:endParaRPr lang="es-ES" altLang="es-ES_tradnl" sz="1800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/>
              <a:t>  nombre : </a:t>
            </a:r>
            <a:r>
              <a:rPr lang="es-ES" altLang="es-ES_tradnl" sz="1800" dirty="0" err="1"/>
              <a:t>String</a:t>
            </a:r>
            <a:endParaRPr lang="es-ES" altLang="es-ES_tradnl" sz="1800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/>
              <a:t>  </a:t>
            </a:r>
            <a:r>
              <a:rPr lang="es-ES" altLang="es-ES_tradnl" sz="1800" dirty="0" err="1"/>
              <a:t>ubicacion</a:t>
            </a:r>
            <a:r>
              <a:rPr lang="es-ES" altLang="es-ES_tradnl" sz="1800" dirty="0"/>
              <a:t> : </a:t>
            </a:r>
            <a:r>
              <a:rPr lang="es-ES" altLang="es-ES_tradnl" sz="1800" dirty="0" err="1"/>
              <a:t>String</a:t>
            </a:r>
            <a:endParaRPr lang="es-ES" altLang="es-ES_tradnl" sz="1800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 err="1"/>
              <a:t>end</a:t>
            </a:r>
            <a:endParaRPr lang="es-ES" altLang="es-ES_tradnl" sz="1800" dirty="0"/>
          </a:p>
          <a:p>
            <a:pPr>
              <a:lnSpc>
                <a:spcPct val="70000"/>
              </a:lnSpc>
              <a:buFont typeface="Wingdings" charset="2"/>
              <a:buNone/>
            </a:pPr>
            <a:endParaRPr lang="es-ES" altLang="es-ES_tradnl" sz="1800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 err="1"/>
              <a:t>class</a:t>
            </a:r>
            <a:r>
              <a:rPr lang="es-ES" altLang="es-ES_tradnl" sz="1800" dirty="0"/>
              <a:t> Ejemplar</a:t>
            </a:r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 err="1"/>
              <a:t>attributes</a:t>
            </a:r>
            <a:endParaRPr lang="es-ES" altLang="es-ES_tradnl" sz="1800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/>
              <a:t>  id : </a:t>
            </a:r>
            <a:r>
              <a:rPr lang="es-ES" altLang="es-ES_tradnl" sz="1800" dirty="0" err="1"/>
              <a:t>String</a:t>
            </a:r>
            <a:endParaRPr lang="es-ES" altLang="es-ES_tradnl" sz="1800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 err="1"/>
              <a:t>operations</a:t>
            </a:r>
            <a:endParaRPr lang="es-ES" altLang="es-ES_tradnl" sz="1800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/>
              <a:t>  </a:t>
            </a:r>
            <a:r>
              <a:rPr lang="es-ES" altLang="es-ES_tradnl" sz="1800" dirty="0" err="1"/>
              <a:t>enBiblioteca</a:t>
            </a:r>
            <a:r>
              <a:rPr lang="es-ES" altLang="es-ES_tradnl" sz="1800" dirty="0"/>
              <a:t>() : </a:t>
            </a:r>
            <a:r>
              <a:rPr lang="es-ES" altLang="es-ES_tradnl" sz="1800" dirty="0" err="1"/>
              <a:t>Boolean</a:t>
            </a:r>
            <a:r>
              <a:rPr lang="es-ES" altLang="es-ES_tradnl" sz="1800" dirty="0"/>
              <a:t> = </a:t>
            </a:r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/>
              <a:t>       </a:t>
            </a:r>
            <a:r>
              <a:rPr lang="es-ES" altLang="es-ES_tradnl" sz="1800" dirty="0" err="1" smtClean="0"/>
              <a:t>self.prestamo</a:t>
            </a:r>
            <a:r>
              <a:rPr lang="es-ES" altLang="es-ES_tradnl" sz="1800" dirty="0" smtClean="0"/>
              <a:t>-</a:t>
            </a:r>
            <a:r>
              <a:rPr lang="es-ES" altLang="es-ES_tradnl" sz="1800" dirty="0"/>
              <a:t>&gt;</a:t>
            </a:r>
            <a:r>
              <a:rPr lang="es-ES" altLang="es-ES_tradnl" sz="1800" dirty="0" err="1"/>
              <a:t>size</a:t>
            </a:r>
            <a:r>
              <a:rPr lang="es-ES" altLang="es-ES_tradnl" sz="1800" dirty="0"/>
              <a:t>() = 0</a:t>
            </a:r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 err="1" smtClean="0"/>
              <a:t>end</a:t>
            </a:r>
            <a:endParaRPr lang="es-ES" altLang="es-ES_tradnl" sz="1800" dirty="0"/>
          </a:p>
        </p:txBody>
      </p:sp>
      <p:sp>
        <p:nvSpPr>
          <p:cNvPr id="337925" name="Text Box 5"/>
          <p:cNvSpPr txBox="1">
            <a:spLocks noChangeArrowheads="1"/>
          </p:cNvSpPr>
          <p:nvPr/>
        </p:nvSpPr>
        <p:spPr bwMode="auto">
          <a:xfrm>
            <a:off x="5059363" y="1603698"/>
            <a:ext cx="3028950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_tradnl" sz="1800" dirty="0" err="1">
                <a:solidFill>
                  <a:schemeClr val="tx1"/>
                </a:solidFill>
              </a:rPr>
              <a:t>association</a:t>
            </a:r>
            <a:r>
              <a:rPr lang="es-ES" altLang="es-ES_tradnl" sz="1800" dirty="0">
                <a:solidFill>
                  <a:schemeClr val="tx1"/>
                </a:solidFill>
              </a:rPr>
              <a:t> Posee </a:t>
            </a:r>
            <a:r>
              <a:rPr lang="es-ES" altLang="es-ES_tradnl" sz="1800" dirty="0" err="1">
                <a:solidFill>
                  <a:schemeClr val="tx1"/>
                </a:solidFill>
              </a:rPr>
              <a:t>between</a:t>
            </a:r>
            <a:endParaRPr lang="es-ES" altLang="es-ES_tradnl" sz="1800" dirty="0">
              <a:solidFill>
                <a:schemeClr val="tx1"/>
              </a:solidFill>
            </a:endParaRPr>
          </a:p>
          <a:p>
            <a:pPr eaLnBrk="1" hangingPunct="1"/>
            <a:r>
              <a:rPr lang="es-ES" altLang="es-ES_tradnl" sz="1800" dirty="0">
                <a:solidFill>
                  <a:schemeClr val="tx1"/>
                </a:solidFill>
              </a:rPr>
              <a:t>  Biblioteca[1] role biblioteca</a:t>
            </a:r>
          </a:p>
          <a:p>
            <a:pPr eaLnBrk="1" hangingPunct="1"/>
            <a:r>
              <a:rPr lang="es-ES" altLang="es-ES_tradnl" sz="1800" dirty="0">
                <a:solidFill>
                  <a:schemeClr val="tx1"/>
                </a:solidFill>
              </a:rPr>
              <a:t>  Ejemplar[*] role ejemplar</a:t>
            </a:r>
          </a:p>
          <a:p>
            <a:pPr eaLnBrk="1" hangingPunct="1"/>
            <a:r>
              <a:rPr lang="es-ES" altLang="es-ES_tradnl" sz="1800" dirty="0" err="1">
                <a:solidFill>
                  <a:schemeClr val="tx1"/>
                </a:solidFill>
              </a:rPr>
              <a:t>end</a:t>
            </a:r>
            <a:endParaRPr lang="es-ES" altLang="es-ES_tradnl" sz="1800" dirty="0">
              <a:solidFill>
                <a:schemeClr val="tx1"/>
              </a:solidFill>
            </a:endParaRPr>
          </a:p>
          <a:p>
            <a:pPr eaLnBrk="1" hangingPunct="1"/>
            <a:endParaRPr lang="es-ES" altLang="es-ES_tradnl" sz="1800" dirty="0">
              <a:solidFill>
                <a:schemeClr val="tx1"/>
              </a:solidFill>
            </a:endParaRPr>
          </a:p>
        </p:txBody>
      </p:sp>
      <p:pic>
        <p:nvPicPr>
          <p:cNvPr id="3379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6" t="17326" r="32219" b="35834"/>
          <a:stretch>
            <a:fillRect/>
          </a:stretch>
        </p:blipFill>
        <p:spPr bwMode="auto">
          <a:xfrm>
            <a:off x="3987800" y="3255963"/>
            <a:ext cx="4568825" cy="3127375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3745677" y="2339588"/>
            <a:ext cx="708848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s-ES_tradnl" b="1" smtClean="0">
                <a:solidFill>
                  <a:schemeClr val="bg1"/>
                </a:solidFill>
              </a:rPr>
              <a:t>Clase</a:t>
            </a:r>
            <a:endParaRPr lang="es-ES_tradnl" b="1">
              <a:solidFill>
                <a:schemeClr val="bg1"/>
              </a:solidFill>
            </a:endParaRPr>
          </a:p>
        </p:txBody>
      </p:sp>
      <p:cxnSp>
        <p:nvCxnSpPr>
          <p:cNvPr id="4" name="Conector recto 3"/>
          <p:cNvCxnSpPr>
            <a:endCxn id="2" idx="1"/>
          </p:cNvCxnSpPr>
          <p:nvPr/>
        </p:nvCxnSpPr>
        <p:spPr>
          <a:xfrm>
            <a:off x="2051720" y="2199671"/>
            <a:ext cx="1693957" cy="324583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>
            <a:endCxn id="2" idx="3"/>
          </p:cNvCxnSpPr>
          <p:nvPr/>
        </p:nvCxnSpPr>
        <p:spPr>
          <a:xfrm flipH="1" flipV="1">
            <a:off x="4454525" y="2524254"/>
            <a:ext cx="2781772" cy="132095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/>
          <p:cNvSpPr txBox="1"/>
          <p:nvPr/>
        </p:nvSpPr>
        <p:spPr>
          <a:xfrm>
            <a:off x="3745677" y="2859482"/>
            <a:ext cx="954300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s-ES_tradnl" b="1" dirty="0" smtClean="0">
                <a:solidFill>
                  <a:schemeClr val="bg1"/>
                </a:solidFill>
              </a:rPr>
              <a:t>Atributo</a:t>
            </a:r>
            <a:endParaRPr lang="es-ES_tradnl" b="1" dirty="0">
              <a:solidFill>
                <a:schemeClr val="bg1"/>
              </a:solidFill>
            </a:endParaRPr>
          </a:p>
        </p:txBody>
      </p:sp>
      <p:cxnSp>
        <p:nvCxnSpPr>
          <p:cNvPr id="18" name="Conector recto 17"/>
          <p:cNvCxnSpPr>
            <a:endCxn id="17" idx="1"/>
          </p:cNvCxnSpPr>
          <p:nvPr/>
        </p:nvCxnSpPr>
        <p:spPr>
          <a:xfrm>
            <a:off x="2195736" y="2831113"/>
            <a:ext cx="1549941" cy="213035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/>
          <p:cNvCxnSpPr>
            <a:endCxn id="17" idx="3"/>
          </p:cNvCxnSpPr>
          <p:nvPr/>
        </p:nvCxnSpPr>
        <p:spPr>
          <a:xfrm flipH="1" flipV="1">
            <a:off x="4699977" y="3044148"/>
            <a:ext cx="2515975" cy="1125163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/>
          <p:cNvSpPr txBox="1"/>
          <p:nvPr/>
        </p:nvSpPr>
        <p:spPr>
          <a:xfrm>
            <a:off x="7884368" y="2749710"/>
            <a:ext cx="1233030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s-ES_tradnl" b="1" smtClean="0">
                <a:solidFill>
                  <a:schemeClr val="bg1"/>
                </a:solidFill>
              </a:rPr>
              <a:t>Asociación</a:t>
            </a:r>
            <a:endParaRPr lang="es-ES_tradnl" b="1" dirty="0">
              <a:solidFill>
                <a:schemeClr val="bg1"/>
              </a:solidFill>
            </a:endParaRPr>
          </a:p>
        </p:txBody>
      </p:sp>
      <p:cxnSp>
        <p:nvCxnSpPr>
          <p:cNvPr id="25" name="Conector recto 24"/>
          <p:cNvCxnSpPr>
            <a:endCxn id="24" idx="0"/>
          </p:cNvCxnSpPr>
          <p:nvPr/>
        </p:nvCxnSpPr>
        <p:spPr>
          <a:xfrm>
            <a:off x="7621600" y="1857542"/>
            <a:ext cx="879283" cy="892168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/>
          <p:cNvCxnSpPr>
            <a:endCxn id="24" idx="2"/>
          </p:cNvCxnSpPr>
          <p:nvPr/>
        </p:nvCxnSpPr>
        <p:spPr>
          <a:xfrm flipV="1">
            <a:off x="6876256" y="3119042"/>
            <a:ext cx="1624627" cy="1750118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/>
          <p:cNvSpPr txBox="1"/>
          <p:nvPr/>
        </p:nvSpPr>
        <p:spPr>
          <a:xfrm>
            <a:off x="4222827" y="4115215"/>
            <a:ext cx="1489510" cy="64633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algn="ctr"/>
            <a:r>
              <a:rPr lang="es-ES_tradnl" b="1" dirty="0" smtClean="0">
                <a:solidFill>
                  <a:schemeClr val="bg1"/>
                </a:solidFill>
              </a:rPr>
              <a:t>Extremo </a:t>
            </a:r>
          </a:p>
          <a:p>
            <a:pPr algn="ctr"/>
            <a:r>
              <a:rPr lang="es-ES_tradnl" b="1" dirty="0" smtClean="0">
                <a:solidFill>
                  <a:schemeClr val="bg1"/>
                </a:solidFill>
              </a:rPr>
              <a:t>de asociación</a:t>
            </a:r>
            <a:endParaRPr lang="es-ES_tradnl" b="1" dirty="0">
              <a:solidFill>
                <a:schemeClr val="bg1"/>
              </a:solidFill>
            </a:endParaRPr>
          </a:p>
        </p:txBody>
      </p:sp>
      <p:cxnSp>
        <p:nvCxnSpPr>
          <p:cNvPr id="32" name="Conector recto 31"/>
          <p:cNvCxnSpPr>
            <a:endCxn id="31" idx="0"/>
          </p:cNvCxnSpPr>
          <p:nvPr/>
        </p:nvCxnSpPr>
        <p:spPr>
          <a:xfrm flipH="1">
            <a:off x="4967582" y="2475178"/>
            <a:ext cx="1292159" cy="1640037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/>
          <p:cNvCxnSpPr>
            <a:endCxn id="31" idx="2"/>
          </p:cNvCxnSpPr>
          <p:nvPr/>
        </p:nvCxnSpPr>
        <p:spPr>
          <a:xfrm flipH="1" flipV="1">
            <a:off x="4967582" y="4761546"/>
            <a:ext cx="979782" cy="532953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/>
          <p:cNvSpPr txBox="1"/>
          <p:nvPr/>
        </p:nvSpPr>
        <p:spPr>
          <a:xfrm>
            <a:off x="3041168" y="5796050"/>
            <a:ext cx="1418978" cy="64633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algn="ctr"/>
            <a:r>
              <a:rPr lang="es-ES_tradnl" b="1" dirty="0" smtClean="0">
                <a:solidFill>
                  <a:schemeClr val="bg1"/>
                </a:solidFill>
              </a:rPr>
              <a:t>Operación</a:t>
            </a:r>
          </a:p>
          <a:p>
            <a:r>
              <a:rPr lang="es-ES_tradnl" b="1" dirty="0" smtClean="0">
                <a:solidFill>
                  <a:schemeClr val="bg1"/>
                </a:solidFill>
              </a:rPr>
              <a:t>(de consulta)</a:t>
            </a:r>
            <a:endParaRPr lang="es-ES_tradnl" b="1" dirty="0">
              <a:solidFill>
                <a:schemeClr val="bg1"/>
              </a:solidFill>
            </a:endParaRPr>
          </a:p>
        </p:txBody>
      </p:sp>
      <p:cxnSp>
        <p:nvCxnSpPr>
          <p:cNvPr id="39" name="Conector recto 38"/>
          <p:cNvCxnSpPr>
            <a:endCxn id="38" idx="1"/>
          </p:cNvCxnSpPr>
          <p:nvPr/>
        </p:nvCxnSpPr>
        <p:spPr>
          <a:xfrm>
            <a:off x="2051720" y="5276156"/>
            <a:ext cx="989448" cy="84306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/>
          <p:cNvCxnSpPr>
            <a:endCxn id="38" idx="3"/>
          </p:cNvCxnSpPr>
          <p:nvPr/>
        </p:nvCxnSpPr>
        <p:spPr>
          <a:xfrm flipH="1" flipV="1">
            <a:off x="4460146" y="6119216"/>
            <a:ext cx="507436" cy="37267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87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24" grpId="0" animBg="1"/>
      <p:bldP spid="31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89FA58-E775-FC44-92F9-9CB661A25546}" type="slidenum">
              <a:rPr lang="es-ES" altLang="es-ES_tradnl"/>
              <a:pPr/>
              <a:t>6</a:t>
            </a:fld>
            <a:endParaRPr lang="es-ES" altLang="es-ES_tradnl"/>
          </a:p>
        </p:txBody>
      </p:sp>
      <p:pic>
        <p:nvPicPr>
          <p:cNvPr id="3399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68" t="18774" r="3227" b="28603"/>
          <a:stretch>
            <a:fillRect/>
          </a:stretch>
        </p:blipFill>
        <p:spPr bwMode="auto">
          <a:xfrm>
            <a:off x="3764979" y="3789040"/>
            <a:ext cx="5343525" cy="300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3399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Especificación USE - UML</a:t>
            </a:r>
          </a:p>
        </p:txBody>
      </p:sp>
      <p:sp>
        <p:nvSpPr>
          <p:cNvPr id="33997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08967" y="1528142"/>
            <a:ext cx="4391025" cy="2760243"/>
          </a:xfrm>
          <a:noFill/>
          <a:ln/>
        </p:spPr>
        <p:txBody>
          <a:bodyPr>
            <a:spAutoFit/>
          </a:bodyPr>
          <a:lstStyle/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 err="1"/>
              <a:t>class</a:t>
            </a:r>
            <a:r>
              <a:rPr lang="es-ES" altLang="es-ES_tradnl" sz="1800" dirty="0"/>
              <a:t> </a:t>
            </a:r>
            <a:r>
              <a:rPr lang="es-ES" altLang="es-ES_tradnl" sz="1800" dirty="0" err="1"/>
              <a:t>Publicacion</a:t>
            </a:r>
            <a:endParaRPr lang="es-ES" altLang="es-ES_tradnl" sz="1800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 err="1"/>
              <a:t>attributes</a:t>
            </a:r>
            <a:endParaRPr lang="es-ES" altLang="es-ES_tradnl" sz="1800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/>
              <a:t>  titulo: </a:t>
            </a:r>
            <a:r>
              <a:rPr lang="es-ES" altLang="es-ES_tradnl" sz="1800" dirty="0" err="1"/>
              <a:t>String</a:t>
            </a:r>
            <a:endParaRPr lang="es-ES" altLang="es-ES_tradnl" sz="1800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/>
              <a:t>  </a:t>
            </a:r>
            <a:r>
              <a:rPr lang="es-ES" altLang="es-ES_tradnl" sz="1800" dirty="0" err="1"/>
              <a:t>anio</a:t>
            </a:r>
            <a:r>
              <a:rPr lang="es-ES" altLang="es-ES_tradnl" sz="1800" dirty="0"/>
              <a:t>: </a:t>
            </a:r>
            <a:r>
              <a:rPr lang="es-ES" altLang="es-ES_tradnl" sz="1800" dirty="0" err="1"/>
              <a:t>Integer</a:t>
            </a:r>
            <a:endParaRPr lang="es-ES" altLang="es-ES_tradnl" sz="1800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/>
              <a:t>  editorial: </a:t>
            </a:r>
            <a:r>
              <a:rPr lang="es-ES" altLang="es-ES_tradnl" sz="1800" dirty="0" err="1"/>
              <a:t>String</a:t>
            </a:r>
            <a:endParaRPr lang="es-ES" altLang="es-ES_tradnl" sz="1800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 err="1"/>
              <a:t>operations</a:t>
            </a:r>
            <a:endParaRPr lang="es-ES" altLang="es-ES_tradnl" sz="1800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/>
              <a:t>  </a:t>
            </a:r>
            <a:r>
              <a:rPr lang="es-ES" altLang="es-ES_tradnl" sz="1800" dirty="0" err="1"/>
              <a:t>ejemplaresDisponibles</a:t>
            </a:r>
            <a:r>
              <a:rPr lang="es-ES" altLang="es-ES_tradnl" sz="1800" dirty="0"/>
              <a:t>(): Set(Ejemplar) = </a:t>
            </a:r>
            <a:r>
              <a:rPr lang="es-ES" altLang="es-ES_tradnl" sz="1800" dirty="0" err="1"/>
              <a:t>self.ejemplar</a:t>
            </a:r>
            <a:r>
              <a:rPr lang="es-ES" altLang="es-ES_tradnl" sz="1800" dirty="0"/>
              <a:t>-&gt;</a:t>
            </a:r>
            <a:r>
              <a:rPr lang="es-ES" altLang="es-ES_tradnl" sz="1800" dirty="0" err="1"/>
              <a:t>select</a:t>
            </a:r>
            <a:r>
              <a:rPr lang="es-ES" altLang="es-ES_tradnl" sz="1800" dirty="0"/>
              <a:t>(</a:t>
            </a:r>
            <a:r>
              <a:rPr lang="es-ES" altLang="es-ES_tradnl" sz="1800" dirty="0" err="1"/>
              <a:t>enBiblioteca</a:t>
            </a:r>
            <a:r>
              <a:rPr lang="es-ES" altLang="es-ES_tradnl" sz="1800" dirty="0"/>
              <a:t>())</a:t>
            </a:r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sz="1800" dirty="0" err="1"/>
              <a:t>end</a:t>
            </a:r>
            <a:endParaRPr lang="es-ES" altLang="es-ES_tradnl" sz="1800" dirty="0"/>
          </a:p>
          <a:p>
            <a:pPr>
              <a:lnSpc>
                <a:spcPct val="70000"/>
              </a:lnSpc>
              <a:buFont typeface="Wingdings" charset="2"/>
              <a:buNone/>
            </a:pPr>
            <a:endParaRPr lang="es-ES" altLang="es-ES_tradnl" sz="1800" dirty="0"/>
          </a:p>
        </p:txBody>
      </p:sp>
      <p:sp>
        <p:nvSpPr>
          <p:cNvPr id="339974" name="Text Box 6"/>
          <p:cNvSpPr txBox="1">
            <a:spLocks noChangeArrowheads="1"/>
          </p:cNvSpPr>
          <p:nvPr/>
        </p:nvSpPr>
        <p:spPr bwMode="auto">
          <a:xfrm>
            <a:off x="75133" y="4084037"/>
            <a:ext cx="356076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s-ES" altLang="es-ES_tradnl" sz="1800" dirty="0" err="1">
                <a:solidFill>
                  <a:schemeClr val="tx1"/>
                </a:solidFill>
              </a:rPr>
              <a:t>composition</a:t>
            </a:r>
            <a:r>
              <a:rPr lang="es-ES" altLang="es-ES_tradnl" sz="1800" dirty="0">
                <a:solidFill>
                  <a:schemeClr val="tx1"/>
                </a:solidFill>
              </a:rPr>
              <a:t> </a:t>
            </a:r>
            <a:r>
              <a:rPr lang="es-ES" altLang="es-ES_tradnl" sz="1800" dirty="0" err="1">
                <a:solidFill>
                  <a:schemeClr val="tx1"/>
                </a:solidFill>
              </a:rPr>
              <a:t>EsAutor</a:t>
            </a:r>
            <a:r>
              <a:rPr lang="es-ES" altLang="es-ES_tradnl" sz="1800" dirty="0">
                <a:solidFill>
                  <a:schemeClr val="tx1"/>
                </a:solidFill>
              </a:rPr>
              <a:t> </a:t>
            </a:r>
            <a:r>
              <a:rPr lang="es-ES" altLang="es-ES_tradnl" sz="1800" dirty="0" err="1">
                <a:solidFill>
                  <a:schemeClr val="tx1"/>
                </a:solidFill>
              </a:rPr>
              <a:t>between</a:t>
            </a:r>
            <a:endParaRPr lang="es-ES" altLang="es-ES_tradnl" sz="1800" dirty="0">
              <a:solidFill>
                <a:schemeClr val="tx1"/>
              </a:solidFill>
            </a:endParaRPr>
          </a:p>
          <a:p>
            <a:pPr eaLnBrk="1" hangingPunct="1"/>
            <a:r>
              <a:rPr lang="es-ES" altLang="es-ES_tradnl" sz="1800" dirty="0">
                <a:solidFill>
                  <a:schemeClr val="tx1"/>
                </a:solidFill>
              </a:rPr>
              <a:t>  Libro[1..*] role libro</a:t>
            </a:r>
          </a:p>
          <a:p>
            <a:pPr eaLnBrk="1" hangingPunct="1"/>
            <a:r>
              <a:rPr lang="es-ES" altLang="es-ES_tradnl" sz="1800" dirty="0">
                <a:solidFill>
                  <a:schemeClr val="tx1"/>
                </a:solidFill>
              </a:rPr>
              <a:t>  Autor[1..*] role autor</a:t>
            </a:r>
          </a:p>
          <a:p>
            <a:pPr eaLnBrk="1" hangingPunct="1"/>
            <a:r>
              <a:rPr lang="es-ES" altLang="es-ES_tradnl" sz="1800" dirty="0" err="1">
                <a:solidFill>
                  <a:schemeClr val="tx1"/>
                </a:solidFill>
              </a:rPr>
              <a:t>end</a:t>
            </a:r>
            <a:endParaRPr lang="es-ES" altLang="es-ES_tradnl" sz="1800" dirty="0">
              <a:solidFill>
                <a:schemeClr val="tx1"/>
              </a:solidFill>
            </a:endParaRPr>
          </a:p>
          <a:p>
            <a:pPr eaLnBrk="1" hangingPunct="1"/>
            <a:endParaRPr lang="es-ES" altLang="es-ES_tradnl" sz="1800" dirty="0">
              <a:solidFill>
                <a:schemeClr val="tx1"/>
              </a:solidFill>
            </a:endParaRPr>
          </a:p>
          <a:p>
            <a:pPr eaLnBrk="1" hangingPunct="1"/>
            <a:r>
              <a:rPr lang="es-ES" altLang="es-ES_tradnl" sz="1800" dirty="0" err="1">
                <a:solidFill>
                  <a:schemeClr val="tx1"/>
                </a:solidFill>
              </a:rPr>
              <a:t>association</a:t>
            </a:r>
            <a:r>
              <a:rPr lang="es-ES" altLang="es-ES_tradnl" sz="1800" dirty="0">
                <a:solidFill>
                  <a:schemeClr val="tx1"/>
                </a:solidFill>
              </a:rPr>
              <a:t> </a:t>
            </a:r>
            <a:r>
              <a:rPr lang="es-ES" altLang="es-ES_tradnl" sz="1800" dirty="0" err="1">
                <a:solidFill>
                  <a:schemeClr val="tx1"/>
                </a:solidFill>
              </a:rPr>
              <a:t>EjemplarDe</a:t>
            </a:r>
            <a:r>
              <a:rPr lang="es-ES" altLang="es-ES_tradnl" sz="1800" dirty="0">
                <a:solidFill>
                  <a:schemeClr val="tx1"/>
                </a:solidFill>
              </a:rPr>
              <a:t> </a:t>
            </a:r>
            <a:r>
              <a:rPr lang="es-ES" altLang="es-ES_tradnl" sz="1800" dirty="0" err="1">
                <a:solidFill>
                  <a:schemeClr val="tx1"/>
                </a:solidFill>
              </a:rPr>
              <a:t>between</a:t>
            </a:r>
            <a:endParaRPr lang="es-ES" altLang="es-ES_tradnl" sz="1800" dirty="0">
              <a:solidFill>
                <a:schemeClr val="tx1"/>
              </a:solidFill>
            </a:endParaRPr>
          </a:p>
          <a:p>
            <a:pPr eaLnBrk="1" hangingPunct="1"/>
            <a:r>
              <a:rPr lang="es-ES" altLang="es-ES_tradnl" sz="1800" dirty="0">
                <a:solidFill>
                  <a:schemeClr val="tx1"/>
                </a:solidFill>
              </a:rPr>
              <a:t>  </a:t>
            </a:r>
            <a:r>
              <a:rPr lang="es-ES" altLang="es-ES_tradnl" sz="1800" dirty="0" err="1">
                <a:solidFill>
                  <a:schemeClr val="tx1"/>
                </a:solidFill>
              </a:rPr>
              <a:t>Publicacion</a:t>
            </a:r>
            <a:r>
              <a:rPr lang="es-ES" altLang="es-ES_tradnl" sz="1800" dirty="0">
                <a:solidFill>
                  <a:schemeClr val="tx1"/>
                </a:solidFill>
              </a:rPr>
              <a:t>[1] role pub</a:t>
            </a:r>
          </a:p>
          <a:p>
            <a:pPr eaLnBrk="1" hangingPunct="1"/>
            <a:r>
              <a:rPr lang="es-ES" altLang="es-ES_tradnl" sz="1800" dirty="0">
                <a:solidFill>
                  <a:schemeClr val="tx1"/>
                </a:solidFill>
              </a:rPr>
              <a:t>  Ejemplar[1..*] role ejemplar</a:t>
            </a:r>
          </a:p>
          <a:p>
            <a:pPr eaLnBrk="1" hangingPunct="1"/>
            <a:r>
              <a:rPr lang="es-ES" altLang="es-ES_tradnl" sz="1800" dirty="0" err="1" smtClean="0">
                <a:solidFill>
                  <a:schemeClr val="tx1"/>
                </a:solidFill>
              </a:rPr>
              <a:t>end</a:t>
            </a:r>
            <a:endParaRPr lang="es-ES" altLang="es-ES_tradnl" sz="1800" dirty="0">
              <a:solidFill>
                <a:schemeClr val="tx1"/>
              </a:solidFill>
            </a:endParaRPr>
          </a:p>
        </p:txBody>
      </p:sp>
      <p:sp>
        <p:nvSpPr>
          <p:cNvPr id="339975" name="Text Box 7"/>
          <p:cNvSpPr txBox="1">
            <a:spLocks noChangeArrowheads="1"/>
          </p:cNvSpPr>
          <p:nvPr/>
        </p:nvSpPr>
        <p:spPr bwMode="auto">
          <a:xfrm>
            <a:off x="4139977" y="1499092"/>
            <a:ext cx="2808287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es-ES_tradnl" sz="1800" dirty="0">
                <a:solidFill>
                  <a:schemeClr val="tx1"/>
                </a:solidFill>
              </a:rPr>
              <a:t>class </a:t>
            </a:r>
            <a:r>
              <a:rPr lang="en-US" altLang="es-ES_tradnl" sz="1800" dirty="0" err="1">
                <a:solidFill>
                  <a:schemeClr val="tx1"/>
                </a:solidFill>
              </a:rPr>
              <a:t>Autor</a:t>
            </a:r>
            <a:endParaRPr lang="en-US" altLang="es-ES_tradnl" sz="18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s-ES_tradnl" sz="1800" dirty="0">
                <a:solidFill>
                  <a:schemeClr val="tx1"/>
                </a:solidFill>
              </a:rPr>
              <a:t>attributes</a:t>
            </a:r>
          </a:p>
          <a:p>
            <a:pPr eaLnBrk="1" hangingPunct="1"/>
            <a:r>
              <a:rPr lang="en-US" altLang="es-ES_tradnl" sz="1800" dirty="0">
                <a:solidFill>
                  <a:schemeClr val="tx1"/>
                </a:solidFill>
              </a:rPr>
              <a:t>  </a:t>
            </a:r>
            <a:r>
              <a:rPr lang="en-US" altLang="es-ES_tradnl" sz="1800" dirty="0" err="1">
                <a:solidFill>
                  <a:schemeClr val="tx1"/>
                </a:solidFill>
              </a:rPr>
              <a:t>apellido</a:t>
            </a:r>
            <a:r>
              <a:rPr lang="en-US" altLang="es-ES_tradnl" sz="1800" dirty="0">
                <a:solidFill>
                  <a:schemeClr val="tx1"/>
                </a:solidFill>
              </a:rPr>
              <a:t>: String</a:t>
            </a:r>
          </a:p>
          <a:p>
            <a:pPr eaLnBrk="1" hangingPunct="1"/>
            <a:r>
              <a:rPr lang="en-US" altLang="es-ES_tradnl" sz="1800" dirty="0">
                <a:solidFill>
                  <a:schemeClr val="tx1"/>
                </a:solidFill>
              </a:rPr>
              <a:t>  </a:t>
            </a:r>
            <a:r>
              <a:rPr lang="en-US" altLang="es-ES_tradnl" sz="1800" dirty="0" err="1">
                <a:solidFill>
                  <a:schemeClr val="tx1"/>
                </a:solidFill>
              </a:rPr>
              <a:t>nombre</a:t>
            </a:r>
            <a:r>
              <a:rPr lang="en-US" altLang="es-ES_tradnl" sz="1800" dirty="0">
                <a:solidFill>
                  <a:schemeClr val="tx1"/>
                </a:solidFill>
              </a:rPr>
              <a:t>: String</a:t>
            </a:r>
          </a:p>
          <a:p>
            <a:pPr eaLnBrk="1" hangingPunct="1"/>
            <a:r>
              <a:rPr lang="en-US" altLang="es-ES_tradnl" sz="1800" dirty="0">
                <a:solidFill>
                  <a:schemeClr val="tx1"/>
                </a:solidFill>
              </a:rPr>
              <a:t>end</a:t>
            </a:r>
            <a:endParaRPr lang="es-ES" altLang="es-ES_tradnl" sz="1800" dirty="0">
              <a:solidFill>
                <a:schemeClr val="tx1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6244580" y="1499092"/>
            <a:ext cx="2863924" cy="2419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dirty="0" err="1"/>
              <a:t>class</a:t>
            </a:r>
            <a:r>
              <a:rPr lang="es-ES" altLang="es-ES_tradnl" dirty="0"/>
              <a:t> Libro &lt; </a:t>
            </a:r>
            <a:r>
              <a:rPr lang="es-ES" altLang="es-ES_tradnl" dirty="0" err="1"/>
              <a:t>Publicacion</a:t>
            </a:r>
            <a:endParaRPr lang="es-ES" altLang="es-ES_tradnl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dirty="0" err="1"/>
              <a:t>attributes</a:t>
            </a:r>
            <a:endParaRPr lang="es-ES" altLang="es-ES_tradnl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dirty="0"/>
              <a:t>  ISBN: </a:t>
            </a:r>
            <a:r>
              <a:rPr lang="es-ES" altLang="es-ES_tradnl" dirty="0" err="1"/>
              <a:t>Integer</a:t>
            </a:r>
            <a:endParaRPr lang="es-ES" altLang="es-ES_tradnl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dirty="0"/>
              <a:t>  tema: </a:t>
            </a:r>
            <a:r>
              <a:rPr lang="es-ES" altLang="es-ES_tradnl" dirty="0" err="1"/>
              <a:t>String</a:t>
            </a:r>
            <a:endParaRPr lang="es-ES" altLang="es-ES_tradnl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dirty="0" err="1"/>
              <a:t>end</a:t>
            </a:r>
            <a:endParaRPr lang="es-ES" altLang="es-ES_tradnl" dirty="0"/>
          </a:p>
          <a:p>
            <a:pPr>
              <a:lnSpc>
                <a:spcPct val="70000"/>
              </a:lnSpc>
              <a:buFont typeface="Wingdings" charset="2"/>
              <a:buNone/>
            </a:pPr>
            <a:endParaRPr lang="es-ES" altLang="es-ES_tradnl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dirty="0" err="1"/>
              <a:t>class</a:t>
            </a:r>
            <a:r>
              <a:rPr lang="es-ES" altLang="es-ES_tradnl" dirty="0"/>
              <a:t> Revista &lt; </a:t>
            </a:r>
            <a:r>
              <a:rPr lang="es-ES" altLang="es-ES_tradnl" dirty="0" err="1"/>
              <a:t>Publicacion</a:t>
            </a:r>
            <a:endParaRPr lang="es-ES" altLang="es-ES_tradnl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dirty="0" err="1"/>
              <a:t>attributes</a:t>
            </a:r>
            <a:endParaRPr lang="es-ES" altLang="es-ES_tradnl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dirty="0"/>
              <a:t>  </a:t>
            </a:r>
            <a:r>
              <a:rPr lang="es-ES" altLang="es-ES_tradnl" dirty="0" err="1"/>
              <a:t>numero_mes</a:t>
            </a:r>
            <a:r>
              <a:rPr lang="es-ES" altLang="es-ES_tradnl" dirty="0"/>
              <a:t>: </a:t>
            </a:r>
            <a:r>
              <a:rPr lang="es-ES" altLang="es-ES_tradnl" dirty="0" err="1"/>
              <a:t>Integer</a:t>
            </a:r>
            <a:endParaRPr lang="es-ES" altLang="es-ES_tradnl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dirty="0"/>
              <a:t>  volumen: </a:t>
            </a:r>
            <a:r>
              <a:rPr lang="es-ES" altLang="es-ES_tradnl" dirty="0" err="1"/>
              <a:t>Integer</a:t>
            </a:r>
            <a:endParaRPr lang="es-ES" altLang="es-ES_tradnl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dirty="0"/>
              <a:t>  ISSN: </a:t>
            </a:r>
            <a:r>
              <a:rPr lang="es-ES" altLang="es-ES_tradnl" dirty="0" err="1"/>
              <a:t>Integer</a:t>
            </a:r>
            <a:endParaRPr lang="es-ES" altLang="es-ES_tradnl" dirty="0"/>
          </a:p>
          <a:p>
            <a:pPr>
              <a:lnSpc>
                <a:spcPct val="70000"/>
              </a:lnSpc>
              <a:buFont typeface="Wingdings" charset="2"/>
              <a:buNone/>
            </a:pPr>
            <a:r>
              <a:rPr lang="es-ES" altLang="es-ES_tradnl" dirty="0" err="1"/>
              <a:t>end</a:t>
            </a:r>
            <a:r>
              <a:rPr lang="es-ES" altLang="es-ES_tradnl" dirty="0"/>
              <a:t>  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4424498" y="2862817"/>
            <a:ext cx="1731564" cy="64633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s-ES_tradnl" b="1" dirty="0" smtClean="0">
                <a:solidFill>
                  <a:schemeClr val="bg1"/>
                </a:solidFill>
              </a:rPr>
              <a:t>Generalización</a:t>
            </a:r>
          </a:p>
          <a:p>
            <a:r>
              <a:rPr lang="es-ES_tradnl" b="1" dirty="0" smtClean="0">
                <a:solidFill>
                  <a:schemeClr val="bg1"/>
                </a:solidFill>
              </a:rPr>
              <a:t>/Especialización</a:t>
            </a:r>
            <a:endParaRPr lang="es-ES_tradnl" b="1" dirty="0">
              <a:solidFill>
                <a:schemeClr val="bg1"/>
              </a:solidFill>
            </a:endParaRPr>
          </a:p>
        </p:txBody>
      </p:sp>
      <p:cxnSp>
        <p:nvCxnSpPr>
          <p:cNvPr id="12" name="Conector recto 11"/>
          <p:cNvCxnSpPr>
            <a:endCxn id="11" idx="3"/>
          </p:cNvCxnSpPr>
          <p:nvPr/>
        </p:nvCxnSpPr>
        <p:spPr>
          <a:xfrm flipH="1">
            <a:off x="6156062" y="2862817"/>
            <a:ext cx="1520480" cy="32316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>
            <a:endCxn id="11" idx="2"/>
          </p:cNvCxnSpPr>
          <p:nvPr/>
        </p:nvCxnSpPr>
        <p:spPr>
          <a:xfrm flipH="1" flipV="1">
            <a:off x="5290280" y="3509148"/>
            <a:ext cx="1314315" cy="1380007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/>
          <p:cNvSpPr txBox="1"/>
          <p:nvPr/>
        </p:nvSpPr>
        <p:spPr>
          <a:xfrm>
            <a:off x="3054688" y="4991622"/>
            <a:ext cx="1420582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s-ES_tradnl" b="1" smtClean="0">
                <a:solidFill>
                  <a:schemeClr val="bg1"/>
                </a:solidFill>
              </a:rPr>
              <a:t>Composición</a:t>
            </a:r>
            <a:endParaRPr lang="es-ES_tradnl" b="1" dirty="0">
              <a:solidFill>
                <a:schemeClr val="bg1"/>
              </a:solidFill>
            </a:endParaRPr>
          </a:p>
        </p:txBody>
      </p:sp>
      <p:cxnSp>
        <p:nvCxnSpPr>
          <p:cNvPr id="21" name="Conector recto 20"/>
          <p:cNvCxnSpPr>
            <a:endCxn id="20" idx="2"/>
          </p:cNvCxnSpPr>
          <p:nvPr/>
        </p:nvCxnSpPr>
        <p:spPr>
          <a:xfrm flipH="1" flipV="1">
            <a:off x="3764979" y="5360954"/>
            <a:ext cx="3759349" cy="35288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>
            <a:off x="2123728" y="4411647"/>
            <a:ext cx="919552" cy="76464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281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2AA932-7BBE-B14A-AD43-B67800BB1ED1}" type="slidenum">
              <a:rPr lang="es-ES" altLang="es-ES_tradnl"/>
              <a:pPr/>
              <a:t>7</a:t>
            </a:fld>
            <a:endParaRPr lang="es-ES" altLang="es-ES_tradnl"/>
          </a:p>
        </p:txBody>
      </p:sp>
      <p:pic>
        <p:nvPicPr>
          <p:cNvPr id="3420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4" t="18648" r="1544" b="21042"/>
          <a:stretch>
            <a:fillRect/>
          </a:stretch>
        </p:blipFill>
        <p:spPr bwMode="auto">
          <a:xfrm>
            <a:off x="3724275" y="3438922"/>
            <a:ext cx="5456237" cy="344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3420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Especificación USE - UML</a:t>
            </a:r>
          </a:p>
        </p:txBody>
      </p:sp>
      <p:sp>
        <p:nvSpPr>
          <p:cNvPr id="342021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-62731" y="1511250"/>
            <a:ext cx="4130675" cy="530658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 err="1"/>
              <a:t>abstract</a:t>
            </a:r>
            <a:r>
              <a:rPr lang="es-ES" altLang="es-ES_tradnl" sz="1600" dirty="0"/>
              <a:t> </a:t>
            </a:r>
            <a:r>
              <a:rPr lang="es-ES" altLang="es-ES_tradnl" sz="1600" dirty="0" err="1"/>
              <a:t>class</a:t>
            </a:r>
            <a:r>
              <a:rPr lang="es-ES" altLang="es-ES_tradnl" sz="1600" dirty="0"/>
              <a:t> Usuario</a:t>
            </a:r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 err="1"/>
              <a:t>attributes</a:t>
            </a:r>
            <a:endParaRPr lang="es-ES" altLang="es-ES_tradnl" sz="1600" dirty="0"/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/>
              <a:t>  nombre: </a:t>
            </a:r>
            <a:r>
              <a:rPr lang="es-ES" altLang="es-ES_tradnl" sz="1600" dirty="0" err="1"/>
              <a:t>String</a:t>
            </a:r>
            <a:endParaRPr lang="es-ES" altLang="es-ES_tradnl" sz="1600" dirty="0"/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 err="1"/>
              <a:t>operations</a:t>
            </a:r>
            <a:endParaRPr lang="es-ES" altLang="es-ES_tradnl" sz="1600" dirty="0"/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/>
              <a:t>  prestar(p: </a:t>
            </a:r>
            <a:r>
              <a:rPr lang="es-ES" altLang="es-ES_tradnl" sz="1600" dirty="0" err="1"/>
              <a:t>Publicacion</a:t>
            </a:r>
            <a:r>
              <a:rPr lang="es-ES" altLang="es-ES_tradnl" sz="1600" dirty="0"/>
              <a:t>, fecha: Date): </a:t>
            </a:r>
            <a:r>
              <a:rPr lang="es-ES" altLang="es-ES_tradnl" sz="1600" dirty="0" err="1"/>
              <a:t>Prestamo</a:t>
            </a:r>
            <a:endParaRPr lang="es-ES" altLang="es-ES_tradnl" sz="1600" dirty="0"/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/>
              <a:t>  </a:t>
            </a:r>
            <a:r>
              <a:rPr lang="es-ES" altLang="es-ES_tradnl" sz="1600" dirty="0" err="1"/>
              <a:t>obtPlazoPrestamo</a:t>
            </a:r>
            <a:r>
              <a:rPr lang="es-ES" altLang="es-ES_tradnl" sz="1600" dirty="0"/>
              <a:t>(</a:t>
            </a:r>
            <a:r>
              <a:rPr lang="es-ES" altLang="es-ES_tradnl" sz="1600" dirty="0" err="1"/>
              <a:t>e:Ejemplar</a:t>
            </a:r>
            <a:r>
              <a:rPr lang="es-ES" altLang="es-ES_tradnl" sz="1600" dirty="0"/>
              <a:t>):</a:t>
            </a:r>
            <a:r>
              <a:rPr lang="es-ES" altLang="es-ES_tradnl" sz="1600" dirty="0" err="1"/>
              <a:t>Integer</a:t>
            </a:r>
            <a:r>
              <a:rPr lang="es-ES" altLang="es-ES_tradnl" sz="1600" dirty="0"/>
              <a:t> = 7</a:t>
            </a:r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 err="1"/>
              <a:t>end</a:t>
            </a:r>
            <a:endParaRPr lang="es-ES" altLang="es-ES_tradnl" sz="1600" dirty="0"/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endParaRPr lang="es-ES" altLang="es-ES_tradnl" sz="200" dirty="0"/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 err="1"/>
              <a:t>class</a:t>
            </a:r>
            <a:r>
              <a:rPr lang="es-ES" altLang="es-ES_tradnl" sz="1600" dirty="0"/>
              <a:t> Socio &lt; Usuario</a:t>
            </a:r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 err="1"/>
              <a:t>attributes</a:t>
            </a:r>
            <a:endParaRPr lang="es-ES" altLang="es-ES_tradnl" sz="1600" dirty="0"/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/>
              <a:t>  </a:t>
            </a:r>
            <a:r>
              <a:rPr lang="es-ES" altLang="es-ES_tradnl" sz="1600" dirty="0" err="1"/>
              <a:t>tipoDNI</a:t>
            </a:r>
            <a:r>
              <a:rPr lang="es-ES" altLang="es-ES_tradnl" sz="1600" dirty="0"/>
              <a:t>: </a:t>
            </a:r>
            <a:r>
              <a:rPr lang="es-ES" altLang="es-ES_tradnl" sz="1600" dirty="0" err="1"/>
              <a:t>TipoDNI</a:t>
            </a:r>
            <a:endParaRPr lang="es-ES" altLang="es-ES_tradnl" sz="1600" dirty="0"/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/>
              <a:t>  </a:t>
            </a:r>
            <a:r>
              <a:rPr lang="es-ES" altLang="es-ES_tradnl" sz="1600" dirty="0" err="1"/>
              <a:t>dni</a:t>
            </a:r>
            <a:r>
              <a:rPr lang="es-ES" altLang="es-ES_tradnl" sz="1600" dirty="0"/>
              <a:t>: </a:t>
            </a:r>
            <a:r>
              <a:rPr lang="es-ES" altLang="es-ES_tradnl" sz="1600" dirty="0" err="1"/>
              <a:t>Integer</a:t>
            </a:r>
            <a:endParaRPr lang="es-ES" altLang="es-ES_tradnl" sz="1600" dirty="0"/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/>
              <a:t>  </a:t>
            </a:r>
            <a:r>
              <a:rPr lang="es-ES" altLang="es-ES_tradnl" sz="1600" dirty="0" err="1"/>
              <a:t>cuotaAlDia</a:t>
            </a:r>
            <a:r>
              <a:rPr lang="es-ES" altLang="es-ES_tradnl" sz="1600" dirty="0"/>
              <a:t>: </a:t>
            </a:r>
            <a:r>
              <a:rPr lang="es-ES" altLang="es-ES_tradnl" sz="1600" dirty="0" err="1"/>
              <a:t>Boolean</a:t>
            </a:r>
            <a:endParaRPr lang="es-ES" altLang="es-ES_tradnl" sz="1600" dirty="0"/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 err="1"/>
              <a:t>operations</a:t>
            </a:r>
            <a:endParaRPr lang="es-ES" altLang="es-ES_tradnl" sz="1600" dirty="0"/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/>
              <a:t>  </a:t>
            </a:r>
            <a:r>
              <a:rPr lang="es-ES" altLang="es-ES_tradnl" sz="1600" dirty="0" err="1"/>
              <a:t>obtPlazoPrestamo</a:t>
            </a:r>
            <a:r>
              <a:rPr lang="es-ES" altLang="es-ES_tradnl" sz="1600" dirty="0"/>
              <a:t>(</a:t>
            </a:r>
            <a:r>
              <a:rPr lang="es-ES" altLang="es-ES_tradnl" sz="1600" dirty="0" err="1"/>
              <a:t>e:Ejemplar</a:t>
            </a:r>
            <a:r>
              <a:rPr lang="es-ES" altLang="es-ES_tradnl" sz="1600" dirty="0"/>
              <a:t>):</a:t>
            </a:r>
            <a:r>
              <a:rPr lang="es-ES" altLang="es-ES_tradnl" sz="1600" dirty="0" err="1"/>
              <a:t>Integer</a:t>
            </a:r>
            <a:r>
              <a:rPr lang="en-US" altLang="es-ES_tradnl" sz="1600" dirty="0"/>
              <a:t>= </a:t>
            </a:r>
            <a:br>
              <a:rPr lang="en-US" altLang="es-ES_tradnl" sz="1600" dirty="0"/>
            </a:br>
            <a:r>
              <a:rPr lang="en-US" altLang="es-ES_tradnl" sz="1600" dirty="0"/>
              <a:t>if </a:t>
            </a:r>
            <a:r>
              <a:rPr lang="en-US" altLang="es-ES_tradnl" sz="1600" dirty="0" err="1"/>
              <a:t>e.pub.oclIsTypeOf</a:t>
            </a:r>
            <a:r>
              <a:rPr lang="en-US" altLang="es-ES_tradnl" sz="1600" dirty="0"/>
              <a:t>(</a:t>
            </a:r>
            <a:r>
              <a:rPr lang="en-US" altLang="es-ES_tradnl" sz="1600" dirty="0" err="1"/>
              <a:t>Libro</a:t>
            </a:r>
            <a:r>
              <a:rPr lang="en-US" altLang="es-ES_tradnl" sz="1600" dirty="0"/>
              <a:t>) </a:t>
            </a:r>
            <a:br>
              <a:rPr lang="en-US" altLang="es-ES_tradnl" sz="1600" dirty="0"/>
            </a:br>
            <a:r>
              <a:rPr lang="en-US" altLang="es-ES_tradnl" sz="1600" dirty="0"/>
              <a:t>then 14 else 7 </a:t>
            </a:r>
            <a:r>
              <a:rPr lang="en-US" altLang="es-ES_tradnl" sz="1600" dirty="0" err="1"/>
              <a:t>endif</a:t>
            </a:r>
            <a:endParaRPr lang="es-ES" altLang="es-ES_tradnl" sz="1600" dirty="0"/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 err="1"/>
              <a:t>end</a:t>
            </a:r>
            <a:endParaRPr lang="es-ES" altLang="es-ES_tradnl" sz="1600" dirty="0"/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endParaRPr lang="es-ES" altLang="es-ES_tradnl" sz="100" dirty="0"/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 err="1"/>
              <a:t>class</a:t>
            </a:r>
            <a:r>
              <a:rPr lang="es-ES" altLang="es-ES_tradnl" sz="1600" dirty="0"/>
              <a:t> Profesor &lt; Usuario</a:t>
            </a:r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r>
              <a:rPr lang="es-ES" altLang="es-ES_tradnl" sz="1600" dirty="0" err="1"/>
              <a:t>end</a:t>
            </a:r>
            <a:endParaRPr lang="es-ES" altLang="es-ES_tradnl" sz="1600" dirty="0"/>
          </a:p>
          <a:p>
            <a:pPr marL="104040" indent="-104040">
              <a:spcBef>
                <a:spcPts val="100"/>
              </a:spcBef>
              <a:buFont typeface="Wingdings" charset="2"/>
              <a:buNone/>
            </a:pPr>
            <a:endParaRPr lang="es-ES" altLang="es-ES_tradnl" sz="1600" dirty="0"/>
          </a:p>
        </p:txBody>
      </p:sp>
      <p:sp>
        <p:nvSpPr>
          <p:cNvPr id="342022" name="Text Box 6"/>
          <p:cNvSpPr txBox="1">
            <a:spLocks noChangeArrowheads="1"/>
          </p:cNvSpPr>
          <p:nvPr/>
        </p:nvSpPr>
        <p:spPr bwMode="auto">
          <a:xfrm>
            <a:off x="6731371" y="1427361"/>
            <a:ext cx="2449141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s-ES" altLang="es-ES_tradnl" sz="1600" dirty="0" err="1">
                <a:solidFill>
                  <a:schemeClr val="tx1"/>
                </a:solidFill>
              </a:rPr>
              <a:t>class</a:t>
            </a:r>
            <a:r>
              <a:rPr lang="es-ES" altLang="es-ES_tradnl" sz="1600" dirty="0">
                <a:solidFill>
                  <a:schemeClr val="tx1"/>
                </a:solidFill>
              </a:rPr>
              <a:t> Estudiante &lt; Usuario</a:t>
            </a:r>
          </a:p>
          <a:p>
            <a:pPr eaLnBrk="1" hangingPunct="1"/>
            <a:r>
              <a:rPr lang="es-ES" altLang="es-ES_tradnl" sz="1600" dirty="0" err="1">
                <a:solidFill>
                  <a:schemeClr val="tx1"/>
                </a:solidFill>
              </a:rPr>
              <a:t>attributes</a:t>
            </a:r>
            <a:endParaRPr lang="es-ES" altLang="es-ES_tradnl" sz="1600" dirty="0">
              <a:solidFill>
                <a:schemeClr val="tx1"/>
              </a:solidFill>
            </a:endParaRPr>
          </a:p>
          <a:p>
            <a:pPr eaLnBrk="1" hangingPunct="1"/>
            <a:r>
              <a:rPr lang="es-ES" altLang="es-ES_tradnl" sz="1600" dirty="0">
                <a:solidFill>
                  <a:schemeClr val="tx1"/>
                </a:solidFill>
              </a:rPr>
              <a:t>  carrera: </a:t>
            </a:r>
            <a:r>
              <a:rPr lang="es-ES" altLang="es-ES_tradnl" sz="1600" dirty="0" err="1">
                <a:solidFill>
                  <a:schemeClr val="tx1"/>
                </a:solidFill>
              </a:rPr>
              <a:t>String</a:t>
            </a:r>
            <a:endParaRPr lang="es-ES" altLang="es-ES_tradnl" sz="1600" dirty="0">
              <a:solidFill>
                <a:schemeClr val="tx1"/>
              </a:solidFill>
            </a:endParaRPr>
          </a:p>
          <a:p>
            <a:pPr eaLnBrk="1" hangingPunct="1"/>
            <a:r>
              <a:rPr lang="es-ES" altLang="es-ES_tradnl" sz="1600" dirty="0">
                <a:solidFill>
                  <a:schemeClr val="tx1"/>
                </a:solidFill>
              </a:rPr>
              <a:t>  </a:t>
            </a:r>
            <a:r>
              <a:rPr lang="es-ES" altLang="es-ES_tradnl" sz="1600" dirty="0" err="1">
                <a:solidFill>
                  <a:schemeClr val="tx1"/>
                </a:solidFill>
              </a:rPr>
              <a:t>anio</a:t>
            </a:r>
            <a:r>
              <a:rPr lang="es-ES" altLang="es-ES_tradnl" sz="1600" dirty="0">
                <a:solidFill>
                  <a:schemeClr val="tx1"/>
                </a:solidFill>
              </a:rPr>
              <a:t>: </a:t>
            </a:r>
            <a:r>
              <a:rPr lang="es-ES" altLang="es-ES_tradnl" sz="1600" dirty="0" err="1">
                <a:solidFill>
                  <a:schemeClr val="tx1"/>
                </a:solidFill>
              </a:rPr>
              <a:t>Integer</a:t>
            </a:r>
            <a:endParaRPr lang="es-ES" altLang="es-ES_tradnl" sz="1600" dirty="0">
              <a:solidFill>
                <a:schemeClr val="tx1"/>
              </a:solidFill>
            </a:endParaRPr>
          </a:p>
          <a:p>
            <a:pPr eaLnBrk="1" hangingPunct="1"/>
            <a:r>
              <a:rPr lang="es-ES" altLang="es-ES_tradnl" sz="1600" dirty="0" err="1">
                <a:solidFill>
                  <a:schemeClr val="tx1"/>
                </a:solidFill>
              </a:rPr>
              <a:t>end</a:t>
            </a:r>
            <a:endParaRPr lang="es-ES" altLang="es-ES_tradnl" sz="1600" dirty="0">
              <a:solidFill>
                <a:schemeClr val="tx1"/>
              </a:solidFill>
            </a:endParaRPr>
          </a:p>
          <a:p>
            <a:pPr eaLnBrk="1" hangingPunct="1"/>
            <a:endParaRPr lang="es-ES" altLang="es-ES_tradnl" sz="1600" dirty="0">
              <a:solidFill>
                <a:schemeClr val="tx1"/>
              </a:solidFill>
            </a:endParaRPr>
          </a:p>
          <a:p>
            <a:pPr eaLnBrk="1" hangingPunct="1"/>
            <a:r>
              <a:rPr lang="es-ES" altLang="es-ES_tradnl" sz="1600" dirty="0" err="1">
                <a:solidFill>
                  <a:schemeClr val="tx1"/>
                </a:solidFill>
              </a:rPr>
              <a:t>enum</a:t>
            </a:r>
            <a:r>
              <a:rPr lang="es-ES" altLang="es-ES_tradnl" sz="1600" dirty="0">
                <a:solidFill>
                  <a:schemeClr val="tx1"/>
                </a:solidFill>
              </a:rPr>
              <a:t> </a:t>
            </a:r>
            <a:r>
              <a:rPr lang="es-ES" altLang="es-ES_tradnl" sz="1600" dirty="0" err="1">
                <a:solidFill>
                  <a:schemeClr val="tx1"/>
                </a:solidFill>
              </a:rPr>
              <a:t>TipoDNI</a:t>
            </a:r>
            <a:r>
              <a:rPr lang="es-ES" altLang="es-ES_tradnl" sz="1600" dirty="0">
                <a:solidFill>
                  <a:schemeClr val="tx1"/>
                </a:solidFill>
              </a:rPr>
              <a:t> { DNI, LC, LE}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4424498" y="2862817"/>
            <a:ext cx="1424236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s-ES_tradnl" b="1" dirty="0" smtClean="0">
                <a:solidFill>
                  <a:schemeClr val="bg1"/>
                </a:solidFill>
              </a:rPr>
              <a:t>Enumeración</a:t>
            </a:r>
            <a:endParaRPr lang="es-ES_tradnl" b="1" dirty="0">
              <a:solidFill>
                <a:schemeClr val="bg1"/>
              </a:solidFill>
            </a:endParaRPr>
          </a:p>
        </p:txBody>
      </p:sp>
      <p:cxnSp>
        <p:nvCxnSpPr>
          <p:cNvPr id="10" name="Conector recto 9"/>
          <p:cNvCxnSpPr>
            <a:endCxn id="9" idx="3"/>
          </p:cNvCxnSpPr>
          <p:nvPr/>
        </p:nvCxnSpPr>
        <p:spPr>
          <a:xfrm flipH="1" flipV="1">
            <a:off x="5848734" y="3047483"/>
            <a:ext cx="882637" cy="21477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/>
          <p:cNvCxnSpPr>
            <a:endCxn id="9" idx="2"/>
          </p:cNvCxnSpPr>
          <p:nvPr/>
        </p:nvCxnSpPr>
        <p:spPr>
          <a:xfrm flipH="1" flipV="1">
            <a:off x="5136616" y="3232149"/>
            <a:ext cx="3467832" cy="1060947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>
            <a:endCxn id="9" idx="1"/>
          </p:cNvCxnSpPr>
          <p:nvPr/>
        </p:nvCxnSpPr>
        <p:spPr>
          <a:xfrm flipV="1">
            <a:off x="1547664" y="3047483"/>
            <a:ext cx="2876834" cy="102958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/>
          <p:cNvCxnSpPr>
            <a:endCxn id="9" idx="2"/>
          </p:cNvCxnSpPr>
          <p:nvPr/>
        </p:nvCxnSpPr>
        <p:spPr>
          <a:xfrm flipH="1" flipV="1">
            <a:off x="5136616" y="3232149"/>
            <a:ext cx="875544" cy="134897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71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73BB47-4ABE-144F-9008-84D120DE0E7F}" type="slidenum">
              <a:rPr lang="es-ES" altLang="es-ES_tradnl"/>
              <a:pPr/>
              <a:t>8</a:t>
            </a:fld>
            <a:endParaRPr lang="es-ES" altLang="es-ES_tradnl"/>
          </a:p>
        </p:txBody>
      </p:sp>
      <p:pic>
        <p:nvPicPr>
          <p:cNvPr id="3440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8" t="13841" r="6952" b="38667"/>
          <a:stretch>
            <a:fillRect/>
          </a:stretch>
        </p:blipFill>
        <p:spPr bwMode="auto">
          <a:xfrm>
            <a:off x="822325" y="1916113"/>
            <a:ext cx="7418388" cy="39370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440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Especificación USE - UML</a:t>
            </a:r>
          </a:p>
        </p:txBody>
      </p:sp>
      <p:sp>
        <p:nvSpPr>
          <p:cNvPr id="344068" name="Rectangle 4"/>
          <p:cNvSpPr>
            <a:spLocks noChangeArrowheads="1"/>
          </p:cNvSpPr>
          <p:nvPr/>
        </p:nvSpPr>
        <p:spPr bwMode="auto">
          <a:xfrm>
            <a:off x="5230813" y="2492375"/>
            <a:ext cx="3449637" cy="195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2"/>
              <a:buChar char="q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2"/>
              <a:buChar char="q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2"/>
              <a:buChar char="q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2"/>
              <a:buChar char="q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charset="2"/>
              <a:buChar char="q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charset="2"/>
              <a:buChar char="q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charset="2"/>
              <a:buChar char="q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charset="2"/>
              <a:buChar char="q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/>
              <a:t>associationclass Prestamo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/>
              <a:t>between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/>
              <a:t>  Usuario[0..1] role usuario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/>
              <a:t>  Ejemplar[*] role ejemplar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/>
              <a:t>attributes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/>
              <a:t>  fechaDevolucion: Integer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/>
              <a:t>end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2998453" y="1916113"/>
            <a:ext cx="2111475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s-ES_tradnl" b="1" dirty="0" smtClean="0">
                <a:solidFill>
                  <a:schemeClr val="bg1"/>
                </a:solidFill>
              </a:rPr>
              <a:t>Clase de Asociación</a:t>
            </a:r>
            <a:endParaRPr lang="es-ES_tradnl" b="1" dirty="0">
              <a:solidFill>
                <a:schemeClr val="bg1"/>
              </a:solidFill>
            </a:endParaRPr>
          </a:p>
        </p:txBody>
      </p:sp>
      <p:cxnSp>
        <p:nvCxnSpPr>
          <p:cNvPr id="8" name="Conector recto 7"/>
          <p:cNvCxnSpPr/>
          <p:nvPr/>
        </p:nvCxnSpPr>
        <p:spPr>
          <a:xfrm flipH="1" flipV="1">
            <a:off x="5109928" y="2132856"/>
            <a:ext cx="1124074" cy="35952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/>
          <p:cNvCxnSpPr>
            <a:endCxn id="7" idx="2"/>
          </p:cNvCxnSpPr>
          <p:nvPr/>
        </p:nvCxnSpPr>
        <p:spPr>
          <a:xfrm flipV="1">
            <a:off x="3995936" y="2285445"/>
            <a:ext cx="58255" cy="903844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35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AE80CC-6D79-5F46-9FF3-FD61EF17B1A1}" type="slidenum">
              <a:rPr lang="es-ES" altLang="es-ES_tradnl"/>
              <a:pPr/>
              <a:t>9</a:t>
            </a:fld>
            <a:endParaRPr lang="es-ES" altLang="es-ES_tradnl"/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 dirty="0"/>
              <a:t>Especificación USE - OCL</a:t>
            </a:r>
          </a:p>
        </p:txBody>
      </p:sp>
      <p:sp>
        <p:nvSpPr>
          <p:cNvPr id="346115" name="Rectangle 3"/>
          <p:cNvSpPr>
            <a:spLocks noChangeArrowheads="1"/>
          </p:cNvSpPr>
          <p:nvPr/>
        </p:nvSpPr>
        <p:spPr bwMode="auto">
          <a:xfrm>
            <a:off x="501650" y="1614313"/>
            <a:ext cx="8316913" cy="42573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2"/>
              <a:buChar char="q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2"/>
              <a:buChar char="q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2"/>
              <a:buChar char="q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2"/>
              <a:buChar char="q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charset="2"/>
              <a:buChar char="q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charset="2"/>
              <a:buChar char="q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charset="2"/>
              <a:buChar char="q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charset="2"/>
              <a:buChar char="q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 dirty="0" err="1">
                <a:latin typeface="+mn-lt"/>
              </a:rPr>
              <a:t>constraints</a:t>
            </a:r>
            <a:endParaRPr lang="es-ES" altLang="es-ES_tradnl" sz="1800" dirty="0">
              <a:latin typeface="+mn-lt"/>
            </a:endParaRP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endParaRPr lang="es-ES" altLang="es-ES_tradnl" sz="800" dirty="0">
              <a:latin typeface="+mn-lt"/>
            </a:endParaRP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 dirty="0" err="1">
                <a:latin typeface="+mn-lt"/>
              </a:rPr>
              <a:t>context</a:t>
            </a:r>
            <a:r>
              <a:rPr lang="es-ES" altLang="es-ES_tradnl" sz="1800" dirty="0">
                <a:latin typeface="+mn-lt"/>
              </a:rPr>
              <a:t> Socio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 dirty="0" err="1">
                <a:latin typeface="+mn-lt"/>
              </a:rPr>
              <a:t>inv</a:t>
            </a:r>
            <a:r>
              <a:rPr lang="es-ES" altLang="es-ES_tradnl" sz="1800" dirty="0">
                <a:latin typeface="+mn-lt"/>
              </a:rPr>
              <a:t> </a:t>
            </a:r>
            <a:r>
              <a:rPr lang="es-ES" altLang="es-ES_tradnl" sz="1800" dirty="0" err="1">
                <a:latin typeface="+mn-lt"/>
              </a:rPr>
              <a:t>dniValido</a:t>
            </a:r>
            <a:r>
              <a:rPr lang="es-ES" altLang="es-ES_tradnl" sz="1800" dirty="0">
                <a:latin typeface="+mn-lt"/>
              </a:rPr>
              <a:t>: </a:t>
            </a:r>
            <a:r>
              <a:rPr lang="es-ES" altLang="es-ES_tradnl" sz="1800" dirty="0" err="1">
                <a:latin typeface="+mn-lt"/>
              </a:rPr>
              <a:t>dni</a:t>
            </a:r>
            <a:r>
              <a:rPr lang="es-ES" altLang="es-ES_tradnl" sz="1800" dirty="0">
                <a:latin typeface="+mn-lt"/>
              </a:rPr>
              <a:t> &gt; 0 and </a:t>
            </a:r>
            <a:r>
              <a:rPr lang="es-ES" altLang="es-ES_tradnl" sz="1800" dirty="0" err="1">
                <a:latin typeface="+mn-lt"/>
              </a:rPr>
              <a:t>dni</a:t>
            </a:r>
            <a:r>
              <a:rPr lang="es-ES" altLang="es-ES_tradnl" sz="1800" dirty="0">
                <a:latin typeface="+mn-lt"/>
              </a:rPr>
              <a:t> &lt; 99999999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endParaRPr lang="es-ES" altLang="es-ES_tradnl" sz="800" dirty="0">
              <a:latin typeface="+mn-lt"/>
            </a:endParaRP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 dirty="0" err="1">
                <a:latin typeface="+mn-lt"/>
              </a:rPr>
              <a:t>context</a:t>
            </a:r>
            <a:r>
              <a:rPr lang="es-ES" altLang="es-ES_tradnl" sz="1800" dirty="0">
                <a:latin typeface="+mn-lt"/>
              </a:rPr>
              <a:t> Ejemplar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 dirty="0" err="1">
                <a:latin typeface="+mn-lt"/>
              </a:rPr>
              <a:t>inv</a:t>
            </a:r>
            <a:r>
              <a:rPr lang="es-ES" altLang="es-ES_tradnl" sz="1800" dirty="0">
                <a:latin typeface="+mn-lt"/>
              </a:rPr>
              <a:t> </a:t>
            </a:r>
            <a:r>
              <a:rPr lang="es-ES" altLang="es-ES_tradnl" sz="1800" dirty="0" err="1">
                <a:latin typeface="+mn-lt"/>
              </a:rPr>
              <a:t>idUnico</a:t>
            </a:r>
            <a:r>
              <a:rPr lang="es-ES" altLang="es-ES_tradnl" sz="1800" dirty="0">
                <a:latin typeface="+mn-lt"/>
              </a:rPr>
              <a:t>: 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 dirty="0">
                <a:latin typeface="+mn-lt"/>
              </a:rPr>
              <a:t>       </a:t>
            </a:r>
            <a:r>
              <a:rPr lang="es-ES" altLang="es-ES_tradnl" sz="1800" dirty="0" err="1">
                <a:latin typeface="+mn-lt"/>
              </a:rPr>
              <a:t>Ejemplar.allInstances</a:t>
            </a:r>
            <a:r>
              <a:rPr lang="es-ES" altLang="es-ES_tradnl" sz="1800" dirty="0">
                <a:latin typeface="+mn-lt"/>
              </a:rPr>
              <a:t>-&gt;</a:t>
            </a:r>
            <a:r>
              <a:rPr lang="es-ES" altLang="es-ES_tradnl" sz="1800" dirty="0" err="1">
                <a:latin typeface="+mn-lt"/>
              </a:rPr>
              <a:t>forAll</a:t>
            </a:r>
            <a:r>
              <a:rPr lang="es-ES" altLang="es-ES_tradnl" sz="1800" dirty="0">
                <a:latin typeface="+mn-lt"/>
              </a:rPr>
              <a:t>(e1, e2| e1 &lt;&gt; e2 </a:t>
            </a:r>
            <a:r>
              <a:rPr lang="es-ES" altLang="es-ES_tradnl" sz="1800" dirty="0" err="1">
                <a:latin typeface="+mn-lt"/>
              </a:rPr>
              <a:t>implies</a:t>
            </a:r>
            <a:r>
              <a:rPr lang="es-ES" altLang="es-ES_tradnl" sz="1800" dirty="0">
                <a:latin typeface="+mn-lt"/>
              </a:rPr>
              <a:t> e1.id &lt;&gt; e2.id)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endParaRPr lang="es-ES" altLang="es-ES_tradnl" sz="800" dirty="0">
              <a:latin typeface="+mn-lt"/>
            </a:endParaRP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 dirty="0" err="1">
                <a:latin typeface="+mn-lt"/>
              </a:rPr>
              <a:t>context</a:t>
            </a:r>
            <a:r>
              <a:rPr lang="es-ES" altLang="es-ES_tradnl" sz="1800" dirty="0">
                <a:latin typeface="+mn-lt"/>
              </a:rPr>
              <a:t> </a:t>
            </a:r>
            <a:r>
              <a:rPr lang="es-ES" altLang="es-ES_tradnl" sz="1800" dirty="0" err="1">
                <a:latin typeface="+mn-lt"/>
              </a:rPr>
              <a:t>Publicacion</a:t>
            </a:r>
            <a:endParaRPr lang="es-ES" altLang="es-ES_tradnl" sz="1800" dirty="0">
              <a:latin typeface="+mn-lt"/>
            </a:endParaRP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 dirty="0" err="1">
                <a:latin typeface="+mn-lt"/>
              </a:rPr>
              <a:t>inv</a:t>
            </a:r>
            <a:r>
              <a:rPr lang="es-ES" altLang="es-ES_tradnl" sz="1800" dirty="0">
                <a:latin typeface="+mn-lt"/>
              </a:rPr>
              <a:t> </a:t>
            </a:r>
            <a:r>
              <a:rPr lang="es-ES" altLang="es-ES_tradnl" sz="1800" dirty="0" err="1">
                <a:latin typeface="+mn-lt"/>
              </a:rPr>
              <a:t>tituloNoNulo</a:t>
            </a:r>
            <a:r>
              <a:rPr lang="es-ES" altLang="es-ES_tradnl" sz="1800" dirty="0">
                <a:latin typeface="+mn-lt"/>
              </a:rPr>
              <a:t>: </a:t>
            </a:r>
            <a:r>
              <a:rPr lang="es-ES" altLang="es-ES_tradnl" sz="1800" dirty="0" err="1">
                <a:latin typeface="+mn-lt"/>
              </a:rPr>
              <a:t>self.titulo.size</a:t>
            </a:r>
            <a:r>
              <a:rPr lang="es-ES" altLang="es-ES_tradnl" sz="1800" dirty="0">
                <a:latin typeface="+mn-lt"/>
              </a:rPr>
              <a:t>() &gt; 0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endParaRPr lang="es-ES" altLang="es-ES_tradnl" sz="800" dirty="0">
              <a:latin typeface="+mn-lt"/>
            </a:endParaRP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 dirty="0" err="1">
                <a:latin typeface="+mn-lt"/>
              </a:rPr>
              <a:t>context</a:t>
            </a:r>
            <a:r>
              <a:rPr lang="es-ES" altLang="es-ES_tradnl" sz="1800" dirty="0">
                <a:latin typeface="+mn-lt"/>
              </a:rPr>
              <a:t> Libro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 dirty="0" err="1">
                <a:latin typeface="+mn-lt"/>
              </a:rPr>
              <a:t>inv</a:t>
            </a:r>
            <a:r>
              <a:rPr lang="es-ES" altLang="es-ES_tradnl" sz="1800" dirty="0">
                <a:latin typeface="+mn-lt"/>
              </a:rPr>
              <a:t> </a:t>
            </a:r>
            <a:r>
              <a:rPr lang="es-ES" altLang="es-ES_tradnl" sz="1800" dirty="0" err="1">
                <a:latin typeface="+mn-lt"/>
              </a:rPr>
              <a:t>ISBNNoNulo</a:t>
            </a:r>
            <a:r>
              <a:rPr lang="es-ES" altLang="es-ES_tradnl" sz="1800" dirty="0">
                <a:latin typeface="+mn-lt"/>
              </a:rPr>
              <a:t>: </a:t>
            </a:r>
            <a:r>
              <a:rPr lang="es-ES" altLang="es-ES_tradnl" sz="1800" dirty="0" err="1">
                <a:latin typeface="+mn-lt"/>
              </a:rPr>
              <a:t>self.ISBN</a:t>
            </a:r>
            <a:r>
              <a:rPr lang="es-ES" altLang="es-ES_tradnl" sz="1800" dirty="0">
                <a:latin typeface="+mn-lt"/>
              </a:rPr>
              <a:t> &gt; 0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 dirty="0" err="1">
                <a:latin typeface="+mn-lt"/>
              </a:rPr>
              <a:t>inv</a:t>
            </a:r>
            <a:r>
              <a:rPr lang="es-ES" altLang="es-ES_tradnl" sz="1800" dirty="0">
                <a:latin typeface="+mn-lt"/>
              </a:rPr>
              <a:t> </a:t>
            </a:r>
            <a:r>
              <a:rPr lang="es-ES" altLang="es-ES_tradnl" sz="1800" dirty="0" err="1">
                <a:latin typeface="+mn-lt"/>
              </a:rPr>
              <a:t>ISBNUnico</a:t>
            </a:r>
            <a:r>
              <a:rPr lang="es-ES" altLang="es-ES_tradnl" sz="1800" dirty="0">
                <a:latin typeface="+mn-lt"/>
              </a:rPr>
              <a:t>: </a:t>
            </a:r>
            <a:r>
              <a:rPr lang="es-ES" altLang="es-ES_tradnl" sz="1800" dirty="0" err="1">
                <a:latin typeface="+mn-lt"/>
              </a:rPr>
              <a:t>Libro.allInstances</a:t>
            </a:r>
            <a:r>
              <a:rPr lang="es-ES" altLang="es-ES_tradnl" sz="1800" dirty="0">
                <a:latin typeface="+mn-lt"/>
              </a:rPr>
              <a:t>-&gt;</a:t>
            </a:r>
            <a:r>
              <a:rPr lang="es-ES" altLang="es-ES_tradnl" sz="1800" dirty="0" err="1">
                <a:latin typeface="+mn-lt"/>
              </a:rPr>
              <a:t>forAll</a:t>
            </a:r>
            <a:r>
              <a:rPr lang="es-ES" altLang="es-ES_tradnl" sz="1800" dirty="0">
                <a:latin typeface="+mn-lt"/>
              </a:rPr>
              <a:t>(l1, l2| l1 &lt;&gt; l2 </a:t>
            </a:r>
            <a:r>
              <a:rPr lang="es-ES" altLang="es-ES_tradnl" sz="1800" dirty="0" err="1">
                <a:latin typeface="+mn-lt"/>
              </a:rPr>
              <a:t>implies</a:t>
            </a:r>
            <a:r>
              <a:rPr lang="es-ES" altLang="es-ES_tradnl" sz="1800" dirty="0">
                <a:latin typeface="+mn-lt"/>
              </a:rPr>
              <a:t> l1.ISBN &lt;&gt; l2.ISBN)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endParaRPr lang="es-ES" altLang="es-ES_tradnl" sz="800" dirty="0">
              <a:latin typeface="+mn-lt"/>
            </a:endParaRP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 dirty="0" err="1">
                <a:latin typeface="+mn-lt"/>
              </a:rPr>
              <a:t>context</a:t>
            </a:r>
            <a:r>
              <a:rPr lang="es-ES" altLang="es-ES_tradnl" sz="1800" dirty="0">
                <a:latin typeface="+mn-lt"/>
              </a:rPr>
              <a:t> Usuario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s-ES" altLang="es-ES_tradnl" sz="1800" dirty="0" err="1">
                <a:latin typeface="+mn-lt"/>
              </a:rPr>
              <a:t>inv</a:t>
            </a:r>
            <a:r>
              <a:rPr lang="es-ES" altLang="es-ES_tradnl" sz="1800" dirty="0">
                <a:latin typeface="+mn-lt"/>
              </a:rPr>
              <a:t> </a:t>
            </a:r>
            <a:r>
              <a:rPr lang="es-ES" altLang="es-ES_tradnl" sz="1800" dirty="0" err="1">
                <a:latin typeface="+mn-lt"/>
              </a:rPr>
              <a:t>nombreNoNulo</a:t>
            </a:r>
            <a:r>
              <a:rPr lang="es-ES" altLang="es-ES_tradnl" sz="1800" dirty="0">
                <a:latin typeface="+mn-lt"/>
              </a:rPr>
              <a:t>: </a:t>
            </a:r>
            <a:r>
              <a:rPr lang="es-ES" altLang="es-ES_tradnl" sz="1800" dirty="0" err="1">
                <a:latin typeface="+mn-lt"/>
              </a:rPr>
              <a:t>nombre.size</a:t>
            </a:r>
            <a:r>
              <a:rPr lang="es-ES" altLang="es-ES_tradnl" sz="1800" dirty="0">
                <a:latin typeface="+mn-lt"/>
              </a:rPr>
              <a:t>() &gt; 0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5220072" y="2204864"/>
            <a:ext cx="11524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s-ES_tradnl" b="1" dirty="0" smtClean="0">
                <a:solidFill>
                  <a:schemeClr val="bg1"/>
                </a:solidFill>
              </a:rPr>
              <a:t>Invariante</a:t>
            </a:r>
            <a:endParaRPr lang="es-ES_tradnl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70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76D18-E1AD-E040-AE1A-077886F6C436}" type="slidenum">
              <a:rPr lang="es-ES" altLang="es-ES_tradnl"/>
              <a:pPr/>
              <a:t>10</a:t>
            </a:fld>
            <a:endParaRPr lang="es-ES" altLang="es-ES_tradnl"/>
          </a:p>
        </p:txBody>
      </p:sp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Especificación USE - OCL</a:t>
            </a:r>
          </a:p>
        </p:txBody>
      </p:sp>
      <p:sp>
        <p:nvSpPr>
          <p:cNvPr id="348163" name="Text Box 3"/>
          <p:cNvSpPr txBox="1">
            <a:spLocks noChangeArrowheads="1"/>
          </p:cNvSpPr>
          <p:nvPr/>
        </p:nvSpPr>
        <p:spPr bwMode="auto">
          <a:xfrm>
            <a:off x="498475" y="1561802"/>
            <a:ext cx="8270875" cy="39703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s-ES" altLang="es-ES_tradnl" sz="1800" dirty="0" err="1">
                <a:solidFill>
                  <a:schemeClr val="tx1"/>
                </a:solidFill>
              </a:rPr>
              <a:t>context</a:t>
            </a:r>
            <a:r>
              <a:rPr lang="es-ES" altLang="es-ES_tradnl" sz="1800" dirty="0">
                <a:solidFill>
                  <a:schemeClr val="tx1"/>
                </a:solidFill>
              </a:rPr>
              <a:t> Usuario::</a:t>
            </a:r>
            <a:r>
              <a:rPr lang="es-ES" altLang="es-ES_tradnl" sz="1800" dirty="0" err="1">
                <a:solidFill>
                  <a:schemeClr val="tx1"/>
                </a:solidFill>
              </a:rPr>
              <a:t>obtPlazoPrestamo</a:t>
            </a:r>
            <a:r>
              <a:rPr lang="es-ES" altLang="es-ES_tradnl" sz="1800" dirty="0">
                <a:solidFill>
                  <a:schemeClr val="tx1"/>
                </a:solidFill>
              </a:rPr>
              <a:t>(e: Ejemplar) : </a:t>
            </a:r>
            <a:r>
              <a:rPr lang="es-ES" altLang="es-ES_tradnl" sz="1800" dirty="0" err="1">
                <a:solidFill>
                  <a:schemeClr val="tx1"/>
                </a:solidFill>
              </a:rPr>
              <a:t>Integer</a:t>
            </a:r>
            <a:endParaRPr lang="es-ES" altLang="es-ES_tradnl" sz="1800" dirty="0">
              <a:solidFill>
                <a:schemeClr val="tx1"/>
              </a:solidFill>
            </a:endParaRPr>
          </a:p>
          <a:p>
            <a:pPr eaLnBrk="1" hangingPunct="1"/>
            <a:r>
              <a:rPr lang="es-ES" altLang="es-ES_tradnl" sz="1800" dirty="0">
                <a:solidFill>
                  <a:schemeClr val="tx1"/>
                </a:solidFill>
              </a:rPr>
              <a:t>pre </a:t>
            </a:r>
            <a:r>
              <a:rPr lang="es-ES" altLang="es-ES_tradnl" sz="1800" dirty="0" err="1">
                <a:solidFill>
                  <a:schemeClr val="tx1"/>
                </a:solidFill>
              </a:rPr>
              <a:t>existEjemplar</a:t>
            </a:r>
            <a:r>
              <a:rPr lang="es-ES" altLang="es-ES_tradnl" sz="1800" dirty="0">
                <a:solidFill>
                  <a:schemeClr val="tx1"/>
                </a:solidFill>
              </a:rPr>
              <a:t>: </a:t>
            </a:r>
            <a:r>
              <a:rPr lang="es-ES" altLang="es-ES_tradnl" sz="1800" dirty="0" err="1">
                <a:solidFill>
                  <a:schemeClr val="tx1"/>
                </a:solidFill>
              </a:rPr>
              <a:t>e.prestamo</a:t>
            </a:r>
            <a:r>
              <a:rPr lang="es-ES" altLang="es-ES_tradnl" sz="1800" dirty="0">
                <a:solidFill>
                  <a:schemeClr val="tx1"/>
                </a:solidFill>
              </a:rPr>
              <a:t>-&gt;</a:t>
            </a:r>
            <a:r>
              <a:rPr lang="es-ES" altLang="es-ES_tradnl" sz="1800" dirty="0" err="1">
                <a:solidFill>
                  <a:schemeClr val="tx1"/>
                </a:solidFill>
              </a:rPr>
              <a:t>size</a:t>
            </a:r>
            <a:r>
              <a:rPr lang="es-ES" altLang="es-ES_tradnl" sz="1800" dirty="0">
                <a:solidFill>
                  <a:schemeClr val="tx1"/>
                </a:solidFill>
              </a:rPr>
              <a:t>() = 0 </a:t>
            </a:r>
          </a:p>
          <a:p>
            <a:pPr eaLnBrk="1" hangingPunct="1"/>
            <a:endParaRPr lang="es-ES" altLang="es-ES_tradnl" sz="1800" dirty="0">
              <a:solidFill>
                <a:schemeClr val="tx1"/>
              </a:solidFill>
            </a:endParaRPr>
          </a:p>
          <a:p>
            <a:pPr eaLnBrk="1" hangingPunct="1"/>
            <a:r>
              <a:rPr lang="es-ES" altLang="es-ES_tradnl" sz="1800" dirty="0" err="1">
                <a:solidFill>
                  <a:schemeClr val="tx1"/>
                </a:solidFill>
              </a:rPr>
              <a:t>context</a:t>
            </a:r>
            <a:r>
              <a:rPr lang="es-ES" altLang="es-ES_tradnl" sz="1800" dirty="0">
                <a:solidFill>
                  <a:schemeClr val="tx1"/>
                </a:solidFill>
              </a:rPr>
              <a:t> Socio::</a:t>
            </a:r>
            <a:r>
              <a:rPr lang="es-ES" altLang="es-ES_tradnl" sz="1800" dirty="0" err="1">
                <a:solidFill>
                  <a:schemeClr val="tx1"/>
                </a:solidFill>
              </a:rPr>
              <a:t>obtPlazoPrestamo</a:t>
            </a:r>
            <a:r>
              <a:rPr lang="es-ES" altLang="es-ES_tradnl" sz="1800" dirty="0">
                <a:solidFill>
                  <a:schemeClr val="tx1"/>
                </a:solidFill>
              </a:rPr>
              <a:t>(e: Ejemplar) : </a:t>
            </a:r>
            <a:r>
              <a:rPr lang="es-ES" altLang="es-ES_tradnl" sz="1800" dirty="0" err="1">
                <a:solidFill>
                  <a:schemeClr val="tx1"/>
                </a:solidFill>
              </a:rPr>
              <a:t>Integer</a:t>
            </a:r>
            <a:endParaRPr lang="es-ES" altLang="es-ES_tradnl" sz="1800" dirty="0">
              <a:solidFill>
                <a:schemeClr val="tx1"/>
              </a:solidFill>
            </a:endParaRPr>
          </a:p>
          <a:p>
            <a:pPr eaLnBrk="1" hangingPunct="1"/>
            <a:r>
              <a:rPr lang="es-ES" altLang="es-ES_tradnl" sz="1800" dirty="0">
                <a:solidFill>
                  <a:schemeClr val="tx1"/>
                </a:solidFill>
              </a:rPr>
              <a:t>pre cuota: </a:t>
            </a:r>
            <a:r>
              <a:rPr lang="es-ES" altLang="es-ES_tradnl" sz="1800" dirty="0" err="1">
                <a:solidFill>
                  <a:schemeClr val="tx1"/>
                </a:solidFill>
              </a:rPr>
              <a:t>self.cuotaAlDia</a:t>
            </a:r>
            <a:r>
              <a:rPr lang="es-ES" altLang="es-ES_tradnl" sz="1800" dirty="0">
                <a:solidFill>
                  <a:schemeClr val="tx1"/>
                </a:solidFill>
              </a:rPr>
              <a:t> </a:t>
            </a:r>
          </a:p>
          <a:p>
            <a:pPr eaLnBrk="1" hangingPunct="1"/>
            <a:r>
              <a:rPr lang="es-ES" altLang="es-ES_tradnl" sz="1800" dirty="0">
                <a:solidFill>
                  <a:schemeClr val="tx1"/>
                </a:solidFill>
              </a:rPr>
              <a:t>pre </a:t>
            </a:r>
            <a:r>
              <a:rPr lang="es-ES" altLang="es-ES_tradnl" sz="1800" dirty="0" err="1">
                <a:solidFill>
                  <a:schemeClr val="tx1"/>
                </a:solidFill>
              </a:rPr>
              <a:t>existEjemplar</a:t>
            </a:r>
            <a:r>
              <a:rPr lang="es-ES" altLang="es-ES_tradnl" sz="1800" dirty="0">
                <a:solidFill>
                  <a:schemeClr val="tx1"/>
                </a:solidFill>
              </a:rPr>
              <a:t>: </a:t>
            </a:r>
            <a:r>
              <a:rPr lang="es-ES" altLang="es-ES_tradnl" sz="1800" dirty="0" err="1" smtClean="0">
                <a:solidFill>
                  <a:schemeClr val="tx1"/>
                </a:solidFill>
              </a:rPr>
              <a:t>e.prestamo</a:t>
            </a:r>
            <a:r>
              <a:rPr lang="es-ES" altLang="es-ES_tradnl" sz="1800" dirty="0" smtClean="0">
                <a:solidFill>
                  <a:schemeClr val="tx1"/>
                </a:solidFill>
              </a:rPr>
              <a:t>-</a:t>
            </a:r>
            <a:r>
              <a:rPr lang="es-ES" altLang="es-ES_tradnl" sz="1800" dirty="0">
                <a:solidFill>
                  <a:schemeClr val="tx1"/>
                </a:solidFill>
              </a:rPr>
              <a:t>&gt;</a:t>
            </a:r>
            <a:r>
              <a:rPr lang="es-ES" altLang="es-ES_tradnl" sz="1800" dirty="0" err="1">
                <a:solidFill>
                  <a:schemeClr val="tx1"/>
                </a:solidFill>
              </a:rPr>
              <a:t>size</a:t>
            </a:r>
            <a:r>
              <a:rPr lang="es-ES" altLang="es-ES_tradnl" sz="1800" dirty="0">
                <a:solidFill>
                  <a:schemeClr val="tx1"/>
                </a:solidFill>
              </a:rPr>
              <a:t>() = </a:t>
            </a:r>
            <a:r>
              <a:rPr lang="es-ES" altLang="es-ES_tradnl" sz="1800" dirty="0" smtClean="0">
                <a:solidFill>
                  <a:schemeClr val="tx1"/>
                </a:solidFill>
              </a:rPr>
              <a:t>0</a:t>
            </a:r>
          </a:p>
          <a:p>
            <a:pPr eaLnBrk="1" hangingPunct="1"/>
            <a:endParaRPr lang="es-ES" altLang="es-ES_tradnl" sz="1800" dirty="0">
              <a:solidFill>
                <a:schemeClr val="tx1"/>
              </a:solidFill>
            </a:endParaRPr>
          </a:p>
          <a:p>
            <a:pPr eaLnBrk="1" hangingPunct="1"/>
            <a:r>
              <a:rPr lang="es-ES" altLang="es-ES_tradnl" sz="1800" dirty="0" err="1" smtClean="0">
                <a:solidFill>
                  <a:schemeClr val="tx1"/>
                </a:solidFill>
              </a:rPr>
              <a:t>context</a:t>
            </a:r>
            <a:r>
              <a:rPr lang="es-ES" altLang="es-ES_tradnl" sz="1800" dirty="0" smtClean="0">
                <a:solidFill>
                  <a:schemeClr val="tx1"/>
                </a:solidFill>
              </a:rPr>
              <a:t> </a:t>
            </a:r>
            <a:r>
              <a:rPr lang="es-ES" altLang="es-ES_tradnl" sz="1800" dirty="0">
                <a:solidFill>
                  <a:schemeClr val="tx1"/>
                </a:solidFill>
              </a:rPr>
              <a:t>Usuario::prestar(p: </a:t>
            </a:r>
            <a:r>
              <a:rPr lang="es-ES" altLang="es-ES_tradnl" sz="1800" dirty="0" err="1">
                <a:solidFill>
                  <a:schemeClr val="tx1"/>
                </a:solidFill>
              </a:rPr>
              <a:t>Publicacion</a:t>
            </a:r>
            <a:r>
              <a:rPr lang="es-ES" altLang="es-ES_tradnl" sz="1800" dirty="0">
                <a:solidFill>
                  <a:schemeClr val="tx1"/>
                </a:solidFill>
              </a:rPr>
              <a:t>, </a:t>
            </a:r>
            <a:r>
              <a:rPr lang="es-ES" altLang="es-ES_tradnl" sz="1800" dirty="0" err="1">
                <a:solidFill>
                  <a:schemeClr val="tx1"/>
                </a:solidFill>
              </a:rPr>
              <a:t>fechaActual:Integer</a:t>
            </a:r>
            <a:r>
              <a:rPr lang="es-ES" altLang="es-ES_tradnl" sz="1800" dirty="0">
                <a:solidFill>
                  <a:schemeClr val="tx1"/>
                </a:solidFill>
              </a:rPr>
              <a:t>): </a:t>
            </a:r>
            <a:r>
              <a:rPr lang="es-ES" altLang="es-ES_tradnl" sz="1800" dirty="0" err="1">
                <a:solidFill>
                  <a:schemeClr val="tx1"/>
                </a:solidFill>
              </a:rPr>
              <a:t>Prestamo</a:t>
            </a:r>
            <a:endParaRPr lang="es-ES" altLang="es-ES_tradnl" sz="1800" dirty="0">
              <a:solidFill>
                <a:schemeClr val="tx1"/>
              </a:solidFill>
            </a:endParaRPr>
          </a:p>
          <a:p>
            <a:pPr eaLnBrk="1" hangingPunct="1"/>
            <a:r>
              <a:rPr lang="es-ES" altLang="es-ES_tradnl" sz="1800" dirty="0">
                <a:solidFill>
                  <a:schemeClr val="tx1"/>
                </a:solidFill>
              </a:rPr>
              <a:t>pre: </a:t>
            </a:r>
            <a:r>
              <a:rPr lang="es-ES" altLang="es-ES_tradnl" sz="1800" dirty="0" err="1">
                <a:solidFill>
                  <a:schemeClr val="tx1"/>
                </a:solidFill>
              </a:rPr>
              <a:t>p.ejemplar</a:t>
            </a:r>
            <a:r>
              <a:rPr lang="es-ES" altLang="es-ES_tradnl" sz="1800" dirty="0">
                <a:solidFill>
                  <a:schemeClr val="tx1"/>
                </a:solidFill>
              </a:rPr>
              <a:t>-&gt;</a:t>
            </a:r>
            <a:r>
              <a:rPr lang="es-ES" altLang="es-ES_tradnl" sz="1800" dirty="0" err="1">
                <a:solidFill>
                  <a:schemeClr val="tx1"/>
                </a:solidFill>
              </a:rPr>
              <a:t>exists</a:t>
            </a:r>
            <a:r>
              <a:rPr lang="es-ES" altLang="es-ES_tradnl" sz="1800" dirty="0">
                <a:solidFill>
                  <a:schemeClr val="tx1"/>
                </a:solidFill>
              </a:rPr>
              <a:t>(e| </a:t>
            </a:r>
            <a:r>
              <a:rPr lang="es-ES" altLang="es-ES_tradnl" sz="1800" dirty="0" err="1">
                <a:solidFill>
                  <a:schemeClr val="tx1"/>
                </a:solidFill>
              </a:rPr>
              <a:t>e.prestamo</a:t>
            </a:r>
            <a:r>
              <a:rPr lang="es-ES" altLang="es-ES_tradnl" sz="1800" dirty="0">
                <a:solidFill>
                  <a:schemeClr val="tx1"/>
                </a:solidFill>
              </a:rPr>
              <a:t>-&gt;</a:t>
            </a:r>
            <a:r>
              <a:rPr lang="es-ES" altLang="es-ES_tradnl" sz="1800" dirty="0" err="1">
                <a:solidFill>
                  <a:schemeClr val="tx1"/>
                </a:solidFill>
              </a:rPr>
              <a:t>size</a:t>
            </a:r>
            <a:r>
              <a:rPr lang="es-ES" altLang="es-ES_tradnl" sz="1800" dirty="0">
                <a:solidFill>
                  <a:schemeClr val="tx1"/>
                </a:solidFill>
              </a:rPr>
              <a:t>() = 0 </a:t>
            </a:r>
            <a:r>
              <a:rPr lang="es-ES" altLang="es-ES_tradnl" sz="1800" dirty="0" smtClean="0">
                <a:solidFill>
                  <a:schemeClr val="tx1"/>
                </a:solidFill>
              </a:rPr>
              <a:t> </a:t>
            </a:r>
            <a:endParaRPr lang="es-ES" altLang="es-ES_tradnl" sz="1800" dirty="0">
              <a:solidFill>
                <a:schemeClr val="tx1"/>
              </a:solidFill>
            </a:endParaRPr>
          </a:p>
          <a:p>
            <a:pPr eaLnBrk="1" hangingPunct="1"/>
            <a:r>
              <a:rPr lang="es-ES" altLang="es-ES_tradnl" sz="1800" dirty="0">
                <a:solidFill>
                  <a:schemeClr val="tx1"/>
                </a:solidFill>
              </a:rPr>
              <a:t>                                     and </a:t>
            </a:r>
            <a:r>
              <a:rPr lang="es-ES" altLang="es-ES_tradnl" sz="1800" dirty="0" err="1">
                <a:solidFill>
                  <a:schemeClr val="tx1"/>
                </a:solidFill>
              </a:rPr>
              <a:t>self.obtPlazoPrestamo</a:t>
            </a:r>
            <a:r>
              <a:rPr lang="es-ES" altLang="es-ES_tradnl" sz="1800" dirty="0">
                <a:solidFill>
                  <a:schemeClr val="tx1"/>
                </a:solidFill>
              </a:rPr>
              <a:t>(e)&gt;0)</a:t>
            </a:r>
          </a:p>
          <a:p>
            <a:pPr eaLnBrk="1" hangingPunct="1"/>
            <a:r>
              <a:rPr lang="es-ES" altLang="es-ES_tradnl" sz="1800" dirty="0">
                <a:solidFill>
                  <a:schemeClr val="tx1"/>
                </a:solidFill>
              </a:rPr>
              <a:t>post: </a:t>
            </a:r>
            <a:r>
              <a:rPr lang="es-ES" altLang="es-ES_tradnl" sz="1800" dirty="0" err="1">
                <a:solidFill>
                  <a:schemeClr val="tx1"/>
                </a:solidFill>
              </a:rPr>
              <a:t>result.oclIsNew</a:t>
            </a:r>
            <a:r>
              <a:rPr lang="es-ES" altLang="es-ES_tradnl" sz="1800" dirty="0">
                <a:solidFill>
                  <a:schemeClr val="tx1"/>
                </a:solidFill>
              </a:rPr>
              <a:t>() and </a:t>
            </a:r>
            <a:r>
              <a:rPr lang="es-ES" altLang="es-ES_tradnl" sz="1800" dirty="0" err="1">
                <a:solidFill>
                  <a:schemeClr val="tx1"/>
                </a:solidFill>
              </a:rPr>
              <a:t>result.usuario</a:t>
            </a:r>
            <a:r>
              <a:rPr lang="es-ES" altLang="es-ES_tradnl" sz="1800" dirty="0">
                <a:solidFill>
                  <a:schemeClr val="tx1"/>
                </a:solidFill>
              </a:rPr>
              <a:t> = </a:t>
            </a:r>
            <a:r>
              <a:rPr lang="es-ES" altLang="es-ES_tradnl" sz="1800" dirty="0" err="1">
                <a:solidFill>
                  <a:schemeClr val="tx1"/>
                </a:solidFill>
              </a:rPr>
              <a:t>self</a:t>
            </a:r>
            <a:r>
              <a:rPr lang="es-ES" altLang="es-ES_tradnl" sz="1800" dirty="0">
                <a:solidFill>
                  <a:schemeClr val="tx1"/>
                </a:solidFill>
              </a:rPr>
              <a:t> and</a:t>
            </a:r>
          </a:p>
          <a:p>
            <a:pPr eaLnBrk="1" hangingPunct="1"/>
            <a:r>
              <a:rPr lang="es-ES" altLang="es-ES_tradnl" sz="1800" dirty="0">
                <a:solidFill>
                  <a:schemeClr val="tx1"/>
                </a:solidFill>
              </a:rPr>
              <a:t>         </a:t>
            </a:r>
            <a:r>
              <a:rPr lang="es-ES" altLang="es-ES_tradnl" sz="1800" dirty="0" err="1">
                <a:solidFill>
                  <a:schemeClr val="tx1"/>
                </a:solidFill>
              </a:rPr>
              <a:t>result.ejemplar.prestamo@pre</a:t>
            </a:r>
            <a:r>
              <a:rPr lang="es-ES" altLang="es-ES_tradnl" sz="1800" dirty="0">
                <a:solidFill>
                  <a:schemeClr val="tx1"/>
                </a:solidFill>
              </a:rPr>
              <a:t>-&gt;</a:t>
            </a:r>
            <a:r>
              <a:rPr lang="es-ES" altLang="es-ES_tradnl" sz="1800" dirty="0" err="1">
                <a:solidFill>
                  <a:schemeClr val="tx1"/>
                </a:solidFill>
              </a:rPr>
              <a:t>size</a:t>
            </a:r>
            <a:r>
              <a:rPr lang="es-ES" altLang="es-ES_tradnl" sz="1800" dirty="0">
                <a:solidFill>
                  <a:schemeClr val="tx1"/>
                </a:solidFill>
              </a:rPr>
              <a:t>()=0 </a:t>
            </a:r>
          </a:p>
          <a:p>
            <a:pPr eaLnBrk="1" hangingPunct="1"/>
            <a:r>
              <a:rPr lang="es-ES" altLang="es-ES_tradnl" sz="1800" dirty="0">
                <a:solidFill>
                  <a:schemeClr val="tx1"/>
                </a:solidFill>
              </a:rPr>
              <a:t>         and </a:t>
            </a:r>
            <a:r>
              <a:rPr lang="es-ES" altLang="es-ES_tradnl" sz="1800" dirty="0" err="1">
                <a:solidFill>
                  <a:schemeClr val="tx1"/>
                </a:solidFill>
              </a:rPr>
              <a:t>result.fechaDevolucion</a:t>
            </a:r>
            <a:r>
              <a:rPr lang="es-ES" altLang="es-ES_tradnl" sz="1800" dirty="0">
                <a:solidFill>
                  <a:schemeClr val="tx1"/>
                </a:solidFill>
              </a:rPr>
              <a:t> = </a:t>
            </a:r>
            <a:r>
              <a:rPr lang="es-ES" altLang="es-ES_tradnl" sz="1800" dirty="0" err="1">
                <a:solidFill>
                  <a:schemeClr val="tx1"/>
                </a:solidFill>
              </a:rPr>
              <a:t>fechaActual</a:t>
            </a:r>
            <a:r>
              <a:rPr lang="es-ES" altLang="es-ES_tradnl" sz="1800" dirty="0">
                <a:solidFill>
                  <a:schemeClr val="tx1"/>
                </a:solidFill>
              </a:rPr>
              <a:t> +           				</a:t>
            </a:r>
            <a:r>
              <a:rPr lang="es-ES" altLang="es-ES_tradnl" sz="1800" dirty="0" err="1">
                <a:solidFill>
                  <a:schemeClr val="tx1"/>
                </a:solidFill>
              </a:rPr>
              <a:t>obtPlazoPrestamo</a:t>
            </a:r>
            <a:r>
              <a:rPr lang="es-ES" altLang="es-ES_tradnl" sz="1800" dirty="0">
                <a:solidFill>
                  <a:schemeClr val="tx1"/>
                </a:solidFill>
              </a:rPr>
              <a:t>(</a:t>
            </a:r>
            <a:r>
              <a:rPr lang="es-ES" altLang="es-ES_tradnl" sz="1800" dirty="0" err="1">
                <a:solidFill>
                  <a:schemeClr val="tx1"/>
                </a:solidFill>
              </a:rPr>
              <a:t>result.ejemplar</a:t>
            </a:r>
            <a:r>
              <a:rPr lang="es-ES" altLang="es-ES_tradnl" sz="1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6423231" y="3933056"/>
            <a:ext cx="1407565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s-ES_tradnl" b="1" smtClean="0">
                <a:solidFill>
                  <a:schemeClr val="bg1"/>
                </a:solidFill>
              </a:rPr>
              <a:t>Precondición</a:t>
            </a:r>
            <a:endParaRPr lang="es-ES_tradnl" b="1" dirty="0">
              <a:solidFill>
                <a:schemeClr val="bg1"/>
              </a:solidFill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6421112" y="4611791"/>
            <a:ext cx="1485278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s-ES_tradnl" b="1" dirty="0" err="1" smtClean="0">
                <a:solidFill>
                  <a:schemeClr val="bg1"/>
                </a:solidFill>
              </a:rPr>
              <a:t>Postcondición</a:t>
            </a:r>
            <a:endParaRPr lang="es-ES_tradnl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73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El Ambiente USE</a:t>
            </a:r>
          </a:p>
        </p:txBody>
      </p:sp>
      <p:sp>
        <p:nvSpPr>
          <p:cNvPr id="2" name="Marcador de contenido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ES_tradnl" sz="2000" dirty="0" smtClean="0"/>
              <a:t>Descargar la </a:t>
            </a:r>
            <a:r>
              <a:rPr lang="es-ES_tradnl" sz="2000" dirty="0"/>
              <a:t>herramienta desde </a:t>
            </a:r>
            <a:r>
              <a:rPr lang="es-ES_tradnl" sz="2000" dirty="0">
                <a:hlinkClick r:id="rId3"/>
              </a:rPr>
              <a:t>http://</a:t>
            </a:r>
            <a:r>
              <a:rPr lang="es-ES_tradnl" sz="2000" dirty="0" smtClean="0">
                <a:hlinkClick r:id="rId3"/>
              </a:rPr>
              <a:t>www.sourceforge.net/projects/useocl</a:t>
            </a:r>
            <a:endParaRPr lang="es-ES_tradnl" sz="2000" dirty="0" smtClean="0"/>
          </a:p>
          <a:p>
            <a:r>
              <a:rPr lang="es-ES_tradnl" sz="2000" dirty="0" smtClean="0"/>
              <a:t>Descomprimir el archivo</a:t>
            </a:r>
          </a:p>
          <a:p>
            <a:r>
              <a:rPr lang="es-ES_tradnl" sz="2000" dirty="0" smtClean="0"/>
              <a:t>Ejecutar </a:t>
            </a:r>
            <a:r>
              <a:rPr lang="es-ES_tradnl" sz="2000" dirty="0" err="1" smtClean="0"/>
              <a:t>bin</a:t>
            </a:r>
            <a:r>
              <a:rPr lang="es-ES_tradnl" sz="2000" dirty="0" smtClean="0"/>
              <a:t>\</a:t>
            </a:r>
            <a:r>
              <a:rPr lang="es-ES_tradnl" sz="2000" dirty="0" err="1" smtClean="0"/>
              <a:t>use.bat</a:t>
            </a:r>
            <a:r>
              <a:rPr lang="es-ES_tradnl" sz="2000" dirty="0" smtClean="0"/>
              <a:t> (o </a:t>
            </a:r>
            <a:r>
              <a:rPr lang="es-ES_tradnl" sz="2000" dirty="0" err="1" smtClean="0"/>
              <a:t>bin</a:t>
            </a:r>
            <a:r>
              <a:rPr lang="es-ES_tradnl" sz="2000" dirty="0" smtClean="0"/>
              <a:t>/use)</a:t>
            </a:r>
            <a:endParaRPr lang="es-ES_tradnl" sz="2000" dirty="0"/>
          </a:p>
        </p:txBody>
      </p:sp>
      <p:pic>
        <p:nvPicPr>
          <p:cNvPr id="3502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46" y="3140968"/>
            <a:ext cx="6048375" cy="277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5021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3051144"/>
            <a:ext cx="4594358" cy="3781186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55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 dirty="0" smtClean="0"/>
              <a:t>Importar una especificación USE</a:t>
            </a:r>
            <a:endParaRPr lang="es-ES" altLang="es-ES_tradnl" dirty="0"/>
          </a:p>
        </p:txBody>
      </p:sp>
      <p:sp>
        <p:nvSpPr>
          <p:cNvPr id="2" name="Marcador de contenido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ES_tradnl" sz="2000" dirty="0" smtClean="0"/>
              <a:t>File </a:t>
            </a:r>
            <a:r>
              <a:rPr lang="mr-IN" sz="2000" dirty="0" smtClean="0"/>
              <a:t>–</a:t>
            </a:r>
            <a:r>
              <a:rPr lang="es-ES_tradnl" sz="2000" dirty="0" smtClean="0"/>
              <a:t> Open </a:t>
            </a:r>
            <a:r>
              <a:rPr lang="es-ES_tradnl" sz="2000" dirty="0" err="1" smtClean="0"/>
              <a:t>Specification</a:t>
            </a:r>
            <a:r>
              <a:rPr lang="es-ES_tradnl" sz="2000" dirty="0" smtClean="0"/>
              <a:t> </a:t>
            </a:r>
            <a:r>
              <a:rPr lang="mr-IN" sz="2000" dirty="0" smtClean="0"/>
              <a:t>–</a:t>
            </a:r>
            <a:r>
              <a:rPr lang="es-ES_tradnl" sz="2000" dirty="0" smtClean="0"/>
              <a:t> Abrir</a:t>
            </a:r>
          </a:p>
          <a:p>
            <a:r>
              <a:rPr lang="es-ES_tradnl" sz="2000" dirty="0" smtClean="0"/>
              <a:t>View </a:t>
            </a:r>
            <a:r>
              <a:rPr lang="mr-IN" sz="2000" dirty="0" smtClean="0"/>
              <a:t>–</a:t>
            </a:r>
            <a:r>
              <a:rPr lang="es-ES_tradnl" sz="2000" dirty="0" smtClean="0"/>
              <a:t> </a:t>
            </a:r>
            <a:r>
              <a:rPr lang="es-ES_tradnl" sz="2000" dirty="0" err="1" smtClean="0"/>
              <a:t>Create</a:t>
            </a:r>
            <a:r>
              <a:rPr lang="es-ES_tradnl" sz="2000" dirty="0" smtClean="0"/>
              <a:t> View </a:t>
            </a:r>
            <a:r>
              <a:rPr lang="mr-IN" sz="2000" dirty="0" smtClean="0"/>
              <a:t>–</a:t>
            </a:r>
            <a:r>
              <a:rPr lang="es-ES_tradnl" sz="2000" dirty="0" smtClean="0"/>
              <a:t> </a:t>
            </a:r>
            <a:r>
              <a:rPr lang="es-ES_tradnl" sz="2000" dirty="0" err="1" smtClean="0"/>
              <a:t>Class</a:t>
            </a:r>
            <a:r>
              <a:rPr lang="es-ES_tradnl" sz="2000" dirty="0" smtClean="0"/>
              <a:t> </a:t>
            </a:r>
            <a:r>
              <a:rPr lang="es-ES_tradnl" sz="2000" dirty="0" err="1" smtClean="0"/>
              <a:t>diagram</a:t>
            </a:r>
            <a:endParaRPr lang="es-ES_tradnl" sz="2000" dirty="0" smtClean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826" b="37000"/>
          <a:stretch>
            <a:fillRect/>
          </a:stretch>
        </p:blipFill>
        <p:spPr bwMode="auto">
          <a:xfrm>
            <a:off x="2517322" y="2441848"/>
            <a:ext cx="6624228" cy="4416152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1338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C7CE3B-B7A0-194C-ACC4-F1AB560DF5F3}" type="slidenum">
              <a:rPr lang="es-ES" altLang="es-ES_tradnl"/>
              <a:pPr/>
              <a:t>13</a:t>
            </a:fld>
            <a:endParaRPr lang="es-ES" altLang="es-ES_tradnl"/>
          </a:p>
        </p:txBody>
      </p:sp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Vista Invariantes</a:t>
            </a:r>
          </a:p>
        </p:txBody>
      </p:sp>
      <p:pic>
        <p:nvPicPr>
          <p:cNvPr id="3543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145" b="37000"/>
          <a:stretch>
            <a:fillRect/>
          </a:stretch>
        </p:blipFill>
        <p:spPr bwMode="auto">
          <a:xfrm>
            <a:off x="574675" y="1484313"/>
            <a:ext cx="7993063" cy="4995862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82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B5F536-AC1A-9548-9661-FF1A86E75252}" type="slidenum">
              <a:rPr lang="es-ES" altLang="es-ES_tradnl"/>
              <a:pPr/>
              <a:t>14</a:t>
            </a:fld>
            <a:endParaRPr lang="es-ES" altLang="es-ES_tradnl"/>
          </a:p>
        </p:txBody>
      </p:sp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Creación de Objetos</a:t>
            </a:r>
          </a:p>
        </p:txBody>
      </p:sp>
      <p:pic>
        <p:nvPicPr>
          <p:cNvPr id="3563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" t="2953" r="20277" b="46875"/>
          <a:stretch>
            <a:fillRect/>
          </a:stretch>
        </p:blipFill>
        <p:spPr bwMode="auto">
          <a:xfrm>
            <a:off x="482600" y="1885950"/>
            <a:ext cx="8266113" cy="3975100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1835696" y="6056490"/>
            <a:ext cx="63400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smtClean="0"/>
              <a:t>Sintaxis creación de objeto: !</a:t>
            </a:r>
            <a:r>
              <a:rPr lang="es-ES_tradnl" dirty="0" err="1" smtClean="0"/>
              <a:t>create</a:t>
            </a:r>
            <a:r>
              <a:rPr lang="es-ES_tradnl" dirty="0" smtClean="0"/>
              <a:t> </a:t>
            </a:r>
            <a:r>
              <a:rPr lang="es-ES_tradnl" dirty="0" err="1" smtClean="0"/>
              <a:t>objectName</a:t>
            </a:r>
            <a:r>
              <a:rPr lang="es-ES_tradnl" dirty="0" smtClean="0"/>
              <a:t>: </a:t>
            </a:r>
            <a:r>
              <a:rPr lang="es-ES_tradnl" dirty="0" err="1" smtClean="0"/>
              <a:t>className</a:t>
            </a:r>
            <a:endParaRPr lang="es-ES_tradnl" dirty="0" smtClean="0"/>
          </a:p>
          <a:p>
            <a:r>
              <a:rPr lang="es-ES_tradnl" dirty="0" smtClean="0"/>
              <a:t>Sintaxis valor de atributo: !set </a:t>
            </a:r>
            <a:r>
              <a:rPr lang="es-ES_tradnl" dirty="0" err="1" smtClean="0"/>
              <a:t>objectName.attributeName</a:t>
            </a:r>
            <a:r>
              <a:rPr lang="es-ES_tradnl" dirty="0" smtClean="0"/>
              <a:t> := </a:t>
            </a:r>
            <a:r>
              <a:rPr lang="es-ES_tradnl" dirty="0" err="1" smtClean="0"/>
              <a:t>Value</a:t>
            </a:r>
            <a:endParaRPr lang="es-ES_tradnl" dirty="0" smtClean="0"/>
          </a:p>
        </p:txBody>
      </p:sp>
    </p:spTree>
    <p:extLst>
      <p:ext uri="{BB962C8B-B14F-4D97-AF65-F5344CB8AC3E}">
        <p14:creationId xmlns:p14="http://schemas.microsoft.com/office/powerpoint/2010/main" val="78322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6C7B35-7818-9240-9905-9B32F38ACA09}" type="slidenum">
              <a:rPr lang="es-ES" altLang="es-ES_tradnl"/>
              <a:pPr/>
              <a:t>15</a:t>
            </a:fld>
            <a:endParaRPr lang="es-ES" altLang="es-ES_tradnl"/>
          </a:p>
        </p:txBody>
      </p:sp>
      <p:sp>
        <p:nvSpPr>
          <p:cNvPr id="3584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 sz="2400"/>
              <a:t>Asignación de Valores a Propiedades de un Objeto</a:t>
            </a:r>
          </a:p>
        </p:txBody>
      </p:sp>
      <p:pic>
        <p:nvPicPr>
          <p:cNvPr id="3584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000"/>
          <a:stretch>
            <a:fillRect/>
          </a:stretch>
        </p:blipFill>
        <p:spPr bwMode="auto">
          <a:xfrm>
            <a:off x="495300" y="2033588"/>
            <a:ext cx="8280400" cy="3871912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4594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C81276-D485-8647-9623-A0909770D190}" type="slidenum">
              <a:rPr lang="es-ES" altLang="es-ES_tradnl"/>
              <a:pPr/>
              <a:t>16</a:t>
            </a:fld>
            <a:endParaRPr lang="es-ES" altLang="es-ES_tradnl"/>
          </a:p>
        </p:txBody>
      </p:sp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Creación de Libros</a:t>
            </a:r>
          </a:p>
        </p:txBody>
      </p:sp>
      <p:pic>
        <p:nvPicPr>
          <p:cNvPr id="3604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2" t="2951" r="20996" b="44270"/>
          <a:stretch>
            <a:fillRect/>
          </a:stretch>
        </p:blipFill>
        <p:spPr bwMode="auto">
          <a:xfrm>
            <a:off x="519113" y="1914525"/>
            <a:ext cx="8301037" cy="4238625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472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DEE293-9C30-D844-817B-40B16349D255}" type="slidenum">
              <a:rPr lang="es-ES" altLang="es-ES_tradnl"/>
              <a:pPr/>
              <a:t>17</a:t>
            </a:fld>
            <a:endParaRPr lang="es-ES" altLang="es-ES_tradnl"/>
          </a:p>
        </p:txBody>
      </p:sp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 sz="2400"/>
              <a:t>Asignación de Valores a las Propiedades de un Libro</a:t>
            </a:r>
          </a:p>
        </p:txBody>
      </p:sp>
      <p:pic>
        <p:nvPicPr>
          <p:cNvPr id="3624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3" y="1484313"/>
            <a:ext cx="6656387" cy="4943475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2500" name="Text Box 4"/>
          <p:cNvSpPr txBox="1">
            <a:spLocks noChangeArrowheads="1"/>
          </p:cNvSpPr>
          <p:nvPr/>
        </p:nvSpPr>
        <p:spPr bwMode="auto">
          <a:xfrm>
            <a:off x="620713" y="3635375"/>
            <a:ext cx="5572125" cy="2851150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  <a:miter lim="800000"/>
            <a:headEnd/>
            <a:tailEnd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!set UMLPatterns.ISBN:=0131489062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!set UMLPatterns.titulo:='Applying UML and Patterns'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!set UMLPatterns.editorial:='Pearson'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!set UMLPatterns.tema:='UML'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!set UMLPatterns.anio:= 2004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--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!create Larman:Autor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!set Larman.apellido:='Larman'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!set Larman.nombre:='Craig'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!insert (UMLPatterns, Larman) into EsAutor</a:t>
            </a:r>
          </a:p>
        </p:txBody>
      </p:sp>
    </p:spTree>
    <p:extLst>
      <p:ext uri="{BB962C8B-B14F-4D97-AF65-F5344CB8AC3E}">
        <p14:creationId xmlns:p14="http://schemas.microsoft.com/office/powerpoint/2010/main" val="47459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B16FD8-0A59-C649-AE06-843DE3E761A7}" type="slidenum">
              <a:rPr lang="es-ES" altLang="es-ES_tradnl"/>
              <a:pPr/>
              <a:t>18</a:t>
            </a:fld>
            <a:endParaRPr lang="es-ES" altLang="es-ES_tradnl"/>
          </a:p>
        </p:txBody>
      </p:sp>
      <p:sp>
        <p:nvSpPr>
          <p:cNvPr id="364546" name="Freeform 2"/>
          <p:cNvSpPr>
            <a:spLocks/>
          </p:cNvSpPr>
          <p:nvPr/>
        </p:nvSpPr>
        <p:spPr bwMode="auto">
          <a:xfrm>
            <a:off x="7885113" y="3495675"/>
            <a:ext cx="909637" cy="2020888"/>
          </a:xfrm>
          <a:custGeom>
            <a:avLst/>
            <a:gdLst>
              <a:gd name="T0" fmla="*/ 0 w 573"/>
              <a:gd name="T1" fmla="*/ 1273 h 1273"/>
              <a:gd name="T2" fmla="*/ 107 w 573"/>
              <a:gd name="T3" fmla="*/ 475 h 1273"/>
              <a:gd name="T4" fmla="*/ 573 w 573"/>
              <a:gd name="T5" fmla="*/ 0 h 1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73" h="1273">
                <a:moveTo>
                  <a:pt x="0" y="1273"/>
                </a:moveTo>
                <a:cubicBezTo>
                  <a:pt x="18" y="1140"/>
                  <a:pt x="12" y="687"/>
                  <a:pt x="107" y="475"/>
                </a:cubicBezTo>
                <a:cubicBezTo>
                  <a:pt x="202" y="263"/>
                  <a:pt x="476" y="99"/>
                  <a:pt x="573" y="0"/>
                </a:cubicBezTo>
              </a:path>
            </a:pathLst>
          </a:custGeom>
          <a:noFill/>
          <a:ln w="28575" cap="flat" cmpd="sng">
            <a:solidFill>
              <a:srgbClr val="75B2D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_tradnl"/>
          </a:p>
        </p:txBody>
      </p:sp>
      <p:sp>
        <p:nvSpPr>
          <p:cNvPr id="3645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 sz="2400"/>
              <a:t>Asignación de Valores a las Propiedades de un Libro</a:t>
            </a:r>
          </a:p>
        </p:txBody>
      </p:sp>
      <p:pic>
        <p:nvPicPr>
          <p:cNvPr id="3645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3" y="1484313"/>
            <a:ext cx="6656387" cy="4943475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45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122" r="42404"/>
          <a:stretch>
            <a:fillRect/>
          </a:stretch>
        </p:blipFill>
        <p:spPr bwMode="auto">
          <a:xfrm>
            <a:off x="1692275" y="3500438"/>
            <a:ext cx="7073900" cy="181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364550" name="Freeform 6"/>
          <p:cNvSpPr>
            <a:spLocks/>
          </p:cNvSpPr>
          <p:nvPr/>
        </p:nvSpPr>
        <p:spPr bwMode="auto">
          <a:xfrm>
            <a:off x="1258888" y="5300663"/>
            <a:ext cx="433387" cy="1081087"/>
          </a:xfrm>
          <a:custGeom>
            <a:avLst/>
            <a:gdLst>
              <a:gd name="T0" fmla="*/ 0 w 273"/>
              <a:gd name="T1" fmla="*/ 681 h 681"/>
              <a:gd name="T2" fmla="*/ 46 w 273"/>
              <a:gd name="T3" fmla="*/ 273 h 681"/>
              <a:gd name="T4" fmla="*/ 273 w 273"/>
              <a:gd name="T5" fmla="*/ 0 h 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" h="681">
                <a:moveTo>
                  <a:pt x="0" y="681"/>
                </a:moveTo>
                <a:cubicBezTo>
                  <a:pt x="0" y="534"/>
                  <a:pt x="0" y="387"/>
                  <a:pt x="46" y="273"/>
                </a:cubicBezTo>
                <a:cubicBezTo>
                  <a:pt x="92" y="159"/>
                  <a:pt x="182" y="79"/>
                  <a:pt x="273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_tradnl"/>
          </a:p>
        </p:txBody>
      </p:sp>
      <p:sp>
        <p:nvSpPr>
          <p:cNvPr id="364551" name="Freeform 7"/>
          <p:cNvSpPr>
            <a:spLocks/>
          </p:cNvSpPr>
          <p:nvPr/>
        </p:nvSpPr>
        <p:spPr bwMode="auto">
          <a:xfrm>
            <a:off x="1252538" y="3482975"/>
            <a:ext cx="455612" cy="2033588"/>
          </a:xfrm>
          <a:custGeom>
            <a:avLst/>
            <a:gdLst>
              <a:gd name="T0" fmla="*/ 4 w 287"/>
              <a:gd name="T1" fmla="*/ 1281 h 1281"/>
              <a:gd name="T2" fmla="*/ 50 w 287"/>
              <a:gd name="T3" fmla="*/ 692 h 1281"/>
              <a:gd name="T4" fmla="*/ 287 w 287"/>
              <a:gd name="T5" fmla="*/ 0 h 1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7" h="1281">
                <a:moveTo>
                  <a:pt x="4" y="1281"/>
                </a:moveTo>
                <a:cubicBezTo>
                  <a:pt x="0" y="1092"/>
                  <a:pt x="3" y="905"/>
                  <a:pt x="50" y="692"/>
                </a:cubicBezTo>
                <a:cubicBezTo>
                  <a:pt x="97" y="479"/>
                  <a:pt x="238" y="144"/>
                  <a:pt x="287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_tradnl"/>
          </a:p>
        </p:txBody>
      </p:sp>
      <p:sp>
        <p:nvSpPr>
          <p:cNvPr id="364552" name="Freeform 8"/>
          <p:cNvSpPr>
            <a:spLocks/>
          </p:cNvSpPr>
          <p:nvPr/>
        </p:nvSpPr>
        <p:spPr bwMode="auto">
          <a:xfrm>
            <a:off x="7874000" y="5297488"/>
            <a:ext cx="933450" cy="1130300"/>
          </a:xfrm>
          <a:custGeom>
            <a:avLst/>
            <a:gdLst>
              <a:gd name="T0" fmla="*/ 7 w 588"/>
              <a:gd name="T1" fmla="*/ 712 h 712"/>
              <a:gd name="T2" fmla="*/ 97 w 588"/>
              <a:gd name="T3" fmla="*/ 127 h 712"/>
              <a:gd name="T4" fmla="*/ 588 w 588"/>
              <a:gd name="T5" fmla="*/ 0 h 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88" h="712">
                <a:moveTo>
                  <a:pt x="7" y="712"/>
                </a:moveTo>
                <a:cubicBezTo>
                  <a:pt x="22" y="615"/>
                  <a:pt x="0" y="246"/>
                  <a:pt x="97" y="127"/>
                </a:cubicBezTo>
                <a:cubicBezTo>
                  <a:pt x="194" y="8"/>
                  <a:pt x="486" y="27"/>
                  <a:pt x="588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_tradnl"/>
          </a:p>
        </p:txBody>
      </p:sp>
      <p:sp>
        <p:nvSpPr>
          <p:cNvPr id="364553" name="Rectangle 9"/>
          <p:cNvSpPr>
            <a:spLocks noChangeArrowheads="1"/>
          </p:cNvSpPr>
          <p:nvPr/>
        </p:nvSpPr>
        <p:spPr bwMode="auto">
          <a:xfrm>
            <a:off x="1692275" y="3500438"/>
            <a:ext cx="7127875" cy="18002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0670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FA52DE-4788-844A-B471-B14F0A0DDF91}" type="slidenum">
              <a:rPr lang="es-ES" altLang="es-ES_tradnl"/>
              <a:pPr/>
              <a:t>19</a:t>
            </a:fld>
            <a:endParaRPr lang="es-ES" altLang="es-ES_tradnl"/>
          </a:p>
        </p:txBody>
      </p:sp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Asignando un Ejemplar a un Libro</a:t>
            </a:r>
          </a:p>
        </p:txBody>
      </p:sp>
      <p:pic>
        <p:nvPicPr>
          <p:cNvPr id="3665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088" y="1484313"/>
            <a:ext cx="6727825" cy="4995862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6596" name="Text Box 4"/>
          <p:cNvSpPr txBox="1">
            <a:spLocks noChangeArrowheads="1"/>
          </p:cNvSpPr>
          <p:nvPr/>
        </p:nvSpPr>
        <p:spPr bwMode="auto">
          <a:xfrm>
            <a:off x="565150" y="4302125"/>
            <a:ext cx="5864225" cy="12192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!create Ej1UMLPatterns:Ejemplar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--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!insert (UMLPatterns, Ej1UMLPatterns) into EjemplarDe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!insert (Biblio, Ej1UMLPatterns) into Posee</a:t>
            </a:r>
          </a:p>
        </p:txBody>
      </p:sp>
      <p:sp>
        <p:nvSpPr>
          <p:cNvPr id="366597" name="Rectangle 5"/>
          <p:cNvSpPr>
            <a:spLocks noChangeArrowheads="1"/>
          </p:cNvSpPr>
          <p:nvPr/>
        </p:nvSpPr>
        <p:spPr bwMode="auto">
          <a:xfrm>
            <a:off x="1233488" y="5516563"/>
            <a:ext cx="6697662" cy="9493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_tradnl"/>
          </a:p>
        </p:txBody>
      </p:sp>
      <p:sp>
        <p:nvSpPr>
          <p:cNvPr id="8" name="CuadroTexto 7"/>
          <p:cNvSpPr txBox="1"/>
          <p:nvPr/>
        </p:nvSpPr>
        <p:spPr>
          <a:xfrm>
            <a:off x="1691680" y="6404118"/>
            <a:ext cx="69742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 smtClean="0"/>
              <a:t>Sintaxis creación de link: !</a:t>
            </a:r>
            <a:r>
              <a:rPr lang="es-ES_tradnl" sz="1600" dirty="0" err="1" smtClean="0"/>
              <a:t>insert</a:t>
            </a:r>
            <a:r>
              <a:rPr lang="es-ES_tradnl" sz="1600" dirty="0" smtClean="0"/>
              <a:t> (objectName1, objectName2) </a:t>
            </a:r>
            <a:r>
              <a:rPr lang="es-ES_tradnl" sz="1600" dirty="0" err="1" smtClean="0"/>
              <a:t>into</a:t>
            </a:r>
            <a:r>
              <a:rPr lang="es-ES_tradnl" sz="1600" dirty="0" smtClean="0"/>
              <a:t> </a:t>
            </a:r>
            <a:r>
              <a:rPr lang="es-ES_tradnl" sz="1600" dirty="0" err="1" smtClean="0"/>
              <a:t>associationName</a:t>
            </a:r>
            <a:endParaRPr lang="es-ES_tradnl" sz="1600" dirty="0" smtClean="0"/>
          </a:p>
        </p:txBody>
      </p:sp>
    </p:spTree>
    <p:extLst>
      <p:ext uri="{BB962C8B-B14F-4D97-AF65-F5344CB8AC3E}">
        <p14:creationId xmlns:p14="http://schemas.microsoft.com/office/powerpoint/2010/main" val="25459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23325B-EF68-2A45-9AD0-52A16581B985}" type="slidenum">
              <a:rPr lang="es-ES" altLang="es-ES_tradnl"/>
              <a:pPr/>
              <a:t>20</a:t>
            </a:fld>
            <a:endParaRPr lang="es-ES" altLang="es-ES_tradnl"/>
          </a:p>
        </p:txBody>
      </p:sp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Incorporando Nuevos Libros</a:t>
            </a:r>
          </a:p>
        </p:txBody>
      </p:sp>
      <p:pic>
        <p:nvPicPr>
          <p:cNvPr id="3686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488" y="1503363"/>
            <a:ext cx="6677025" cy="4959350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44" name="Text Box 4"/>
          <p:cNvSpPr txBox="1">
            <a:spLocks noChangeArrowheads="1"/>
          </p:cNvSpPr>
          <p:nvPr/>
        </p:nvSpPr>
        <p:spPr bwMode="auto">
          <a:xfrm>
            <a:off x="565150" y="2530475"/>
            <a:ext cx="4806950" cy="3949700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  <a:miter lim="800000"/>
            <a:headEnd/>
            <a:tailEnd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!create Quino:Autor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!set Quino.apellido:='Lavado'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!set Quino.nombre:='Salvador'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!create Mafalda:Libro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!set Mafalda.titulo:='Toda Mafalda'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!set Mafalda.editorial:='Ediciones de la Flor'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!set Mafalda.ISBN:= 0505156944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!set Mafalda.anio:= 1996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!insert (Mafalda, Quino) into EsAutor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--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!create Ej1Mafalda:Ejemplar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--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!insert (Mafalda, Ej1Mafalda) into EjemplarDe</a:t>
            </a:r>
          </a:p>
          <a:p>
            <a:pPr eaLnBrk="1" hangingPunct="1"/>
            <a:r>
              <a:rPr lang="es-ES" altLang="es-ES_tradnl" sz="1800">
                <a:solidFill>
                  <a:schemeClr val="tx1"/>
                </a:solidFill>
              </a:rPr>
              <a:t>!insert (Biblio, Ej1Mafalda) into Posee</a:t>
            </a:r>
          </a:p>
        </p:txBody>
      </p:sp>
    </p:spTree>
    <p:extLst>
      <p:ext uri="{BB962C8B-B14F-4D97-AF65-F5344CB8AC3E}">
        <p14:creationId xmlns:p14="http://schemas.microsoft.com/office/powerpoint/2010/main" val="1845084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B32233-316E-884C-9F5F-CBDEBC88A4A0}" type="slidenum">
              <a:rPr lang="es-ES" altLang="es-ES_tradnl"/>
              <a:pPr/>
              <a:t>21</a:t>
            </a:fld>
            <a:endParaRPr lang="es-ES" altLang="es-ES_tradnl"/>
          </a:p>
        </p:txBody>
      </p:sp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Asignando id a los Ejemplares</a:t>
            </a:r>
          </a:p>
        </p:txBody>
      </p:sp>
      <p:pic>
        <p:nvPicPr>
          <p:cNvPr id="3706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1474788"/>
            <a:ext cx="6800850" cy="5049837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0692" name="Text Box 4"/>
          <p:cNvSpPr txBox="1">
            <a:spLocks noChangeArrowheads="1"/>
          </p:cNvSpPr>
          <p:nvPr/>
        </p:nvSpPr>
        <p:spPr bwMode="auto">
          <a:xfrm>
            <a:off x="579438" y="5700713"/>
            <a:ext cx="3186112" cy="593725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  <a:miter lim="800000"/>
            <a:headEnd/>
            <a:tailEnd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da-DK" altLang="es-ES_tradnl" sz="1600">
                <a:solidFill>
                  <a:schemeClr val="tx1"/>
                </a:solidFill>
                <a:latin typeface="Georgia" charset="0"/>
              </a:rPr>
              <a:t>!set Ej1Mafalda.id:= 'H1'</a:t>
            </a:r>
          </a:p>
          <a:p>
            <a:pPr eaLnBrk="1" hangingPunct="1"/>
            <a:r>
              <a:rPr lang="da-DK" altLang="es-ES_tradnl" sz="1600">
                <a:solidFill>
                  <a:schemeClr val="tx1"/>
                </a:solidFill>
                <a:latin typeface="Georgia" charset="0"/>
              </a:rPr>
              <a:t>!set Ej1UMLPatterns.id:= 'UML1'</a:t>
            </a:r>
            <a:endParaRPr lang="es-ES" altLang="es-ES_tradnl" sz="1600">
              <a:solidFill>
                <a:schemeClr val="tx1"/>
              </a:solidFill>
              <a:latin typeface="Georgi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20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Otros comandos en USE</a:t>
            </a:r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smtClean="0"/>
              <a:t>Análisis de Sistemas</a:t>
            </a:r>
            <a:endParaRPr lang="es-AR" dirty="0"/>
          </a:p>
        </p:txBody>
      </p:sp>
      <p:sp>
        <p:nvSpPr>
          <p:cNvPr id="4" name="Marcador de conteni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_tradnl" dirty="0" smtClean="0"/>
              <a:t>Eliminar objeto</a:t>
            </a:r>
          </a:p>
          <a:p>
            <a:pPr lvl="1"/>
            <a:r>
              <a:rPr lang="es-ES_tradnl" dirty="0" smtClean="0"/>
              <a:t>!</a:t>
            </a:r>
            <a:r>
              <a:rPr lang="es-ES_tradnl" dirty="0" err="1" smtClean="0"/>
              <a:t>destroy</a:t>
            </a:r>
            <a:r>
              <a:rPr lang="es-ES_tradnl" dirty="0" smtClean="0"/>
              <a:t> </a:t>
            </a:r>
            <a:r>
              <a:rPr lang="es-ES_tradnl" dirty="0" err="1" smtClean="0"/>
              <a:t>objectName</a:t>
            </a:r>
            <a:endParaRPr lang="es-ES_tradnl" dirty="0" smtClean="0"/>
          </a:p>
          <a:p>
            <a:r>
              <a:rPr lang="es-ES_tradnl" dirty="0" smtClean="0"/>
              <a:t>Eliminar link</a:t>
            </a:r>
          </a:p>
          <a:p>
            <a:pPr lvl="1"/>
            <a:r>
              <a:rPr lang="es-ES_tradnl" dirty="0" smtClean="0"/>
              <a:t>!</a:t>
            </a:r>
            <a:r>
              <a:rPr lang="es-ES_tradnl" dirty="0" err="1" smtClean="0"/>
              <a:t>delete</a:t>
            </a:r>
            <a:r>
              <a:rPr lang="es-ES_tradnl" dirty="0" smtClean="0"/>
              <a:t> (objectName1, objectName2) </a:t>
            </a:r>
            <a:r>
              <a:rPr lang="es-ES_tradnl" dirty="0" err="1" smtClean="0"/>
              <a:t>from</a:t>
            </a:r>
            <a:r>
              <a:rPr lang="es-ES_tradnl" dirty="0" smtClean="0"/>
              <a:t> </a:t>
            </a:r>
            <a:r>
              <a:rPr lang="es-ES_tradnl" dirty="0" err="1" smtClean="0"/>
              <a:t>associationName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39315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35C764-264E-FE4D-A5CD-9FD5A9F4FD6C}" type="slidenum">
              <a:rPr lang="es-ES" altLang="es-ES_tradnl"/>
              <a:pPr/>
              <a:t>23</a:t>
            </a:fld>
            <a:endParaRPr lang="es-ES" altLang="es-ES_tradnl"/>
          </a:p>
        </p:txBody>
      </p:sp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Consulta de Publicaciones</a:t>
            </a:r>
          </a:p>
        </p:txBody>
      </p:sp>
      <p:pic>
        <p:nvPicPr>
          <p:cNvPr id="3727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" y="2205038"/>
            <a:ext cx="7494588" cy="2997200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6089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B857EC-3CCD-1E49-A735-F82FD92E574D}" type="slidenum">
              <a:rPr lang="es-ES" altLang="es-ES_tradnl"/>
              <a:pPr/>
              <a:t>24</a:t>
            </a:fld>
            <a:endParaRPr lang="es-ES" altLang="es-ES_tradnl"/>
          </a:p>
        </p:txBody>
      </p:sp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Consulta de Publicaciones</a:t>
            </a:r>
          </a:p>
        </p:txBody>
      </p:sp>
      <p:pic>
        <p:nvPicPr>
          <p:cNvPr id="3747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8" y="2205038"/>
            <a:ext cx="7478712" cy="2990850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379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5C84D1-9EC1-AB49-923D-BD08A02597AD}" type="slidenum">
              <a:rPr lang="es-ES" altLang="es-ES_tradnl"/>
              <a:pPr/>
              <a:t>25</a:t>
            </a:fld>
            <a:endParaRPr lang="es-ES" altLang="es-ES_tradnl"/>
          </a:p>
        </p:txBody>
      </p:sp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Consulta de Ejemplares de Libros</a:t>
            </a:r>
          </a:p>
        </p:txBody>
      </p:sp>
      <p:pic>
        <p:nvPicPr>
          <p:cNvPr id="3768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8" y="2476500"/>
            <a:ext cx="7478712" cy="2990850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093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BC909F-3ACF-2B4E-91F3-69E2DA77AD00}" type="slidenum">
              <a:rPr lang="es-ES" altLang="es-ES_tradnl"/>
              <a:pPr/>
              <a:t>26</a:t>
            </a:fld>
            <a:endParaRPr lang="es-ES" altLang="es-ES_tradnl"/>
          </a:p>
        </p:txBody>
      </p:sp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Consulta de Libros</a:t>
            </a:r>
          </a:p>
        </p:txBody>
      </p:sp>
      <p:pic>
        <p:nvPicPr>
          <p:cNvPr id="3788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8" y="2476500"/>
            <a:ext cx="7478712" cy="2990850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6891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DFDA19-ABBA-E940-A000-87CE8A6B273E}" type="slidenum">
              <a:rPr lang="es-ES" altLang="es-ES_tradnl"/>
              <a:pPr/>
              <a:t>27</a:t>
            </a:fld>
            <a:endParaRPr lang="es-ES" altLang="es-ES_tradnl"/>
          </a:p>
        </p:txBody>
      </p:sp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Consulta de Ejemplares Disponibles</a:t>
            </a:r>
          </a:p>
        </p:txBody>
      </p:sp>
      <p:pic>
        <p:nvPicPr>
          <p:cNvPr id="3809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" t="3125" r="35237" b="35243"/>
          <a:stretch>
            <a:fillRect/>
          </a:stretch>
        </p:blipFill>
        <p:spPr bwMode="auto">
          <a:xfrm>
            <a:off x="814388" y="993775"/>
            <a:ext cx="7667625" cy="5518150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6971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176404-027E-C244-AB86-4ADC1D7CE74B}" type="slidenum">
              <a:rPr lang="es-ES" altLang="es-ES_tradnl"/>
              <a:pPr/>
              <a:t>28</a:t>
            </a:fld>
            <a:endParaRPr lang="es-ES" altLang="es-ES_tradnl"/>
          </a:p>
        </p:txBody>
      </p:sp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Creación de Usuarios</a:t>
            </a:r>
          </a:p>
        </p:txBody>
      </p:sp>
      <p:sp>
        <p:nvSpPr>
          <p:cNvPr id="382979" name="Text Box 3"/>
          <p:cNvSpPr txBox="1">
            <a:spLocks noChangeArrowheads="1"/>
          </p:cNvSpPr>
          <p:nvPr/>
        </p:nvSpPr>
        <p:spPr bwMode="auto">
          <a:xfrm>
            <a:off x="2347913" y="1768475"/>
            <a:ext cx="4449762" cy="2543175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  <a:miter lim="800000"/>
            <a:headEnd/>
            <a:tailEnd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da-DK" altLang="es-ES_tradnl">
                <a:solidFill>
                  <a:schemeClr val="tx1"/>
                </a:solidFill>
              </a:rPr>
              <a:t>!create Horacio:Profesor</a:t>
            </a:r>
          </a:p>
          <a:p>
            <a:pPr eaLnBrk="1" hangingPunct="1"/>
            <a:r>
              <a:rPr lang="da-DK" altLang="es-ES_tradnl">
                <a:solidFill>
                  <a:schemeClr val="tx1"/>
                </a:solidFill>
              </a:rPr>
              <a:t>!set Horacio.nombre:='Horacio Leone'</a:t>
            </a:r>
          </a:p>
          <a:p>
            <a:pPr eaLnBrk="1" hangingPunct="1"/>
            <a:r>
              <a:rPr lang="da-DK" altLang="es-ES_tradnl">
                <a:solidFill>
                  <a:schemeClr val="tx1"/>
                </a:solidFill>
              </a:rPr>
              <a:t>--</a:t>
            </a:r>
          </a:p>
          <a:p>
            <a:pPr eaLnBrk="1" hangingPunct="1"/>
            <a:r>
              <a:rPr lang="da-DK" altLang="es-ES_tradnl">
                <a:solidFill>
                  <a:schemeClr val="tx1"/>
                </a:solidFill>
              </a:rPr>
              <a:t>!create Silvio:Socio</a:t>
            </a:r>
          </a:p>
          <a:p>
            <a:pPr eaLnBrk="1" hangingPunct="1"/>
            <a:r>
              <a:rPr lang="da-DK" altLang="es-ES_tradnl">
                <a:solidFill>
                  <a:schemeClr val="tx1"/>
                </a:solidFill>
              </a:rPr>
              <a:t>!set Silvio.nombre:='Silvio Gonnet'</a:t>
            </a:r>
          </a:p>
          <a:p>
            <a:pPr eaLnBrk="1" hangingPunct="1"/>
            <a:r>
              <a:rPr lang="da-DK" altLang="es-ES_tradnl">
                <a:solidFill>
                  <a:schemeClr val="tx1"/>
                </a:solidFill>
              </a:rPr>
              <a:t>!set Silvio.dni:=22889975</a:t>
            </a:r>
          </a:p>
          <a:p>
            <a:pPr eaLnBrk="1" hangingPunct="1"/>
            <a:r>
              <a:rPr lang="da-DK" altLang="es-ES_tradnl">
                <a:solidFill>
                  <a:schemeClr val="tx1"/>
                </a:solidFill>
              </a:rPr>
              <a:t>!set Silvio.cuotaAlDia:=true</a:t>
            </a:r>
          </a:p>
          <a:p>
            <a:pPr eaLnBrk="1" hangingPunct="1"/>
            <a:r>
              <a:rPr lang="da-DK" altLang="es-ES_tradnl">
                <a:solidFill>
                  <a:schemeClr val="tx1"/>
                </a:solidFill>
              </a:rPr>
              <a:t>!set Silvio.tipoDNI:=#DNI</a:t>
            </a:r>
            <a:endParaRPr lang="es-ES" altLang="es-ES_tradn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17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FD7C12-4052-854E-A6A2-F5C663D7726F}" type="slidenum">
              <a:rPr lang="es-ES" altLang="es-ES_tradnl"/>
              <a:pPr/>
              <a:t>29</a:t>
            </a:fld>
            <a:endParaRPr lang="es-ES" altLang="es-ES_tradnl"/>
          </a:p>
        </p:txBody>
      </p:sp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Verificando Pre/Postcondiciones</a:t>
            </a:r>
          </a:p>
        </p:txBody>
      </p:sp>
      <p:sp>
        <p:nvSpPr>
          <p:cNvPr id="385027" name="Text Box 3"/>
          <p:cNvSpPr txBox="1">
            <a:spLocks noChangeArrowheads="1"/>
          </p:cNvSpPr>
          <p:nvPr/>
        </p:nvSpPr>
        <p:spPr bwMode="auto">
          <a:xfrm>
            <a:off x="981075" y="1768475"/>
            <a:ext cx="4613442" cy="36933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da-DK" altLang="es-ES_tradnl" dirty="0">
                <a:solidFill>
                  <a:schemeClr val="bg1"/>
                </a:solidFill>
              </a:rPr>
              <a:t>!</a:t>
            </a:r>
            <a:r>
              <a:rPr lang="da-DK" altLang="es-ES_tradnl" dirty="0" err="1">
                <a:solidFill>
                  <a:schemeClr val="bg1"/>
                </a:solidFill>
              </a:rPr>
              <a:t>openter</a:t>
            </a:r>
            <a:r>
              <a:rPr lang="da-DK" altLang="es-ES_tradnl" dirty="0">
                <a:solidFill>
                  <a:schemeClr val="bg1"/>
                </a:solidFill>
              </a:rPr>
              <a:t> </a:t>
            </a:r>
            <a:r>
              <a:rPr lang="da-DK" altLang="es-ES_tradnl" dirty="0" err="1" smtClean="0">
                <a:solidFill>
                  <a:schemeClr val="bg1"/>
                </a:solidFill>
              </a:rPr>
              <a:t>objectName</a:t>
            </a:r>
            <a:r>
              <a:rPr lang="da-DK" altLang="es-ES_tradnl" dirty="0" smtClean="0">
                <a:solidFill>
                  <a:schemeClr val="bg1"/>
                </a:solidFill>
              </a:rPr>
              <a:t> </a:t>
            </a:r>
            <a:r>
              <a:rPr lang="da-DK" altLang="es-ES_tradnl" dirty="0" err="1" smtClean="0">
                <a:solidFill>
                  <a:schemeClr val="bg1"/>
                </a:solidFill>
              </a:rPr>
              <a:t>operationName</a:t>
            </a:r>
            <a:r>
              <a:rPr lang="da-DK" altLang="es-ES_tradnl" dirty="0" smtClean="0">
                <a:solidFill>
                  <a:schemeClr val="bg1"/>
                </a:solidFill>
              </a:rPr>
              <a:t>(</a:t>
            </a:r>
            <a:r>
              <a:rPr lang="da-DK" altLang="es-ES_tradnl" dirty="0" err="1" smtClean="0">
                <a:solidFill>
                  <a:schemeClr val="bg1"/>
                </a:solidFill>
              </a:rPr>
              <a:t>ParamList</a:t>
            </a:r>
            <a:r>
              <a:rPr lang="da-DK" altLang="es-ES_tradnl" dirty="0" smtClean="0">
                <a:solidFill>
                  <a:schemeClr val="bg1"/>
                </a:solidFill>
              </a:rPr>
              <a:t>)</a:t>
            </a:r>
            <a:endParaRPr lang="es-ES" altLang="es-ES_tradnl" dirty="0">
              <a:solidFill>
                <a:schemeClr val="bg1"/>
              </a:solidFill>
            </a:endParaRPr>
          </a:p>
        </p:txBody>
      </p:sp>
      <p:sp>
        <p:nvSpPr>
          <p:cNvPr id="385028" name="Text Box 4"/>
          <p:cNvSpPr txBox="1">
            <a:spLocks noChangeArrowheads="1"/>
          </p:cNvSpPr>
          <p:nvPr/>
        </p:nvSpPr>
        <p:spPr bwMode="auto">
          <a:xfrm>
            <a:off x="1116013" y="4194175"/>
            <a:ext cx="2171813" cy="36933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da-DK" altLang="es-ES_tradnl" dirty="0">
                <a:solidFill>
                  <a:schemeClr val="bg1"/>
                </a:solidFill>
              </a:rPr>
              <a:t>!</a:t>
            </a:r>
            <a:r>
              <a:rPr lang="da-DK" altLang="es-ES_tradnl" dirty="0" err="1">
                <a:solidFill>
                  <a:schemeClr val="bg1"/>
                </a:solidFill>
              </a:rPr>
              <a:t>opexit</a:t>
            </a:r>
            <a:r>
              <a:rPr lang="da-DK" altLang="es-ES_tradnl" dirty="0">
                <a:solidFill>
                  <a:schemeClr val="bg1"/>
                </a:solidFill>
              </a:rPr>
              <a:t> </a:t>
            </a:r>
            <a:r>
              <a:rPr lang="da-DK" altLang="es-ES_tradnl" dirty="0" err="1" smtClean="0">
                <a:solidFill>
                  <a:schemeClr val="bg1"/>
                </a:solidFill>
              </a:rPr>
              <a:t>ReturnValExpr</a:t>
            </a:r>
            <a:endParaRPr lang="es-ES" altLang="es-ES_tradnl" dirty="0">
              <a:solidFill>
                <a:schemeClr val="bg1"/>
              </a:solidFill>
            </a:endParaRPr>
          </a:p>
        </p:txBody>
      </p:sp>
      <p:sp>
        <p:nvSpPr>
          <p:cNvPr id="385029" name="Text Box 5"/>
          <p:cNvSpPr txBox="1">
            <a:spLocks noChangeArrowheads="1"/>
          </p:cNvSpPr>
          <p:nvPr/>
        </p:nvSpPr>
        <p:spPr bwMode="auto">
          <a:xfrm>
            <a:off x="1763713" y="2832100"/>
            <a:ext cx="4348162" cy="7016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s-ES" altLang="es-ES_tradnl">
                <a:solidFill>
                  <a:schemeClr val="bg1"/>
                </a:solidFill>
              </a:rPr>
              <a:t>Ejecución de comandos para aplicar </a:t>
            </a:r>
            <a:br>
              <a:rPr lang="es-ES" altLang="es-ES_tradnl">
                <a:solidFill>
                  <a:schemeClr val="bg1"/>
                </a:solidFill>
              </a:rPr>
            </a:br>
            <a:r>
              <a:rPr lang="es-ES" altLang="es-ES_tradnl">
                <a:solidFill>
                  <a:schemeClr val="bg1"/>
                </a:solidFill>
              </a:rPr>
              <a:t>el efecto de la operación</a:t>
            </a:r>
          </a:p>
        </p:txBody>
      </p:sp>
    </p:spTree>
    <p:extLst>
      <p:ext uri="{BB962C8B-B14F-4D97-AF65-F5344CB8AC3E}">
        <p14:creationId xmlns:p14="http://schemas.microsoft.com/office/powerpoint/2010/main" val="137492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5AD92-FE97-5541-985B-A10C75E48B34}" type="slidenum">
              <a:rPr lang="es-ES" altLang="es-ES_tradnl"/>
              <a:pPr/>
              <a:t>30</a:t>
            </a:fld>
            <a:endParaRPr lang="es-ES" altLang="es-ES_tradnl"/>
          </a:p>
        </p:txBody>
      </p:sp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Verificando Pre/Postcondiciones</a:t>
            </a:r>
          </a:p>
        </p:txBody>
      </p:sp>
      <p:pic>
        <p:nvPicPr>
          <p:cNvPr id="387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13" b="53125"/>
          <a:stretch>
            <a:fillRect/>
          </a:stretch>
        </p:blipFill>
        <p:spPr bwMode="auto">
          <a:xfrm>
            <a:off x="450850" y="1655763"/>
            <a:ext cx="8367713" cy="4376737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4627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F666F0-F068-2E42-BCD0-7133C2EE1677}" type="slidenum">
              <a:rPr lang="es-ES" altLang="es-ES_tradnl"/>
              <a:pPr/>
              <a:t>31</a:t>
            </a:fld>
            <a:endParaRPr lang="es-ES" altLang="es-ES_tradnl"/>
          </a:p>
        </p:txBody>
      </p:sp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Verificando Pre/Postcondiciones</a:t>
            </a:r>
          </a:p>
        </p:txBody>
      </p:sp>
      <p:pic>
        <p:nvPicPr>
          <p:cNvPr id="389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729" b="53944"/>
          <a:stretch>
            <a:fillRect/>
          </a:stretch>
        </p:blipFill>
        <p:spPr bwMode="auto">
          <a:xfrm>
            <a:off x="449263" y="1654175"/>
            <a:ext cx="8015287" cy="4375150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668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7C1595-1E5B-1143-B168-C933396B00BE}" type="slidenum">
              <a:rPr lang="es-ES" altLang="es-ES_tradnl"/>
              <a:pPr/>
              <a:t>32</a:t>
            </a:fld>
            <a:endParaRPr lang="es-ES" altLang="es-ES_tradnl"/>
          </a:p>
        </p:txBody>
      </p:sp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Verificando Pre/Postcondiciones</a:t>
            </a:r>
          </a:p>
        </p:txBody>
      </p:sp>
      <p:pic>
        <p:nvPicPr>
          <p:cNvPr id="391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76" b="34245"/>
          <a:stretch>
            <a:fillRect/>
          </a:stretch>
        </p:blipFill>
        <p:spPr bwMode="auto">
          <a:xfrm>
            <a:off x="473075" y="1320800"/>
            <a:ext cx="8328025" cy="5164138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671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800E25-EEC7-674B-B272-D049559F3766}" type="slidenum">
              <a:rPr lang="es-ES" altLang="es-ES_tradnl"/>
              <a:pPr/>
              <a:t>33</a:t>
            </a:fld>
            <a:endParaRPr lang="es-ES" altLang="es-ES_tradnl"/>
          </a:p>
        </p:txBody>
      </p:sp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_tradnl"/>
              <a:t>Verificando Pre/Postcondiciones</a:t>
            </a:r>
          </a:p>
        </p:txBody>
      </p:sp>
      <p:pic>
        <p:nvPicPr>
          <p:cNvPr id="393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41" t="13585" r="24153" b="39171"/>
          <a:stretch>
            <a:fillRect/>
          </a:stretch>
        </p:blipFill>
        <p:spPr bwMode="auto">
          <a:xfrm>
            <a:off x="755650" y="1484313"/>
            <a:ext cx="7632700" cy="5016500"/>
          </a:xfrm>
          <a:prstGeom prst="rect">
            <a:avLst/>
          </a:prstGeom>
          <a:noFill/>
          <a:ln>
            <a:noFill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3270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FA3237-C518-F44C-AC98-508F6E85C4B6}" type="slidenum">
              <a:rPr lang="es-ES" altLang="es-ES_tradnl"/>
              <a:pPr/>
              <a:t>34</a:t>
            </a:fld>
            <a:endParaRPr lang="es-ES" altLang="es-ES_tradnl"/>
          </a:p>
        </p:txBody>
      </p:sp>
      <p:sp>
        <p:nvSpPr>
          <p:cNvPr id="507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s-ES" altLang="es-ES_tradnl"/>
          </a:p>
        </p:txBody>
      </p:sp>
      <p:sp>
        <p:nvSpPr>
          <p:cNvPr id="507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altLang="es-ES_tradnl"/>
          </a:p>
        </p:txBody>
      </p:sp>
    </p:spTree>
    <p:extLst>
      <p:ext uri="{BB962C8B-B14F-4D97-AF65-F5344CB8AC3E}">
        <p14:creationId xmlns:p14="http://schemas.microsoft.com/office/powerpoint/2010/main" val="13764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0AE062-4235-7647-B231-81BA91B55E35}" type="slidenum">
              <a:rPr lang="es-ES" altLang="es-ES_tradnl"/>
              <a:pPr/>
              <a:t>35</a:t>
            </a:fld>
            <a:endParaRPr lang="es-ES" altLang="es-ES_tradnl"/>
          </a:p>
        </p:txBody>
      </p:sp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ES_tradnl"/>
              <a:t>Ejercicio</a:t>
            </a:r>
            <a:endParaRPr lang="es-ES" altLang="es-ES_tradnl"/>
          </a:p>
        </p:txBody>
      </p:sp>
      <p:sp>
        <p:nvSpPr>
          <p:cNvPr id="475141" name="Text Box 5"/>
          <p:cNvSpPr txBox="1">
            <a:spLocks noChangeArrowheads="1"/>
          </p:cNvSpPr>
          <p:nvPr/>
        </p:nvSpPr>
        <p:spPr bwMode="auto">
          <a:xfrm>
            <a:off x="234950" y="5738813"/>
            <a:ext cx="79803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07763" dir="18900000" algn="ctr" rotWithShape="0">
                    <a:srgbClr val="00000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AR" altLang="es-ES_tradnl"/>
              <a:t>Por defecto, toda cobertura tiene una carencia de 0 meses (igual a 0)</a:t>
            </a:r>
            <a:endParaRPr lang="es-ES" altLang="es-ES_tradnl"/>
          </a:p>
        </p:txBody>
      </p:sp>
      <p:pic>
        <p:nvPicPr>
          <p:cNvPr id="47514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2" t="6036" r="2142" b="4050"/>
          <a:stretch>
            <a:fillRect/>
          </a:stretch>
        </p:blipFill>
        <p:spPr bwMode="auto">
          <a:xfrm>
            <a:off x="0" y="204788"/>
            <a:ext cx="9144000" cy="549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07763" dir="18900000" algn="ctr" rotWithShape="0">
                    <a:srgbClr val="000000">
                      <a:alpha val="50000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010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14029</TotalTime>
  <Words>1397</Words>
  <Application>Microsoft Office PowerPoint</Application>
  <PresentationFormat>Presentación en pantalla (4:3)</PresentationFormat>
  <Paragraphs>404</Paragraphs>
  <Slides>35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5" baseType="lpstr">
      <vt:lpstr>Arial</vt:lpstr>
      <vt:lpstr>Calibri</vt:lpstr>
      <vt:lpstr>Georgia</vt:lpstr>
      <vt:lpstr>Mangal</vt:lpstr>
      <vt:lpstr>Tahoma</vt:lpstr>
      <vt:lpstr>Times New Roman</vt:lpstr>
      <vt:lpstr>Tw Cen MT</vt:lpstr>
      <vt:lpstr>Wingdings</vt:lpstr>
      <vt:lpstr>Wingdings 2</vt:lpstr>
      <vt:lpstr>Median</vt:lpstr>
      <vt:lpstr>USE: A UML Specification Environment</vt:lpstr>
      <vt:lpstr>USE: UML Specification Environment</vt:lpstr>
      <vt:lpstr>USE: A UML Specification Environment</vt:lpstr>
      <vt:lpstr>Caso de Estudio</vt:lpstr>
      <vt:lpstr>Especificación USE - UML</vt:lpstr>
      <vt:lpstr>Especificación USE - UML</vt:lpstr>
      <vt:lpstr>Especificación USE - UML</vt:lpstr>
      <vt:lpstr>Especificación USE - UML</vt:lpstr>
      <vt:lpstr>Especificación USE - OCL</vt:lpstr>
      <vt:lpstr>Especificación USE - OCL</vt:lpstr>
      <vt:lpstr>El Ambiente USE</vt:lpstr>
      <vt:lpstr>Importar una especificación USE</vt:lpstr>
      <vt:lpstr>Vista Invariantes</vt:lpstr>
      <vt:lpstr>Creación de Objetos</vt:lpstr>
      <vt:lpstr>Asignación de Valores a Propiedades de un Objeto</vt:lpstr>
      <vt:lpstr>Creación de Libros</vt:lpstr>
      <vt:lpstr>Asignación de Valores a las Propiedades de un Libro</vt:lpstr>
      <vt:lpstr>Asignación de Valores a las Propiedades de un Libro</vt:lpstr>
      <vt:lpstr>Asignando un Ejemplar a un Libro</vt:lpstr>
      <vt:lpstr>Incorporando Nuevos Libros</vt:lpstr>
      <vt:lpstr>Asignando id a los Ejemplares</vt:lpstr>
      <vt:lpstr>Otros comandos en USE</vt:lpstr>
      <vt:lpstr>Consulta de Publicaciones</vt:lpstr>
      <vt:lpstr>Consulta de Publicaciones</vt:lpstr>
      <vt:lpstr>Consulta de Ejemplares de Libros</vt:lpstr>
      <vt:lpstr>Consulta de Libros</vt:lpstr>
      <vt:lpstr>Consulta de Ejemplares Disponibles</vt:lpstr>
      <vt:lpstr>Creación de Usuarios</vt:lpstr>
      <vt:lpstr>Verificando Pre/Postcondiciones</vt:lpstr>
      <vt:lpstr>Verificando Pre/Postcondiciones</vt:lpstr>
      <vt:lpstr>Verificando Pre/Postcondiciones</vt:lpstr>
      <vt:lpstr>Verificando Pre/Postcondiciones</vt:lpstr>
      <vt:lpstr>Verificando Pre/Postcondiciones</vt:lpstr>
      <vt:lpstr>Presentación de PowerPoint</vt:lpstr>
      <vt:lpstr>Ejercicio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SISTEMAS</dc:title>
  <dc:creator>Marcela</dc:creator>
  <cp:lastModifiedBy>Santiago Murchio</cp:lastModifiedBy>
  <cp:revision>158</cp:revision>
  <dcterms:created xsi:type="dcterms:W3CDTF">2012-04-03T02:22:40Z</dcterms:created>
  <dcterms:modified xsi:type="dcterms:W3CDTF">2018-10-04T20:09:19Z</dcterms:modified>
</cp:coreProperties>
</file>